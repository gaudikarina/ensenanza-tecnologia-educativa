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slide" Target="slides/slide9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b0f5debc7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b0f5debc7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b0f5debc7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b0f5debc7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b0f5debc72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b0f5debc7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dea9419fe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dea9419fe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df961baf1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1df961baf1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df961baf1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df961baf1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df7f4dfbe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1df7f4dfbe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dea9419fe9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1dea9419fe9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tinkercad.com/" TargetMode="External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Motores de Corriente Continua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Tinkercad Evaluación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empezamos?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71900" y="1919075"/>
            <a:ext cx="5202900" cy="319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En primer lugar debes crearte una cuenta en el sitio web de </a:t>
            </a:r>
            <a:r>
              <a:rPr lang="es-419" u="sng">
                <a:solidFill>
                  <a:schemeClr val="hlink"/>
                </a:solidFill>
                <a:hlinkClick r:id="rId3"/>
              </a:rPr>
              <a:t>TINKERCAD</a:t>
            </a:r>
            <a:endParaRPr/>
          </a:p>
          <a:p>
            <a:pPr indent="-3429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Da clic en el botón registrarse en la parte superior derecha.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Da clic en estudiantes con código de clase</a:t>
            </a:r>
            <a:endParaRPr/>
          </a:p>
          <a:p>
            <a:pPr indent="457200" lvl="0" marL="0" rtl="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/>
              <a:t>Se trabajará con Actividades por Clase, definidas por un único código de clase para el año escolar.</a:t>
            </a:r>
            <a:endParaRPr/>
          </a:p>
        </p:txBody>
      </p:sp>
      <p:pic>
        <p:nvPicPr>
          <p:cNvPr id="75" name="Google Shape;7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31450" y="66050"/>
            <a:ext cx="1594700" cy="1594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" name="Google Shape;76;p14"/>
          <p:cNvGrpSpPr/>
          <p:nvPr/>
        </p:nvGrpSpPr>
        <p:grpSpPr>
          <a:xfrm>
            <a:off x="3253949" y="3135000"/>
            <a:ext cx="1926226" cy="323100"/>
            <a:chOff x="7044099" y="2393500"/>
            <a:chExt cx="1926226" cy="323100"/>
          </a:xfrm>
        </p:grpSpPr>
        <p:pic>
          <p:nvPicPr>
            <p:cNvPr id="77" name="Google Shape;77;p1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044099" y="2427025"/>
              <a:ext cx="1893100" cy="289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14"/>
            <p:cNvSpPr/>
            <p:nvPr/>
          </p:nvSpPr>
          <p:spPr>
            <a:xfrm>
              <a:off x="8234725" y="2393500"/>
              <a:ext cx="735600" cy="323100"/>
            </a:xfrm>
            <a:prstGeom prst="rect">
              <a:avLst/>
            </a:prstGeom>
            <a:noFill/>
            <a:ln cap="flat" cmpd="sng" w="28575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79" name="Google Shape;79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77001" y="1949951"/>
            <a:ext cx="2649150" cy="24595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4"/>
          <p:cNvSpPr/>
          <p:nvPr/>
        </p:nvSpPr>
        <p:spPr>
          <a:xfrm>
            <a:off x="6323400" y="3485850"/>
            <a:ext cx="2149500" cy="323100"/>
          </a:xfrm>
          <a:prstGeom prst="rect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" name="Google Shape;81;p14"/>
          <p:cNvCxnSpPr>
            <a:endCxn id="80" idx="1"/>
          </p:cNvCxnSpPr>
          <p:nvPr/>
        </p:nvCxnSpPr>
        <p:spPr>
          <a:xfrm flipH="1" rot="10800000">
            <a:off x="5370600" y="3647400"/>
            <a:ext cx="952800" cy="39900"/>
          </a:xfrm>
          <a:prstGeom prst="straightConnector1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1450" y="66050"/>
            <a:ext cx="1594700" cy="159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0201" y="3741225"/>
            <a:ext cx="5645323" cy="12606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5"/>
          <p:cNvSpPr txBox="1"/>
          <p:nvPr>
            <p:ph type="title"/>
          </p:nvPr>
        </p:nvSpPr>
        <p:spPr>
          <a:xfrm>
            <a:off x="624300" y="8911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empezamos?</a:t>
            </a:r>
            <a:endParaRPr/>
          </a:p>
        </p:txBody>
      </p:sp>
      <p:sp>
        <p:nvSpPr>
          <p:cNvPr id="89" name="Google Shape;89;p15"/>
          <p:cNvSpPr txBox="1"/>
          <p:nvPr>
            <p:ph idx="1" type="body"/>
          </p:nvPr>
        </p:nvSpPr>
        <p:spPr>
          <a:xfrm>
            <a:off x="280075" y="1738325"/>
            <a:ext cx="5202900" cy="17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Se abrirá la ventana: Únete a una clase.</a:t>
            </a:r>
            <a:endParaRPr/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Coloca el código de clase en el espacio en blanco señalado</a:t>
            </a:r>
            <a:endParaRPr/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El código de la clase es:</a:t>
            </a:r>
            <a:endParaRPr/>
          </a:p>
        </p:txBody>
      </p:sp>
      <p:pic>
        <p:nvPicPr>
          <p:cNvPr id="90" name="Google Shape;90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20985" y="1738325"/>
            <a:ext cx="2717390" cy="17775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5"/>
          <p:cNvSpPr/>
          <p:nvPr/>
        </p:nvSpPr>
        <p:spPr>
          <a:xfrm>
            <a:off x="5780700" y="2643175"/>
            <a:ext cx="2010900" cy="3375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2" name="Google Shape;92;p15"/>
          <p:cNvCxnSpPr>
            <a:endCxn id="91" idx="1"/>
          </p:cNvCxnSpPr>
          <p:nvPr/>
        </p:nvCxnSpPr>
        <p:spPr>
          <a:xfrm>
            <a:off x="2738100" y="2802025"/>
            <a:ext cx="3042600" cy="99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" name="Google Shape;93;p15"/>
          <p:cNvCxnSpPr/>
          <p:nvPr/>
        </p:nvCxnSpPr>
        <p:spPr>
          <a:xfrm>
            <a:off x="3359775" y="3205425"/>
            <a:ext cx="13200" cy="535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Visualiza las actividades de la clase</a:t>
            </a: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1129475" y="1831325"/>
            <a:ext cx="3351600" cy="3108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9476" y="1876775"/>
            <a:ext cx="3351600" cy="306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6"/>
          <p:cNvSpPr txBox="1"/>
          <p:nvPr/>
        </p:nvSpPr>
        <p:spPr>
          <a:xfrm>
            <a:off x="4834850" y="2668850"/>
            <a:ext cx="3170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Realiza los montajes y responde las preguntas en la plataforma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Cambio de Giro Motor CC</a:t>
            </a:r>
            <a:endParaRPr/>
          </a:p>
        </p:txBody>
      </p:sp>
      <p:pic>
        <p:nvPicPr>
          <p:cNvPr id="107" name="Google Shape;10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250" y="912900"/>
            <a:ext cx="8321601" cy="397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Cambio de Giro Motor CC</a:t>
            </a:r>
            <a:endParaRPr/>
          </a:p>
        </p:txBody>
      </p:sp>
      <p:pic>
        <p:nvPicPr>
          <p:cNvPr id="113" name="Google Shape;11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125" y="1311525"/>
            <a:ext cx="3105150" cy="2886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8"/>
          <p:cNvSpPr txBox="1"/>
          <p:nvPr/>
        </p:nvSpPr>
        <p:spPr>
          <a:xfrm>
            <a:off x="3777875" y="1188900"/>
            <a:ext cx="48366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600">
                <a:latin typeface="Roboto"/>
                <a:ea typeface="Roboto"/>
                <a:cs typeface="Roboto"/>
                <a:sym typeface="Roboto"/>
              </a:rPr>
              <a:t>Corre la simulación, coloca los interruptores S</a:t>
            </a:r>
            <a:r>
              <a:rPr lang="es-419" sz="2600"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s-419" sz="2600">
                <a:latin typeface="Roboto"/>
                <a:ea typeface="Roboto"/>
                <a:cs typeface="Roboto"/>
                <a:sym typeface="Roboto"/>
              </a:rPr>
              <a:t> y S</a:t>
            </a:r>
            <a:r>
              <a:rPr lang="es-419" sz="2600"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lang="es-419" sz="2600">
                <a:latin typeface="Roboto"/>
                <a:ea typeface="Roboto"/>
                <a:cs typeface="Roboto"/>
                <a:sym typeface="Roboto"/>
              </a:rPr>
              <a:t> en ON; S3 y S2 en OFF, </a:t>
            </a:r>
            <a:r>
              <a:rPr lang="es-419" sz="26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419" sz="2600">
                <a:latin typeface="Roboto"/>
                <a:ea typeface="Roboto"/>
                <a:cs typeface="Roboto"/>
                <a:sym typeface="Roboto"/>
              </a:rPr>
              <a:t>como indica la figura y responde:</a:t>
            </a:r>
            <a:endParaRPr sz="2600">
              <a:latin typeface="Roboto"/>
              <a:ea typeface="Roboto"/>
              <a:cs typeface="Roboto"/>
              <a:sym typeface="Roboto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Roboto"/>
              <a:buAutoNum type="arabicPeriod"/>
            </a:pPr>
            <a:r>
              <a:rPr lang="es-419" sz="2600">
                <a:latin typeface="Roboto"/>
                <a:ea typeface="Roboto"/>
                <a:cs typeface="Roboto"/>
                <a:sym typeface="Roboto"/>
              </a:rPr>
              <a:t>El motor gira? Si no lo hace tienes un error en el montaje.</a:t>
            </a:r>
            <a:endParaRPr sz="2600">
              <a:latin typeface="Roboto"/>
              <a:ea typeface="Roboto"/>
              <a:cs typeface="Roboto"/>
              <a:sym typeface="Roboto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Roboto"/>
              <a:buAutoNum type="arabicPeriod"/>
            </a:pPr>
            <a:r>
              <a:rPr lang="es-419" sz="2600">
                <a:latin typeface="Roboto"/>
                <a:ea typeface="Roboto"/>
                <a:cs typeface="Roboto"/>
                <a:sym typeface="Roboto"/>
              </a:rPr>
              <a:t>Qué sentido está girando?</a:t>
            </a:r>
            <a:endParaRPr sz="26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Cambio de Giro Motor CC</a:t>
            </a:r>
            <a:endParaRPr/>
          </a:p>
        </p:txBody>
      </p:sp>
      <p:sp>
        <p:nvSpPr>
          <p:cNvPr id="120" name="Google Shape;120;p19"/>
          <p:cNvSpPr txBox="1"/>
          <p:nvPr/>
        </p:nvSpPr>
        <p:spPr>
          <a:xfrm>
            <a:off x="3777875" y="1188900"/>
            <a:ext cx="48366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600">
                <a:latin typeface="Roboto"/>
                <a:ea typeface="Roboto"/>
                <a:cs typeface="Roboto"/>
                <a:sym typeface="Roboto"/>
              </a:rPr>
              <a:t>Corre la simulación, coloca los interruptores S1 y S4 en OFF; S3 y S2 en ON,  como indica la figura y responde:</a:t>
            </a:r>
            <a:endParaRPr sz="2600">
              <a:latin typeface="Roboto"/>
              <a:ea typeface="Roboto"/>
              <a:cs typeface="Roboto"/>
              <a:sym typeface="Roboto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Roboto"/>
              <a:buAutoNum type="arabicPeriod"/>
            </a:pPr>
            <a:r>
              <a:rPr lang="es-419" sz="2600">
                <a:latin typeface="Roboto"/>
                <a:ea typeface="Roboto"/>
                <a:cs typeface="Roboto"/>
                <a:sym typeface="Roboto"/>
              </a:rPr>
              <a:t>El motor gira? Si no lo hace tienes un error en el montaje.</a:t>
            </a:r>
            <a:endParaRPr sz="2600">
              <a:latin typeface="Roboto"/>
              <a:ea typeface="Roboto"/>
              <a:cs typeface="Roboto"/>
              <a:sym typeface="Roboto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Roboto"/>
              <a:buAutoNum type="arabicPeriod"/>
            </a:pPr>
            <a:r>
              <a:rPr lang="es-419" sz="2600">
                <a:latin typeface="Roboto"/>
                <a:ea typeface="Roboto"/>
                <a:cs typeface="Roboto"/>
                <a:sym typeface="Roboto"/>
              </a:rPr>
              <a:t>Qué sentido está girando?</a:t>
            </a:r>
            <a:endParaRPr sz="26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1" name="Google Shape;12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850" y="1308175"/>
            <a:ext cx="3282500" cy="313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/>
        </p:nvSpPr>
        <p:spPr>
          <a:xfrm>
            <a:off x="5827325" y="619050"/>
            <a:ext cx="3097500" cy="4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latin typeface="Roboto"/>
                <a:ea typeface="Roboto"/>
                <a:cs typeface="Roboto"/>
                <a:sym typeface="Roboto"/>
              </a:rPr>
              <a:t>Corre la simulación, coloca el interruptor S1 en ON  y S2 en OFF,  como indica la figura, gira el potenciómetro y responde: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Roboto"/>
              <a:buAutoNum type="arabicPeriod"/>
            </a:pPr>
            <a:r>
              <a:rPr lang="es-419" sz="1600">
                <a:latin typeface="Roboto"/>
                <a:ea typeface="Roboto"/>
                <a:cs typeface="Roboto"/>
                <a:sym typeface="Roboto"/>
              </a:rPr>
              <a:t>El motor gira? Si no lo hace tienes un error en el montaje.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Roboto"/>
              <a:buAutoNum type="arabicPeriod"/>
            </a:pPr>
            <a:r>
              <a:rPr lang="es-419" sz="1600">
                <a:latin typeface="Roboto"/>
                <a:ea typeface="Roboto"/>
                <a:cs typeface="Roboto"/>
                <a:sym typeface="Roboto"/>
              </a:rPr>
              <a:t>Qué sentido está girando?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latin typeface="Roboto"/>
                <a:ea typeface="Roboto"/>
                <a:cs typeface="Roboto"/>
                <a:sym typeface="Roboto"/>
              </a:rPr>
              <a:t>Coloca el interruptor S1 en OFF  y S2 en ON,  como indica la figura, gira el potenciómetro y responde: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Roboto"/>
              <a:buAutoNum type="arabicPeriod"/>
            </a:pPr>
            <a:r>
              <a:rPr lang="es-419" sz="1600">
                <a:latin typeface="Roboto"/>
                <a:ea typeface="Roboto"/>
                <a:cs typeface="Roboto"/>
                <a:sym typeface="Roboto"/>
              </a:rPr>
              <a:t>El motor gira? Si no lo hace tienes un error en el montaje.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Roboto"/>
              <a:buAutoNum type="arabicPeriod"/>
            </a:pPr>
            <a:r>
              <a:rPr lang="es-419" sz="1600">
                <a:latin typeface="Roboto"/>
                <a:ea typeface="Roboto"/>
                <a:cs typeface="Roboto"/>
                <a:sym typeface="Roboto"/>
              </a:rPr>
              <a:t>Qué sentido está girando?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127;p20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L293d</a:t>
            </a:r>
            <a:endParaRPr/>
          </a:p>
        </p:txBody>
      </p:sp>
      <p:pic>
        <p:nvPicPr>
          <p:cNvPr id="128" name="Google Shape;12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37225"/>
            <a:ext cx="5674927" cy="3147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0"/>
          <p:cNvSpPr txBox="1"/>
          <p:nvPr/>
        </p:nvSpPr>
        <p:spPr>
          <a:xfrm>
            <a:off x="1195000" y="883825"/>
            <a:ext cx="347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Voltaje = 5 R=10K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potenciómetro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= 1 K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Control Velocidad y Giro con Arduino</a:t>
            </a:r>
            <a:endParaRPr/>
          </a:p>
        </p:txBody>
      </p:sp>
      <p:sp>
        <p:nvSpPr>
          <p:cNvPr id="135" name="Google Shape;135;p21"/>
          <p:cNvSpPr txBox="1"/>
          <p:nvPr/>
        </p:nvSpPr>
        <p:spPr>
          <a:xfrm>
            <a:off x="511725" y="878550"/>
            <a:ext cx="8413200" cy="37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00">
                <a:latin typeface="Roboto"/>
                <a:ea typeface="Roboto"/>
                <a:cs typeface="Roboto"/>
                <a:sym typeface="Roboto"/>
              </a:rPr>
              <a:t>Simule el circuito añadido en la actividad y responda:</a:t>
            </a:r>
            <a:endParaRPr sz="2500">
              <a:latin typeface="Roboto"/>
              <a:ea typeface="Roboto"/>
              <a:cs typeface="Roboto"/>
              <a:sym typeface="Roboto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Roboto"/>
              <a:buAutoNum type="arabicPeriod"/>
            </a:pPr>
            <a:r>
              <a:rPr lang="es-419" sz="2500">
                <a:latin typeface="Roboto"/>
                <a:ea typeface="Roboto"/>
                <a:cs typeface="Roboto"/>
                <a:sym typeface="Roboto"/>
              </a:rPr>
              <a:t>Gire el </a:t>
            </a:r>
            <a:r>
              <a:rPr lang="es-419" sz="2500">
                <a:latin typeface="Roboto"/>
                <a:ea typeface="Roboto"/>
                <a:cs typeface="Roboto"/>
                <a:sym typeface="Roboto"/>
              </a:rPr>
              <a:t>potenciómetro</a:t>
            </a:r>
            <a:r>
              <a:rPr lang="es-419" sz="2500">
                <a:latin typeface="Roboto"/>
                <a:ea typeface="Roboto"/>
                <a:cs typeface="Roboto"/>
                <a:sym typeface="Roboto"/>
              </a:rPr>
              <a:t> a la derecha, ¿</a:t>
            </a:r>
            <a:r>
              <a:rPr lang="es-419" sz="2500">
                <a:latin typeface="Roboto"/>
                <a:ea typeface="Roboto"/>
                <a:cs typeface="Roboto"/>
                <a:sym typeface="Roboto"/>
              </a:rPr>
              <a:t>qué</a:t>
            </a:r>
            <a:r>
              <a:rPr lang="es-419" sz="2500">
                <a:latin typeface="Roboto"/>
                <a:ea typeface="Roboto"/>
                <a:cs typeface="Roboto"/>
                <a:sym typeface="Roboto"/>
              </a:rPr>
              <a:t> sucede en el motor?</a:t>
            </a:r>
            <a:endParaRPr sz="2500">
              <a:latin typeface="Roboto"/>
              <a:ea typeface="Roboto"/>
              <a:cs typeface="Roboto"/>
              <a:sym typeface="Roboto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Roboto"/>
              <a:buAutoNum type="arabicPeriod"/>
            </a:pPr>
            <a:r>
              <a:rPr lang="es-419" sz="2500">
                <a:latin typeface="Roboto"/>
                <a:ea typeface="Roboto"/>
                <a:cs typeface="Roboto"/>
                <a:sym typeface="Roboto"/>
              </a:rPr>
              <a:t>Gire </a:t>
            </a:r>
            <a:r>
              <a:rPr lang="es-419" sz="2500">
                <a:latin typeface="Roboto"/>
                <a:ea typeface="Roboto"/>
                <a:cs typeface="Roboto"/>
                <a:sym typeface="Roboto"/>
              </a:rPr>
              <a:t>el potenciómetro a la izquierda, ¿qué sucede en el motor?</a:t>
            </a:r>
            <a:endParaRPr sz="2500">
              <a:latin typeface="Roboto"/>
              <a:ea typeface="Roboto"/>
              <a:cs typeface="Roboto"/>
              <a:sym typeface="Roboto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Roboto"/>
              <a:buAutoNum type="arabicPeriod"/>
            </a:pPr>
            <a:r>
              <a:rPr lang="es-419" sz="2500">
                <a:latin typeface="Roboto"/>
                <a:ea typeface="Roboto"/>
                <a:cs typeface="Roboto"/>
                <a:sym typeface="Roboto"/>
              </a:rPr>
              <a:t>Deslice el interruptor a la derecha, ¿qué sucede en el motor?</a:t>
            </a:r>
            <a:endParaRPr sz="2500">
              <a:latin typeface="Roboto"/>
              <a:ea typeface="Roboto"/>
              <a:cs typeface="Roboto"/>
              <a:sym typeface="Roboto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Roboto"/>
              <a:buAutoNum type="arabicPeriod"/>
            </a:pPr>
            <a:r>
              <a:rPr lang="es-419" sz="2500">
                <a:latin typeface="Roboto"/>
                <a:ea typeface="Roboto"/>
                <a:cs typeface="Roboto"/>
                <a:sym typeface="Roboto"/>
              </a:rPr>
              <a:t>Deslice el interruptor a la izquierda, ¿qué sucede en el motor?</a:t>
            </a:r>
            <a:endParaRPr sz="2500">
              <a:latin typeface="Roboto"/>
              <a:ea typeface="Roboto"/>
              <a:cs typeface="Roboto"/>
              <a:sym typeface="Roboto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Roboto"/>
              <a:buAutoNum type="arabicPeriod"/>
            </a:pPr>
            <a:r>
              <a:rPr lang="es-419" sz="2500">
                <a:latin typeface="Roboto"/>
                <a:ea typeface="Roboto"/>
                <a:cs typeface="Roboto"/>
                <a:sym typeface="Roboto"/>
              </a:rPr>
              <a:t>Explique con sus palabras, ¿qué hace el arduino?</a:t>
            </a:r>
            <a:endParaRPr sz="25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