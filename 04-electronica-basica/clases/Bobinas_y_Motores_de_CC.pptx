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CB4272-BAF1-4DA0-A8FA-1ED3C30CB1F5}">
  <a:tblStyle styleId="{19CB4272-BAF1-4DA0-A8FA-1ED3C30CB1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dea9419f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dea9419f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dea9419fe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dea9419fe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dea9419fe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dea9419fe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a34a5a7e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a34a5a7e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34a5a7e6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34a5a7e6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34a5a7e6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34a5a7e6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dea9419fe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dea9419fe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dea9419fe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dea9419fe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dea9419fe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dea9419fe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dea9419fe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dea9419fe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MO4pXone5Eg" TargetMode="External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tinkercad.com/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Inductores y </a:t>
            </a:r>
            <a:r>
              <a:rPr lang="es-419"/>
              <a:t>Motores de Corriente Continua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Inductores y Motores de Corriente Continua</a:t>
            </a:r>
            <a:endParaRPr/>
          </a:p>
        </p:txBody>
      </p:sp>
      <p:pic>
        <p:nvPicPr>
          <p:cNvPr descr="En este video veremos que como funciona un inductor o bobina y que es un inductor, ademas de las reglas que rigen su funcionamiento como la de Oersted, Faraday y Lenz&#10;&#10;Ayúdame a hacer mas y mejores videos! &#10;◉https://www.patreon.com/bunkermaker&#10;◉https://www.paypal.me/bunkermaker&#10;&#10;Camisetas del canal y más!&#10;◉https://teespring.com/es/stores/eduardo-pinones&#10;&#10;Mis Redes Sociales:&#10;◉ Facebook: https://www.facebook.com/BunkerMaker&#10;◉ Intagram: https://www.instagram.com/bunker_maker/&#10;&#10;Referencias del video:&#10;◉https://www.maximintegrated.com/jp/design/technical-documents/app-notes/6/6307.html&#10;◉https://byjus.com/physics/uses-of-inductor/&#10;◉https://www.ecured.cu/Inductancia&#10;◉https://es.wikipedia.org/wiki/Permeabilidad_magn%C3%A9tica&#10;&#10;¿Que software uso? &#10;◉ Animaciones 3D: Blender (https://www.blender.org/)&#10;◉ Edición y efectos 2D: Premiere Pro CC" id="74" name="Google Shape;74;p14" title="Cómo Funciona un Inductor ⚡ Qué es un Inducto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925" y="1724600"/>
            <a:ext cx="5986725" cy="33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Inductor o Bobina: Aplicaciones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164475" y="1995450"/>
            <a:ext cx="30000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Como uno de los componentes pasivos básicos, los inductores tienen una rica historia en electrónica, desde arrancar motores hasta ayudar a suministrar energía a su hogar: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Almacén de energía.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Motores.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Filtros.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Sensores.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2125"/>
              </a:buClr>
              <a:buSzPts val="1150"/>
              <a:buFont typeface="Roboto"/>
              <a:buChar char="●"/>
            </a:pPr>
            <a:r>
              <a:rPr lang="es-419" sz="1150">
                <a:solidFill>
                  <a:srgbClr val="1D21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Transformadores.</a:t>
            </a:r>
            <a:endParaRPr sz="1150">
              <a:solidFill>
                <a:srgbClr val="1D21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475" y="1858563"/>
            <a:ext cx="5674725" cy="2511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Motores CC en Tinkercad</a:t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525" y="1706850"/>
            <a:ext cx="5729350" cy="33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 txBox="1"/>
          <p:nvPr/>
        </p:nvSpPr>
        <p:spPr>
          <a:xfrm>
            <a:off x="7279400" y="4124175"/>
            <a:ext cx="103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Starters Motor de CC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" name="Google Shape;89;p16"/>
          <p:cNvCxnSpPr>
            <a:stCxn id="88" idx="1"/>
          </p:cNvCxnSpPr>
          <p:nvPr/>
        </p:nvCxnSpPr>
        <p:spPr>
          <a:xfrm flipH="1">
            <a:off x="5700500" y="4539825"/>
            <a:ext cx="15789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6"/>
          <p:cNvSpPr txBox="1"/>
          <p:nvPr/>
        </p:nvSpPr>
        <p:spPr>
          <a:xfrm>
            <a:off x="7103975" y="2298775"/>
            <a:ext cx="18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Motor de Aficionado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91;p16"/>
          <p:cNvCxnSpPr>
            <a:stCxn id="90" idx="1"/>
          </p:cNvCxnSpPr>
          <p:nvPr/>
        </p:nvCxnSpPr>
        <p:spPr>
          <a:xfrm flipH="1">
            <a:off x="5371775" y="2498875"/>
            <a:ext cx="1732200" cy="24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" name="Google Shape;92;p16"/>
          <p:cNvSpPr txBox="1"/>
          <p:nvPr/>
        </p:nvSpPr>
        <p:spPr>
          <a:xfrm>
            <a:off x="623150" y="2098675"/>
            <a:ext cx="116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Motor de CC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" name="Google Shape;93;p16"/>
          <p:cNvCxnSpPr>
            <a:stCxn id="92" idx="3"/>
          </p:cNvCxnSpPr>
          <p:nvPr/>
        </p:nvCxnSpPr>
        <p:spPr>
          <a:xfrm flipH="1" rot="10800000">
            <a:off x="1786250" y="2364475"/>
            <a:ext cx="723900" cy="4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471900" y="1919075"/>
            <a:ext cx="5202900" cy="31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En primer lugar debes crearte una cuenta en el sitio web de </a:t>
            </a:r>
            <a:r>
              <a:rPr lang="es-419" u="sng">
                <a:solidFill>
                  <a:schemeClr val="hlink"/>
                </a:solidFill>
                <a:hlinkClick r:id="rId3"/>
              </a:rPr>
              <a:t>TINKERCAD</a:t>
            </a:r>
            <a:endParaRPr/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el botón registrarse en la parte superior derecha.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Da clic en estudiantes con código de clase</a:t>
            </a:r>
            <a:endParaRPr/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trabajará con Actividades por Clase, definidas por un único código de clase para el año escolar.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7"/>
          <p:cNvGrpSpPr/>
          <p:nvPr/>
        </p:nvGrpSpPr>
        <p:grpSpPr>
          <a:xfrm>
            <a:off x="3253949" y="3135000"/>
            <a:ext cx="1926226" cy="323100"/>
            <a:chOff x="7044099" y="2393500"/>
            <a:chExt cx="1926226" cy="323100"/>
          </a:xfrm>
        </p:grpSpPr>
        <p:pic>
          <p:nvPicPr>
            <p:cNvPr id="102" name="Google Shape;102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44099" y="2427025"/>
              <a:ext cx="1893100" cy="289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7"/>
            <p:cNvSpPr/>
            <p:nvPr/>
          </p:nvSpPr>
          <p:spPr>
            <a:xfrm>
              <a:off x="8234725" y="2393500"/>
              <a:ext cx="735600" cy="323100"/>
            </a:xfrm>
            <a:prstGeom prst="rect">
              <a:avLst/>
            </a:prstGeom>
            <a:noFill/>
            <a:ln cap="flat" cmpd="sng" w="28575">
              <a:solidFill>
                <a:srgbClr val="98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04" name="Google Shape;10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7001" y="1949951"/>
            <a:ext cx="2649150" cy="245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6323400" y="3485850"/>
            <a:ext cx="2149500" cy="323100"/>
          </a:xfrm>
          <a:prstGeom prst="rect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" name="Google Shape;106;p17"/>
          <p:cNvCxnSpPr>
            <a:endCxn id="105" idx="1"/>
          </p:cNvCxnSpPr>
          <p:nvPr/>
        </p:nvCxnSpPr>
        <p:spPr>
          <a:xfrm flipH="1" rot="10800000">
            <a:off x="5370600" y="3647400"/>
            <a:ext cx="952800" cy="39900"/>
          </a:xfrm>
          <a:prstGeom prst="straightConnector1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1450" y="66050"/>
            <a:ext cx="1594700" cy="15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201" y="3741225"/>
            <a:ext cx="5645323" cy="126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type="title"/>
          </p:nvPr>
        </p:nvSpPr>
        <p:spPr>
          <a:xfrm>
            <a:off x="624300" y="8911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¿Cómo empezamos?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80075" y="1738325"/>
            <a:ext cx="5202900" cy="17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Se abrirá la ventana: Únete a una clase.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Coloca el código de clase en el espacio en blanco señalado</a:t>
            </a:r>
            <a:endParaRPr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código de la clase es: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0985" y="1738325"/>
            <a:ext cx="2717390" cy="177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780700" y="2643175"/>
            <a:ext cx="2010900" cy="337500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" name="Google Shape;117;p18"/>
          <p:cNvCxnSpPr>
            <a:endCxn id="116" idx="1"/>
          </p:cNvCxnSpPr>
          <p:nvPr/>
        </p:nvCxnSpPr>
        <p:spPr>
          <a:xfrm>
            <a:off x="2738100" y="2802025"/>
            <a:ext cx="3042600" cy="99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/>
          <p:nvPr/>
        </p:nvCxnSpPr>
        <p:spPr>
          <a:xfrm>
            <a:off x="3359775" y="3205425"/>
            <a:ext cx="13200" cy="53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Visualiza las actividades de la clase</a:t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1129475" y="1831325"/>
            <a:ext cx="3351600" cy="310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476" y="1876775"/>
            <a:ext cx="3351600" cy="306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075" y="1782075"/>
            <a:ext cx="6028274" cy="295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6500450" y="2057600"/>
            <a:ext cx="2401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 en la plataforma: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sucede al iniciar la simulación?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 el sentido o signo de giro?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Invierte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conexión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del motor con la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batería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y simula. ¿Notas un cambio?¿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graphicFrame>
        <p:nvGraphicFramePr>
          <p:cNvPr id="138" name="Google Shape;138;p21"/>
          <p:cNvGraphicFramePr/>
          <p:nvPr/>
        </p:nvGraphicFramePr>
        <p:xfrm>
          <a:off x="4823450" y="177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{19CB4272-BAF1-4DA0-A8FA-1ED3C30CB1F5}</a:tableStyleId>
              </a:tblPr>
              <a:tblGrid>
                <a:gridCol w="1086375"/>
                <a:gridCol w="1711300"/>
                <a:gridCol w="1272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Voltaje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Velocidad M1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Velocidad M2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/>
                        <a:t>12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9" name="Google Shape;139;p21"/>
          <p:cNvSpPr txBox="1"/>
          <p:nvPr/>
        </p:nvSpPr>
        <p:spPr>
          <a:xfrm>
            <a:off x="4687425" y="888788"/>
            <a:ext cx="43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simulación,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varía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el valor de los voltajes en ambas fuentes de acuerdo a la tabla, y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complétala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570925" y="4293125"/>
            <a:ext cx="4342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puedes deducir del comportamiento de los motores con respecto al voltaje de alimentación?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75" y="1429300"/>
            <a:ext cx="4402150" cy="2737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650" y="3111150"/>
            <a:ext cx="49149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459775" y="2571750"/>
            <a:ext cx="525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Al correr la simulación le das click a la fotorresistencia, se activara una barra que indica luz y oscuridad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650" y="924925"/>
            <a:ext cx="4266125" cy="176778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/>
        </p:nvSpPr>
        <p:spPr>
          <a:xfrm>
            <a:off x="2827975" y="763825"/>
            <a:ext cx="151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Fotorresistencia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" name="Google Shape;151;p22"/>
          <p:cNvCxnSpPr/>
          <p:nvPr/>
        </p:nvCxnSpPr>
        <p:spPr>
          <a:xfrm flipH="1" rot="10800000">
            <a:off x="3178825" y="1213400"/>
            <a:ext cx="87600" cy="38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2"/>
          <p:cNvCxnSpPr/>
          <p:nvPr/>
        </p:nvCxnSpPr>
        <p:spPr>
          <a:xfrm>
            <a:off x="3085675" y="3187350"/>
            <a:ext cx="718200" cy="53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2"/>
          <p:cNvCxnSpPr/>
          <p:nvPr/>
        </p:nvCxnSpPr>
        <p:spPr>
          <a:xfrm flipH="1">
            <a:off x="2904825" y="3099175"/>
            <a:ext cx="888000" cy="6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2"/>
          <p:cNvSpPr txBox="1"/>
          <p:nvPr/>
        </p:nvSpPr>
        <p:spPr>
          <a:xfrm>
            <a:off x="5590925" y="2024700"/>
            <a:ext cx="3091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Cual es el comportamiento del motor en oscuridad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Cual es el comportamiento del motor en presencia de luz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¿Cuál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es la función de la fotorresistencia?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Realiza el siguiente montaje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2827975" y="763825"/>
            <a:ext cx="151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250 kΩ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448400" y="1694675"/>
            <a:ext cx="309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Corre la simulación y responde: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Qué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 sucede al mover la rueda del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?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Describe el comportamiento del motor con el 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potenciómetro</a:t>
            </a:r>
            <a:r>
              <a:rPr lang="es-419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AutoNum type="arabicPeriod"/>
            </a:pPr>
            <a:r>
              <a:rPr lang="es-419">
                <a:latin typeface="Roboto"/>
                <a:ea typeface="Roboto"/>
                <a:cs typeface="Roboto"/>
                <a:sym typeface="Roboto"/>
              </a:rPr>
              <a:t>Establece una similitud y una diferencia entre ambos circuitos.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50" y="1694675"/>
            <a:ext cx="5286125" cy="28020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23"/>
          <p:cNvCxnSpPr>
            <a:stCxn id="160" idx="1"/>
          </p:cNvCxnSpPr>
          <p:nvPr/>
        </p:nvCxnSpPr>
        <p:spPr>
          <a:xfrm flipH="1">
            <a:off x="2718475" y="1071625"/>
            <a:ext cx="109500" cy="17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