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e0fb5c41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e0fb5c41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0fb5c41e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0fb5c41e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0fb5c41e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0fb5c41e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e1dfef7a0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e1dfef7a0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e0fb5c41e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e0fb5c41e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e1dfef7a0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e1dfef7a0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e1dfef7a0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e1dfef7a0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e1dfef7a0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e1dfef7a0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e1dfef7a0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e1dfef7a0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http://www.youtube.com/watch?v=qABaWjCuAbQ" TargetMode="Externa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scratch.mit.edu/projects/655827538" TargetMode="Externa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Introducción</a:t>
            </a:r>
            <a:r>
              <a:rPr lang="es-419"/>
              <a:t> a la Electrónica</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t>
            </a:r>
            <a:r>
              <a:rPr lang="es-419"/>
              <a:t>Qué</a:t>
            </a:r>
            <a:r>
              <a:rPr lang="es-419"/>
              <a:t> es la electrónica?</a:t>
            </a:r>
            <a:endParaRPr/>
          </a:p>
        </p:txBody>
      </p:sp>
      <p:sp>
        <p:nvSpPr>
          <p:cNvPr id="74" name="Google Shape;74;p14"/>
          <p:cNvSpPr txBox="1"/>
          <p:nvPr>
            <p:ph idx="1" type="body"/>
          </p:nvPr>
        </p:nvSpPr>
        <p:spPr>
          <a:xfrm>
            <a:off x="111950" y="1680800"/>
            <a:ext cx="5409000" cy="3462600"/>
          </a:xfrm>
          <a:prstGeom prst="rect">
            <a:avLst/>
          </a:prstGeom>
        </p:spPr>
        <p:txBody>
          <a:bodyPr anchorCtr="0" anchor="t" bIns="91425" lIns="91425" spcFirstLastPara="1" rIns="91425" wrap="square" tIns="91425">
            <a:noAutofit/>
          </a:bodyPr>
          <a:lstStyle/>
          <a:p>
            <a:pPr indent="0" lvl="0" marL="0" rtl="0" algn="just">
              <a:lnSpc>
                <a:spcPct val="150000"/>
              </a:lnSpc>
              <a:spcBef>
                <a:spcPts val="1200"/>
              </a:spcBef>
              <a:spcAft>
                <a:spcPts val="1200"/>
              </a:spcAft>
              <a:buNone/>
            </a:pPr>
            <a:r>
              <a:rPr lang="es-419" sz="1500">
                <a:solidFill>
                  <a:srgbClr val="2E2F30"/>
                </a:solidFill>
                <a:highlight>
                  <a:srgbClr val="F5F5F7"/>
                </a:highlight>
              </a:rPr>
              <a:t>La electrónica es una rama de la ciencia y la tecnología que se ocupa del estudio y la aplicación de los electrones en diversos dispositivo</a:t>
            </a:r>
            <a:r>
              <a:rPr lang="es-419" sz="1500">
                <a:solidFill>
                  <a:srgbClr val="2E2F30"/>
                </a:solidFill>
                <a:highlight>
                  <a:srgbClr val="F5F5F7"/>
                </a:highlight>
              </a:rPr>
              <a:t>s</a:t>
            </a:r>
            <a:r>
              <a:rPr lang="es-419" sz="1500">
                <a:solidFill>
                  <a:srgbClr val="2E2F30"/>
                </a:solidFill>
                <a:highlight>
                  <a:srgbClr val="F5F5F7"/>
                </a:highlight>
              </a:rPr>
              <a:t>, entre ellos, los circuitos eléctricos que incluyen componentes activos como diodos, transistores y circuitos integrados. Esta rama de la ciencia también se enfoca en el control de la electricidad y el flujo de los electrones para producir o transmitir información y energía. La electrónica se utiliza en muchos campos, como la tecnología de la información, las comunicaciones, la automoción, la medicina y muchos otros.</a:t>
            </a:r>
            <a:endParaRPr sz="2100"/>
          </a:p>
        </p:txBody>
      </p:sp>
      <p:pic>
        <p:nvPicPr>
          <p:cNvPr id="75" name="Google Shape;75;p14"/>
          <p:cNvPicPr preferRelativeResize="0"/>
          <p:nvPr/>
        </p:nvPicPr>
        <p:blipFill>
          <a:blip r:embed="rId3">
            <a:alphaModFix/>
          </a:blip>
          <a:stretch>
            <a:fillRect/>
          </a:stretch>
        </p:blipFill>
        <p:spPr>
          <a:xfrm>
            <a:off x="5694950" y="2101875"/>
            <a:ext cx="3318250" cy="228917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Evolución de la Electrónica</a:t>
            </a:r>
            <a:endParaRPr/>
          </a:p>
        </p:txBody>
      </p:sp>
      <p:sp>
        <p:nvSpPr>
          <p:cNvPr id="81" name="Google Shape;81;p15"/>
          <p:cNvSpPr txBox="1"/>
          <p:nvPr/>
        </p:nvSpPr>
        <p:spPr>
          <a:xfrm>
            <a:off x="98250" y="689400"/>
            <a:ext cx="7175400" cy="4398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rgbClr val="2E2F30"/>
              </a:buClr>
              <a:buSzPts val="1500"/>
              <a:buFont typeface="Roboto"/>
              <a:buAutoNum type="arabicPeriod"/>
            </a:pPr>
            <a:r>
              <a:rPr b="1" lang="es-419" sz="1500">
                <a:solidFill>
                  <a:srgbClr val="2E2F30"/>
                </a:solidFill>
                <a:latin typeface="Roboto"/>
                <a:ea typeface="Roboto"/>
                <a:cs typeface="Roboto"/>
                <a:sym typeface="Roboto"/>
              </a:rPr>
              <a:t>Primeras investigaciones: </a:t>
            </a:r>
            <a:r>
              <a:rPr lang="es-419" sz="1500">
                <a:solidFill>
                  <a:srgbClr val="2E2F30"/>
                </a:solidFill>
                <a:latin typeface="Roboto"/>
                <a:ea typeface="Roboto"/>
                <a:cs typeface="Roboto"/>
                <a:sym typeface="Roboto"/>
              </a:rPr>
              <a:t>En la segunda mitad del siglo XIX se llevan a cabo las primeras investigaciones sobre la relación entre electricidad y magnetismo, lo que lleva al desarrollo de los primeros componentes electrónicos como el condensador y la bobina.</a:t>
            </a:r>
            <a:endParaRPr sz="1500">
              <a:solidFill>
                <a:srgbClr val="2E2F30"/>
              </a:solidFill>
              <a:latin typeface="Roboto"/>
              <a:ea typeface="Roboto"/>
              <a:cs typeface="Roboto"/>
              <a:sym typeface="Roboto"/>
            </a:endParaRPr>
          </a:p>
          <a:p>
            <a:pPr indent="-323850" lvl="0" marL="457200" rtl="0" algn="just">
              <a:lnSpc>
                <a:spcPct val="115000"/>
              </a:lnSpc>
              <a:spcBef>
                <a:spcPts val="0"/>
              </a:spcBef>
              <a:spcAft>
                <a:spcPts val="0"/>
              </a:spcAft>
              <a:buClr>
                <a:srgbClr val="2E2F30"/>
              </a:buClr>
              <a:buSzPts val="1500"/>
              <a:buFont typeface="Roboto"/>
              <a:buAutoNum type="arabicPeriod"/>
            </a:pPr>
            <a:r>
              <a:rPr b="1" lang="es-419" sz="1500">
                <a:solidFill>
                  <a:srgbClr val="2E2F30"/>
                </a:solidFill>
                <a:latin typeface="Roboto"/>
                <a:ea typeface="Roboto"/>
                <a:cs typeface="Roboto"/>
                <a:sym typeface="Roboto"/>
              </a:rPr>
              <a:t>Invención del transistor:</a:t>
            </a:r>
            <a:r>
              <a:rPr lang="es-419" sz="1500">
                <a:solidFill>
                  <a:srgbClr val="2E2F30"/>
                </a:solidFill>
                <a:latin typeface="Roboto"/>
                <a:ea typeface="Roboto"/>
                <a:cs typeface="Roboto"/>
                <a:sym typeface="Roboto"/>
              </a:rPr>
              <a:t> En 1947, los científicos John Bardeen, Walter Brattain y William Shockley inventaron el transistor, que permitió la creación de circuitos electrónicos mucho más pequeños, eficientes y fiables.</a:t>
            </a:r>
            <a:endParaRPr sz="1500">
              <a:solidFill>
                <a:srgbClr val="2E2F30"/>
              </a:solidFill>
              <a:latin typeface="Roboto"/>
              <a:ea typeface="Roboto"/>
              <a:cs typeface="Roboto"/>
              <a:sym typeface="Roboto"/>
            </a:endParaRPr>
          </a:p>
          <a:p>
            <a:pPr indent="-323850" lvl="0" marL="457200" rtl="0" algn="just">
              <a:lnSpc>
                <a:spcPct val="115000"/>
              </a:lnSpc>
              <a:spcBef>
                <a:spcPts val="0"/>
              </a:spcBef>
              <a:spcAft>
                <a:spcPts val="0"/>
              </a:spcAft>
              <a:buClr>
                <a:srgbClr val="2E2F30"/>
              </a:buClr>
              <a:buSzPts val="1500"/>
              <a:buFont typeface="Roboto"/>
              <a:buAutoNum type="arabicPeriod"/>
            </a:pPr>
            <a:r>
              <a:rPr b="1" lang="es-419" sz="1500">
                <a:solidFill>
                  <a:srgbClr val="2E2F30"/>
                </a:solidFill>
                <a:latin typeface="Roboto"/>
                <a:ea typeface="Roboto"/>
                <a:cs typeface="Roboto"/>
                <a:sym typeface="Roboto"/>
              </a:rPr>
              <a:t>Desarrollo de la electrónica digital</a:t>
            </a:r>
            <a:r>
              <a:rPr lang="es-419" sz="1500">
                <a:solidFill>
                  <a:srgbClr val="2E2F30"/>
                </a:solidFill>
                <a:latin typeface="Roboto"/>
                <a:ea typeface="Roboto"/>
                <a:cs typeface="Roboto"/>
                <a:sym typeface="Roboto"/>
              </a:rPr>
              <a:t>: Con la invención del transistor, se desarrolló la electrónica digital, que se basa en el uso de transistores para almacenar y procesar información en forma binaria. Esto llevó a la creación de la computadora y otros dispositivos electrónicos.</a:t>
            </a:r>
            <a:endParaRPr sz="1500">
              <a:solidFill>
                <a:srgbClr val="2E2F30"/>
              </a:solidFill>
              <a:latin typeface="Roboto"/>
              <a:ea typeface="Roboto"/>
              <a:cs typeface="Roboto"/>
              <a:sym typeface="Roboto"/>
            </a:endParaRPr>
          </a:p>
          <a:p>
            <a:pPr indent="-323850" lvl="0" marL="457200" rtl="0" algn="l">
              <a:lnSpc>
                <a:spcPct val="115000"/>
              </a:lnSpc>
              <a:spcBef>
                <a:spcPts val="0"/>
              </a:spcBef>
              <a:spcAft>
                <a:spcPts val="0"/>
              </a:spcAft>
              <a:buClr>
                <a:srgbClr val="2E2F30"/>
              </a:buClr>
              <a:buSzPts val="1500"/>
              <a:buFont typeface="Roboto"/>
              <a:buAutoNum type="arabicPeriod"/>
            </a:pPr>
            <a:r>
              <a:rPr b="1" lang="es-419" sz="1500">
                <a:solidFill>
                  <a:srgbClr val="2E2F30"/>
                </a:solidFill>
                <a:latin typeface="Roboto"/>
                <a:ea typeface="Roboto"/>
                <a:cs typeface="Roboto"/>
                <a:sym typeface="Roboto"/>
              </a:rPr>
              <a:t>Aparición del circuito integrado: </a:t>
            </a:r>
            <a:r>
              <a:rPr lang="es-419" sz="1500">
                <a:solidFill>
                  <a:srgbClr val="2E2F30"/>
                </a:solidFill>
                <a:latin typeface="Roboto"/>
                <a:ea typeface="Roboto"/>
                <a:cs typeface="Roboto"/>
                <a:sym typeface="Roboto"/>
              </a:rPr>
              <a:t>En la década de 1960, se inventó el circuito integrado, que consiste en un conjunto de componentes electrónicos miniaturizados en un pequeño chip de silicio. Esto permitió la creación de dispositivos electrónicos más potentes y complejos, y sentó las bases para la era de la electrónica moderna.</a:t>
            </a:r>
            <a:endParaRPr sz="1500">
              <a:solidFill>
                <a:srgbClr val="2E2F30"/>
              </a:solidFill>
              <a:latin typeface="Roboto"/>
              <a:ea typeface="Roboto"/>
              <a:cs typeface="Roboto"/>
              <a:sym typeface="Roboto"/>
            </a:endParaRPr>
          </a:p>
        </p:txBody>
      </p:sp>
      <p:pic>
        <p:nvPicPr>
          <p:cNvPr id="82" name="Google Shape;82;p15"/>
          <p:cNvPicPr preferRelativeResize="0"/>
          <p:nvPr/>
        </p:nvPicPr>
        <p:blipFill>
          <a:blip r:embed="rId3">
            <a:alphaModFix/>
          </a:blip>
          <a:stretch>
            <a:fillRect/>
          </a:stretch>
        </p:blipFill>
        <p:spPr>
          <a:xfrm>
            <a:off x="7141825" y="3834275"/>
            <a:ext cx="2002175" cy="1121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Diferencias entre Electricidad y Electrónica</a:t>
            </a:r>
            <a:endParaRPr/>
          </a:p>
        </p:txBody>
      </p:sp>
      <p:pic>
        <p:nvPicPr>
          <p:cNvPr descr="Cuál es la diferencia entre electricidad y electrónica. La electricidad y la electrónica son dos palabras tan relacionadas que a veces confundimos ambos conceptos. A pesar de que ambas definiciones están estrechamente relacionadas presentan diferencias marcadas.&#10;La electricidad está definida como una forma de energía que se puede utilizar para múltiples aplicaciones hoy en día, partiendo del manejo de los principios y fenómenos de los cuales se obtiene, como la energía cinética y potencial aplicada en las centrales hidroeléctricas de las cuales se genera electricidad.  Por tanto, la electricidad es un fenómeno físico, resultado de la existencia e interacción de cargas eléctricas. La electricidad puede ser aprovechada a través de elementos entre los que se mencionan resistencias, calentadores, motores eléctricos, los cuales reciben el impulso eléctrico para transformar esa energía y potencia en otro tipo de energía, como por ejemplo, energía mecánica, calórica.&#10;La electrónica es una rama que pertenece a la física. Por medio de ella, se emplean dispositivos para obtener o transformar información a partir de la utilización y manejo de los fenómenos eléctricos. La electrónica trabaja con elementos activos como transistores y amplificadores operacionales, los cuales utilizan los impulsos eléctricos que reciben para transformarlos y producir información.&#10;Se puede decir que, el objetivo final de la electrónica es indicar, mostrar o informar algo, de algún modo. Para que un aparato sea considerado electrónico debe finalmente producir información. Por ejemplo, el iPhone es un aparato electrónico, por cuanto utiliza el impulso eléctrico además de otros circuitos para transmitir información.&#10;En el año 1948 se inventó el transistor. Un pequeño dispositivo, con efectos muy parecidos a los del tubo Audion, pero de dimensiones mucho más pequeñas. El transistor controla el flujo de los electrones a través de un material semiconductor en vez de hacerlo en el vacío. A este tipo de electrónica también de le llama Electrónica de estado sólido. Un transistor controla el flujo de la corriente por medio de corriente o voltaje, en cambio un tubo al vacío controla el flujo de la corriente por medio solamente de voltaje.&#10;Una vez presentadas las definiciones de electricidad y electrónica, se puede evidenciar que existen diferencias importantes entre electricidad y electrónica:&#10;• El objetivo del hombre con la electricidad es aprovechar la energía y potencia para diferentes fines, pero el objetivo final de la electrónica es transmitir información, debido a que, posee la capacidad de aprovechar el flujo de la corriente para ello.&#10;• Los aparatos que ocupan electricidad no necesariamente son electrónicos pero todo aparato electrónico debe necesariamente trabajar con electricidad.&#10;• La electricidad se encarga del flujo de electrones (energía) para ser utilizados en diferentes aplicaciones a la vida cotidiana pero la electrónica se encarga de la transmisión de información a partir de la utilización del flujo de electrones (energía).&#10;• La electricidad está asociada a la utilización de elementos pasivos como: (resistencias / resistores, condensadores / capacitores, bobinas / inductores, la electrónica está asociada a la utilización de elementos activos como: (transistores, amplificadores operacionales, SCR, etc.)&#10;• Para que un circuito sea llamado con propiedad “circuito electrónico” debe de contener por lo menos un elemento activo. Si este circuito no tiene elementos activos (sólo tiene resistores, capacitores, inductores, transformadores e incluso diodos rectificadores, todos llamados elementos pasivos)  no es un circuito genuinamente “electrónico”.&#10;Una computadora es un aparato electrónico, toma la electricidad que llega a tu casa y la trasforma a través de sus circuitos electrónicos para que puedas ver este video, e interactuar dando me gusta o compartiendo con tus amigos.&#10;En este sentido, todo lo electrónico es eléctrico, pero no necesariamente lo eléctrico es electrónico.&#10;En definitiva, con un circuito eléctrico no es posible enviar información. Con un circuito electrónico se envía información de un lugar a otro, gracias a su característica de poder controlar el flujo de la corriente." id="88" name="Google Shape;88;p16" title="🔴 Diferencia entre ELECTRICIDAD y ELECTRÓNICA 💻">
            <a:hlinkClick r:id="rId3"/>
          </p:cNvPr>
          <p:cNvPicPr preferRelativeResize="0"/>
          <p:nvPr/>
        </p:nvPicPr>
        <p:blipFill>
          <a:blip r:embed="rId4">
            <a:alphaModFix/>
          </a:blip>
          <a:stretch>
            <a:fillRect/>
          </a:stretch>
        </p:blipFill>
        <p:spPr>
          <a:xfrm>
            <a:off x="746700" y="782250"/>
            <a:ext cx="7529700" cy="4235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Algunas preguntas para repasar</a:t>
            </a:r>
            <a:endParaRPr/>
          </a:p>
        </p:txBody>
      </p:sp>
      <p:sp>
        <p:nvSpPr>
          <p:cNvPr id="94" name="Google Shape;94;p17"/>
          <p:cNvSpPr txBox="1"/>
          <p:nvPr>
            <p:ph idx="1" type="body"/>
          </p:nvPr>
        </p:nvSpPr>
        <p:spPr>
          <a:xfrm>
            <a:off x="471900" y="1919075"/>
            <a:ext cx="5062200" cy="2710200"/>
          </a:xfrm>
          <a:prstGeom prst="rect">
            <a:avLst/>
          </a:prstGeom>
        </p:spPr>
        <p:txBody>
          <a:bodyPr anchorCtr="0" anchor="t" bIns="91425" lIns="91425" spcFirstLastPara="1" rIns="91425" wrap="square" tIns="91425">
            <a:normAutofit/>
          </a:bodyPr>
          <a:lstStyle/>
          <a:p>
            <a:pPr indent="-361950" lvl="0" marL="457200" rtl="0" algn="l">
              <a:lnSpc>
                <a:spcPct val="200000"/>
              </a:lnSpc>
              <a:spcBef>
                <a:spcPts val="0"/>
              </a:spcBef>
              <a:spcAft>
                <a:spcPts val="0"/>
              </a:spcAft>
              <a:buSzPts val="2100"/>
              <a:buAutoNum type="arabicPeriod"/>
            </a:pPr>
            <a:r>
              <a:rPr lang="es-419" sz="2100"/>
              <a:t>¿Nombra algunas diferencias entre electricidad y electrónica?</a:t>
            </a:r>
            <a:endParaRPr sz="2100"/>
          </a:p>
          <a:p>
            <a:pPr indent="-361950" lvl="0" marL="457200" rtl="0" algn="l">
              <a:lnSpc>
                <a:spcPct val="200000"/>
              </a:lnSpc>
              <a:spcBef>
                <a:spcPts val="0"/>
              </a:spcBef>
              <a:spcAft>
                <a:spcPts val="0"/>
              </a:spcAft>
              <a:buSzPts val="2100"/>
              <a:buAutoNum type="arabicPeriod"/>
            </a:pPr>
            <a:r>
              <a:rPr lang="es-419" sz="2100"/>
              <a:t>Los elementos pasivos </a:t>
            </a:r>
            <a:r>
              <a:rPr lang="es-419" sz="2100"/>
              <a:t>están</a:t>
            </a:r>
            <a:r>
              <a:rPr lang="es-419" sz="2100"/>
              <a:t> asociados a cual rama.</a:t>
            </a:r>
            <a:endParaRPr sz="2100"/>
          </a:p>
        </p:txBody>
      </p:sp>
      <p:pic>
        <p:nvPicPr>
          <p:cNvPr id="95" name="Google Shape;95;p17"/>
          <p:cNvPicPr preferRelativeResize="0"/>
          <p:nvPr/>
        </p:nvPicPr>
        <p:blipFill>
          <a:blip r:embed="rId3">
            <a:alphaModFix/>
          </a:blip>
          <a:stretch>
            <a:fillRect/>
          </a:stretch>
        </p:blipFill>
        <p:spPr>
          <a:xfrm>
            <a:off x="5534100" y="1723650"/>
            <a:ext cx="3305101" cy="33051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Circuito </a:t>
            </a:r>
            <a:r>
              <a:rPr lang="es-419"/>
              <a:t>Eléctrico</a:t>
            </a:r>
            <a:endParaRPr/>
          </a:p>
        </p:txBody>
      </p:sp>
      <p:sp>
        <p:nvSpPr>
          <p:cNvPr id="101" name="Google Shape;101;p18"/>
          <p:cNvSpPr txBox="1"/>
          <p:nvPr>
            <p:ph idx="1" type="body"/>
          </p:nvPr>
        </p:nvSpPr>
        <p:spPr>
          <a:xfrm>
            <a:off x="471900" y="1919075"/>
            <a:ext cx="4033500" cy="27102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1200"/>
              </a:spcAft>
              <a:buSzPts val="1018"/>
              <a:buNone/>
            </a:pPr>
            <a:r>
              <a:rPr lang="es-419" sz="1673">
                <a:solidFill>
                  <a:srgbClr val="2E2F30"/>
                </a:solidFill>
                <a:highlight>
                  <a:srgbClr val="F5F5F7"/>
                </a:highlight>
              </a:rPr>
              <a:t> Es un conjunto de elementos eléctricos interconectados que permiten la circulación de una corriente eléctrica en un circuito cerrado. La corriente eléctrica fluye a través de los elementos del circuito, lo que permite la transferencia de energía eléctrica de un punto a otro. </a:t>
            </a:r>
            <a:endParaRPr sz="2228"/>
          </a:p>
        </p:txBody>
      </p:sp>
      <p:pic>
        <p:nvPicPr>
          <p:cNvPr id="102" name="Google Shape;102;p18"/>
          <p:cNvPicPr preferRelativeResize="0"/>
          <p:nvPr/>
        </p:nvPicPr>
        <p:blipFill>
          <a:blip r:embed="rId3">
            <a:alphaModFix/>
          </a:blip>
          <a:stretch>
            <a:fillRect/>
          </a:stretch>
        </p:blipFill>
        <p:spPr>
          <a:xfrm>
            <a:off x="5203575" y="1770650"/>
            <a:ext cx="3327375" cy="2661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Circuito Serie</a:t>
            </a:r>
            <a:endParaRPr/>
          </a:p>
        </p:txBody>
      </p:sp>
      <p:sp>
        <p:nvSpPr>
          <p:cNvPr id="108" name="Google Shape;108;p19"/>
          <p:cNvSpPr txBox="1"/>
          <p:nvPr>
            <p:ph idx="1" type="body"/>
          </p:nvPr>
        </p:nvSpPr>
        <p:spPr>
          <a:xfrm>
            <a:off x="471900" y="1919075"/>
            <a:ext cx="4400700" cy="30411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1200"/>
              </a:spcAft>
              <a:buSzPts val="1018"/>
              <a:buNone/>
            </a:pPr>
            <a:r>
              <a:rPr lang="es-419" sz="1400">
                <a:solidFill>
                  <a:srgbClr val="2E2F30"/>
                </a:solidFill>
                <a:highlight>
                  <a:srgbClr val="F5F5F7"/>
                </a:highlight>
              </a:rPr>
              <a:t>Es una configuración en la que los componentes eléctricos (como resistencias, condensadores, diodos, etc.) están conectados uno después del otro, de modo que la corriente eléctrica fluye a través de cada componente en secuencia. Esto significa que la misma corriente fluye a través de cada componente, lo que tiene implicaciones importantes para la forma en que se calculan las resistencias y otras propiedades del circuito.</a:t>
            </a:r>
            <a:endParaRPr sz="2428"/>
          </a:p>
        </p:txBody>
      </p:sp>
      <p:pic>
        <p:nvPicPr>
          <p:cNvPr id="109" name="Google Shape;109;p19"/>
          <p:cNvPicPr preferRelativeResize="0"/>
          <p:nvPr/>
        </p:nvPicPr>
        <p:blipFill>
          <a:blip r:embed="rId3">
            <a:alphaModFix/>
          </a:blip>
          <a:stretch>
            <a:fillRect/>
          </a:stretch>
        </p:blipFill>
        <p:spPr>
          <a:xfrm>
            <a:off x="5063575" y="2119588"/>
            <a:ext cx="3966600" cy="26400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Circuito Paralelo</a:t>
            </a:r>
            <a:endParaRPr/>
          </a:p>
        </p:txBody>
      </p:sp>
      <p:sp>
        <p:nvSpPr>
          <p:cNvPr id="115" name="Google Shape;115;p20"/>
          <p:cNvSpPr txBox="1"/>
          <p:nvPr>
            <p:ph idx="1" type="body"/>
          </p:nvPr>
        </p:nvSpPr>
        <p:spPr>
          <a:xfrm>
            <a:off x="471900" y="1919075"/>
            <a:ext cx="4400700" cy="30411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1200"/>
              </a:spcAft>
              <a:buSzPts val="1018"/>
              <a:buNone/>
            </a:pPr>
            <a:r>
              <a:rPr lang="es-419" sz="1400">
                <a:solidFill>
                  <a:srgbClr val="2E2F30"/>
                </a:solidFill>
                <a:highlight>
                  <a:srgbClr val="F5F5F7"/>
                </a:highlight>
              </a:rPr>
              <a:t>Un circuito eléctrico en paralelo es una configuración en la que los componentes eléctricos (como resistencias, capacitores, diodos, etc.) están conectados de tal manera que están conectados en paralelo uno con otro, es decir, están conectados utilizando dos nodos en común. En otras palabras, cada componente eléctrico está conectado directamente a la fuente de alimentación e independiente de los demás componentes.</a:t>
            </a:r>
            <a:endParaRPr sz="2628"/>
          </a:p>
        </p:txBody>
      </p:sp>
      <p:pic>
        <p:nvPicPr>
          <p:cNvPr id="116" name="Google Shape;116;p20"/>
          <p:cNvPicPr preferRelativeResize="0"/>
          <p:nvPr/>
        </p:nvPicPr>
        <p:blipFill>
          <a:blip r:embed="rId3">
            <a:alphaModFix/>
          </a:blip>
          <a:stretch>
            <a:fillRect/>
          </a:stretch>
        </p:blipFill>
        <p:spPr>
          <a:xfrm>
            <a:off x="5025000" y="2324012"/>
            <a:ext cx="3966602" cy="22312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Actividad en Scratch</a:t>
            </a:r>
            <a:endParaRPr/>
          </a:p>
        </p:txBody>
      </p:sp>
      <p:sp>
        <p:nvSpPr>
          <p:cNvPr id="122" name="Google Shape;122;p21"/>
          <p:cNvSpPr txBox="1"/>
          <p:nvPr/>
        </p:nvSpPr>
        <p:spPr>
          <a:xfrm>
            <a:off x="288900" y="1751650"/>
            <a:ext cx="5578500" cy="326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419" sz="2000">
                <a:latin typeface="Roboto"/>
                <a:ea typeface="Roboto"/>
                <a:cs typeface="Roboto"/>
                <a:sym typeface="Roboto"/>
              </a:rPr>
              <a:t>Para la siguiente simulación en </a:t>
            </a:r>
            <a:r>
              <a:rPr lang="es-419" sz="2000" u="sng">
                <a:solidFill>
                  <a:schemeClr val="hlink"/>
                </a:solidFill>
                <a:latin typeface="Roboto"/>
                <a:ea typeface="Roboto"/>
                <a:cs typeface="Roboto"/>
                <a:sym typeface="Roboto"/>
                <a:hlinkClick r:id="rId3"/>
              </a:rPr>
              <a:t>SCRATCH</a:t>
            </a:r>
            <a:r>
              <a:rPr lang="es-419" sz="2000">
                <a:latin typeface="Roboto"/>
                <a:ea typeface="Roboto"/>
                <a:cs typeface="Roboto"/>
                <a:sym typeface="Roboto"/>
              </a:rPr>
              <a:t>:</a:t>
            </a:r>
            <a:endParaRPr sz="2000">
              <a:latin typeface="Roboto"/>
              <a:ea typeface="Roboto"/>
              <a:cs typeface="Roboto"/>
              <a:sym typeface="Roboto"/>
            </a:endParaRPr>
          </a:p>
          <a:p>
            <a:pPr indent="-355600" lvl="0" marL="457200" rtl="0" algn="just">
              <a:lnSpc>
                <a:spcPct val="150000"/>
              </a:lnSpc>
              <a:spcBef>
                <a:spcPts val="0"/>
              </a:spcBef>
              <a:spcAft>
                <a:spcPts val="0"/>
              </a:spcAft>
              <a:buSzPts val="2000"/>
              <a:buFont typeface="Roboto"/>
              <a:buAutoNum type="arabicPeriod"/>
            </a:pPr>
            <a:r>
              <a:rPr lang="es-419" sz="2000">
                <a:latin typeface="Roboto"/>
                <a:ea typeface="Roboto"/>
                <a:cs typeface="Roboto"/>
                <a:sym typeface="Roboto"/>
              </a:rPr>
              <a:t>Observe y analice lo que hace la simulación para cada caso.</a:t>
            </a:r>
            <a:endParaRPr sz="2000">
              <a:latin typeface="Roboto"/>
              <a:ea typeface="Roboto"/>
              <a:cs typeface="Roboto"/>
              <a:sym typeface="Roboto"/>
            </a:endParaRPr>
          </a:p>
          <a:p>
            <a:pPr indent="-355600" lvl="0" marL="457200" rtl="0" algn="l">
              <a:lnSpc>
                <a:spcPct val="150000"/>
              </a:lnSpc>
              <a:spcBef>
                <a:spcPts val="0"/>
              </a:spcBef>
              <a:spcAft>
                <a:spcPts val="0"/>
              </a:spcAft>
              <a:buClr>
                <a:srgbClr val="1D2125"/>
              </a:buClr>
              <a:buSzPts val="2000"/>
              <a:buFont typeface="Roboto"/>
              <a:buAutoNum type="arabicPeriod"/>
            </a:pPr>
            <a:r>
              <a:rPr lang="es-419" sz="2000">
                <a:latin typeface="Roboto"/>
                <a:ea typeface="Roboto"/>
                <a:cs typeface="Roboto"/>
                <a:sym typeface="Roboto"/>
              </a:rPr>
              <a:t>Elimine la configuración simple y paralelo, y en la configuración serie </a:t>
            </a:r>
            <a:r>
              <a:rPr lang="es-419" sz="2000">
                <a:latin typeface="Roboto"/>
                <a:ea typeface="Roboto"/>
                <a:cs typeface="Roboto"/>
                <a:sym typeface="Roboto"/>
              </a:rPr>
              <a:t>modificarla</a:t>
            </a:r>
            <a:r>
              <a:rPr lang="es-419" sz="2000">
                <a:latin typeface="Roboto"/>
                <a:ea typeface="Roboto"/>
                <a:cs typeface="Roboto"/>
                <a:sym typeface="Roboto"/>
              </a:rPr>
              <a:t> para que usando una variable cambie la velocidad del movimiento de los electrones</a:t>
            </a:r>
            <a:r>
              <a:rPr lang="es-419" sz="2000">
                <a:solidFill>
                  <a:srgbClr val="1D2125"/>
                </a:solidFill>
                <a:highlight>
                  <a:srgbClr val="F8F9FA"/>
                </a:highlight>
                <a:latin typeface="Roboto"/>
                <a:ea typeface="Roboto"/>
                <a:cs typeface="Roboto"/>
                <a:sym typeface="Roboto"/>
              </a:rPr>
              <a:t>.</a:t>
            </a:r>
            <a:endParaRPr sz="2000">
              <a:latin typeface="Roboto"/>
              <a:ea typeface="Roboto"/>
              <a:cs typeface="Roboto"/>
              <a:sym typeface="Roboto"/>
            </a:endParaRPr>
          </a:p>
        </p:txBody>
      </p:sp>
      <p:pic>
        <p:nvPicPr>
          <p:cNvPr id="123" name="Google Shape;123;p21"/>
          <p:cNvPicPr preferRelativeResize="0"/>
          <p:nvPr/>
        </p:nvPicPr>
        <p:blipFill>
          <a:blip r:embed="rId4">
            <a:alphaModFix/>
          </a:blip>
          <a:stretch>
            <a:fillRect/>
          </a:stretch>
        </p:blipFill>
        <p:spPr>
          <a:xfrm>
            <a:off x="5965075" y="2296025"/>
            <a:ext cx="2971801" cy="217434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