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e0fb5c41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e0fb5c41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0fb5c41e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0fb5c41e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0fb5c41e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0fb5c41e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e0fb5c41e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e0fb5c41e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e0fb5c41e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e0fb5c41e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e0fb5c41e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e0fb5c41e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e0fb5c41e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e0fb5c41e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e0fb5c41e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e0fb5c41e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e0fb5c41e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e0fb5c41e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e0fb5c41e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e0fb5c41e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e0fb5c41e0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e0fb5c41e0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e0fb5c41e0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e0fb5c41e0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e0fb5c41e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e0fb5c41e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e0fb5c41e0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e0fb5c41e0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f52d43c89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f52d43c89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f52d43c89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f52d43c89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t_xK2m444BQ" TargetMode="Externa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www.youtube.com/watch?v=2Et1PL1udfY" TargetMode="Externa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youtube.com/watch?v=w7rVwmSOUPs" TargetMode="Externa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GFIoKLqU3IE" TargetMode="External"/><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SyoPYsNhNQk" TargetMode="Externa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scratch.mit.edu/projects/2168016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Introducción</a:t>
            </a:r>
            <a:r>
              <a:rPr lang="es-419"/>
              <a:t> a la Electricidad</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Historia de la electricidad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Historia de la Electricidad</a:t>
            </a:r>
            <a:endParaRPr/>
          </a:p>
        </p:txBody>
      </p:sp>
      <p:sp>
        <p:nvSpPr>
          <p:cNvPr id="74" name="Google Shape;74;p14"/>
          <p:cNvSpPr txBox="1"/>
          <p:nvPr>
            <p:ph idx="1" type="body"/>
          </p:nvPr>
        </p:nvSpPr>
        <p:spPr>
          <a:xfrm>
            <a:off x="111950" y="1680800"/>
            <a:ext cx="6985200" cy="3462600"/>
          </a:xfrm>
          <a:prstGeom prst="rect">
            <a:avLst/>
          </a:prstGeom>
        </p:spPr>
        <p:txBody>
          <a:bodyPr anchorCtr="0" anchor="t" bIns="91425" lIns="91425" spcFirstLastPara="1" rIns="91425" wrap="square" tIns="91425">
            <a:noAutofit/>
          </a:bodyPr>
          <a:lstStyle/>
          <a:p>
            <a:pPr indent="-329883" lvl="0" marL="457200" rtl="0" algn="l">
              <a:lnSpc>
                <a:spcPct val="105000"/>
              </a:lnSpc>
              <a:spcBef>
                <a:spcPts val="0"/>
              </a:spcBef>
              <a:spcAft>
                <a:spcPts val="0"/>
              </a:spcAft>
              <a:buSzPts val="1595"/>
              <a:buChar char="●"/>
            </a:pPr>
            <a:r>
              <a:rPr lang="es-419" sz="1595"/>
              <a:t>Los antiguos egipcios registraron el efecto de las descargas producidas por ciertos peces.</a:t>
            </a:r>
            <a:endParaRPr sz="1595"/>
          </a:p>
          <a:p>
            <a:pPr indent="-329883" lvl="0" marL="457200" rtl="0" algn="l">
              <a:lnSpc>
                <a:spcPct val="105000"/>
              </a:lnSpc>
              <a:spcBef>
                <a:spcPts val="0"/>
              </a:spcBef>
              <a:spcAft>
                <a:spcPts val="0"/>
              </a:spcAft>
              <a:buSzPts val="1595"/>
              <a:buChar char="●"/>
            </a:pPr>
            <a:r>
              <a:rPr lang="es-419" sz="1595"/>
              <a:t>Los Griegos conocieron y experimentaron con la capacidad electrostática del ámbar y de otros materiales. Hacia el año 600 A.C., Tales de Mileto logró utilizar la estática generada al frotar una barra de ámbar contra el pelo de su gato.</a:t>
            </a:r>
            <a:endParaRPr sz="1595"/>
          </a:p>
          <a:p>
            <a:pPr indent="-329883" lvl="0" marL="457200" rtl="0" algn="l">
              <a:lnSpc>
                <a:spcPct val="105000"/>
              </a:lnSpc>
              <a:spcBef>
                <a:spcPts val="0"/>
              </a:spcBef>
              <a:spcAft>
                <a:spcPts val="0"/>
              </a:spcAft>
              <a:buSzPts val="1595"/>
              <a:buChar char="●"/>
            </a:pPr>
            <a:r>
              <a:rPr lang="es-419" sz="1595"/>
              <a:t>El término “electricidad”, apareció en el año 1600, gracias al científico inglés William Gilbert.</a:t>
            </a:r>
            <a:endParaRPr sz="1595"/>
          </a:p>
          <a:p>
            <a:pPr indent="-329883" lvl="0" marL="457200" rtl="0" algn="l">
              <a:lnSpc>
                <a:spcPct val="105000"/>
              </a:lnSpc>
              <a:spcBef>
                <a:spcPts val="0"/>
              </a:spcBef>
              <a:spcAft>
                <a:spcPts val="0"/>
              </a:spcAft>
              <a:buSzPts val="1595"/>
              <a:buChar char="●"/>
            </a:pPr>
            <a:r>
              <a:rPr lang="es-419" sz="1595"/>
              <a:t>En el siglo XIX:</a:t>
            </a:r>
            <a:endParaRPr sz="1595"/>
          </a:p>
          <a:p>
            <a:pPr indent="-310198" lvl="1" marL="914400" rtl="0" algn="l">
              <a:lnSpc>
                <a:spcPct val="105000"/>
              </a:lnSpc>
              <a:spcBef>
                <a:spcPts val="0"/>
              </a:spcBef>
              <a:spcAft>
                <a:spcPts val="0"/>
              </a:spcAft>
              <a:buSzPts val="1285"/>
              <a:buChar char="○"/>
            </a:pPr>
            <a:r>
              <a:rPr lang="es-419" sz="1285"/>
              <a:t>Georg Ohm y Michael Faraday, permitieron el desarrollo de una ingeniería eléctrica capaz de generar y almacenar energía.</a:t>
            </a:r>
            <a:endParaRPr sz="1285"/>
          </a:p>
          <a:p>
            <a:pPr indent="-310198" lvl="1" marL="914400" rtl="0" algn="l">
              <a:lnSpc>
                <a:spcPct val="105000"/>
              </a:lnSpc>
              <a:spcBef>
                <a:spcPts val="0"/>
              </a:spcBef>
              <a:spcAft>
                <a:spcPts val="0"/>
              </a:spcAft>
              <a:buSzPts val="1285"/>
              <a:buChar char="○"/>
            </a:pPr>
            <a:r>
              <a:rPr lang="es-419" sz="1285"/>
              <a:t>En los Estados Unidos tuvo lugar la  “guerra de las corrientes”, entre Thomas Edison, creador de la primera red de energía eléctrica y su antiguo empleado Nikola Tesla, inventor de la corriente alterna.</a:t>
            </a:r>
            <a:endParaRPr sz="1285"/>
          </a:p>
        </p:txBody>
      </p:sp>
      <p:pic>
        <p:nvPicPr>
          <p:cNvPr id="75" name="Google Shape;75;p14"/>
          <p:cNvPicPr preferRelativeResize="0"/>
          <p:nvPr/>
        </p:nvPicPr>
        <p:blipFill>
          <a:blip r:embed="rId3">
            <a:alphaModFix/>
          </a:blip>
          <a:stretch>
            <a:fillRect/>
          </a:stretch>
        </p:blipFill>
        <p:spPr>
          <a:xfrm rot="5400000">
            <a:off x="6659373" y="2534714"/>
            <a:ext cx="3109825" cy="1754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Historia de la Electricidad</a:t>
            </a:r>
            <a:endParaRPr/>
          </a:p>
        </p:txBody>
      </p:sp>
      <p:pic>
        <p:nvPicPr>
          <p:cNvPr descr="¿Sabías que las rayas son capaces de generar corrientes eléctricas que consiguen aturdir e incluso matar a sus víctimas? Aprende más y suscríbete: http://bit.ly/CreadoresSub&#10;&#10;Los antiguos egipcios registraron el efecto de las descargas producidas por ciertos peces. Los Griegos conocieron y experimentaron con la capacidad electrostática del ámbar y de otros materiales. Hacia el año 600 A.C., Tales de Mileto logró utilizar la estática generada al frotar una barra de ámbar contra el pelo de su gato. Se trató del primer motor eléctrico jamás registrado.&#10;El término “electricidad”, apareció en el año 1600, gracias al científico inglés William Gilbert. En el siglo XIX, Georg Ohm y Michael Faraday, permitieron el desarrollo de una ingeniería eléctrica capaz de generar y almacenar energía.&#10;En los Estados Unidos, durante los últimos años del siglo, con la llamada “guerra de las corrientes”, entre Thomas Edison, creador de la primera red de energía eléctrica y su antiguo empleado Nikola Tesla, inventor de la corriente alterna. ¡No te pierdas #NubeElectricidad!&#10;&#10;Juega y diviértete en Creápolis, el mundo de Los Creadores! http://www.creapolisgame.com&#10;&#10;Escucha nuestra música en:&#10;Spotify ► http://bit.ly/spotifyLC&#10;iTunes ► http://itun.es/ar/DgflT&#10;&#10;Síguenos en nuestras Redes Sociales:&#10;Facebook ► http://facebook.com/LosCreadoresOK&#10;Twitter ► http://twitter.com/LosCreadoresOK&#10;&#10;-----------------------------------------------------&#10;&#10;Los Creadores es la primera serie animada que combina 3D y Live Action. Acompaña a Los Creadores y al Profesor Ricky en la fantástica aventura de crear e innovar. Pero... el Dr. Testa junto a su ayudante Rocka, intentarán destruir las creaciones que este grupo de creadores buscan para solucionar los problemas que los preocupan. ¿Qué se ocultará detrás de ese deseo de destrucción?" id="81" name="Google Shape;81;p15" title="La Curiosa Historia de la Electricidad - Los Creadores">
            <a:hlinkClick r:id="rId3"/>
          </p:cNvPr>
          <p:cNvPicPr preferRelativeResize="0"/>
          <p:nvPr/>
        </p:nvPicPr>
        <p:blipFill>
          <a:blip r:embed="rId4">
            <a:alphaModFix/>
          </a:blip>
          <a:stretch>
            <a:fillRect/>
          </a:stretch>
        </p:blipFill>
        <p:spPr>
          <a:xfrm>
            <a:off x="1616775" y="1764850"/>
            <a:ext cx="5589375" cy="3144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Algunas preguntas para repasar</a:t>
            </a:r>
            <a:endParaRPr/>
          </a:p>
        </p:txBody>
      </p:sp>
      <p:sp>
        <p:nvSpPr>
          <p:cNvPr id="87" name="Google Shape;87;p16"/>
          <p:cNvSpPr txBox="1"/>
          <p:nvPr>
            <p:ph idx="1" type="body"/>
          </p:nvPr>
        </p:nvSpPr>
        <p:spPr>
          <a:xfrm>
            <a:off x="471900" y="1919075"/>
            <a:ext cx="5062200" cy="27102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AutoNum type="arabicPeriod"/>
            </a:pPr>
            <a:r>
              <a:rPr lang="es-419"/>
              <a:t>¿</a:t>
            </a:r>
            <a:r>
              <a:rPr lang="es-419"/>
              <a:t>Cómo</a:t>
            </a:r>
            <a:r>
              <a:rPr lang="es-419"/>
              <a:t> experimentaron los </a:t>
            </a:r>
            <a:r>
              <a:rPr lang="es-419"/>
              <a:t>egipcios la</a:t>
            </a:r>
            <a:r>
              <a:rPr lang="es-419"/>
              <a:t> electricidad?</a:t>
            </a:r>
            <a:endParaRPr/>
          </a:p>
          <a:p>
            <a:pPr indent="-342900" lvl="0" marL="457200" rtl="0" algn="l">
              <a:lnSpc>
                <a:spcPct val="200000"/>
              </a:lnSpc>
              <a:spcBef>
                <a:spcPts val="0"/>
              </a:spcBef>
              <a:spcAft>
                <a:spcPts val="0"/>
              </a:spcAft>
              <a:buSzPts val="1800"/>
              <a:buAutoNum type="arabicPeriod"/>
            </a:pPr>
            <a:r>
              <a:rPr lang="es-419"/>
              <a:t>¿De donde proviene la palabra electricidad?</a:t>
            </a:r>
            <a:endParaRPr/>
          </a:p>
          <a:p>
            <a:pPr indent="-342900" lvl="0" marL="457200" rtl="0" algn="l">
              <a:lnSpc>
                <a:spcPct val="200000"/>
              </a:lnSpc>
              <a:spcBef>
                <a:spcPts val="0"/>
              </a:spcBef>
              <a:spcAft>
                <a:spcPts val="0"/>
              </a:spcAft>
              <a:buSzPts val="1800"/>
              <a:buAutoNum type="arabicPeriod"/>
            </a:pPr>
            <a:r>
              <a:rPr lang="es-419"/>
              <a:t>¿</a:t>
            </a:r>
            <a:r>
              <a:rPr lang="es-419"/>
              <a:t>Qué</a:t>
            </a:r>
            <a:r>
              <a:rPr lang="es-419"/>
              <a:t> lograron Faraday y Ohm?</a:t>
            </a:r>
            <a:endParaRPr/>
          </a:p>
          <a:p>
            <a:pPr indent="-342900" lvl="0" marL="457200" rtl="0" algn="l">
              <a:lnSpc>
                <a:spcPct val="200000"/>
              </a:lnSpc>
              <a:spcBef>
                <a:spcPts val="0"/>
              </a:spcBef>
              <a:spcAft>
                <a:spcPts val="0"/>
              </a:spcAft>
              <a:buSzPts val="1800"/>
              <a:buAutoNum type="arabicPeriod"/>
            </a:pPr>
            <a:r>
              <a:rPr lang="es-419"/>
              <a:t>¿Qué fue la Guerra de las corrientes?</a:t>
            </a:r>
            <a:endParaRPr/>
          </a:p>
        </p:txBody>
      </p:sp>
      <p:pic>
        <p:nvPicPr>
          <p:cNvPr id="88" name="Google Shape;88;p16"/>
          <p:cNvPicPr preferRelativeResize="0"/>
          <p:nvPr/>
        </p:nvPicPr>
        <p:blipFill>
          <a:blip r:embed="rId3">
            <a:alphaModFix/>
          </a:blip>
          <a:stretch>
            <a:fillRect/>
          </a:stretch>
        </p:blipFill>
        <p:spPr>
          <a:xfrm>
            <a:off x="5654625" y="2335600"/>
            <a:ext cx="3305100" cy="19995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Fundamentos de la Electricidad</a:t>
            </a:r>
            <a:endParaRPr/>
          </a:p>
        </p:txBody>
      </p:sp>
      <p:sp>
        <p:nvSpPr>
          <p:cNvPr id="94" name="Google Shape;94;p17"/>
          <p:cNvSpPr txBox="1"/>
          <p:nvPr>
            <p:ph idx="1" type="body"/>
          </p:nvPr>
        </p:nvSpPr>
        <p:spPr>
          <a:xfrm>
            <a:off x="471900" y="1919075"/>
            <a:ext cx="4608300" cy="2710200"/>
          </a:xfrm>
          <a:prstGeom prst="rect">
            <a:avLst/>
          </a:prstGeom>
        </p:spPr>
        <p:txBody>
          <a:bodyPr anchorCtr="0" anchor="t" bIns="91425" lIns="91425" spcFirstLastPara="1" rIns="91425" wrap="square" tIns="91425">
            <a:normAutofit fontScale="92500" lnSpcReduction="20000"/>
          </a:bodyPr>
          <a:lstStyle/>
          <a:p>
            <a:pPr indent="0" lvl="0" marL="0" rtl="0" algn="l">
              <a:lnSpc>
                <a:spcPct val="150000"/>
              </a:lnSpc>
              <a:spcBef>
                <a:spcPts val="0"/>
              </a:spcBef>
              <a:spcAft>
                <a:spcPts val="1200"/>
              </a:spcAft>
              <a:buNone/>
            </a:pPr>
            <a:r>
              <a:rPr lang="es-419" sz="1750">
                <a:solidFill>
                  <a:srgbClr val="1D2125"/>
                </a:solidFill>
                <a:highlight>
                  <a:srgbClr val="FFFFFF"/>
                </a:highlight>
              </a:rPr>
              <a:t>La electricidad existe en la naturaleza, un ejemplo claro son los rayos; el  hombre con un curiosidad innata ha logrado estudiarla y aprovecharla para el beneficio de la humanidad, controlando el  movimiento de las electrones a través de los átomos para producir iluminación, calor y ser usado por los equipos electrónicos que tenemos en nuestros hogares.</a:t>
            </a:r>
            <a:endParaRPr sz="2400"/>
          </a:p>
        </p:txBody>
      </p:sp>
      <p:pic>
        <p:nvPicPr>
          <p:cNvPr id="95" name="Google Shape;95;p17"/>
          <p:cNvPicPr preferRelativeResize="0"/>
          <p:nvPr/>
        </p:nvPicPr>
        <p:blipFill>
          <a:blip r:embed="rId3">
            <a:alphaModFix/>
          </a:blip>
          <a:stretch>
            <a:fillRect/>
          </a:stretch>
        </p:blipFill>
        <p:spPr>
          <a:xfrm>
            <a:off x="5168900" y="1794175"/>
            <a:ext cx="3759000" cy="317635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Fundamentos de la Electricidad</a:t>
            </a:r>
            <a:endParaRPr/>
          </a:p>
        </p:txBody>
      </p:sp>
      <p:pic>
        <p:nvPicPr>
          <p:cNvPr descr="Pon mucha atención por que hoy hablaremos de La Electricidad.&#10;&#10;Dirección de Televisión Universitaria&#10;&#10;Síguenos en nuestras Redes Sociales:&#10;&#10;Facebook https://www.facebook.com/tvuat/&#10;&#10;Twitter https://twitter.com/TVUAT" id="101" name="Google Shape;101;p18" title="TVUAT | Ciencia para Niños: La Electricidad">
            <a:hlinkClick r:id="rId3"/>
          </p:cNvPr>
          <p:cNvPicPr preferRelativeResize="0"/>
          <p:nvPr/>
        </p:nvPicPr>
        <p:blipFill>
          <a:blip r:embed="rId4">
            <a:alphaModFix/>
          </a:blip>
          <a:stretch>
            <a:fillRect/>
          </a:stretch>
        </p:blipFill>
        <p:spPr>
          <a:xfrm>
            <a:off x="1562800" y="1562175"/>
            <a:ext cx="6194978" cy="3484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Algunas preguntas para repasar</a:t>
            </a:r>
            <a:endParaRPr/>
          </a:p>
        </p:txBody>
      </p:sp>
      <p:sp>
        <p:nvSpPr>
          <p:cNvPr id="107" name="Google Shape;107;p19"/>
          <p:cNvSpPr txBox="1"/>
          <p:nvPr>
            <p:ph idx="1" type="body"/>
          </p:nvPr>
        </p:nvSpPr>
        <p:spPr>
          <a:xfrm>
            <a:off x="471900" y="1919075"/>
            <a:ext cx="5062200" cy="27102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AutoNum type="arabicPeriod" startAt="5"/>
            </a:pPr>
            <a:r>
              <a:rPr lang="es-419"/>
              <a:t>¿</a:t>
            </a:r>
            <a:r>
              <a:rPr lang="es-419"/>
              <a:t>Cómo</a:t>
            </a:r>
            <a:r>
              <a:rPr lang="es-419"/>
              <a:t> está compuesto el átomo?</a:t>
            </a:r>
            <a:endParaRPr/>
          </a:p>
          <a:p>
            <a:pPr indent="-342900" lvl="0" marL="457200" rtl="0" algn="l">
              <a:lnSpc>
                <a:spcPct val="200000"/>
              </a:lnSpc>
              <a:spcBef>
                <a:spcPts val="0"/>
              </a:spcBef>
              <a:spcAft>
                <a:spcPts val="0"/>
              </a:spcAft>
              <a:buSzPts val="1800"/>
              <a:buAutoNum type="arabicPeriod" startAt="5"/>
            </a:pPr>
            <a:r>
              <a:rPr lang="es-419"/>
              <a:t>¿</a:t>
            </a:r>
            <a:r>
              <a:rPr lang="es-419"/>
              <a:t>Cuáles</a:t>
            </a:r>
            <a:r>
              <a:rPr lang="es-419"/>
              <a:t> son los elementos de un circuito </a:t>
            </a:r>
            <a:r>
              <a:rPr lang="es-419"/>
              <a:t>eléctrico</a:t>
            </a:r>
            <a:r>
              <a:rPr lang="es-419"/>
              <a:t>?</a:t>
            </a:r>
            <a:endParaRPr/>
          </a:p>
          <a:p>
            <a:pPr indent="-342900" lvl="0" marL="457200" rtl="0" algn="l">
              <a:lnSpc>
                <a:spcPct val="200000"/>
              </a:lnSpc>
              <a:spcBef>
                <a:spcPts val="0"/>
              </a:spcBef>
              <a:spcAft>
                <a:spcPts val="0"/>
              </a:spcAft>
              <a:buSzPts val="1800"/>
              <a:buAutoNum type="arabicPeriod" startAt="5"/>
            </a:pPr>
            <a:r>
              <a:rPr lang="es-419"/>
              <a:t>¿Puedes explicar lo que sucede cuando hay </a:t>
            </a:r>
            <a:r>
              <a:rPr lang="es-419"/>
              <a:t>relámpagos</a:t>
            </a:r>
            <a:r>
              <a:rPr lang="es-419"/>
              <a:t>, truenos y rayos?</a:t>
            </a:r>
            <a:endParaRPr/>
          </a:p>
        </p:txBody>
      </p:sp>
      <p:pic>
        <p:nvPicPr>
          <p:cNvPr id="108" name="Google Shape;108;p19"/>
          <p:cNvPicPr preferRelativeResize="0"/>
          <p:nvPr/>
        </p:nvPicPr>
        <p:blipFill>
          <a:blip r:embed="rId3">
            <a:alphaModFix/>
          </a:blip>
          <a:stretch>
            <a:fillRect/>
          </a:stretch>
        </p:blipFill>
        <p:spPr>
          <a:xfrm>
            <a:off x="5592575" y="2094825"/>
            <a:ext cx="3327375" cy="2661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Centrales Eléctricas</a:t>
            </a:r>
            <a:endParaRPr/>
          </a:p>
        </p:txBody>
      </p:sp>
      <p:sp>
        <p:nvSpPr>
          <p:cNvPr id="114" name="Google Shape;114;p20"/>
          <p:cNvSpPr txBox="1"/>
          <p:nvPr>
            <p:ph idx="1" type="body"/>
          </p:nvPr>
        </p:nvSpPr>
        <p:spPr>
          <a:xfrm>
            <a:off x="471900" y="1919075"/>
            <a:ext cx="5062200" cy="2710200"/>
          </a:xfrm>
          <a:prstGeom prst="rect">
            <a:avLst/>
          </a:prstGeom>
        </p:spPr>
        <p:txBody>
          <a:bodyPr anchorCtr="0" anchor="t" bIns="91425" lIns="91425" spcFirstLastPara="1" rIns="91425" wrap="square" tIns="91425">
            <a:normAutofit fontScale="77500" lnSpcReduction="20000"/>
          </a:bodyPr>
          <a:lstStyle/>
          <a:p>
            <a:pPr indent="0" lvl="0" marL="0" rtl="0" algn="l">
              <a:lnSpc>
                <a:spcPct val="200000"/>
              </a:lnSpc>
              <a:spcBef>
                <a:spcPts val="0"/>
              </a:spcBef>
              <a:spcAft>
                <a:spcPts val="1200"/>
              </a:spcAft>
              <a:buNone/>
            </a:pPr>
            <a:r>
              <a:rPr lang="es-419"/>
              <a:t>Una central eléctrica, es esencialmente una instalación que emplea una fuente de energía primaria para hacer girar las paletas o álabes de una turbina mediante agua, aire, vapor o gas; estas a su vez, hacen girar una gran bobina en el interior de un campo magnético, generando así la electricidad, para luego ser transportada a los centros urbanos para su consumo.</a:t>
            </a:r>
            <a:endParaRPr/>
          </a:p>
        </p:txBody>
      </p:sp>
      <p:pic>
        <p:nvPicPr>
          <p:cNvPr id="115" name="Google Shape;115;p20"/>
          <p:cNvPicPr preferRelativeResize="0"/>
          <p:nvPr/>
        </p:nvPicPr>
        <p:blipFill>
          <a:blip r:embed="rId3">
            <a:alphaModFix/>
          </a:blip>
          <a:stretch>
            <a:fillRect/>
          </a:stretch>
        </p:blipFill>
        <p:spPr>
          <a:xfrm>
            <a:off x="5686500" y="1658825"/>
            <a:ext cx="3305100" cy="3305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Centrales Eléctricas</a:t>
            </a:r>
            <a:endParaRPr/>
          </a:p>
        </p:txBody>
      </p:sp>
      <p:pic>
        <p:nvPicPr>
          <p:cNvPr descr="Otto quiere volar en un gran avión de papel pero necesita energía para hacerlo volar. ¿Cómo lo podrá resolver?&#10;&#10;Esta serie fue realizada por los creadores de Pichintún, Camaleón y las Naturales Ciencias y Cuéntame un cuento. ¿Te gustó el video? No olvides suscribirte a nuestro canal de YouTube para enterarte de todas las novedades y recibir notificaciones de nuevos videos.&#10;&#10;Los experimentos de Volta y Otto es una serie de animación que narra los extravagantes experimentos de dos amigos que habitan un laboratorio en un pantano: la luciérnaga Volta y el robot Otto, quienes en cada capítulo inventarán un dispositivo cuyo funcionamiento exige utilizar una fuente de energía.&#10;&#10;------------------------ Nuestras redes -------------------------&#10;&#10;Web: https://infantil.cntv.cl/&#10;Facebook: https://www.facebook.com/cntvinfantil&#10;Instagram: cntvinfantil&#10;Twitter: cntvinfantil" id="121" name="Google Shape;121;p21" title="Energía eólica | serie animada: Los experimentos de Volta y Otto">
            <a:hlinkClick r:id="rId3"/>
          </p:cNvPr>
          <p:cNvPicPr preferRelativeResize="0"/>
          <p:nvPr/>
        </p:nvPicPr>
        <p:blipFill>
          <a:blip r:embed="rId4">
            <a:alphaModFix/>
          </a:blip>
          <a:stretch>
            <a:fillRect/>
          </a:stretch>
        </p:blipFill>
        <p:spPr>
          <a:xfrm>
            <a:off x="1609450" y="1746400"/>
            <a:ext cx="5672675" cy="3190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Algunas preguntas para repasar</a:t>
            </a:r>
            <a:endParaRPr/>
          </a:p>
        </p:txBody>
      </p:sp>
      <p:sp>
        <p:nvSpPr>
          <p:cNvPr id="127" name="Google Shape;127;p22"/>
          <p:cNvSpPr txBox="1"/>
          <p:nvPr>
            <p:ph idx="1" type="body"/>
          </p:nvPr>
        </p:nvSpPr>
        <p:spPr>
          <a:xfrm>
            <a:off x="471900" y="2436600"/>
            <a:ext cx="5062200" cy="16170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AutoNum type="arabicPeriod" startAt="8"/>
            </a:pPr>
            <a:r>
              <a:rPr lang="es-419"/>
              <a:t>¿Qué no pensó Otto para su avión?</a:t>
            </a:r>
            <a:endParaRPr/>
          </a:p>
          <a:p>
            <a:pPr indent="-342900" lvl="0" marL="457200" rtl="0" algn="l">
              <a:lnSpc>
                <a:spcPct val="200000"/>
              </a:lnSpc>
              <a:spcBef>
                <a:spcPts val="0"/>
              </a:spcBef>
              <a:spcAft>
                <a:spcPts val="0"/>
              </a:spcAft>
              <a:buSzPts val="1800"/>
              <a:buAutoNum type="arabicPeriod" startAt="8"/>
            </a:pPr>
            <a:r>
              <a:rPr lang="es-419"/>
              <a:t>¿ Que es un aerogenerador?</a:t>
            </a:r>
            <a:endParaRPr/>
          </a:p>
          <a:p>
            <a:pPr indent="-342900" lvl="0" marL="457200" rtl="0" algn="l">
              <a:lnSpc>
                <a:spcPct val="200000"/>
              </a:lnSpc>
              <a:spcBef>
                <a:spcPts val="0"/>
              </a:spcBef>
              <a:spcAft>
                <a:spcPts val="0"/>
              </a:spcAft>
              <a:buSzPts val="1800"/>
              <a:buAutoNum type="arabicPeriod" startAt="8"/>
            </a:pPr>
            <a:r>
              <a:rPr lang="es-419"/>
              <a:t>¿Qué es la energía eólica?</a:t>
            </a:r>
            <a:endParaRPr/>
          </a:p>
        </p:txBody>
      </p:sp>
      <p:pic>
        <p:nvPicPr>
          <p:cNvPr id="128" name="Google Shape;128;p22"/>
          <p:cNvPicPr preferRelativeResize="0"/>
          <p:nvPr/>
        </p:nvPicPr>
        <p:blipFill>
          <a:blip r:embed="rId3">
            <a:alphaModFix/>
          </a:blip>
          <a:stretch>
            <a:fillRect/>
          </a:stretch>
        </p:blipFill>
        <p:spPr>
          <a:xfrm>
            <a:off x="5686500" y="1770300"/>
            <a:ext cx="3305100" cy="3305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Importancia de la Electricidad</a:t>
            </a:r>
            <a:endParaRPr/>
          </a:p>
        </p:txBody>
      </p:sp>
      <p:sp>
        <p:nvSpPr>
          <p:cNvPr id="134" name="Google Shape;134;p23"/>
          <p:cNvSpPr txBox="1"/>
          <p:nvPr>
            <p:ph idx="1" type="body"/>
          </p:nvPr>
        </p:nvSpPr>
        <p:spPr>
          <a:xfrm>
            <a:off x="471900" y="1770300"/>
            <a:ext cx="5062200" cy="3305100"/>
          </a:xfrm>
          <a:prstGeom prst="rect">
            <a:avLst/>
          </a:prstGeom>
        </p:spPr>
        <p:txBody>
          <a:bodyPr anchorCtr="0" anchor="t" bIns="91425" lIns="91425" spcFirstLastPara="1" rIns="91425" wrap="square" tIns="91425">
            <a:normAutofit/>
          </a:bodyPr>
          <a:lstStyle/>
          <a:p>
            <a:pPr indent="457200" lvl="0" marL="0" rtl="0" algn="just">
              <a:lnSpc>
                <a:spcPct val="200000"/>
              </a:lnSpc>
              <a:spcBef>
                <a:spcPts val="0"/>
              </a:spcBef>
              <a:spcAft>
                <a:spcPts val="1200"/>
              </a:spcAft>
              <a:buNone/>
            </a:pPr>
            <a:r>
              <a:rPr lang="es-419" sz="1350">
                <a:solidFill>
                  <a:srgbClr val="1D2125"/>
                </a:solidFill>
                <a:highlight>
                  <a:srgbClr val="FFFFFF"/>
                </a:highlight>
              </a:rPr>
              <a:t>La electricidad además de ser un servicio es una necesidad básica para poder realizar una gran cantidad de actividades, sea la iluminación necesaria para el Ámbito Escolar a la hora de leer un libro o escribir a mano, como también las tareas destinadas a la Industria y Negocios, brindando la alimentación energética necesaria para que funcione una maquinaria, un artefacto o bien un dispositivo Electrónico que requiere de una fuente de energía para poder funcionar.</a:t>
            </a:r>
            <a:endParaRPr sz="2000"/>
          </a:p>
        </p:txBody>
      </p:sp>
      <p:pic>
        <p:nvPicPr>
          <p:cNvPr id="135" name="Google Shape;135;p23"/>
          <p:cNvPicPr preferRelativeResize="0"/>
          <p:nvPr/>
        </p:nvPicPr>
        <p:blipFill>
          <a:blip r:embed="rId3">
            <a:alphaModFix/>
          </a:blip>
          <a:stretch>
            <a:fillRect/>
          </a:stretch>
        </p:blipFill>
        <p:spPr>
          <a:xfrm>
            <a:off x="5686500" y="1735025"/>
            <a:ext cx="3305100" cy="3305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Importancia de la Electricidad</a:t>
            </a:r>
            <a:endParaRPr/>
          </a:p>
        </p:txBody>
      </p:sp>
      <p:pic>
        <p:nvPicPr>
          <p:cNvPr id="141" name="Google Shape;141;p24" title="Importancia de la electricidad">
            <a:hlinkClick r:id="rId3"/>
          </p:cNvPr>
          <p:cNvPicPr preferRelativeResize="0"/>
          <p:nvPr/>
        </p:nvPicPr>
        <p:blipFill>
          <a:blip r:embed="rId4">
            <a:alphaModFix/>
          </a:blip>
          <a:stretch>
            <a:fillRect/>
          </a:stretch>
        </p:blipFill>
        <p:spPr>
          <a:xfrm>
            <a:off x="1458200" y="1737650"/>
            <a:ext cx="6054850" cy="3405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Qué opinas</a:t>
            </a:r>
            <a:endParaRPr/>
          </a:p>
        </p:txBody>
      </p:sp>
      <p:sp>
        <p:nvSpPr>
          <p:cNvPr id="147" name="Google Shape;147;p25"/>
          <p:cNvSpPr txBox="1"/>
          <p:nvPr>
            <p:ph idx="1" type="body"/>
          </p:nvPr>
        </p:nvSpPr>
        <p:spPr>
          <a:xfrm>
            <a:off x="270050" y="1919075"/>
            <a:ext cx="5497200" cy="2710200"/>
          </a:xfrm>
          <a:prstGeom prst="rect">
            <a:avLst/>
          </a:prstGeom>
        </p:spPr>
        <p:txBody>
          <a:bodyPr anchorCtr="0" anchor="t" bIns="91425" lIns="91425" spcFirstLastPara="1" rIns="91425" wrap="square" tIns="91425">
            <a:normAutofit/>
          </a:bodyPr>
          <a:lstStyle/>
          <a:p>
            <a:pPr indent="-381000" lvl="0" marL="457200" rtl="0" algn="l">
              <a:lnSpc>
                <a:spcPct val="200000"/>
              </a:lnSpc>
              <a:spcBef>
                <a:spcPts val="0"/>
              </a:spcBef>
              <a:spcAft>
                <a:spcPts val="0"/>
              </a:spcAft>
              <a:buSzPts val="2400"/>
              <a:buAutoNum type="arabicPeriod" startAt="11"/>
            </a:pPr>
            <a:r>
              <a:rPr lang="es-419" sz="2400"/>
              <a:t>¿La </a:t>
            </a:r>
            <a:r>
              <a:rPr lang="es-419" sz="2400"/>
              <a:t>electricidad</a:t>
            </a:r>
            <a:r>
              <a:rPr lang="es-419" sz="2400"/>
              <a:t> es </a:t>
            </a:r>
            <a:r>
              <a:rPr lang="es-419" sz="2400"/>
              <a:t>importante</a:t>
            </a:r>
            <a:r>
              <a:rPr lang="es-419" sz="2400"/>
              <a:t>?</a:t>
            </a:r>
            <a:endParaRPr sz="2400"/>
          </a:p>
          <a:p>
            <a:pPr indent="-381000" lvl="0" marL="457200" rtl="0" algn="l">
              <a:lnSpc>
                <a:spcPct val="200000"/>
              </a:lnSpc>
              <a:spcBef>
                <a:spcPts val="0"/>
              </a:spcBef>
              <a:spcAft>
                <a:spcPts val="0"/>
              </a:spcAft>
              <a:buSzPts val="2400"/>
              <a:buAutoNum type="arabicPeriod" startAt="11"/>
            </a:pPr>
            <a:r>
              <a:rPr lang="es-419" sz="2400"/>
              <a:t>¿Te imaginas un mundo sin electricidad?</a:t>
            </a:r>
            <a:endParaRPr sz="2400"/>
          </a:p>
        </p:txBody>
      </p:sp>
      <p:pic>
        <p:nvPicPr>
          <p:cNvPr id="148" name="Google Shape;148;p25"/>
          <p:cNvPicPr preferRelativeResize="0"/>
          <p:nvPr/>
        </p:nvPicPr>
        <p:blipFill>
          <a:blip r:embed="rId3">
            <a:alphaModFix/>
          </a:blip>
          <a:stretch>
            <a:fillRect/>
          </a:stretch>
        </p:blipFill>
        <p:spPr>
          <a:xfrm>
            <a:off x="5638825" y="1698625"/>
            <a:ext cx="3187877" cy="3332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Crea tu Sesión en Scratch</a:t>
            </a:r>
            <a:endParaRPr/>
          </a:p>
        </p:txBody>
      </p:sp>
      <p:sp>
        <p:nvSpPr>
          <p:cNvPr id="154" name="Google Shape;154;p26"/>
          <p:cNvSpPr txBox="1"/>
          <p:nvPr>
            <p:ph idx="1" type="body"/>
          </p:nvPr>
        </p:nvSpPr>
        <p:spPr>
          <a:xfrm>
            <a:off x="256925" y="1727975"/>
            <a:ext cx="8222100" cy="366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s-419" sz="1588">
                <a:solidFill>
                  <a:srgbClr val="1D2125"/>
                </a:solidFill>
                <a:highlight>
                  <a:srgbClr val="FFFFFF"/>
                </a:highlight>
              </a:rPr>
              <a:t>Es momento de trabajar con Scratch en línea. Para ello observa este video:</a:t>
            </a:r>
            <a:endParaRPr sz="1588">
              <a:solidFill>
                <a:srgbClr val="1D2125"/>
              </a:solidFill>
              <a:highlight>
                <a:srgbClr val="FFFFFF"/>
              </a:highlight>
            </a:endParaRPr>
          </a:p>
          <a:p>
            <a:pPr indent="0" lvl="0" marL="0" rtl="0" algn="l">
              <a:lnSpc>
                <a:spcPct val="95000"/>
              </a:lnSpc>
              <a:spcBef>
                <a:spcPts val="1200"/>
              </a:spcBef>
              <a:spcAft>
                <a:spcPts val="0"/>
              </a:spcAft>
              <a:buSzPts val="275"/>
              <a:buNone/>
            </a:pPr>
            <a:r>
              <a:t/>
            </a:r>
            <a:endParaRPr sz="1588">
              <a:solidFill>
                <a:srgbClr val="1D2125"/>
              </a:solidFill>
              <a:highlight>
                <a:srgbClr val="FFFFFF"/>
              </a:highlight>
            </a:endParaRPr>
          </a:p>
          <a:p>
            <a:pPr indent="0" lvl="0" marL="0" rtl="0" algn="l">
              <a:lnSpc>
                <a:spcPct val="95000"/>
              </a:lnSpc>
              <a:spcBef>
                <a:spcPts val="1200"/>
              </a:spcBef>
              <a:spcAft>
                <a:spcPts val="1200"/>
              </a:spcAft>
              <a:buSzPts val="275"/>
              <a:buNone/>
            </a:pPr>
            <a:r>
              <a:t/>
            </a:r>
            <a:endParaRPr sz="1588">
              <a:solidFill>
                <a:srgbClr val="1D2125"/>
              </a:solidFill>
              <a:highlight>
                <a:srgbClr val="FFFFFF"/>
              </a:highlight>
            </a:endParaRPr>
          </a:p>
        </p:txBody>
      </p:sp>
      <p:pic>
        <p:nvPicPr>
          <p:cNvPr descr="Cómo crear una cuenta en Scratch y confirmar el correo para poder compartir nuestros proyectos.&#10;Si no te aparece la opción de compartir el proyecto, probablemente sea porque no has completado correctamente los pasos." id="155" name="Google Shape;155;p26" title="Crear cuenta en Scratch 3.0">
            <a:hlinkClick r:id="rId3"/>
          </p:cNvPr>
          <p:cNvPicPr preferRelativeResize="0"/>
          <p:nvPr/>
        </p:nvPicPr>
        <p:blipFill>
          <a:blip r:embed="rId4">
            <a:alphaModFix/>
          </a:blip>
          <a:stretch>
            <a:fillRect/>
          </a:stretch>
        </p:blipFill>
        <p:spPr>
          <a:xfrm>
            <a:off x="2373825" y="2159700"/>
            <a:ext cx="5148845" cy="2896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471900" y="141450"/>
            <a:ext cx="8222100" cy="1365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1533"/>
              <a:t>Actividad Evaluada  (15 puntos):</a:t>
            </a:r>
            <a:r>
              <a:rPr lang="es-419" sz="2311"/>
              <a:t> </a:t>
            </a:r>
            <a:r>
              <a:rPr lang="es-419"/>
              <a:t> </a:t>
            </a:r>
            <a:endParaRPr/>
          </a:p>
          <a:p>
            <a:pPr indent="0" lvl="0" marL="0" rtl="0" algn="l">
              <a:spcBef>
                <a:spcPts val="0"/>
              </a:spcBef>
              <a:spcAft>
                <a:spcPts val="0"/>
              </a:spcAft>
              <a:buNone/>
            </a:pPr>
            <a:r>
              <a:rPr lang="es-419"/>
              <a:t>Simulación de una Central Eólica</a:t>
            </a:r>
            <a:endParaRPr/>
          </a:p>
          <a:p>
            <a:pPr indent="0" lvl="0" marL="0" rtl="0" algn="r">
              <a:spcBef>
                <a:spcPts val="0"/>
              </a:spcBef>
              <a:spcAft>
                <a:spcPts val="0"/>
              </a:spcAft>
              <a:buNone/>
            </a:pPr>
            <a:r>
              <a:rPr b="1" lang="es-419" sz="2089"/>
              <a:t>Especificaciones:</a:t>
            </a:r>
            <a:endParaRPr b="1" sz="2089"/>
          </a:p>
        </p:txBody>
      </p:sp>
      <p:sp>
        <p:nvSpPr>
          <p:cNvPr id="161" name="Google Shape;161;p27"/>
          <p:cNvSpPr txBox="1"/>
          <p:nvPr>
            <p:ph idx="1" type="body"/>
          </p:nvPr>
        </p:nvSpPr>
        <p:spPr>
          <a:xfrm>
            <a:off x="111875" y="1712650"/>
            <a:ext cx="8782200" cy="3391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018"/>
              <a:buNone/>
            </a:pPr>
            <a:r>
              <a:rPr lang="es-419" sz="1364">
                <a:solidFill>
                  <a:srgbClr val="1D2125"/>
                </a:solidFill>
                <a:highlight>
                  <a:srgbClr val="FFFFFF"/>
                </a:highlight>
              </a:rPr>
              <a:t>A continuación se presenta una simulación en Scratch de una central eólica. </a:t>
            </a:r>
            <a:endParaRPr sz="1364">
              <a:solidFill>
                <a:srgbClr val="1D2125"/>
              </a:solidFill>
              <a:highlight>
                <a:srgbClr val="FFFFFF"/>
              </a:highlight>
            </a:endParaRPr>
          </a:p>
          <a:p>
            <a:pPr indent="0" lvl="0" marL="0" rtl="0" algn="l">
              <a:lnSpc>
                <a:spcPct val="150000"/>
              </a:lnSpc>
              <a:spcBef>
                <a:spcPts val="1200"/>
              </a:spcBef>
              <a:spcAft>
                <a:spcPts val="0"/>
              </a:spcAft>
              <a:buSzPts val="1018"/>
              <a:buNone/>
            </a:pPr>
            <a:r>
              <a:rPr lang="es-419" sz="1364" u="sng">
                <a:solidFill>
                  <a:schemeClr val="hlink"/>
                </a:solidFill>
                <a:highlight>
                  <a:srgbClr val="FFFFFF"/>
                </a:highlight>
                <a:hlinkClick r:id="rId3"/>
              </a:rPr>
              <a:t>Central eólica en Scratch</a:t>
            </a:r>
            <a:endParaRPr sz="1364">
              <a:solidFill>
                <a:srgbClr val="1D2125"/>
              </a:solidFill>
              <a:highlight>
                <a:srgbClr val="FFFFFF"/>
              </a:highlight>
            </a:endParaRPr>
          </a:p>
          <a:p>
            <a:pPr indent="0" lvl="0" marL="0" rtl="0" algn="l">
              <a:lnSpc>
                <a:spcPct val="150000"/>
              </a:lnSpc>
              <a:spcBef>
                <a:spcPts val="1200"/>
              </a:spcBef>
              <a:spcAft>
                <a:spcPts val="0"/>
              </a:spcAft>
              <a:buSzPts val="1018"/>
              <a:buNone/>
            </a:pPr>
            <a:r>
              <a:rPr lang="es-419" sz="1364">
                <a:solidFill>
                  <a:srgbClr val="1D2125"/>
                </a:solidFill>
                <a:highlight>
                  <a:srgbClr val="FFFFFF"/>
                </a:highlight>
              </a:rPr>
              <a:t>Estudia el código y modifícalo para:</a:t>
            </a:r>
            <a:endParaRPr sz="1364">
              <a:solidFill>
                <a:srgbClr val="1D2125"/>
              </a:solidFill>
              <a:highlight>
                <a:srgbClr val="FFFFFF"/>
              </a:highlight>
            </a:endParaRPr>
          </a:p>
          <a:p>
            <a:pPr indent="-315198" lvl="0" marL="457200" rtl="0" algn="l">
              <a:lnSpc>
                <a:spcPct val="150000"/>
              </a:lnSpc>
              <a:spcBef>
                <a:spcPts val="1200"/>
              </a:spcBef>
              <a:spcAft>
                <a:spcPts val="0"/>
              </a:spcAft>
              <a:buClr>
                <a:srgbClr val="1D2125"/>
              </a:buClr>
              <a:buSzPts val="1364"/>
              <a:buChar char="●"/>
            </a:pPr>
            <a:r>
              <a:rPr lang="es-419" sz="1364">
                <a:solidFill>
                  <a:srgbClr val="1D2125"/>
                </a:solidFill>
                <a:highlight>
                  <a:srgbClr val="F8F9FA"/>
                </a:highlight>
              </a:rPr>
              <a:t>Incorporación de un personaje principal que guíe la explicación de cómo funciona una central eólica.</a:t>
            </a:r>
            <a:endParaRPr sz="1364">
              <a:solidFill>
                <a:srgbClr val="1D2125"/>
              </a:solidFill>
              <a:highlight>
                <a:srgbClr val="F8F9FA"/>
              </a:highlight>
            </a:endParaRPr>
          </a:p>
          <a:p>
            <a:pPr indent="-315198" lvl="0" marL="457200" rtl="0" algn="l">
              <a:lnSpc>
                <a:spcPct val="150000"/>
              </a:lnSpc>
              <a:spcBef>
                <a:spcPts val="0"/>
              </a:spcBef>
              <a:spcAft>
                <a:spcPts val="0"/>
              </a:spcAft>
              <a:buClr>
                <a:srgbClr val="1D2125"/>
              </a:buClr>
              <a:buSzPts val="1364"/>
              <a:buChar char="●"/>
            </a:pPr>
            <a:r>
              <a:rPr lang="es-419" sz="1364">
                <a:solidFill>
                  <a:srgbClr val="1D2125"/>
                </a:solidFill>
                <a:highlight>
                  <a:srgbClr val="F8F9FA"/>
                </a:highlight>
              </a:rPr>
              <a:t>Implementar línea de tiempo (guíon de la historia) para que los objetos se oculten y aparezcan en una secuencia lógica.</a:t>
            </a:r>
            <a:endParaRPr sz="1364">
              <a:solidFill>
                <a:srgbClr val="1D2125"/>
              </a:solidFill>
              <a:highlight>
                <a:srgbClr val="F8F9FA"/>
              </a:highlight>
            </a:endParaRPr>
          </a:p>
          <a:p>
            <a:pPr indent="-315198" lvl="0" marL="457200" rtl="0" algn="l">
              <a:lnSpc>
                <a:spcPct val="150000"/>
              </a:lnSpc>
              <a:spcBef>
                <a:spcPts val="0"/>
              </a:spcBef>
              <a:spcAft>
                <a:spcPts val="0"/>
              </a:spcAft>
              <a:buClr>
                <a:srgbClr val="1D2125"/>
              </a:buClr>
              <a:buSzPts val="1364"/>
              <a:buChar char="●"/>
            </a:pPr>
            <a:r>
              <a:rPr lang="es-419" sz="1364">
                <a:solidFill>
                  <a:srgbClr val="1D2125"/>
                </a:solidFill>
                <a:highlight>
                  <a:srgbClr val="F8F9FA"/>
                </a:highlight>
              </a:rPr>
              <a:t>La animación debe contener al menos una interacción mediante mouse.</a:t>
            </a:r>
            <a:endParaRPr sz="1364">
              <a:solidFill>
                <a:srgbClr val="1D2125"/>
              </a:solidFill>
              <a:highlight>
                <a:srgbClr val="F8F9FA"/>
              </a:highlight>
            </a:endParaRPr>
          </a:p>
          <a:p>
            <a:pPr indent="-315198" lvl="0" marL="457200" rtl="0" algn="l">
              <a:lnSpc>
                <a:spcPct val="150000"/>
              </a:lnSpc>
              <a:spcBef>
                <a:spcPts val="0"/>
              </a:spcBef>
              <a:spcAft>
                <a:spcPts val="0"/>
              </a:spcAft>
              <a:buClr>
                <a:srgbClr val="1D2125"/>
              </a:buClr>
              <a:buSzPts val="1364"/>
              <a:buChar char="●"/>
            </a:pPr>
            <a:r>
              <a:rPr lang="es-419" sz="1364">
                <a:solidFill>
                  <a:srgbClr val="1D2125"/>
                </a:solidFill>
                <a:highlight>
                  <a:srgbClr val="F8F9FA"/>
                </a:highlight>
              </a:rPr>
              <a:t>La animación debe contener al menos una interacción mediante entrada de texto por teclado.</a:t>
            </a:r>
            <a:endParaRPr sz="1364">
              <a:solidFill>
                <a:srgbClr val="1D2125"/>
              </a:solidFill>
              <a:highlight>
                <a:srgbClr val="F8F9FA"/>
              </a:highlight>
            </a:endParaRPr>
          </a:p>
          <a:p>
            <a:pPr indent="-315198" lvl="0" marL="457200" rtl="0" algn="l">
              <a:lnSpc>
                <a:spcPct val="150000"/>
              </a:lnSpc>
              <a:spcBef>
                <a:spcPts val="0"/>
              </a:spcBef>
              <a:spcAft>
                <a:spcPts val="0"/>
              </a:spcAft>
              <a:buClr>
                <a:srgbClr val="1D2125"/>
              </a:buClr>
              <a:buSzPts val="1364"/>
              <a:buChar char="●"/>
            </a:pPr>
            <a:r>
              <a:rPr lang="es-419" sz="1364">
                <a:solidFill>
                  <a:srgbClr val="1D2125"/>
                </a:solidFill>
                <a:highlight>
                  <a:srgbClr val="F8F9FA"/>
                </a:highlight>
              </a:rPr>
              <a:t>Trabaja en tu sesión Online de Scratch. Guarda tu usuario y clave. </a:t>
            </a:r>
            <a:endParaRPr sz="1364">
              <a:solidFill>
                <a:srgbClr val="1D2125"/>
              </a:solidFill>
              <a:highlight>
                <a:srgbClr val="FFFFFF"/>
              </a:highlight>
            </a:endParaRPr>
          </a:p>
          <a:p>
            <a:pPr indent="0" lvl="0" marL="0" rtl="0" algn="l">
              <a:lnSpc>
                <a:spcPct val="150000"/>
              </a:lnSpc>
              <a:spcBef>
                <a:spcPts val="1200"/>
              </a:spcBef>
              <a:spcAft>
                <a:spcPts val="0"/>
              </a:spcAft>
              <a:buSzPts val="1018"/>
              <a:buNone/>
            </a:pPr>
            <a:r>
              <a:t/>
            </a:r>
            <a:endParaRPr sz="1364">
              <a:solidFill>
                <a:srgbClr val="1D2125"/>
              </a:solidFill>
              <a:highlight>
                <a:srgbClr val="FFFFFF"/>
              </a:highlight>
            </a:endParaRPr>
          </a:p>
          <a:p>
            <a:pPr indent="0" lvl="0" marL="0" rtl="0" algn="l">
              <a:lnSpc>
                <a:spcPct val="150000"/>
              </a:lnSpc>
              <a:spcBef>
                <a:spcPts val="1200"/>
              </a:spcBef>
              <a:spcAft>
                <a:spcPts val="1200"/>
              </a:spcAft>
              <a:buSzPts val="1018"/>
              <a:buNone/>
            </a:pPr>
            <a:r>
              <a:t/>
            </a:r>
            <a:endParaRPr sz="1364">
              <a:solidFill>
                <a:srgbClr val="1D2125"/>
              </a:solidFill>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471900" y="141450"/>
            <a:ext cx="8222100" cy="1365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sz="1533"/>
              <a:t>Actividad Evaluada  (15 puntos):</a:t>
            </a:r>
            <a:r>
              <a:rPr lang="es-419" sz="2311"/>
              <a:t> </a:t>
            </a:r>
            <a:r>
              <a:rPr lang="es-419"/>
              <a:t> </a:t>
            </a:r>
            <a:endParaRPr/>
          </a:p>
          <a:p>
            <a:pPr indent="0" lvl="0" marL="0" rtl="0" algn="l">
              <a:spcBef>
                <a:spcPts val="0"/>
              </a:spcBef>
              <a:spcAft>
                <a:spcPts val="0"/>
              </a:spcAft>
              <a:buNone/>
            </a:pPr>
            <a:r>
              <a:rPr lang="es-419"/>
              <a:t>Simulación de una Central Eólica</a:t>
            </a:r>
            <a:endParaRPr/>
          </a:p>
          <a:p>
            <a:pPr indent="0" lvl="0" marL="0" rtl="0" algn="r">
              <a:spcBef>
                <a:spcPts val="0"/>
              </a:spcBef>
              <a:spcAft>
                <a:spcPts val="0"/>
              </a:spcAft>
              <a:buNone/>
            </a:pPr>
            <a:r>
              <a:rPr b="1" lang="es-419" sz="2089"/>
              <a:t>Exposición</a:t>
            </a:r>
            <a:r>
              <a:rPr b="1" lang="es-419" sz="2089"/>
              <a:t>:</a:t>
            </a:r>
            <a:endParaRPr b="1" sz="2089"/>
          </a:p>
        </p:txBody>
      </p:sp>
      <p:sp>
        <p:nvSpPr>
          <p:cNvPr id="167" name="Google Shape;167;p28"/>
          <p:cNvSpPr txBox="1"/>
          <p:nvPr>
            <p:ph idx="1" type="body"/>
          </p:nvPr>
        </p:nvSpPr>
        <p:spPr>
          <a:xfrm>
            <a:off x="111875" y="1712650"/>
            <a:ext cx="8782200" cy="3391800"/>
          </a:xfrm>
          <a:prstGeom prst="rect">
            <a:avLst/>
          </a:prstGeom>
        </p:spPr>
        <p:txBody>
          <a:bodyPr anchorCtr="0" anchor="t" bIns="91425" lIns="91425" spcFirstLastPara="1" rIns="91425" wrap="square" tIns="91425">
            <a:noAutofit/>
          </a:bodyPr>
          <a:lstStyle/>
          <a:p>
            <a:pPr indent="-315198" lvl="0" marL="457200" rtl="0" algn="l">
              <a:lnSpc>
                <a:spcPct val="150000"/>
              </a:lnSpc>
              <a:spcBef>
                <a:spcPts val="0"/>
              </a:spcBef>
              <a:spcAft>
                <a:spcPts val="0"/>
              </a:spcAft>
              <a:buClr>
                <a:srgbClr val="1D2125"/>
              </a:buClr>
              <a:buSzPts val="1364"/>
              <a:buChar char="●"/>
            </a:pPr>
            <a:r>
              <a:rPr lang="es-419" sz="1364">
                <a:solidFill>
                  <a:srgbClr val="1D2125"/>
                </a:solidFill>
                <a:highlight>
                  <a:srgbClr val="FFFFFF"/>
                </a:highlight>
              </a:rPr>
              <a:t>En el próximo encuentro cada estudiante presentará la animación realizada a toda la clase y responderá las preguntas que el profesor realice (normalmente el profesor solicitará explicar alguna parte del código).</a:t>
            </a:r>
            <a:endParaRPr sz="1364">
              <a:solidFill>
                <a:srgbClr val="1D2125"/>
              </a:solidFill>
              <a:highlight>
                <a:srgbClr val="FFFFFF"/>
              </a:highlight>
            </a:endParaRPr>
          </a:p>
          <a:p>
            <a:pPr indent="-315198" lvl="0" marL="457200" rtl="0" algn="l">
              <a:lnSpc>
                <a:spcPct val="150000"/>
              </a:lnSpc>
              <a:spcBef>
                <a:spcPts val="0"/>
              </a:spcBef>
              <a:spcAft>
                <a:spcPts val="0"/>
              </a:spcAft>
              <a:buClr>
                <a:srgbClr val="1D2125"/>
              </a:buClr>
              <a:buSzPts val="1364"/>
              <a:buChar char="●"/>
            </a:pPr>
            <a:r>
              <a:rPr lang="es-419" sz="1364">
                <a:solidFill>
                  <a:srgbClr val="1D2125"/>
                </a:solidFill>
                <a:highlight>
                  <a:srgbClr val="FFFFFF"/>
                </a:highlight>
              </a:rPr>
              <a:t>La audiencia </a:t>
            </a:r>
            <a:r>
              <a:rPr lang="es-419" sz="1364">
                <a:solidFill>
                  <a:srgbClr val="1D2125"/>
                </a:solidFill>
                <a:highlight>
                  <a:srgbClr val="FFFFFF"/>
                </a:highlight>
              </a:rPr>
              <a:t>permanecerá</a:t>
            </a:r>
            <a:r>
              <a:rPr lang="es-419" sz="1364">
                <a:solidFill>
                  <a:srgbClr val="1D2125"/>
                </a:solidFill>
                <a:highlight>
                  <a:srgbClr val="FFFFFF"/>
                </a:highlight>
              </a:rPr>
              <a:t> atenta a cada exposición demostrando cultura y respeto por sus compañeros.</a:t>
            </a:r>
            <a:r>
              <a:rPr b="1" i="1" lang="es-419" sz="1364">
                <a:solidFill>
                  <a:srgbClr val="1D2125"/>
                </a:solidFill>
                <a:highlight>
                  <a:srgbClr val="FFFFFF"/>
                </a:highlight>
              </a:rPr>
              <a:t> </a:t>
            </a:r>
            <a:r>
              <a:rPr lang="es-419" sz="1364">
                <a:solidFill>
                  <a:srgbClr val="1D2125"/>
                </a:solidFill>
                <a:highlight>
                  <a:schemeClr val="lt1"/>
                </a:highlight>
              </a:rPr>
              <a:t>Al finalizar las exposiciones cada uno deberá responder una pregunta sobre el trabajo realizado por los otros compañeros.</a:t>
            </a:r>
            <a:endParaRPr sz="1364">
              <a:solidFill>
                <a:srgbClr val="1D2125"/>
              </a:solidFill>
              <a:highlight>
                <a:schemeClr val="lt1"/>
              </a:highlight>
            </a:endParaRPr>
          </a:p>
          <a:p>
            <a:pPr indent="-315198" lvl="0" marL="457200" rtl="0" algn="l">
              <a:lnSpc>
                <a:spcPct val="150000"/>
              </a:lnSpc>
              <a:spcBef>
                <a:spcPts val="0"/>
              </a:spcBef>
              <a:spcAft>
                <a:spcPts val="0"/>
              </a:spcAft>
              <a:buClr>
                <a:srgbClr val="1D2125"/>
              </a:buClr>
              <a:buSzPts val="1364"/>
              <a:buChar char="●"/>
            </a:pPr>
            <a:r>
              <a:rPr lang="es-419" sz="1364">
                <a:solidFill>
                  <a:srgbClr val="1D2125"/>
                </a:solidFill>
                <a:highlight>
                  <a:schemeClr val="lt1"/>
                </a:highlight>
              </a:rPr>
              <a:t>El no demostrar respeto por los compañeros ponentes implica que será calificado con 01/16.</a:t>
            </a:r>
            <a:endParaRPr sz="1364">
              <a:solidFill>
                <a:srgbClr val="1D2125"/>
              </a:solidFill>
              <a:highlight>
                <a:schemeClr val="lt1"/>
              </a:highlight>
            </a:endParaRPr>
          </a:p>
          <a:p>
            <a:pPr indent="0" lvl="0" marL="0" rtl="0" algn="l">
              <a:lnSpc>
                <a:spcPct val="100000"/>
              </a:lnSpc>
              <a:spcBef>
                <a:spcPts val="1200"/>
              </a:spcBef>
              <a:spcAft>
                <a:spcPts val="0"/>
              </a:spcAft>
              <a:buNone/>
            </a:pPr>
            <a:r>
              <a:rPr b="1" lang="es-419" sz="1364">
                <a:solidFill>
                  <a:srgbClr val="1D2125"/>
                </a:solidFill>
                <a:highlight>
                  <a:srgbClr val="FFFFFF"/>
                </a:highlight>
              </a:rPr>
              <a:t>Criterios de Evaluación:</a:t>
            </a:r>
            <a:endParaRPr b="1" sz="1364">
              <a:solidFill>
                <a:srgbClr val="1D2125"/>
              </a:solidFill>
              <a:highlight>
                <a:srgbClr val="FFFFFF"/>
              </a:highlight>
            </a:endParaRPr>
          </a:p>
          <a:p>
            <a:pPr indent="-315198" lvl="0" marL="914400" rtl="0" algn="l">
              <a:lnSpc>
                <a:spcPct val="100000"/>
              </a:lnSpc>
              <a:spcBef>
                <a:spcPts val="0"/>
              </a:spcBef>
              <a:spcAft>
                <a:spcPts val="0"/>
              </a:spcAft>
              <a:buClr>
                <a:srgbClr val="1D2125"/>
              </a:buClr>
              <a:buSzPts val="1364"/>
              <a:buChar char="●"/>
            </a:pPr>
            <a:r>
              <a:rPr lang="es-419" sz="1364">
                <a:solidFill>
                  <a:srgbClr val="1D2125"/>
                </a:solidFill>
                <a:highlight>
                  <a:srgbClr val="FFFFFF"/>
                </a:highlight>
              </a:rPr>
              <a:t>Cumplimiento de especificaciones (5 puntos)</a:t>
            </a:r>
            <a:endParaRPr sz="1364">
              <a:solidFill>
                <a:srgbClr val="1D2125"/>
              </a:solidFill>
              <a:highlight>
                <a:srgbClr val="FFFFFF"/>
              </a:highlight>
            </a:endParaRPr>
          </a:p>
          <a:p>
            <a:pPr indent="-315198" lvl="0" marL="914400" rtl="0" algn="l">
              <a:lnSpc>
                <a:spcPct val="100000"/>
              </a:lnSpc>
              <a:spcBef>
                <a:spcPts val="0"/>
              </a:spcBef>
              <a:spcAft>
                <a:spcPts val="0"/>
              </a:spcAft>
              <a:buClr>
                <a:srgbClr val="1D2125"/>
              </a:buClr>
              <a:buSzPts val="1364"/>
              <a:buChar char="●"/>
            </a:pPr>
            <a:r>
              <a:rPr lang="es-419" sz="1364">
                <a:solidFill>
                  <a:srgbClr val="1D2125"/>
                </a:solidFill>
                <a:highlight>
                  <a:srgbClr val="FFFFFF"/>
                </a:highlight>
              </a:rPr>
              <a:t>Exposición y Preguntas  (5 puntos)</a:t>
            </a:r>
            <a:endParaRPr sz="1364">
              <a:solidFill>
                <a:srgbClr val="1D2125"/>
              </a:solidFill>
              <a:highlight>
                <a:srgbClr val="FFFFFF"/>
              </a:highlight>
            </a:endParaRPr>
          </a:p>
          <a:p>
            <a:pPr indent="-315198" lvl="0" marL="914400" rtl="0" algn="l">
              <a:lnSpc>
                <a:spcPct val="100000"/>
              </a:lnSpc>
              <a:spcBef>
                <a:spcPts val="0"/>
              </a:spcBef>
              <a:spcAft>
                <a:spcPts val="0"/>
              </a:spcAft>
              <a:buClr>
                <a:srgbClr val="1D2125"/>
              </a:buClr>
              <a:buSzPts val="1364"/>
              <a:buChar char="●"/>
            </a:pPr>
            <a:r>
              <a:rPr lang="es-419" sz="1364">
                <a:solidFill>
                  <a:srgbClr val="1D2125"/>
                </a:solidFill>
                <a:highlight>
                  <a:srgbClr val="FFFFFF"/>
                </a:highlight>
              </a:rPr>
              <a:t>Pregunta final (5 puntos)</a:t>
            </a:r>
            <a:endParaRPr sz="1364">
              <a:solidFill>
                <a:srgbClr val="1D2125"/>
              </a:solidFill>
              <a:highlight>
                <a:srgbClr val="FFFFFF"/>
              </a:highlight>
            </a:endParaRPr>
          </a:p>
          <a:p>
            <a:pPr indent="0" lvl="0" marL="457200" rtl="0" algn="l">
              <a:lnSpc>
                <a:spcPct val="150000"/>
              </a:lnSpc>
              <a:spcBef>
                <a:spcPts val="0"/>
              </a:spcBef>
              <a:spcAft>
                <a:spcPts val="0"/>
              </a:spcAft>
              <a:buNone/>
            </a:pPr>
            <a:r>
              <a:t/>
            </a:r>
            <a:endParaRPr sz="1364">
              <a:solidFill>
                <a:srgbClr val="1D2125"/>
              </a:solidFill>
              <a:highlight>
                <a:srgbClr val="FFFFFF"/>
              </a:highlight>
            </a:endParaRPr>
          </a:p>
          <a:p>
            <a:pPr indent="0" lvl="0" marL="0" rtl="0" algn="l">
              <a:lnSpc>
                <a:spcPct val="150000"/>
              </a:lnSpc>
              <a:spcBef>
                <a:spcPts val="1200"/>
              </a:spcBef>
              <a:spcAft>
                <a:spcPts val="0"/>
              </a:spcAft>
              <a:buSzPts val="1018"/>
              <a:buNone/>
            </a:pPr>
            <a:r>
              <a:t/>
            </a:r>
            <a:endParaRPr sz="1364">
              <a:solidFill>
                <a:srgbClr val="1D2125"/>
              </a:solidFill>
              <a:highlight>
                <a:srgbClr val="FFFFFF"/>
              </a:highlight>
            </a:endParaRPr>
          </a:p>
          <a:p>
            <a:pPr indent="0" lvl="0" marL="0" rtl="0" algn="l">
              <a:lnSpc>
                <a:spcPct val="150000"/>
              </a:lnSpc>
              <a:spcBef>
                <a:spcPts val="1200"/>
              </a:spcBef>
              <a:spcAft>
                <a:spcPts val="1200"/>
              </a:spcAft>
              <a:buSzPts val="1018"/>
              <a:buNone/>
            </a:pPr>
            <a:r>
              <a:t/>
            </a:r>
            <a:endParaRPr sz="1364">
              <a:solidFill>
                <a:srgbClr val="1D2125"/>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