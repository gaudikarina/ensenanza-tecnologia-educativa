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slide" Target="slides/slide20.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c6f919934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c6f9199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c6f919934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c6f91993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dbff47e283_0_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dbff47e28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dd04671aaa_0_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dd04671aa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dd04671aaa_0_1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dd04671aa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dd04671aaa_0_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dd04671aa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dd04671aaa_0_5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dd04671aa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dd04671aaa_0_6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dd04671aaa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dd04671aaa_0_5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dd04671aaa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dd04671aaa_0_7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dd04671aaa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dd04671aaa_0_8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dd04671aa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dd04671aaa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dd04671aaa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dd04671aaa_0_10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dd04671aaa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dd04671aaa_0_12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dd04671aaa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dd04671aaa_0_13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dd04671aaa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dd04671aaa_0_14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dd04671aaa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dd04671aaa_0_15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dd04671aaa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dd04671aaa_0_15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dd04671aaa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dd04671aaa_0_16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dd04671aaa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dd04671aaa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dd04671aaa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1600"/>
              </a:spcBef>
              <a:spcAft>
                <a:spcPts val="0"/>
              </a:spcAft>
              <a:buClr>
                <a:schemeClr val="lt1"/>
              </a:buClr>
              <a:buSzPts val="1200"/>
              <a:buChar char="○"/>
              <a:defRPr sz="1200">
                <a:solidFill>
                  <a:schemeClr val="lt1"/>
                </a:solidFill>
              </a:defRPr>
            </a:lvl2pPr>
            <a:lvl3pPr indent="-304800" lvl="2" marL="1371600">
              <a:spcBef>
                <a:spcPts val="1600"/>
              </a:spcBef>
              <a:spcAft>
                <a:spcPts val="0"/>
              </a:spcAft>
              <a:buClr>
                <a:schemeClr val="lt1"/>
              </a:buClr>
              <a:buSzPts val="1200"/>
              <a:buChar char="■"/>
              <a:defRPr sz="1200">
                <a:solidFill>
                  <a:schemeClr val="lt1"/>
                </a:solidFill>
              </a:defRPr>
            </a:lvl3pPr>
            <a:lvl4pPr indent="-304800" lvl="3" marL="1828800">
              <a:spcBef>
                <a:spcPts val="1600"/>
              </a:spcBef>
              <a:spcAft>
                <a:spcPts val="0"/>
              </a:spcAft>
              <a:buClr>
                <a:schemeClr val="lt1"/>
              </a:buClr>
              <a:buSzPts val="1200"/>
              <a:buChar char="●"/>
              <a:defRPr sz="1200">
                <a:solidFill>
                  <a:schemeClr val="lt1"/>
                </a:solidFill>
              </a:defRPr>
            </a:lvl4pPr>
            <a:lvl5pPr indent="-304800" lvl="4" marL="2286000">
              <a:spcBef>
                <a:spcPts val="1600"/>
              </a:spcBef>
              <a:spcAft>
                <a:spcPts val="0"/>
              </a:spcAft>
              <a:buClr>
                <a:schemeClr val="lt1"/>
              </a:buClr>
              <a:buSzPts val="1200"/>
              <a:buChar char="○"/>
              <a:defRPr sz="1200">
                <a:solidFill>
                  <a:schemeClr val="lt1"/>
                </a:solidFill>
              </a:defRPr>
            </a:lvl5pPr>
            <a:lvl6pPr indent="-304800" lvl="5" marL="2743200">
              <a:spcBef>
                <a:spcPts val="1600"/>
              </a:spcBef>
              <a:spcAft>
                <a:spcPts val="0"/>
              </a:spcAft>
              <a:buClr>
                <a:schemeClr val="lt1"/>
              </a:buClr>
              <a:buSzPts val="1200"/>
              <a:buChar char="■"/>
              <a:defRPr sz="1200">
                <a:solidFill>
                  <a:schemeClr val="lt1"/>
                </a:solidFill>
              </a:defRPr>
            </a:lvl6pPr>
            <a:lvl7pPr indent="-304800" lvl="6" marL="3200400">
              <a:spcBef>
                <a:spcPts val="1600"/>
              </a:spcBef>
              <a:spcAft>
                <a:spcPts val="0"/>
              </a:spcAft>
              <a:buClr>
                <a:schemeClr val="lt1"/>
              </a:buClr>
              <a:buSzPts val="1200"/>
              <a:buChar char="●"/>
              <a:defRPr sz="1200">
                <a:solidFill>
                  <a:schemeClr val="lt1"/>
                </a:solidFill>
              </a:defRPr>
            </a:lvl7pPr>
            <a:lvl8pPr indent="-304800" lvl="7" marL="3657600">
              <a:spcBef>
                <a:spcPts val="1600"/>
              </a:spcBef>
              <a:spcAft>
                <a:spcPts val="0"/>
              </a:spcAft>
              <a:buClr>
                <a:schemeClr val="lt1"/>
              </a:buClr>
              <a:buSzPts val="1200"/>
              <a:buChar char="○"/>
              <a:defRPr sz="1200">
                <a:solidFill>
                  <a:schemeClr val="lt1"/>
                </a:solidFill>
              </a:defRPr>
            </a:lvl8pPr>
            <a:lvl9pPr indent="-304800" lvl="8" marL="4114800">
              <a:spcBef>
                <a:spcPts val="1600"/>
              </a:spcBef>
              <a:spcAft>
                <a:spcPts val="160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hyperlink" Target="https://drive.google.com/file/d/1UKpChLlCfKPRepJL0sZGVOMHzxIE4vUS/view?usp=sharing" TargetMode="External"/><Relationship Id="rId4" Type="http://schemas.openxmlformats.org/officeDocument/2006/relationships/image" Target="../media/image14.png"/><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hyperlink" Target="https://drive.google.com/open?id=1URub_62ttHOiARbkQr8OLCDo74bgNDpT&amp;authuser=gaudi.montessori%40gmail.com&amp;usp=drive_fs" TargetMode="Externa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419"/>
              <a:t>Open Roberta Lab</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Uso de Sensores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419"/>
              <a:t>Sensores</a:t>
            </a:r>
            <a:endParaRPr/>
          </a:p>
        </p:txBody>
      </p:sp>
      <p:sp>
        <p:nvSpPr>
          <p:cNvPr id="74" name="Google Shape;74;p14"/>
          <p:cNvSpPr txBox="1"/>
          <p:nvPr>
            <p:ph idx="1" type="body"/>
          </p:nvPr>
        </p:nvSpPr>
        <p:spPr>
          <a:xfrm>
            <a:off x="51625" y="1681925"/>
            <a:ext cx="4844400" cy="3285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419"/>
              <a:t>Los sensores permiten saber cuándo se está cerca de un objeto o color, estos sensores, así como los motores que usa un robot se configuran desde la opción </a:t>
            </a:r>
            <a:r>
              <a:rPr lang="es-419"/>
              <a:t>CONFIGURACIÓN</a:t>
            </a:r>
            <a:r>
              <a:rPr lang="es-419"/>
              <a:t> DEL ROBOT.</a:t>
            </a:r>
            <a:endParaRPr sz="1150">
              <a:solidFill>
                <a:srgbClr val="1D2125"/>
              </a:solidFill>
              <a:highlight>
                <a:srgbClr val="FFFFFF"/>
              </a:highlight>
            </a:endParaRPr>
          </a:p>
          <a:p>
            <a:pPr indent="-342900" lvl="0" marL="457200" rtl="0" algn="l">
              <a:spcBef>
                <a:spcPts val="0"/>
              </a:spcBef>
              <a:spcAft>
                <a:spcPts val="0"/>
              </a:spcAft>
              <a:buSzPts val="1800"/>
              <a:buChar char="●"/>
            </a:pPr>
            <a:r>
              <a:rPr lang="es-419"/>
              <a:t>Para utilizar los sensores al programar, utilizamos el bloque </a:t>
            </a:r>
            <a:r>
              <a:rPr b="1" lang="es-419">
                <a:solidFill>
                  <a:srgbClr val="FF0000"/>
                </a:solidFill>
              </a:rPr>
              <a:t>esperar hasta</a:t>
            </a:r>
            <a:r>
              <a:rPr lang="es-419"/>
              <a:t>, y posteriormente elegimos el sensor dependiendo el propósito del desafío o la tarea a realizar.</a:t>
            </a:r>
            <a:endParaRPr/>
          </a:p>
          <a:p>
            <a:pPr indent="0" lvl="0" marL="2286000" rtl="0" algn="l">
              <a:spcBef>
                <a:spcPts val="1600"/>
              </a:spcBef>
              <a:spcAft>
                <a:spcPts val="1600"/>
              </a:spcAft>
              <a:buNone/>
            </a:pPr>
            <a:r>
              <a:t/>
            </a:r>
            <a:endParaRPr/>
          </a:p>
        </p:txBody>
      </p:sp>
      <p:pic>
        <p:nvPicPr>
          <p:cNvPr id="75" name="Google Shape;75;p14"/>
          <p:cNvPicPr preferRelativeResize="0"/>
          <p:nvPr/>
        </p:nvPicPr>
        <p:blipFill>
          <a:blip r:embed="rId3">
            <a:alphaModFix/>
          </a:blip>
          <a:stretch>
            <a:fillRect/>
          </a:stretch>
        </p:blipFill>
        <p:spPr>
          <a:xfrm>
            <a:off x="5024975" y="1858225"/>
            <a:ext cx="3943175" cy="308256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Sensor Ultrasónico (detecta objetos)</a:t>
            </a:r>
            <a:endParaRPr/>
          </a:p>
        </p:txBody>
      </p:sp>
      <p:sp>
        <p:nvSpPr>
          <p:cNvPr id="81" name="Google Shape;81;p15"/>
          <p:cNvSpPr txBox="1"/>
          <p:nvPr>
            <p:ph idx="4294967295" type="body"/>
          </p:nvPr>
        </p:nvSpPr>
        <p:spPr>
          <a:xfrm>
            <a:off x="0" y="712250"/>
            <a:ext cx="4844400" cy="3285900"/>
          </a:xfrm>
          <a:prstGeom prst="rect">
            <a:avLst/>
          </a:prstGeom>
        </p:spPr>
        <p:txBody>
          <a:bodyPr anchorCtr="0" anchor="t" bIns="91425" lIns="91425" spcFirstLastPara="1" rIns="91425" wrap="square" tIns="91425">
            <a:noAutofit/>
          </a:bodyPr>
          <a:lstStyle/>
          <a:p>
            <a:pPr indent="-342900" lvl="0" marL="457200" rtl="0" algn="just">
              <a:spcBef>
                <a:spcPts val="0"/>
              </a:spcBef>
              <a:spcAft>
                <a:spcPts val="0"/>
              </a:spcAft>
              <a:buSzPts val="1800"/>
              <a:buChar char="●"/>
            </a:pPr>
            <a:r>
              <a:rPr lang="es-419"/>
              <a:t>Permite detectar un objeto a cierta distancia, para tomar decisiones.</a:t>
            </a:r>
            <a:endParaRPr/>
          </a:p>
          <a:p>
            <a:pPr indent="-342900" lvl="0" marL="457200" rtl="0" algn="just">
              <a:spcBef>
                <a:spcPts val="0"/>
              </a:spcBef>
              <a:spcAft>
                <a:spcPts val="0"/>
              </a:spcAft>
              <a:buSzPts val="1800"/>
              <a:buChar char="●"/>
            </a:pPr>
            <a:r>
              <a:rPr lang="es-419"/>
              <a:t>Los sensores de ultrasonidos son </a:t>
            </a:r>
            <a:r>
              <a:rPr b="1" lang="es-419">
                <a:solidFill>
                  <a:srgbClr val="FF0000"/>
                </a:solidFill>
              </a:rPr>
              <a:t>detectores de proximidad</a:t>
            </a:r>
            <a:r>
              <a:rPr lang="es-419"/>
              <a:t> que trabajan libres de roces mecánicos y que detectan objetos a distancias, que van desde pocos centímetros hasta varios metros. El sensor emite un sonido y mide el tiempo que la señal tarda en regresar.</a:t>
            </a:r>
            <a:endParaRPr/>
          </a:p>
        </p:txBody>
      </p:sp>
      <p:pic>
        <p:nvPicPr>
          <p:cNvPr id="82" name="Google Shape;82;p15"/>
          <p:cNvPicPr preferRelativeResize="0"/>
          <p:nvPr/>
        </p:nvPicPr>
        <p:blipFill>
          <a:blip r:embed="rId3">
            <a:alphaModFix/>
          </a:blip>
          <a:stretch>
            <a:fillRect/>
          </a:stretch>
        </p:blipFill>
        <p:spPr>
          <a:xfrm>
            <a:off x="357675" y="3703900"/>
            <a:ext cx="4263850" cy="1120348"/>
          </a:xfrm>
          <a:prstGeom prst="rect">
            <a:avLst/>
          </a:prstGeom>
          <a:noFill/>
          <a:ln>
            <a:noFill/>
          </a:ln>
        </p:spPr>
      </p:pic>
      <p:pic>
        <p:nvPicPr>
          <p:cNvPr id="83" name="Google Shape;83;p15"/>
          <p:cNvPicPr preferRelativeResize="0"/>
          <p:nvPr/>
        </p:nvPicPr>
        <p:blipFill>
          <a:blip r:embed="rId4">
            <a:alphaModFix/>
          </a:blip>
          <a:stretch>
            <a:fillRect/>
          </a:stretch>
        </p:blipFill>
        <p:spPr>
          <a:xfrm>
            <a:off x="4844400" y="1533900"/>
            <a:ext cx="4104125" cy="2841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6"/>
          <p:cNvPicPr preferRelativeResize="0"/>
          <p:nvPr/>
        </p:nvPicPr>
        <p:blipFill>
          <a:blip r:embed="rId3">
            <a:alphaModFix/>
          </a:blip>
          <a:stretch>
            <a:fillRect/>
          </a:stretch>
        </p:blipFill>
        <p:spPr>
          <a:xfrm>
            <a:off x="5198625" y="730425"/>
            <a:ext cx="3597425" cy="2490525"/>
          </a:xfrm>
          <a:prstGeom prst="rect">
            <a:avLst/>
          </a:prstGeom>
          <a:noFill/>
          <a:ln>
            <a:noFill/>
          </a:ln>
        </p:spPr>
      </p:pic>
      <p:sp>
        <p:nvSpPr>
          <p:cNvPr id="89" name="Google Shape;89;p1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Sensor Ultrasónico (detecta objetos)</a:t>
            </a:r>
            <a:endParaRPr/>
          </a:p>
        </p:txBody>
      </p:sp>
      <p:sp>
        <p:nvSpPr>
          <p:cNvPr id="90" name="Google Shape;90;p16"/>
          <p:cNvSpPr txBox="1"/>
          <p:nvPr>
            <p:ph idx="4294967295" type="body"/>
          </p:nvPr>
        </p:nvSpPr>
        <p:spPr>
          <a:xfrm>
            <a:off x="35175" y="1184250"/>
            <a:ext cx="4844400" cy="1387500"/>
          </a:xfrm>
          <a:prstGeom prst="rect">
            <a:avLst/>
          </a:prstGeom>
        </p:spPr>
        <p:txBody>
          <a:bodyPr anchorCtr="0" anchor="t" bIns="91425" lIns="91425" spcFirstLastPara="1" rIns="91425" wrap="square" tIns="91425">
            <a:noAutofit/>
          </a:bodyPr>
          <a:lstStyle/>
          <a:p>
            <a:pPr indent="-342900" lvl="0" marL="457200" rtl="0" algn="just">
              <a:spcBef>
                <a:spcPts val="0"/>
              </a:spcBef>
              <a:spcAft>
                <a:spcPts val="0"/>
              </a:spcAft>
              <a:buSzPts val="1800"/>
              <a:buChar char="●"/>
            </a:pPr>
            <a:r>
              <a:rPr lang="es-419"/>
              <a:t>Otro ejemplo de aplicación es detectar objetos a una distancia y detener el robot antes de que el mismo choque con el objeto.</a:t>
            </a:r>
            <a:endParaRPr/>
          </a:p>
        </p:txBody>
      </p:sp>
      <p:pic>
        <p:nvPicPr>
          <p:cNvPr id="91" name="Google Shape;91;p16"/>
          <p:cNvPicPr preferRelativeResize="0"/>
          <p:nvPr/>
        </p:nvPicPr>
        <p:blipFill>
          <a:blip r:embed="rId4">
            <a:alphaModFix/>
          </a:blip>
          <a:stretch>
            <a:fillRect/>
          </a:stretch>
        </p:blipFill>
        <p:spPr>
          <a:xfrm>
            <a:off x="185775" y="2950050"/>
            <a:ext cx="8772450" cy="1782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17"/>
          <p:cNvPicPr preferRelativeResize="0"/>
          <p:nvPr/>
        </p:nvPicPr>
        <p:blipFill>
          <a:blip r:embed="rId3">
            <a:alphaModFix/>
          </a:blip>
          <a:stretch>
            <a:fillRect/>
          </a:stretch>
        </p:blipFill>
        <p:spPr>
          <a:xfrm>
            <a:off x="5198625" y="730425"/>
            <a:ext cx="3597425" cy="2490525"/>
          </a:xfrm>
          <a:prstGeom prst="rect">
            <a:avLst/>
          </a:prstGeom>
          <a:noFill/>
          <a:ln>
            <a:noFill/>
          </a:ln>
        </p:spPr>
      </p:pic>
      <p:sp>
        <p:nvSpPr>
          <p:cNvPr id="97" name="Google Shape;97;p17"/>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Sensor Ultrasónico (detecta objetos)</a:t>
            </a:r>
            <a:endParaRPr/>
          </a:p>
        </p:txBody>
      </p:sp>
      <p:sp>
        <p:nvSpPr>
          <p:cNvPr id="98" name="Google Shape;98;p17"/>
          <p:cNvSpPr txBox="1"/>
          <p:nvPr>
            <p:ph idx="4294967295" type="body"/>
          </p:nvPr>
        </p:nvSpPr>
        <p:spPr>
          <a:xfrm>
            <a:off x="35175" y="1184250"/>
            <a:ext cx="4844400" cy="1387500"/>
          </a:xfrm>
          <a:prstGeom prst="rect">
            <a:avLst/>
          </a:prstGeom>
        </p:spPr>
        <p:txBody>
          <a:bodyPr anchorCtr="0" anchor="t" bIns="91425" lIns="91425" spcFirstLastPara="1" rIns="91425" wrap="square" tIns="91425">
            <a:noAutofit/>
          </a:bodyPr>
          <a:lstStyle/>
          <a:p>
            <a:pPr indent="-342900" lvl="0" marL="457200" rtl="0" algn="just">
              <a:spcBef>
                <a:spcPts val="0"/>
              </a:spcBef>
              <a:spcAft>
                <a:spcPts val="0"/>
              </a:spcAft>
              <a:buSzPts val="1800"/>
              <a:buChar char="●"/>
            </a:pPr>
            <a:r>
              <a:rPr lang="es-419"/>
              <a:t>Otro ejemplo de aplicación es ejecutar el código y mover el </a:t>
            </a:r>
            <a:r>
              <a:rPr lang="es-419"/>
              <a:t>obstáculo</a:t>
            </a:r>
            <a:r>
              <a:rPr lang="es-419"/>
              <a:t> manualmente, al estar a una distancia emitir el mensaje “Objeto Detectado”</a:t>
            </a:r>
            <a:endParaRPr/>
          </a:p>
        </p:txBody>
      </p:sp>
      <p:pic>
        <p:nvPicPr>
          <p:cNvPr id="99" name="Google Shape;99;p17"/>
          <p:cNvPicPr preferRelativeResize="0"/>
          <p:nvPr/>
        </p:nvPicPr>
        <p:blipFill>
          <a:blip r:embed="rId4">
            <a:alphaModFix/>
          </a:blip>
          <a:stretch>
            <a:fillRect/>
          </a:stretch>
        </p:blipFill>
        <p:spPr>
          <a:xfrm>
            <a:off x="574675" y="3220950"/>
            <a:ext cx="8062934" cy="1617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Sensor de Color</a:t>
            </a:r>
            <a:endParaRPr/>
          </a:p>
        </p:txBody>
      </p:sp>
      <p:sp>
        <p:nvSpPr>
          <p:cNvPr id="105" name="Google Shape;105;p18"/>
          <p:cNvSpPr txBox="1"/>
          <p:nvPr>
            <p:ph idx="4294967295" type="body"/>
          </p:nvPr>
        </p:nvSpPr>
        <p:spPr>
          <a:xfrm>
            <a:off x="272125" y="712250"/>
            <a:ext cx="8416200" cy="1932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419"/>
              <a:t>Detecta 7 diferentes colores: rojo, azul, verde, amarillo, café, negro y blanco. </a:t>
            </a:r>
            <a:endParaRPr/>
          </a:p>
          <a:p>
            <a:pPr indent="-342900" lvl="0" marL="457200" rtl="0" algn="just">
              <a:spcBef>
                <a:spcPts val="0"/>
              </a:spcBef>
              <a:spcAft>
                <a:spcPts val="0"/>
              </a:spcAft>
              <a:buSzPts val="1800"/>
              <a:buChar char="●"/>
            </a:pPr>
            <a:r>
              <a:rPr b="1" lang="es-419"/>
              <a:t>Ejemplo: </a:t>
            </a:r>
            <a:r>
              <a:rPr lang="es-419"/>
              <a:t>Utilizando</a:t>
            </a:r>
            <a:r>
              <a:rPr b="1" lang="es-419"/>
              <a:t> </a:t>
            </a:r>
            <a:r>
              <a:rPr lang="es-419"/>
              <a:t>el sensor de color haremos que el robot avance, y cuando detecte el color seleccionado, se detendrá. Antes de realizar el ejercicio revisa en la configuración del robot que el “Sensor 3” tenga seleccionado al “sensor de color” y estés en la escena que tiene las barras con los 4 colores. Coloca tu robot antes del cuadro azul y dale Play a tu programa.</a:t>
            </a:r>
            <a:endParaRPr/>
          </a:p>
        </p:txBody>
      </p:sp>
      <p:pic>
        <p:nvPicPr>
          <p:cNvPr id="106" name="Google Shape;106;p18"/>
          <p:cNvPicPr preferRelativeResize="0"/>
          <p:nvPr/>
        </p:nvPicPr>
        <p:blipFill>
          <a:blip r:embed="rId3">
            <a:alphaModFix/>
          </a:blip>
          <a:stretch>
            <a:fillRect/>
          </a:stretch>
        </p:blipFill>
        <p:spPr>
          <a:xfrm>
            <a:off x="58550" y="3179250"/>
            <a:ext cx="9110600" cy="1582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Sensor de Color</a:t>
            </a:r>
            <a:endParaRPr/>
          </a:p>
        </p:txBody>
      </p:sp>
      <p:sp>
        <p:nvSpPr>
          <p:cNvPr id="112" name="Google Shape;112;p19"/>
          <p:cNvSpPr txBox="1"/>
          <p:nvPr>
            <p:ph idx="4294967295" type="body"/>
          </p:nvPr>
        </p:nvSpPr>
        <p:spPr>
          <a:xfrm>
            <a:off x="272125" y="712250"/>
            <a:ext cx="8416200" cy="824400"/>
          </a:xfrm>
          <a:prstGeom prst="rect">
            <a:avLst/>
          </a:prstGeom>
        </p:spPr>
        <p:txBody>
          <a:bodyPr anchorCtr="0" anchor="t" bIns="91425" lIns="91425" spcFirstLastPara="1" rIns="91425" wrap="square" tIns="91425">
            <a:noAutofit/>
          </a:bodyPr>
          <a:lstStyle/>
          <a:p>
            <a:pPr indent="-342900" lvl="0" marL="457200" rtl="0" algn="just">
              <a:spcBef>
                <a:spcPts val="0"/>
              </a:spcBef>
              <a:spcAft>
                <a:spcPts val="0"/>
              </a:spcAft>
              <a:buSzPts val="1800"/>
              <a:buChar char="●"/>
            </a:pPr>
            <a:r>
              <a:rPr b="1" lang="es-419"/>
              <a:t>Ejemplo 02: </a:t>
            </a:r>
            <a:r>
              <a:rPr lang="es-419"/>
              <a:t>En base al ejemplo anterior, complete el programa para que el robot emita algún sonido de acuerdo al color detectado:</a:t>
            </a:r>
            <a:endParaRPr/>
          </a:p>
        </p:txBody>
      </p:sp>
      <p:pic>
        <p:nvPicPr>
          <p:cNvPr id="113" name="Google Shape;113;p19"/>
          <p:cNvPicPr preferRelativeResize="0"/>
          <p:nvPr/>
        </p:nvPicPr>
        <p:blipFill>
          <a:blip r:embed="rId3">
            <a:alphaModFix/>
          </a:blip>
          <a:stretch>
            <a:fillRect/>
          </a:stretch>
        </p:blipFill>
        <p:spPr>
          <a:xfrm>
            <a:off x="193450" y="1876700"/>
            <a:ext cx="8839198" cy="181724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Uso de dos sensores</a:t>
            </a:r>
            <a:endParaRPr/>
          </a:p>
        </p:txBody>
      </p:sp>
      <p:sp>
        <p:nvSpPr>
          <p:cNvPr id="119" name="Google Shape;119;p20"/>
          <p:cNvSpPr txBox="1"/>
          <p:nvPr>
            <p:ph idx="4294967295" type="body"/>
          </p:nvPr>
        </p:nvSpPr>
        <p:spPr>
          <a:xfrm>
            <a:off x="272125" y="712250"/>
            <a:ext cx="8416200" cy="1275900"/>
          </a:xfrm>
          <a:prstGeom prst="rect">
            <a:avLst/>
          </a:prstGeom>
        </p:spPr>
        <p:txBody>
          <a:bodyPr anchorCtr="0" anchor="t" bIns="91425" lIns="91425" spcFirstLastPara="1" rIns="91425" wrap="square" tIns="91425">
            <a:noAutofit/>
          </a:bodyPr>
          <a:lstStyle/>
          <a:p>
            <a:pPr indent="-342900" lvl="0" marL="457200" rtl="0" algn="just">
              <a:spcBef>
                <a:spcPts val="0"/>
              </a:spcBef>
              <a:spcAft>
                <a:spcPts val="0"/>
              </a:spcAft>
              <a:buSzPts val="1800"/>
              <a:buChar char="●"/>
            </a:pPr>
            <a:r>
              <a:rPr b="1" lang="es-419"/>
              <a:t>Ejemplo 03: </a:t>
            </a:r>
            <a:r>
              <a:rPr lang="es-419"/>
              <a:t>En base al ejemplo anterior, complete el programa para que el robot detecte los colores amarillo y rojo, y que diga el color que está detectando, y se detenga a 10 cm de la pared.</a:t>
            </a:r>
            <a:endParaRPr/>
          </a:p>
        </p:txBody>
      </p:sp>
      <p:pic>
        <p:nvPicPr>
          <p:cNvPr id="120" name="Google Shape;120;p20"/>
          <p:cNvPicPr preferRelativeResize="0"/>
          <p:nvPr/>
        </p:nvPicPr>
        <p:blipFill>
          <a:blip r:embed="rId3">
            <a:alphaModFix/>
          </a:blip>
          <a:stretch>
            <a:fillRect/>
          </a:stretch>
        </p:blipFill>
        <p:spPr>
          <a:xfrm>
            <a:off x="1279825" y="1870900"/>
            <a:ext cx="6400800" cy="2819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Uso de dos sensores</a:t>
            </a:r>
            <a:endParaRPr/>
          </a:p>
        </p:txBody>
      </p:sp>
      <p:sp>
        <p:nvSpPr>
          <p:cNvPr id="126" name="Google Shape;126;p21"/>
          <p:cNvSpPr txBox="1"/>
          <p:nvPr>
            <p:ph idx="4294967295" type="body"/>
          </p:nvPr>
        </p:nvSpPr>
        <p:spPr>
          <a:xfrm>
            <a:off x="272125" y="712250"/>
            <a:ext cx="8416200" cy="1275900"/>
          </a:xfrm>
          <a:prstGeom prst="rect">
            <a:avLst/>
          </a:prstGeom>
        </p:spPr>
        <p:txBody>
          <a:bodyPr anchorCtr="0" anchor="t" bIns="91425" lIns="91425" spcFirstLastPara="1" rIns="91425" wrap="square" tIns="91425">
            <a:noAutofit/>
          </a:bodyPr>
          <a:lstStyle/>
          <a:p>
            <a:pPr indent="-342900" lvl="0" marL="457200" rtl="0" algn="just">
              <a:spcBef>
                <a:spcPts val="0"/>
              </a:spcBef>
              <a:spcAft>
                <a:spcPts val="0"/>
              </a:spcAft>
              <a:buSzPts val="1800"/>
              <a:buChar char="●"/>
            </a:pPr>
            <a:r>
              <a:rPr b="1" lang="es-419"/>
              <a:t>Ejemplo 04: </a:t>
            </a:r>
            <a:r>
              <a:rPr lang="es-419"/>
              <a:t>Se tiene un robot seguidor de linea, con dos sensores, uno detecta blanco y negro y el otro el resto de colores,  el reto es: seguir la linea negra hasta llegar al cubo verde. El robot inicialmente se encuentra con el sensor 2 sobre la línea negra.</a:t>
            </a:r>
            <a:endParaRPr/>
          </a:p>
        </p:txBody>
      </p:sp>
      <p:pic>
        <p:nvPicPr>
          <p:cNvPr id="127" name="Google Shape;127;p21"/>
          <p:cNvPicPr preferRelativeResize="0"/>
          <p:nvPr/>
        </p:nvPicPr>
        <p:blipFill>
          <a:blip r:embed="rId3">
            <a:alphaModFix/>
          </a:blip>
          <a:stretch>
            <a:fillRect/>
          </a:stretch>
        </p:blipFill>
        <p:spPr>
          <a:xfrm>
            <a:off x="891375" y="2081350"/>
            <a:ext cx="3541915" cy="2850550"/>
          </a:xfrm>
          <a:prstGeom prst="rect">
            <a:avLst/>
          </a:prstGeom>
          <a:noFill/>
          <a:ln>
            <a:noFill/>
          </a:ln>
        </p:spPr>
      </p:pic>
      <p:sp>
        <p:nvSpPr>
          <p:cNvPr id="128" name="Google Shape;128;p21"/>
          <p:cNvSpPr txBox="1"/>
          <p:nvPr/>
        </p:nvSpPr>
        <p:spPr>
          <a:xfrm>
            <a:off x="4572000" y="1782925"/>
            <a:ext cx="4532700" cy="3140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s-419">
                <a:solidFill>
                  <a:srgbClr val="1D2125"/>
                </a:solidFill>
                <a:highlight>
                  <a:srgbClr val="FFFFFF"/>
                </a:highlight>
                <a:latin typeface="Roboto"/>
                <a:ea typeface="Roboto"/>
                <a:cs typeface="Roboto"/>
                <a:sym typeface="Roboto"/>
              </a:rPr>
              <a:t>ALGORITMO PROPUESTO</a:t>
            </a:r>
            <a:endParaRPr b="1">
              <a:solidFill>
                <a:srgbClr val="1D2125"/>
              </a:solidFill>
              <a:highlight>
                <a:srgbClr val="FFFFFF"/>
              </a:highlight>
              <a:latin typeface="Roboto"/>
              <a:ea typeface="Roboto"/>
              <a:cs typeface="Roboto"/>
              <a:sym typeface="Roboto"/>
            </a:endParaRPr>
          </a:p>
          <a:p>
            <a:pPr indent="-317500" lvl="0" marL="457200" rtl="0" algn="l">
              <a:lnSpc>
                <a:spcPct val="100000"/>
              </a:lnSpc>
              <a:spcBef>
                <a:spcPts val="1200"/>
              </a:spcBef>
              <a:spcAft>
                <a:spcPts val="0"/>
              </a:spcAft>
              <a:buClr>
                <a:srgbClr val="1D2125"/>
              </a:buClr>
              <a:buSzPts val="1400"/>
              <a:buFont typeface="Roboto"/>
              <a:buAutoNum type="arabicPeriod"/>
            </a:pPr>
            <a:r>
              <a:rPr lang="es-419">
                <a:solidFill>
                  <a:srgbClr val="1D2125"/>
                </a:solidFill>
                <a:highlight>
                  <a:srgbClr val="FFFFFF"/>
                </a:highlight>
                <a:latin typeface="Roboto"/>
                <a:ea typeface="Roboto"/>
                <a:cs typeface="Roboto"/>
                <a:sym typeface="Roboto"/>
              </a:rPr>
              <a:t>El robot de</a:t>
            </a:r>
            <a:r>
              <a:rPr lang="es-419">
                <a:solidFill>
                  <a:srgbClr val="1D2125"/>
                </a:solidFill>
                <a:highlight>
                  <a:srgbClr val="FFFFFF"/>
                </a:highlight>
                <a:latin typeface="Roboto"/>
                <a:ea typeface="Roboto"/>
                <a:cs typeface="Roboto"/>
                <a:sym typeface="Roboto"/>
              </a:rPr>
              <a:t>be comenzar con el sensor 2 sobre la línea negra. </a:t>
            </a:r>
            <a:endParaRPr>
              <a:solidFill>
                <a:srgbClr val="1D2125"/>
              </a:solidFill>
              <a:highlight>
                <a:srgbClr val="FFFFFF"/>
              </a:highlight>
              <a:latin typeface="Roboto"/>
              <a:ea typeface="Roboto"/>
              <a:cs typeface="Roboto"/>
              <a:sym typeface="Roboto"/>
            </a:endParaRPr>
          </a:p>
          <a:p>
            <a:pPr indent="-317500" lvl="0" marL="457200" rtl="0" algn="l">
              <a:lnSpc>
                <a:spcPct val="100000"/>
              </a:lnSpc>
              <a:spcBef>
                <a:spcPts val="0"/>
              </a:spcBef>
              <a:spcAft>
                <a:spcPts val="0"/>
              </a:spcAft>
              <a:buClr>
                <a:srgbClr val="1D2125"/>
              </a:buClr>
              <a:buSzPts val="1400"/>
              <a:buFont typeface="Roboto"/>
              <a:buAutoNum type="arabicPeriod"/>
            </a:pPr>
            <a:r>
              <a:rPr lang="es-419">
                <a:solidFill>
                  <a:srgbClr val="1D2125"/>
                </a:solidFill>
                <a:highlight>
                  <a:srgbClr val="FFFFFF"/>
                </a:highlight>
                <a:latin typeface="Roboto"/>
                <a:ea typeface="Roboto"/>
                <a:cs typeface="Roboto"/>
                <a:sym typeface="Roboto"/>
              </a:rPr>
              <a:t>Seguir la línea negra con el sensor 2, hasta que detecte el color amarillo con el sensor.</a:t>
            </a:r>
            <a:endParaRPr>
              <a:solidFill>
                <a:srgbClr val="1D2125"/>
              </a:solidFill>
              <a:highlight>
                <a:srgbClr val="FFFFFF"/>
              </a:highlight>
              <a:latin typeface="Roboto"/>
              <a:ea typeface="Roboto"/>
              <a:cs typeface="Roboto"/>
              <a:sym typeface="Roboto"/>
            </a:endParaRPr>
          </a:p>
          <a:p>
            <a:pPr indent="-317500" lvl="0" marL="457200" rtl="0" algn="l">
              <a:lnSpc>
                <a:spcPct val="100000"/>
              </a:lnSpc>
              <a:spcBef>
                <a:spcPts val="0"/>
              </a:spcBef>
              <a:spcAft>
                <a:spcPts val="0"/>
              </a:spcAft>
              <a:buClr>
                <a:srgbClr val="1D2125"/>
              </a:buClr>
              <a:buSzPts val="1400"/>
              <a:buFont typeface="Roboto"/>
              <a:buAutoNum type="arabicPeriod"/>
            </a:pPr>
            <a:r>
              <a:rPr lang="es-419">
                <a:solidFill>
                  <a:srgbClr val="1D2125"/>
                </a:solidFill>
                <a:highlight>
                  <a:srgbClr val="FFFFFF"/>
                </a:highlight>
                <a:latin typeface="Roboto"/>
                <a:ea typeface="Roboto"/>
                <a:cs typeface="Roboto"/>
                <a:sym typeface="Roboto"/>
              </a:rPr>
              <a:t>Cuando detecta el color amarillo, el robot se detiene, avanza un poco y después gira hacia la derecha hasta encontrar nuevamente la línea negra con el sensor 2. </a:t>
            </a:r>
            <a:endParaRPr>
              <a:solidFill>
                <a:srgbClr val="1D2125"/>
              </a:solidFill>
              <a:highlight>
                <a:srgbClr val="FFFFFF"/>
              </a:highlight>
              <a:latin typeface="Roboto"/>
              <a:ea typeface="Roboto"/>
              <a:cs typeface="Roboto"/>
              <a:sym typeface="Roboto"/>
            </a:endParaRPr>
          </a:p>
          <a:p>
            <a:pPr indent="-317500" lvl="0" marL="457200" rtl="0" algn="l">
              <a:lnSpc>
                <a:spcPct val="100000"/>
              </a:lnSpc>
              <a:spcBef>
                <a:spcPts val="0"/>
              </a:spcBef>
              <a:spcAft>
                <a:spcPts val="0"/>
              </a:spcAft>
              <a:buClr>
                <a:srgbClr val="1D2125"/>
              </a:buClr>
              <a:buSzPts val="1400"/>
              <a:buFont typeface="Roboto"/>
              <a:buAutoNum type="arabicPeriod"/>
            </a:pPr>
            <a:r>
              <a:rPr lang="es-419">
                <a:solidFill>
                  <a:srgbClr val="1D2125"/>
                </a:solidFill>
                <a:highlight>
                  <a:srgbClr val="FFFFFF"/>
                </a:highlight>
                <a:latin typeface="Roboto"/>
                <a:ea typeface="Roboto"/>
                <a:cs typeface="Roboto"/>
                <a:sym typeface="Roboto"/>
              </a:rPr>
              <a:t>Espera 1 segundo </a:t>
            </a:r>
            <a:endParaRPr>
              <a:solidFill>
                <a:srgbClr val="1D2125"/>
              </a:solidFill>
              <a:highlight>
                <a:srgbClr val="FFFFFF"/>
              </a:highlight>
              <a:latin typeface="Roboto"/>
              <a:ea typeface="Roboto"/>
              <a:cs typeface="Roboto"/>
              <a:sym typeface="Roboto"/>
            </a:endParaRPr>
          </a:p>
          <a:p>
            <a:pPr indent="-317500" lvl="0" marL="457200" rtl="0" algn="l">
              <a:lnSpc>
                <a:spcPct val="100000"/>
              </a:lnSpc>
              <a:spcBef>
                <a:spcPts val="0"/>
              </a:spcBef>
              <a:spcAft>
                <a:spcPts val="0"/>
              </a:spcAft>
              <a:buClr>
                <a:srgbClr val="1D2125"/>
              </a:buClr>
              <a:buSzPts val="1400"/>
              <a:buFont typeface="Roboto"/>
              <a:buAutoNum type="arabicPeriod"/>
            </a:pPr>
            <a:r>
              <a:rPr lang="es-419">
                <a:solidFill>
                  <a:srgbClr val="1D2125"/>
                </a:solidFill>
                <a:highlight>
                  <a:srgbClr val="FFFFFF"/>
                </a:highlight>
                <a:latin typeface="Roboto"/>
                <a:ea typeface="Roboto"/>
                <a:cs typeface="Roboto"/>
                <a:sym typeface="Roboto"/>
              </a:rPr>
              <a:t>Hace nuevamente el seguidor de línea con el sensor 2 hasta que detecte el color verde con el sensor3, ahí habrá completado su recorrido</a:t>
            </a:r>
            <a:endParaRPr>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Uso de dos sensores: Solución</a:t>
            </a:r>
            <a:endParaRPr/>
          </a:p>
        </p:txBody>
      </p:sp>
      <p:sp>
        <p:nvSpPr>
          <p:cNvPr id="134" name="Google Shape;134;p22"/>
          <p:cNvSpPr txBox="1"/>
          <p:nvPr>
            <p:ph idx="4294967295" type="body"/>
          </p:nvPr>
        </p:nvSpPr>
        <p:spPr>
          <a:xfrm>
            <a:off x="272125" y="712250"/>
            <a:ext cx="8416200" cy="1275900"/>
          </a:xfrm>
          <a:prstGeom prst="rect">
            <a:avLst/>
          </a:prstGeom>
        </p:spPr>
        <p:txBody>
          <a:bodyPr anchorCtr="0" anchor="t" bIns="91425" lIns="91425" spcFirstLastPara="1" rIns="91425" wrap="square" tIns="91425">
            <a:noAutofit/>
          </a:bodyPr>
          <a:lstStyle/>
          <a:p>
            <a:pPr indent="-342900" lvl="0" marL="457200" rtl="0" algn="just">
              <a:spcBef>
                <a:spcPts val="0"/>
              </a:spcBef>
              <a:spcAft>
                <a:spcPts val="0"/>
              </a:spcAft>
              <a:buSzPts val="1800"/>
              <a:buChar char="●"/>
            </a:pPr>
            <a:r>
              <a:rPr b="1" lang="es-419"/>
              <a:t>En primer lugar se deben configurar los dos sensores:</a:t>
            </a:r>
            <a:endParaRPr b="1"/>
          </a:p>
          <a:p>
            <a:pPr indent="-317500" lvl="1" marL="914400" rtl="0" algn="just">
              <a:spcBef>
                <a:spcPts val="0"/>
              </a:spcBef>
              <a:spcAft>
                <a:spcPts val="0"/>
              </a:spcAft>
              <a:buSzPts val="1400"/>
              <a:buChar char="○"/>
            </a:pPr>
            <a:r>
              <a:rPr lang="es-419"/>
              <a:t>Ir a configuracion del Robot y en el sensor 2 colocar un sensor de color</a:t>
            </a:r>
            <a:endParaRPr/>
          </a:p>
        </p:txBody>
      </p:sp>
      <p:pic>
        <p:nvPicPr>
          <p:cNvPr id="135" name="Google Shape;135;p22"/>
          <p:cNvPicPr preferRelativeResize="0"/>
          <p:nvPr/>
        </p:nvPicPr>
        <p:blipFill rotWithShape="1">
          <a:blip r:embed="rId3">
            <a:alphaModFix/>
          </a:blip>
          <a:srcRect b="0" l="0" r="0" t="33128"/>
          <a:stretch/>
        </p:blipFill>
        <p:spPr>
          <a:xfrm>
            <a:off x="98250" y="1706700"/>
            <a:ext cx="3857400" cy="2680251"/>
          </a:xfrm>
          <a:prstGeom prst="rect">
            <a:avLst/>
          </a:prstGeom>
          <a:noFill/>
          <a:ln>
            <a:noFill/>
          </a:ln>
        </p:spPr>
      </p:pic>
      <p:pic>
        <p:nvPicPr>
          <p:cNvPr id="136" name="Google Shape;136;p22"/>
          <p:cNvPicPr preferRelativeResize="0"/>
          <p:nvPr/>
        </p:nvPicPr>
        <p:blipFill>
          <a:blip r:embed="rId4">
            <a:alphaModFix/>
          </a:blip>
          <a:stretch>
            <a:fillRect/>
          </a:stretch>
        </p:blipFill>
        <p:spPr>
          <a:xfrm>
            <a:off x="4782500" y="1706700"/>
            <a:ext cx="3537341" cy="2850550"/>
          </a:xfrm>
          <a:prstGeom prst="rect">
            <a:avLst/>
          </a:prstGeom>
          <a:noFill/>
          <a:ln>
            <a:noFill/>
          </a:ln>
        </p:spPr>
      </p:pic>
      <p:sp>
        <p:nvSpPr>
          <p:cNvPr id="137" name="Google Shape;137;p22"/>
          <p:cNvSpPr/>
          <p:nvPr/>
        </p:nvSpPr>
        <p:spPr>
          <a:xfrm>
            <a:off x="4179000" y="2727150"/>
            <a:ext cx="786000" cy="4869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Uso de dos sensores: Solución</a:t>
            </a:r>
            <a:endParaRPr/>
          </a:p>
        </p:txBody>
      </p:sp>
      <p:sp>
        <p:nvSpPr>
          <p:cNvPr id="143" name="Google Shape;143;p23"/>
          <p:cNvSpPr txBox="1"/>
          <p:nvPr>
            <p:ph idx="4294967295" type="body"/>
          </p:nvPr>
        </p:nvSpPr>
        <p:spPr>
          <a:xfrm>
            <a:off x="272125" y="712250"/>
            <a:ext cx="6161700" cy="1275900"/>
          </a:xfrm>
          <a:prstGeom prst="rect">
            <a:avLst/>
          </a:prstGeom>
        </p:spPr>
        <p:txBody>
          <a:bodyPr anchorCtr="0" anchor="t" bIns="91425" lIns="91425" spcFirstLastPara="1" rIns="91425" wrap="square" tIns="91425">
            <a:noAutofit/>
          </a:bodyPr>
          <a:lstStyle/>
          <a:p>
            <a:pPr indent="-342900" lvl="0" marL="457200" rtl="0" algn="just">
              <a:spcBef>
                <a:spcPts val="0"/>
              </a:spcBef>
              <a:spcAft>
                <a:spcPts val="0"/>
              </a:spcAft>
              <a:buSzPts val="1800"/>
              <a:buChar char="●"/>
            </a:pPr>
            <a:r>
              <a:rPr lang="es-419"/>
              <a:t>Descarga el escenario </a:t>
            </a:r>
            <a:r>
              <a:rPr lang="es-419" u="sng">
                <a:solidFill>
                  <a:schemeClr val="hlink"/>
                </a:solidFill>
                <a:hlinkClick r:id="rId3"/>
              </a:rPr>
              <a:t>aquí</a:t>
            </a:r>
            <a:r>
              <a:rPr lang="es-419"/>
              <a:t>.</a:t>
            </a:r>
            <a:endParaRPr/>
          </a:p>
          <a:p>
            <a:pPr indent="-342900" lvl="0" marL="457200" rtl="0" algn="just">
              <a:spcBef>
                <a:spcPts val="0"/>
              </a:spcBef>
              <a:spcAft>
                <a:spcPts val="0"/>
              </a:spcAft>
              <a:buSzPts val="1800"/>
              <a:buChar char="●"/>
            </a:pPr>
            <a:r>
              <a:rPr lang="es-419"/>
              <a:t>Sube el escenario a tu simulación.</a:t>
            </a:r>
            <a:endParaRPr/>
          </a:p>
          <a:p>
            <a:pPr indent="-342900" lvl="0" marL="457200" rtl="0" algn="just">
              <a:spcBef>
                <a:spcPts val="0"/>
              </a:spcBef>
              <a:spcAft>
                <a:spcPts val="0"/>
              </a:spcAft>
              <a:buSzPts val="1800"/>
              <a:buChar char="●"/>
            </a:pPr>
            <a:r>
              <a:rPr lang="es-419"/>
              <a:t>Ubica el robot con el sensor 02 sobre la línea negra.</a:t>
            </a:r>
            <a:endParaRPr/>
          </a:p>
          <a:p>
            <a:pPr indent="-342900" lvl="0" marL="457200" rtl="0" algn="just">
              <a:spcBef>
                <a:spcPts val="0"/>
              </a:spcBef>
              <a:spcAft>
                <a:spcPts val="0"/>
              </a:spcAft>
              <a:buSzPts val="1800"/>
              <a:buChar char="●"/>
            </a:pPr>
            <a:r>
              <a:rPr lang="es-419"/>
              <a:t>El código propuesto para el algoritmo es: </a:t>
            </a:r>
            <a:endParaRPr/>
          </a:p>
        </p:txBody>
      </p:sp>
      <p:pic>
        <p:nvPicPr>
          <p:cNvPr id="144" name="Google Shape;144;p23"/>
          <p:cNvPicPr preferRelativeResize="0"/>
          <p:nvPr/>
        </p:nvPicPr>
        <p:blipFill>
          <a:blip r:embed="rId4">
            <a:alphaModFix/>
          </a:blip>
          <a:stretch>
            <a:fillRect/>
          </a:stretch>
        </p:blipFill>
        <p:spPr>
          <a:xfrm>
            <a:off x="6387975" y="173825"/>
            <a:ext cx="1683875" cy="1594300"/>
          </a:xfrm>
          <a:prstGeom prst="rect">
            <a:avLst/>
          </a:prstGeom>
          <a:noFill/>
          <a:ln>
            <a:noFill/>
          </a:ln>
        </p:spPr>
      </p:pic>
      <p:pic>
        <p:nvPicPr>
          <p:cNvPr id="145" name="Google Shape;145;p23"/>
          <p:cNvPicPr preferRelativeResize="0"/>
          <p:nvPr/>
        </p:nvPicPr>
        <p:blipFill>
          <a:blip r:embed="rId5">
            <a:alphaModFix/>
          </a:blip>
          <a:stretch>
            <a:fillRect/>
          </a:stretch>
        </p:blipFill>
        <p:spPr>
          <a:xfrm>
            <a:off x="2707300" y="2160775"/>
            <a:ext cx="3129728" cy="28505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Algoritmo propuesto</a:t>
            </a:r>
            <a:endParaRPr/>
          </a:p>
        </p:txBody>
      </p:sp>
      <p:pic>
        <p:nvPicPr>
          <p:cNvPr id="151" name="Google Shape;151;p24"/>
          <p:cNvPicPr preferRelativeResize="0"/>
          <p:nvPr/>
        </p:nvPicPr>
        <p:blipFill>
          <a:blip r:embed="rId3">
            <a:alphaModFix/>
          </a:blip>
          <a:stretch>
            <a:fillRect/>
          </a:stretch>
        </p:blipFill>
        <p:spPr>
          <a:xfrm>
            <a:off x="1662425" y="64750"/>
            <a:ext cx="4822173" cy="43920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Seguidor de Línea</a:t>
            </a:r>
            <a:endParaRPr/>
          </a:p>
        </p:txBody>
      </p:sp>
      <p:sp>
        <p:nvSpPr>
          <p:cNvPr id="157" name="Google Shape;157;p25"/>
          <p:cNvSpPr txBox="1"/>
          <p:nvPr>
            <p:ph idx="4294967295" type="body"/>
          </p:nvPr>
        </p:nvSpPr>
        <p:spPr>
          <a:xfrm>
            <a:off x="272125" y="712250"/>
            <a:ext cx="8416200" cy="1275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a:t>Se tiene un robot seguidor de linea, con dos sensores, uno detecta blanco y negro y el otro el resto de colores,  el reto es: seguir la linea negra hasta llegar al cubo verde. El robot inicialmente se encuentra con el sensor 2 sobre la línea negra o de zig-zag e ir avanzando.</a:t>
            </a:r>
            <a:endParaRPr sz="1200">
              <a:solidFill>
                <a:srgbClr val="000000"/>
              </a:solidFill>
              <a:latin typeface="Calibri"/>
              <a:ea typeface="Calibri"/>
              <a:cs typeface="Calibri"/>
              <a:sym typeface="Calibri"/>
            </a:endParaRPr>
          </a:p>
          <a:p>
            <a:pPr indent="0" lvl="0" marL="457200" rtl="0" algn="just">
              <a:spcBef>
                <a:spcPts val="1200"/>
              </a:spcBef>
              <a:spcAft>
                <a:spcPts val="1200"/>
              </a:spcAft>
              <a:buNone/>
            </a:pPr>
            <a:r>
              <a:t/>
            </a:r>
            <a:endParaRPr/>
          </a:p>
        </p:txBody>
      </p:sp>
      <p:sp>
        <p:nvSpPr>
          <p:cNvPr id="158" name="Google Shape;158;p25"/>
          <p:cNvSpPr txBox="1"/>
          <p:nvPr/>
        </p:nvSpPr>
        <p:spPr>
          <a:xfrm>
            <a:off x="4810600" y="2223213"/>
            <a:ext cx="4178100" cy="2493600"/>
          </a:xfrm>
          <a:prstGeom prst="rect">
            <a:avLst/>
          </a:prstGeom>
          <a:noFill/>
          <a:ln>
            <a:noFill/>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b="1" lang="es-419">
                <a:solidFill>
                  <a:srgbClr val="1D2125"/>
                </a:solidFill>
                <a:highlight>
                  <a:srgbClr val="FFFFFF"/>
                </a:highlight>
                <a:latin typeface="Roboto"/>
                <a:ea typeface="Roboto"/>
                <a:cs typeface="Roboto"/>
                <a:sym typeface="Roboto"/>
              </a:rPr>
              <a:t>ALGORITMO CON 1 SENSOR DE COLOR</a:t>
            </a:r>
            <a:endParaRPr b="1">
              <a:solidFill>
                <a:srgbClr val="1D2125"/>
              </a:solidFill>
              <a:highlight>
                <a:srgbClr val="FFFFFF"/>
              </a:highlight>
              <a:latin typeface="Roboto"/>
              <a:ea typeface="Roboto"/>
              <a:cs typeface="Roboto"/>
              <a:sym typeface="Roboto"/>
            </a:endParaRPr>
          </a:p>
          <a:p>
            <a:pPr indent="-317500" lvl="0" marL="457200" rtl="0" algn="just">
              <a:lnSpc>
                <a:spcPct val="100000"/>
              </a:lnSpc>
              <a:spcBef>
                <a:spcPts val="1200"/>
              </a:spcBef>
              <a:spcAft>
                <a:spcPts val="0"/>
              </a:spcAft>
              <a:buClr>
                <a:srgbClr val="1D2125"/>
              </a:buClr>
              <a:buSzPts val="1400"/>
              <a:buFont typeface="Roboto"/>
              <a:buAutoNum type="arabicPeriod"/>
            </a:pPr>
            <a:r>
              <a:rPr lang="es-419">
                <a:solidFill>
                  <a:srgbClr val="1D2125"/>
                </a:solidFill>
                <a:highlight>
                  <a:srgbClr val="FFFFFF"/>
                </a:highlight>
                <a:latin typeface="Roboto"/>
                <a:ea typeface="Roboto"/>
                <a:cs typeface="Roboto"/>
                <a:sym typeface="Roboto"/>
              </a:rPr>
              <a:t>El seguidor de línea con 1 sensor de color, consiste en un robot con un sensor conectado en el puerto 3 para que cumpla un algoritmo de seguir la línea negra en el menor tiempo posible.</a:t>
            </a:r>
            <a:endParaRPr>
              <a:solidFill>
                <a:srgbClr val="1D2125"/>
              </a:solidFill>
              <a:highlight>
                <a:srgbClr val="FFFFFF"/>
              </a:highlight>
              <a:latin typeface="Roboto"/>
              <a:ea typeface="Roboto"/>
              <a:cs typeface="Roboto"/>
              <a:sym typeface="Roboto"/>
            </a:endParaRPr>
          </a:p>
          <a:p>
            <a:pPr indent="-317500" lvl="0" marL="457200" rtl="0" algn="just">
              <a:lnSpc>
                <a:spcPct val="100000"/>
              </a:lnSpc>
              <a:spcBef>
                <a:spcPts val="0"/>
              </a:spcBef>
              <a:spcAft>
                <a:spcPts val="0"/>
              </a:spcAft>
              <a:buClr>
                <a:srgbClr val="1D2125"/>
              </a:buClr>
              <a:buSzPts val="1400"/>
              <a:buFont typeface="Roboto"/>
              <a:buAutoNum type="arabicPeriod"/>
            </a:pPr>
            <a:r>
              <a:rPr lang="es-419">
                <a:solidFill>
                  <a:srgbClr val="1D2125"/>
                </a:solidFill>
                <a:highlight>
                  <a:srgbClr val="FFFFFF"/>
                </a:highlight>
                <a:latin typeface="Roboto"/>
                <a:ea typeface="Roboto"/>
                <a:cs typeface="Roboto"/>
                <a:sym typeface="Roboto"/>
              </a:rPr>
              <a:t>Se utiliza el comando steer que permite mover independientemente la velocidad del motor de cada rueda, generando de esta manera el efecto zigzag.</a:t>
            </a:r>
            <a:endParaRPr>
              <a:solidFill>
                <a:srgbClr val="1D2125"/>
              </a:solidFill>
              <a:highlight>
                <a:srgbClr val="FFFFFF"/>
              </a:highlight>
              <a:latin typeface="Roboto"/>
              <a:ea typeface="Roboto"/>
              <a:cs typeface="Roboto"/>
              <a:sym typeface="Roboto"/>
            </a:endParaRPr>
          </a:p>
        </p:txBody>
      </p:sp>
      <p:pic>
        <p:nvPicPr>
          <p:cNvPr id="159" name="Google Shape;159;p25"/>
          <p:cNvPicPr preferRelativeResize="0"/>
          <p:nvPr/>
        </p:nvPicPr>
        <p:blipFill>
          <a:blip r:embed="rId3">
            <a:alphaModFix/>
          </a:blip>
          <a:stretch>
            <a:fillRect/>
          </a:stretch>
        </p:blipFill>
        <p:spPr>
          <a:xfrm>
            <a:off x="152400" y="2081350"/>
            <a:ext cx="4267199" cy="277732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Seguidor de Línea 1 sensor de color</a:t>
            </a:r>
            <a:endParaRPr/>
          </a:p>
        </p:txBody>
      </p:sp>
      <p:pic>
        <p:nvPicPr>
          <p:cNvPr id="165" name="Google Shape;165;p26"/>
          <p:cNvPicPr preferRelativeResize="0"/>
          <p:nvPr/>
        </p:nvPicPr>
        <p:blipFill>
          <a:blip r:embed="rId3">
            <a:alphaModFix/>
          </a:blip>
          <a:stretch>
            <a:fillRect/>
          </a:stretch>
        </p:blipFill>
        <p:spPr>
          <a:xfrm>
            <a:off x="199600" y="973700"/>
            <a:ext cx="8826599" cy="37091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Seguidor de Línea con 2 sensores de color</a:t>
            </a:r>
            <a:endParaRPr/>
          </a:p>
        </p:txBody>
      </p:sp>
      <p:sp>
        <p:nvSpPr>
          <p:cNvPr id="171" name="Google Shape;171;p27"/>
          <p:cNvSpPr txBox="1"/>
          <p:nvPr>
            <p:ph idx="4294967295" type="body"/>
          </p:nvPr>
        </p:nvSpPr>
        <p:spPr>
          <a:xfrm>
            <a:off x="272125" y="712250"/>
            <a:ext cx="4027200" cy="2576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a:t>El seguidor de línea con 2 sensores utiliza un color para detectar la línea negra y otro para detectar el fondo blanco, haciendo una comparación de estos y así ir avanzando. Un sensor va conectado en el puerto 1 y otro sensor en el puerto 3. Dependiendo de la potencia utilizada será la velocidad del robot. Para colocar más de un sensor de color, debemos ir a CONFIGURACIÓN DEL ROBOT y confirmar tenemos un panel como el siguiente:</a:t>
            </a:r>
            <a:endParaRPr sz="1200">
              <a:solidFill>
                <a:srgbClr val="000000"/>
              </a:solidFill>
              <a:latin typeface="Calibri"/>
              <a:ea typeface="Calibri"/>
              <a:cs typeface="Calibri"/>
              <a:sym typeface="Calibri"/>
            </a:endParaRPr>
          </a:p>
          <a:p>
            <a:pPr indent="0" lvl="0" marL="0" rtl="0" algn="just">
              <a:spcBef>
                <a:spcPts val="1200"/>
              </a:spcBef>
              <a:spcAft>
                <a:spcPts val="0"/>
              </a:spcAft>
              <a:buNone/>
            </a:pPr>
            <a:r>
              <a:t/>
            </a:r>
            <a:endParaRPr/>
          </a:p>
          <a:p>
            <a:pPr indent="0" lvl="0" marL="457200" rtl="0" algn="just">
              <a:spcBef>
                <a:spcPts val="1200"/>
              </a:spcBef>
              <a:spcAft>
                <a:spcPts val="1200"/>
              </a:spcAft>
              <a:buNone/>
            </a:pPr>
            <a:r>
              <a:t/>
            </a:r>
            <a:endParaRPr/>
          </a:p>
        </p:txBody>
      </p:sp>
      <p:pic>
        <p:nvPicPr>
          <p:cNvPr id="172" name="Google Shape;172;p27"/>
          <p:cNvPicPr preferRelativeResize="0"/>
          <p:nvPr/>
        </p:nvPicPr>
        <p:blipFill rotWithShape="1">
          <a:blip r:embed="rId3">
            <a:alphaModFix/>
          </a:blip>
          <a:srcRect b="-4880" l="-4050" r="4050" t="4880"/>
          <a:stretch/>
        </p:blipFill>
        <p:spPr>
          <a:xfrm>
            <a:off x="4515000" y="1153788"/>
            <a:ext cx="4495800" cy="35909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Seguidor de Línea 2 sensores de color</a:t>
            </a:r>
            <a:endParaRPr/>
          </a:p>
        </p:txBody>
      </p:sp>
      <p:pic>
        <p:nvPicPr>
          <p:cNvPr id="178" name="Google Shape;178;p28"/>
          <p:cNvPicPr preferRelativeResize="0"/>
          <p:nvPr/>
        </p:nvPicPr>
        <p:blipFill>
          <a:blip r:embed="rId3">
            <a:alphaModFix/>
          </a:blip>
          <a:stretch>
            <a:fillRect/>
          </a:stretch>
        </p:blipFill>
        <p:spPr>
          <a:xfrm>
            <a:off x="554400" y="740525"/>
            <a:ext cx="7486650" cy="42005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SUMOBOT</a:t>
            </a:r>
            <a:endParaRPr/>
          </a:p>
        </p:txBody>
      </p:sp>
      <p:sp>
        <p:nvSpPr>
          <p:cNvPr id="184" name="Google Shape;184;p29"/>
          <p:cNvSpPr txBox="1"/>
          <p:nvPr>
            <p:ph idx="4294967295" type="body"/>
          </p:nvPr>
        </p:nvSpPr>
        <p:spPr>
          <a:xfrm>
            <a:off x="272125" y="712250"/>
            <a:ext cx="4027200" cy="4309800"/>
          </a:xfrm>
          <a:prstGeom prst="rect">
            <a:avLst/>
          </a:prstGeom>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None/>
            </a:pPr>
            <a:r>
              <a:rPr lang="es-419"/>
              <a:t>Un sumobot es un tipo especial de robot que simula los combates japoneses de luchadores de sumo. Consiste en dos robots dentro de un dojo, los cuales hacen uso de sensores, motores y una adecuada programación, para sacar al oponente fuera del dojo y obtener una puntuación. Para esta lección, utilizaremos el siguiente escenario </a:t>
            </a:r>
            <a:r>
              <a:rPr lang="es-419" u="sng">
                <a:solidFill>
                  <a:schemeClr val="hlink"/>
                </a:solidFill>
                <a:hlinkClick r:id="rId3"/>
              </a:rPr>
              <a:t>(dojo)</a:t>
            </a:r>
            <a:r>
              <a:rPr lang="es-419"/>
              <a:t> que consiste en un círculo de color negro con una línea blanca en la orilla.</a:t>
            </a:r>
            <a:endParaRPr/>
          </a:p>
          <a:p>
            <a:pPr indent="0" lvl="0" marL="0" marR="0" rtl="0" algn="just">
              <a:lnSpc>
                <a:spcPct val="115000"/>
              </a:lnSpc>
              <a:spcBef>
                <a:spcPts val="1200"/>
              </a:spcBef>
              <a:spcAft>
                <a:spcPts val="0"/>
              </a:spcAft>
              <a:buNone/>
            </a:pPr>
            <a:r>
              <a:t/>
            </a:r>
            <a:endParaRPr/>
          </a:p>
          <a:p>
            <a:pPr indent="0" lvl="0" marL="0" marR="0" rtl="0" algn="just">
              <a:lnSpc>
                <a:spcPct val="115000"/>
              </a:lnSpc>
              <a:spcBef>
                <a:spcPts val="1200"/>
              </a:spcBef>
              <a:spcAft>
                <a:spcPts val="1200"/>
              </a:spcAft>
              <a:buNone/>
            </a:pPr>
            <a:r>
              <a:t/>
            </a:r>
            <a:endParaRPr/>
          </a:p>
        </p:txBody>
      </p:sp>
      <p:pic>
        <p:nvPicPr>
          <p:cNvPr id="185" name="Google Shape;185;p29"/>
          <p:cNvPicPr preferRelativeResize="0"/>
          <p:nvPr/>
        </p:nvPicPr>
        <p:blipFill>
          <a:blip r:embed="rId4">
            <a:alphaModFix/>
          </a:blip>
          <a:stretch>
            <a:fillRect/>
          </a:stretch>
        </p:blipFill>
        <p:spPr>
          <a:xfrm>
            <a:off x="4418025" y="1445550"/>
            <a:ext cx="4539875" cy="303286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SUMOBOT</a:t>
            </a:r>
            <a:endParaRPr/>
          </a:p>
        </p:txBody>
      </p:sp>
      <p:sp>
        <p:nvSpPr>
          <p:cNvPr id="191" name="Google Shape;191;p30"/>
          <p:cNvSpPr txBox="1"/>
          <p:nvPr>
            <p:ph idx="4294967295" type="body"/>
          </p:nvPr>
        </p:nvSpPr>
        <p:spPr>
          <a:xfrm>
            <a:off x="508050" y="833600"/>
            <a:ext cx="7833600" cy="3824700"/>
          </a:xfrm>
          <a:prstGeom prst="rect">
            <a:avLst/>
          </a:prstGeom>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None/>
            </a:pPr>
            <a:r>
              <a:rPr lang="es-419"/>
              <a:t>Un algoritmo básico para hacer funcionar a un sumobot, es el siguiente:</a:t>
            </a:r>
            <a:endParaRPr/>
          </a:p>
          <a:p>
            <a:pPr indent="-342900" lvl="0" marL="457200" marR="0" rtl="0" algn="just">
              <a:lnSpc>
                <a:spcPct val="115000"/>
              </a:lnSpc>
              <a:spcBef>
                <a:spcPts val="1200"/>
              </a:spcBef>
              <a:spcAft>
                <a:spcPts val="0"/>
              </a:spcAft>
              <a:buSzPts val="1800"/>
              <a:buAutoNum type="arabicPeriod"/>
            </a:pPr>
            <a:r>
              <a:rPr lang="es-419"/>
              <a:t>El robot debe esperar 5 segundos.</a:t>
            </a:r>
            <a:endParaRPr/>
          </a:p>
          <a:p>
            <a:pPr indent="-342900" lvl="0" marL="457200" marR="0" rtl="0" algn="just">
              <a:lnSpc>
                <a:spcPct val="115000"/>
              </a:lnSpc>
              <a:spcBef>
                <a:spcPts val="0"/>
              </a:spcBef>
              <a:spcAft>
                <a:spcPts val="0"/>
              </a:spcAft>
              <a:buSzPts val="1800"/>
              <a:buAutoNum type="arabicPeriod"/>
            </a:pPr>
            <a:r>
              <a:rPr lang="es-419"/>
              <a:t>El robot debe localizar al oponente, haciendo uso de sus motores ya sea para girar o avanzar.</a:t>
            </a:r>
            <a:endParaRPr/>
          </a:p>
          <a:p>
            <a:pPr indent="-342900" lvl="0" marL="457200" marR="0" rtl="0" algn="just">
              <a:lnSpc>
                <a:spcPct val="115000"/>
              </a:lnSpc>
              <a:spcBef>
                <a:spcPts val="0"/>
              </a:spcBef>
              <a:spcAft>
                <a:spcPts val="0"/>
              </a:spcAft>
              <a:buSzPts val="1800"/>
              <a:buAutoNum type="arabicPeriod"/>
            </a:pPr>
            <a:r>
              <a:rPr lang="es-419"/>
              <a:t>Una vez que el sensor de presencia (puede ser un ultrasónico, infrarrojo, etc.) Detecte al oponente, el robot activa sus motores y avanza hasta empujar al oponente.</a:t>
            </a:r>
            <a:endParaRPr/>
          </a:p>
          <a:p>
            <a:pPr indent="-342900" lvl="0" marL="457200" marR="0" rtl="0" algn="just">
              <a:lnSpc>
                <a:spcPct val="115000"/>
              </a:lnSpc>
              <a:spcBef>
                <a:spcPts val="0"/>
              </a:spcBef>
              <a:spcAft>
                <a:spcPts val="0"/>
              </a:spcAft>
              <a:buSzPts val="1800"/>
              <a:buAutoNum type="arabicPeriod"/>
            </a:pPr>
            <a:r>
              <a:rPr lang="es-419"/>
              <a:t>En caso de que el robot avance y se vaya derecho sin encontrar al oponente, el sensor de color detectará la línea blanca, la cual indicará el límite del robot y deberá regresar para no salir del dojo.</a:t>
            </a:r>
            <a:endParaRPr/>
          </a:p>
          <a:p>
            <a:pPr indent="-342900" lvl="0" marL="457200" marR="0" rtl="0" algn="just">
              <a:lnSpc>
                <a:spcPct val="115000"/>
              </a:lnSpc>
              <a:spcBef>
                <a:spcPts val="0"/>
              </a:spcBef>
              <a:spcAft>
                <a:spcPts val="0"/>
              </a:spcAft>
              <a:buSzPts val="1800"/>
              <a:buAutoNum type="arabicPeriod"/>
            </a:pPr>
            <a:r>
              <a:rPr lang="es-419"/>
              <a:t>Repetir las acciones anteriores hasta sacar al oponente del dojo.</a:t>
            </a:r>
            <a:endParaRPr/>
          </a:p>
          <a:p>
            <a:pPr indent="0" lvl="0" marL="0" marR="0" rtl="0" algn="just">
              <a:lnSpc>
                <a:spcPct val="115000"/>
              </a:lnSpc>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PROGRAMACIÓN DEL </a:t>
            </a:r>
            <a:r>
              <a:rPr lang="es-419"/>
              <a:t>SUMOBOT</a:t>
            </a:r>
            <a:endParaRPr/>
          </a:p>
        </p:txBody>
      </p:sp>
      <p:sp>
        <p:nvSpPr>
          <p:cNvPr id="197" name="Google Shape;197;p31"/>
          <p:cNvSpPr txBox="1"/>
          <p:nvPr>
            <p:ph idx="4294967295" type="body"/>
          </p:nvPr>
        </p:nvSpPr>
        <p:spPr>
          <a:xfrm>
            <a:off x="622525" y="716700"/>
            <a:ext cx="8065800" cy="1910700"/>
          </a:xfrm>
          <a:prstGeom prst="rect">
            <a:avLst/>
          </a:prstGeom>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None/>
            </a:pPr>
            <a:r>
              <a:rPr lang="es-419"/>
              <a:t>Ahora programaremos un sumobot con un código sencillo pero efectivo, que consiste en los siguientes componentes:</a:t>
            </a:r>
            <a:endParaRPr/>
          </a:p>
          <a:p>
            <a:pPr indent="-342900" lvl="0" marL="457200" marR="0" rtl="0" algn="just">
              <a:lnSpc>
                <a:spcPct val="115000"/>
              </a:lnSpc>
              <a:spcBef>
                <a:spcPts val="1200"/>
              </a:spcBef>
              <a:spcAft>
                <a:spcPts val="0"/>
              </a:spcAft>
              <a:buSzPts val="1800"/>
              <a:buChar char="●"/>
            </a:pPr>
            <a:r>
              <a:rPr lang="es-419"/>
              <a:t>1 sensor ultrasónico</a:t>
            </a:r>
            <a:endParaRPr/>
          </a:p>
          <a:p>
            <a:pPr indent="-342900" lvl="0" marL="457200" marR="0" rtl="0" algn="just">
              <a:lnSpc>
                <a:spcPct val="115000"/>
              </a:lnSpc>
              <a:spcBef>
                <a:spcPts val="0"/>
              </a:spcBef>
              <a:spcAft>
                <a:spcPts val="0"/>
              </a:spcAft>
              <a:buSzPts val="1800"/>
              <a:buChar char="●"/>
            </a:pPr>
            <a:r>
              <a:rPr lang="es-419"/>
              <a:t>2 motores</a:t>
            </a:r>
            <a:endParaRPr/>
          </a:p>
          <a:p>
            <a:pPr indent="-342900" lvl="0" marL="457200" marR="0" rtl="0" algn="just">
              <a:lnSpc>
                <a:spcPct val="115000"/>
              </a:lnSpc>
              <a:spcBef>
                <a:spcPts val="0"/>
              </a:spcBef>
              <a:spcAft>
                <a:spcPts val="0"/>
              </a:spcAft>
              <a:buSzPts val="1800"/>
              <a:buChar char="●"/>
            </a:pPr>
            <a:r>
              <a:rPr lang="es-419"/>
              <a:t>1 sensor de color</a:t>
            </a:r>
            <a:endParaRPr/>
          </a:p>
        </p:txBody>
      </p:sp>
      <p:pic>
        <p:nvPicPr>
          <p:cNvPr id="198" name="Google Shape;198;p31"/>
          <p:cNvPicPr preferRelativeResize="0"/>
          <p:nvPr/>
        </p:nvPicPr>
        <p:blipFill>
          <a:blip r:embed="rId3">
            <a:alphaModFix/>
          </a:blip>
          <a:stretch>
            <a:fillRect/>
          </a:stretch>
        </p:blipFill>
        <p:spPr>
          <a:xfrm>
            <a:off x="1139100" y="2518975"/>
            <a:ext cx="6976425" cy="2559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419"/>
              <a:t>ACTIVIDAD DE DESARROLLO</a:t>
            </a:r>
            <a:endParaRPr/>
          </a:p>
        </p:txBody>
      </p:sp>
      <p:sp>
        <p:nvSpPr>
          <p:cNvPr id="204" name="Google Shape;204;p32"/>
          <p:cNvSpPr txBox="1"/>
          <p:nvPr/>
        </p:nvSpPr>
        <p:spPr>
          <a:xfrm>
            <a:off x="1398175" y="1950075"/>
            <a:ext cx="6240300" cy="1785600"/>
          </a:xfrm>
          <a:prstGeom prst="rect">
            <a:avLst/>
          </a:prstGeom>
          <a:noFill/>
          <a:ln>
            <a:noFill/>
          </a:ln>
        </p:spPr>
        <p:txBody>
          <a:bodyPr anchorCtr="0" anchor="t" bIns="91425" lIns="91425" spcFirstLastPara="1" rIns="91425" wrap="square" tIns="91425">
            <a:spAutoFit/>
          </a:bodyPr>
          <a:lstStyle/>
          <a:p>
            <a:pPr indent="-393700" lvl="0" marL="457200" rtl="0" algn="l">
              <a:lnSpc>
                <a:spcPct val="150000"/>
              </a:lnSpc>
              <a:spcBef>
                <a:spcPts val="0"/>
              </a:spcBef>
              <a:spcAft>
                <a:spcPts val="0"/>
              </a:spcAft>
              <a:buSzPts val="2600"/>
              <a:buFont typeface="Roboto"/>
              <a:buChar char="●"/>
            </a:pPr>
            <a:r>
              <a:rPr lang="es-419" sz="2600">
                <a:latin typeface="Roboto"/>
                <a:ea typeface="Roboto"/>
                <a:cs typeface="Roboto"/>
                <a:sym typeface="Roboto"/>
              </a:rPr>
              <a:t>Logueate en la sesión de grupo de Open Roberta y realiza todos los ejemplos de la lección </a:t>
            </a:r>
            <a:endParaRPr sz="2600">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