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919934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9199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dbff47e283_0_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dbff47e28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dbff47e283_0_6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dbff47e28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dbff47e283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dbff47e28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dbff47e283_0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dbff47e28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dbff47e283_0_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dbff47e28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dbff47e283_0_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dbff47e28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dbff47e283_0_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dbff47e28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dbff47e283_0_8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dbff47e28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dbff47e283_0_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dbff47e28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dbff47e283_0_8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dbff47e28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dbff47e283_0_1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dbff47e283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dbff47e283_0_1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dbff47e28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dbff47e283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dbff47e28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FMQKQrgwEZE5JVfU0f8TNO4FvOstl2fD/view" TargetMode="External"/><Relationship Id="rId4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FpGX3tHjO8OmFcc2zv-VnLdkZIVUonKR/view" TargetMode="External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H2PQ3OB3WtRP0EqSCQduZZJPzpHd-6j7/view" TargetMode="External"/><Relationship Id="rId4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HbEKADZiNcuRXSWSmV7ZTAqc6wB9d7yO/view" TargetMode="External"/><Relationship Id="rId4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Open Roberta Lab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Movimientos Básicos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Mover Robot hacia adelante y hacia </a:t>
            </a:r>
            <a:r>
              <a:rPr lang="es-419"/>
              <a:t>atrás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9973" y="2428345"/>
            <a:ext cx="4514026" cy="204767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51625" y="1681925"/>
            <a:ext cx="4844400" cy="32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Se debe utilizar los bloques mover hacia (acción) y esperar (control) combinados, como se muestra en la figura.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Al bloque mover hacia se le indica: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Sentido: adelante o atrás.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velocidad: valor </a:t>
            </a:r>
            <a:r>
              <a:rPr lang="es-419"/>
              <a:t>numérico</a:t>
            </a:r>
            <a:r>
              <a:rPr lang="es-419"/>
              <a:t> de la velocidad del robot.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distancia: valor </a:t>
            </a:r>
            <a:r>
              <a:rPr lang="es-419"/>
              <a:t>numérico</a:t>
            </a:r>
            <a:r>
              <a:rPr lang="es-419"/>
              <a:t> en cm de la distancia a recorrer por el robot.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Al bloque esperar se le indica: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Tiempo: valor </a:t>
            </a:r>
            <a:r>
              <a:rPr lang="es-419"/>
              <a:t>numérico</a:t>
            </a:r>
            <a:r>
              <a:rPr lang="es-419"/>
              <a:t> en milisegundos</a:t>
            </a:r>
            <a:endParaRPr/>
          </a:p>
          <a:p>
            <a:pPr indent="0" lvl="0" marL="22860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Mover Robot hacia adelante y hacia atrás</a:t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185" y="3039745"/>
            <a:ext cx="4514026" cy="204767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>
            <p:ph idx="4294967295" type="body"/>
          </p:nvPr>
        </p:nvSpPr>
        <p:spPr>
          <a:xfrm>
            <a:off x="0" y="712250"/>
            <a:ext cx="4844400" cy="32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El algoritmo del código en bloques mostrado 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Mover el robot hacia adelante a velocidad de 30 y distancia de 20 cm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Esperar 1000 milisegundos (1 segundo)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Mover el robot hacia atrás a velocidad de 30 y distancia de 20 cm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/>
              <a:t>Esperar 1000 milisegundos (1 segundo)</a:t>
            </a:r>
            <a:endParaRPr/>
          </a:p>
          <a:p>
            <a:pPr indent="0" lvl="0" marL="22860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7700" y="384100"/>
            <a:ext cx="1048225" cy="28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7589" y="3266724"/>
            <a:ext cx="3884646" cy="177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Mover Robot hacia adelante y hacia atrás</a:t>
            </a:r>
            <a:endParaRPr/>
          </a:p>
        </p:txBody>
      </p:sp>
      <p:pic>
        <p:nvPicPr>
          <p:cNvPr id="90" name="Google Shape;90;p16" title="ejemplo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0296" y="782425"/>
            <a:ext cx="5617525" cy="421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471900" y="738725"/>
            <a:ext cx="3927600" cy="7677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Bloque SAY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471900" y="1919075"/>
            <a:ext cx="3999900" cy="12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Se utiliza para que el robot emita una voz, la cual viene predeterminada por la plataforma. Se encuentra en la pestaña Acción.</a:t>
            </a:r>
            <a:endParaRPr/>
          </a:p>
          <a:p>
            <a:pPr indent="0" lvl="0" marL="228600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925" y="3547025"/>
            <a:ext cx="325755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>
            <p:ph idx="2" type="body"/>
          </p:nvPr>
        </p:nvSpPr>
        <p:spPr>
          <a:xfrm>
            <a:off x="4694250" y="1919075"/>
            <a:ext cx="3999900" cy="13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Se utiliza para poder girar el robot un determinado número de grados, en el sentido indicado y a un valor </a:t>
            </a:r>
            <a:r>
              <a:rPr lang="es-419"/>
              <a:t>específico</a:t>
            </a:r>
            <a:r>
              <a:rPr lang="es-419"/>
              <a:t> de velocidad. </a:t>
            </a:r>
            <a:r>
              <a:rPr lang="es-419"/>
              <a:t> Se encuentra en la pestaña Acción.</a:t>
            </a:r>
            <a:endParaRPr/>
          </a:p>
        </p:txBody>
      </p:sp>
      <p:sp>
        <p:nvSpPr>
          <p:cNvPr id="99" name="Google Shape;99;p17"/>
          <p:cNvSpPr txBox="1"/>
          <p:nvPr>
            <p:ph type="title"/>
          </p:nvPr>
        </p:nvSpPr>
        <p:spPr>
          <a:xfrm>
            <a:off x="4694250" y="704425"/>
            <a:ext cx="3927600" cy="7677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Bloque Girar</a:t>
            </a:r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9125" y="3563200"/>
            <a:ext cx="304800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Ejemplo: Say y Girar</a:t>
            </a:r>
            <a:endParaRPr/>
          </a:p>
        </p:txBody>
      </p:sp>
      <p:sp>
        <p:nvSpPr>
          <p:cNvPr id="106" name="Google Shape;106;p18"/>
          <p:cNvSpPr txBox="1"/>
          <p:nvPr>
            <p:ph idx="4294967295" type="body"/>
          </p:nvPr>
        </p:nvSpPr>
        <p:spPr>
          <a:xfrm>
            <a:off x="0" y="712250"/>
            <a:ext cx="4844400" cy="16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Hacer que el robot se </a:t>
            </a:r>
            <a:r>
              <a:rPr lang="es-419"/>
              <a:t>mueva hacia adelante, gire 180°, diga: 180 GRADOS y que al final espere por 1 segundo</a:t>
            </a:r>
            <a:r>
              <a:rPr lang="es-419" sz="1150">
                <a:solidFill>
                  <a:srgbClr val="1D2125"/>
                </a:solidFill>
                <a:highlight>
                  <a:srgbClr val="FFFFFF"/>
                </a:highlight>
              </a:rPr>
              <a:t>.</a:t>
            </a:r>
            <a:endParaRPr/>
          </a:p>
          <a:p>
            <a:pPr indent="0" lvl="0" marL="22860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325" y="2065525"/>
            <a:ext cx="4600450" cy="227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3775" y="712250"/>
            <a:ext cx="2271590" cy="42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Ejemplo: Say y Girar</a:t>
            </a:r>
            <a:endParaRPr/>
          </a:p>
        </p:txBody>
      </p:sp>
      <p:pic>
        <p:nvPicPr>
          <p:cNvPr id="114" name="Google Shape;114;p19" title="Rec 29-1-2023(5).trec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7850" y="619050"/>
            <a:ext cx="5745526" cy="430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Bloque Bucle</a:t>
            </a:r>
            <a:endParaRPr/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200575" y="1888800"/>
            <a:ext cx="4674300" cy="29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Un bucle o ciclo, es una secuencia de instrucciones que se ejecuta repetidas veces, hasta que la condición asignada a dicho bucle deja de cumplirse. En open Roberta, podemos utilizar el bucle de forma INFINITA o podemos asignarle que se repita un determinado número de veces. Se </a:t>
            </a:r>
            <a:r>
              <a:rPr lang="es-419"/>
              <a:t>encuentra</a:t>
            </a:r>
            <a:r>
              <a:rPr lang="es-419"/>
              <a:t> ubicado en la pestaña de CONTROL</a:t>
            </a:r>
            <a:endParaRPr/>
          </a:p>
        </p:txBody>
      </p:sp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5075" y="2016300"/>
            <a:ext cx="2606350" cy="244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Ejemplo: Bucle</a:t>
            </a:r>
            <a:endParaRPr/>
          </a:p>
        </p:txBody>
      </p:sp>
      <p:sp>
        <p:nvSpPr>
          <p:cNvPr id="127" name="Google Shape;127;p21"/>
          <p:cNvSpPr txBox="1"/>
          <p:nvPr>
            <p:ph idx="4294967295" type="body"/>
          </p:nvPr>
        </p:nvSpPr>
        <p:spPr>
          <a:xfrm>
            <a:off x="0" y="712250"/>
            <a:ext cx="4844400" cy="16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Hacer que el robot se mueva hacia adelante diga “UNO” espere 1 segundo, se mueve hacia atrás diga “CERO” y espere 1 segundo y se repita 5 veces todo el proceso</a:t>
            </a:r>
            <a:endParaRPr/>
          </a:p>
          <a:p>
            <a:pPr indent="0" lvl="0" marL="22860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275" y="2413450"/>
            <a:ext cx="3707488" cy="251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7462" y="712250"/>
            <a:ext cx="1845713" cy="4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Ejemplo: Bucle</a:t>
            </a:r>
            <a:endParaRPr/>
          </a:p>
        </p:txBody>
      </p:sp>
      <p:pic>
        <p:nvPicPr>
          <p:cNvPr id="135" name="Google Shape;135;p22" title="ejemplo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7150" y="760500"/>
            <a:ext cx="5646824" cy="42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Figuras </a:t>
            </a:r>
            <a:r>
              <a:rPr lang="es-419"/>
              <a:t>Geométricas</a:t>
            </a:r>
            <a:endParaRPr/>
          </a:p>
        </p:txBody>
      </p:sp>
      <p:sp>
        <p:nvSpPr>
          <p:cNvPr id="141" name="Google Shape;141;p23"/>
          <p:cNvSpPr txBox="1"/>
          <p:nvPr>
            <p:ph idx="4294967295" type="body"/>
          </p:nvPr>
        </p:nvSpPr>
        <p:spPr>
          <a:xfrm>
            <a:off x="98250" y="672525"/>
            <a:ext cx="4210500" cy="43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Utilizando los bloques mover, girar y bucle, y activando el trazo, se puede utilizar el robot para dibujar figuras </a:t>
            </a:r>
            <a:r>
              <a:rPr lang="es-419" sz="1700"/>
              <a:t>geométricas</a:t>
            </a:r>
            <a:r>
              <a:rPr lang="es-419" sz="1700"/>
              <a:t>. 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Para ello es necesario saber el </a:t>
            </a:r>
            <a:r>
              <a:rPr lang="es-419" sz="1700"/>
              <a:t>ángulo</a:t>
            </a:r>
            <a:r>
              <a:rPr lang="es-419" sz="1700"/>
              <a:t> externo e interno de la figura </a:t>
            </a:r>
            <a:r>
              <a:rPr lang="es-419" sz="1700"/>
              <a:t>geométrica</a:t>
            </a:r>
            <a:r>
              <a:rPr lang="es-419" sz="1700"/>
              <a:t> a dibujar y el tamaño del lado.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Dependiendo de la orientación del robot y el sentido de giro a utilizar, se calcula el ángulo de giro del robot para dibujar la figura </a:t>
            </a:r>
            <a:r>
              <a:rPr lang="es-419" sz="1700"/>
              <a:t>geométrica</a:t>
            </a:r>
            <a:r>
              <a:rPr lang="es-419" sz="1700"/>
              <a:t>.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En la siguiente tabla </a:t>
            </a:r>
            <a:r>
              <a:rPr lang="es-419" sz="1700"/>
              <a:t>están</a:t>
            </a:r>
            <a:r>
              <a:rPr lang="es-419" sz="1700"/>
              <a:t> los ángulos de los diferentes </a:t>
            </a:r>
            <a:r>
              <a:rPr lang="es-419" sz="1700"/>
              <a:t>polígonos</a:t>
            </a:r>
            <a:r>
              <a:rPr lang="es-419" sz="1700"/>
              <a:t>.</a:t>
            </a:r>
            <a:endParaRPr sz="1700"/>
          </a:p>
          <a:p>
            <a:pPr indent="0" lvl="0" marL="228600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2775" y="1386932"/>
            <a:ext cx="4352850" cy="2558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Triángulo</a:t>
            </a:r>
            <a:endParaRPr/>
          </a:p>
        </p:txBody>
      </p:sp>
      <p:sp>
        <p:nvSpPr>
          <p:cNvPr id="148" name="Google Shape;148;p24"/>
          <p:cNvSpPr txBox="1"/>
          <p:nvPr>
            <p:ph idx="4294967295" type="body"/>
          </p:nvPr>
        </p:nvSpPr>
        <p:spPr>
          <a:xfrm>
            <a:off x="98250" y="672525"/>
            <a:ext cx="4210500" cy="10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Dibujar con el robot un </a:t>
            </a:r>
            <a:r>
              <a:rPr lang="es-419" sz="1700"/>
              <a:t>triángulo</a:t>
            </a:r>
            <a:r>
              <a:rPr lang="es-419" sz="1700"/>
              <a:t> </a:t>
            </a:r>
            <a:r>
              <a:rPr lang="es-419" sz="1700"/>
              <a:t>equilátero de lado 50 cm.</a:t>
            </a:r>
            <a:endParaRPr sz="1700"/>
          </a:p>
          <a:p>
            <a:pPr indent="0" lvl="0" marL="228600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49" name="Google Shape;149;p24"/>
          <p:cNvPicPr preferRelativeResize="0"/>
          <p:nvPr/>
        </p:nvPicPr>
        <p:blipFill rotWithShape="1">
          <a:blip r:embed="rId3">
            <a:alphaModFix/>
          </a:blip>
          <a:srcRect b="58299" l="0" r="0" t="0"/>
          <a:stretch/>
        </p:blipFill>
        <p:spPr>
          <a:xfrm>
            <a:off x="4517575" y="672529"/>
            <a:ext cx="4352850" cy="10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4"/>
          <p:cNvSpPr/>
          <p:nvPr/>
        </p:nvSpPr>
        <p:spPr>
          <a:xfrm>
            <a:off x="1381200" y="1793100"/>
            <a:ext cx="1644600" cy="1524000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" name="Google Shape;151;p24"/>
          <p:cNvCxnSpPr/>
          <p:nvPr/>
        </p:nvCxnSpPr>
        <p:spPr>
          <a:xfrm flipH="1" rot="10800000">
            <a:off x="1381200" y="3307500"/>
            <a:ext cx="2532300" cy="9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24"/>
          <p:cNvSpPr txBox="1"/>
          <p:nvPr/>
        </p:nvSpPr>
        <p:spPr>
          <a:xfrm>
            <a:off x="3157950" y="2953500"/>
            <a:ext cx="67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120º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2346300" y="3014675"/>
            <a:ext cx="67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0º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2729850" y="3064015"/>
            <a:ext cx="428100" cy="470400"/>
          </a:xfrm>
          <a:prstGeom prst="blockArc">
            <a:avLst>
              <a:gd fmla="val 10800000" name="adj1"/>
              <a:gd fmla="val 89406" name="adj2"/>
              <a:gd fmla="val 5223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4"/>
          <p:cNvSpPr txBox="1"/>
          <p:nvPr>
            <p:ph idx="4294967295" type="body"/>
          </p:nvPr>
        </p:nvSpPr>
        <p:spPr>
          <a:xfrm>
            <a:off x="4659925" y="1793100"/>
            <a:ext cx="4210500" cy="3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En primer lugar, se debe ubicar el robot en el panel de simulación, cuya posición inicial es en dirección derecha paralela al plano horizontal.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Al inicio se debe girar 60 grados a la izquierda para ubicar el robot en la dirección del primer lado del </a:t>
            </a:r>
            <a:r>
              <a:rPr lang="es-419" sz="1700"/>
              <a:t>triángulo</a:t>
            </a:r>
            <a:r>
              <a:rPr lang="es-419" sz="1700"/>
              <a:t>.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Luego de moverse hacia adelante la distancia de 50 cm </a:t>
            </a:r>
            <a:endParaRPr sz="1700"/>
          </a:p>
          <a:p>
            <a:pPr indent="0" lvl="0" marL="228600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cxnSp>
        <p:nvCxnSpPr>
          <p:cNvPr id="156" name="Google Shape;156;p24"/>
          <p:cNvCxnSpPr/>
          <p:nvPr/>
        </p:nvCxnSpPr>
        <p:spPr>
          <a:xfrm flipH="1" rot="10800000">
            <a:off x="1336875" y="2539950"/>
            <a:ext cx="252300" cy="43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" name="Google Shape;157;p24"/>
          <p:cNvSpPr txBox="1"/>
          <p:nvPr/>
        </p:nvSpPr>
        <p:spPr>
          <a:xfrm>
            <a:off x="2768550" y="2323463"/>
            <a:ext cx="35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1138425" y="2571800"/>
            <a:ext cx="35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" name="Google Shape;159;p24"/>
          <p:cNvCxnSpPr/>
          <p:nvPr/>
        </p:nvCxnSpPr>
        <p:spPr>
          <a:xfrm>
            <a:off x="2499300" y="1904075"/>
            <a:ext cx="296100" cy="58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4"/>
          <p:cNvCxnSpPr/>
          <p:nvPr/>
        </p:nvCxnSpPr>
        <p:spPr>
          <a:xfrm rot="10800000">
            <a:off x="1819800" y="3484200"/>
            <a:ext cx="7674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4"/>
          <p:cNvSpPr txBox="1"/>
          <p:nvPr/>
        </p:nvSpPr>
        <p:spPr>
          <a:xfrm>
            <a:off x="2675100" y="3370563"/>
            <a:ext cx="35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1161075" y="3064015"/>
            <a:ext cx="428100" cy="470400"/>
          </a:xfrm>
          <a:prstGeom prst="blockArc">
            <a:avLst>
              <a:gd fmla="val 10800000" name="adj1"/>
              <a:gd fmla="val 89406" name="adj2"/>
              <a:gd fmla="val 5223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500" y="2946800"/>
            <a:ext cx="64770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4"/>
          <p:cNvSpPr txBox="1"/>
          <p:nvPr/>
        </p:nvSpPr>
        <p:spPr>
          <a:xfrm>
            <a:off x="1534650" y="2953500"/>
            <a:ext cx="67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60º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Triángulo</a:t>
            </a:r>
            <a:endParaRPr/>
          </a:p>
        </p:txBody>
      </p:sp>
      <p:sp>
        <p:nvSpPr>
          <p:cNvPr id="170" name="Google Shape;170;p25"/>
          <p:cNvSpPr txBox="1"/>
          <p:nvPr>
            <p:ph idx="4294967295" type="body"/>
          </p:nvPr>
        </p:nvSpPr>
        <p:spPr>
          <a:xfrm>
            <a:off x="153075" y="769738"/>
            <a:ext cx="4210500" cy="10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-419" sz="1700"/>
              <a:t>Una vez se dibuje el primer lado debe girar 120º para que el carro se direccione para dibujar el segundo lado, esto se repite 3 veces para dibujar los 3 lados</a:t>
            </a:r>
            <a:endParaRPr sz="1700"/>
          </a:p>
          <a:p>
            <a:pPr indent="0" lvl="0" marL="228600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1" name="Google Shape;171;p25"/>
          <p:cNvSpPr/>
          <p:nvPr/>
        </p:nvSpPr>
        <p:spPr>
          <a:xfrm>
            <a:off x="1249175" y="3163302"/>
            <a:ext cx="1835700" cy="1640700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5"/>
          <p:cNvPicPr preferRelativeResize="0"/>
          <p:nvPr/>
        </p:nvPicPr>
        <p:blipFill rotWithShape="1">
          <a:blip r:embed="rId3">
            <a:alphaModFix/>
          </a:blip>
          <a:srcRect b="58299" l="0" r="0" t="0"/>
          <a:stretch/>
        </p:blipFill>
        <p:spPr>
          <a:xfrm>
            <a:off x="4517575" y="883037"/>
            <a:ext cx="4352850" cy="1067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" name="Google Shape;173;p25"/>
          <p:cNvCxnSpPr>
            <a:endCxn id="171" idx="4"/>
          </p:cNvCxnSpPr>
          <p:nvPr/>
        </p:nvCxnSpPr>
        <p:spPr>
          <a:xfrm>
            <a:off x="1995275" y="2834202"/>
            <a:ext cx="1089600" cy="1969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5"/>
          <p:cNvSpPr txBox="1"/>
          <p:nvPr/>
        </p:nvSpPr>
        <p:spPr>
          <a:xfrm>
            <a:off x="2495290" y="3105729"/>
            <a:ext cx="75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120º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5"/>
          <p:cNvSpPr/>
          <p:nvPr/>
        </p:nvSpPr>
        <p:spPr>
          <a:xfrm rot="4125431">
            <a:off x="1935528" y="2894506"/>
            <a:ext cx="462849" cy="522713"/>
          </a:xfrm>
          <a:prstGeom prst="blockArc">
            <a:avLst>
              <a:gd fmla="val 10800000" name="adj1"/>
              <a:gd fmla="val 89406" name="adj2"/>
              <a:gd fmla="val 5223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413567">
            <a:off x="1521307" y="3270975"/>
            <a:ext cx="704697" cy="77896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5"/>
          <p:cNvSpPr txBox="1"/>
          <p:nvPr/>
        </p:nvSpPr>
        <p:spPr>
          <a:xfrm>
            <a:off x="1959550" y="2571751"/>
            <a:ext cx="75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60º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" name="Google Shape;178;p25"/>
          <p:cNvCxnSpPr>
            <a:endCxn id="171" idx="2"/>
          </p:cNvCxnSpPr>
          <p:nvPr/>
        </p:nvCxnSpPr>
        <p:spPr>
          <a:xfrm flipH="1">
            <a:off x="1249175" y="2751402"/>
            <a:ext cx="1149900" cy="2052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9" name="Google Shape;17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2200" y="2214125"/>
            <a:ext cx="4623600" cy="278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Triángulo</a:t>
            </a:r>
            <a:endParaRPr/>
          </a:p>
        </p:txBody>
      </p:sp>
      <p:pic>
        <p:nvPicPr>
          <p:cNvPr id="185" name="Google Shape;185;p26" title="Rec 29-1-2023(9).trec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8925" y="793375"/>
            <a:ext cx="7505265" cy="421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>
            <p:ph type="title"/>
          </p:nvPr>
        </p:nvSpPr>
        <p:spPr>
          <a:xfrm>
            <a:off x="1137125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Ahora realiza la actividad de desarrollo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