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ddcaab357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ddcaab357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a4a05a2e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a4a05a2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9a4a05a2e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9a4a05a2e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9a4a05a2e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9a4a05a2e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a4a05a2e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a4a05a2e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9a4a05a2e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9a4a05a2e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9a4a05a2e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9a4a05a2e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9a4a05a2e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9a4a05a2e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9a4a05a2e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9a4a05a2e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9a4a05a2e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9a4a05a2e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9a4a05a2ea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9a4a05a2ea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a4a05a2e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a4a05a2e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9a4a05a2e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9a4a05a2e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9a4a05a2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9a4a05a2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ddcaab357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ddcaab357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ddcaab357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ddcaab357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ddcaab357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ddcaab3572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ddcaab357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ddcaab357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ddcaab357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ddcaab357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rive.google.com/file/d/1H5Jx9W0Ykpg3WW4c0wqDiEAETcco2H18/view"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drive.google.com/file/d/1HaQv7jza1W11VAsMsbUzncQ7koAVX7-K/view" TargetMode="Externa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http://drive.google.com/file/d/1J2EcnA9O0j7m3Sdl5pfl4Y3hrgRha1Yz/view" TargetMode="Externa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drive.google.com/file/d/1JfsXTWk0DhoT5nlPFHJu4glV1Ng32VKh/view" TargetMode="External"/><Relationship Id="rId5"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hyperlink" Target="http://drive.google.com/file/d/1KYYH4U5yVWVYjqKJOYrDGiaN0E4V8jZj/view" TargetMode="External"/><Relationship Id="rId5"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drive.google.com/file/d/1LPjSC7tuO5Yb05NvNBBDG-4PqZazH8QR/view" TargetMode="Externa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drive.google.com/file/d/1_pFehoutwR1cJO0jGQefnDrCqVMc2Jlc/view" TargetMode="Externa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drive.google.com/file/d/1YQeOH0mMzjye3e69wwdrFwVz6pPbsXU0/view" TargetMode="External"/><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drive.google.com/file/d/1Y4dS29a5Y3ZjmVs35m0oLX8nPIDxWcx9/view?usp=sharing" TargetMode="Externa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drive.google.com/file/d/1ZQRT0UtedZ3RIPS4LaCvYC7c56lUFYrS/view" TargetMode="Externa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Open Roberta</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s-419" sz="4800"/>
              <a:t>Condicionales, Lógica, Variables y Funciones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Condicionales</a:t>
            </a:r>
            <a:endParaRPr/>
          </a:p>
          <a:p>
            <a:pPr indent="0" lvl="0" marL="0" rtl="0" algn="l">
              <a:spcBef>
                <a:spcPts val="0"/>
              </a:spcBef>
              <a:spcAft>
                <a:spcPts val="0"/>
              </a:spcAft>
              <a:buNone/>
            </a:pPr>
            <a:r>
              <a:t/>
            </a:r>
            <a:endParaRPr/>
          </a:p>
        </p:txBody>
      </p:sp>
      <p:sp>
        <p:nvSpPr>
          <p:cNvPr id="74" name="Google Shape;74;p14"/>
          <p:cNvSpPr txBox="1"/>
          <p:nvPr>
            <p:ph idx="1" type="body"/>
          </p:nvPr>
        </p:nvSpPr>
        <p:spPr>
          <a:xfrm>
            <a:off x="471900" y="1919075"/>
            <a:ext cx="4964700" cy="31530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419"/>
              <a:t>Los condicionales permiten al programa tomar diferentes acciones dependiendo de si se cumple o no una determinada condición. En Open Roberta Lab, contamos con diferentes bloques y estructuras que nos permiten trabajar con condicionales. En este tema, exploraremos en detalle cómo trabajar con condicionales y cómo tomar decisiones en nuestros programas.</a:t>
            </a:r>
            <a:endParaRPr/>
          </a:p>
        </p:txBody>
      </p:sp>
      <p:pic>
        <p:nvPicPr>
          <p:cNvPr id="75" name="Google Shape;75;p14"/>
          <p:cNvPicPr preferRelativeResize="0"/>
          <p:nvPr/>
        </p:nvPicPr>
        <p:blipFill>
          <a:blip r:embed="rId3">
            <a:alphaModFix/>
          </a:blip>
          <a:stretch>
            <a:fillRect/>
          </a:stretch>
        </p:blipFill>
        <p:spPr>
          <a:xfrm>
            <a:off x="6109950" y="2055050"/>
            <a:ext cx="2755050" cy="2338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Condicionales</a:t>
            </a:r>
            <a:endParaRPr/>
          </a:p>
          <a:p>
            <a:pPr indent="0" lvl="0" marL="0" rtl="0" algn="l">
              <a:spcBef>
                <a:spcPts val="0"/>
              </a:spcBef>
              <a:spcAft>
                <a:spcPts val="0"/>
              </a:spcAft>
              <a:buNone/>
            </a:pPr>
            <a:r>
              <a:t/>
            </a:r>
            <a:endParaRPr/>
          </a:p>
        </p:txBody>
      </p:sp>
      <p:sp>
        <p:nvSpPr>
          <p:cNvPr id="81" name="Google Shape;81;p15"/>
          <p:cNvSpPr txBox="1"/>
          <p:nvPr>
            <p:ph idx="1" type="body"/>
          </p:nvPr>
        </p:nvSpPr>
        <p:spPr>
          <a:xfrm>
            <a:off x="471900" y="1919075"/>
            <a:ext cx="4964700" cy="3153000"/>
          </a:xfrm>
          <a:prstGeom prst="rect">
            <a:avLst/>
          </a:prstGeom>
        </p:spPr>
        <p:txBody>
          <a:bodyPr anchorCtr="0" anchor="t" bIns="91425" lIns="91425" spcFirstLastPara="1" rIns="91425" wrap="square" tIns="91425">
            <a:normAutofit lnSpcReduction="20000"/>
          </a:bodyPr>
          <a:lstStyle/>
          <a:p>
            <a:pPr indent="0" lvl="0" marL="0" marR="0" rtl="0" algn="just">
              <a:lnSpc>
                <a:spcPct val="115000"/>
              </a:lnSpc>
              <a:spcBef>
                <a:spcPts val="0"/>
              </a:spcBef>
              <a:spcAft>
                <a:spcPts val="0"/>
              </a:spcAft>
              <a:buNone/>
            </a:pPr>
            <a:r>
              <a:rPr b="1" lang="es-419"/>
              <a:t>Si-Hacer</a:t>
            </a:r>
            <a:endParaRPr b="1"/>
          </a:p>
          <a:p>
            <a:pPr indent="0" lvl="0" marL="0" marR="0" rtl="0" algn="just">
              <a:lnSpc>
                <a:spcPct val="115000"/>
              </a:lnSpc>
              <a:spcBef>
                <a:spcPts val="1200"/>
              </a:spcBef>
              <a:spcAft>
                <a:spcPts val="0"/>
              </a:spcAft>
              <a:buNone/>
            </a:pPr>
            <a:r>
              <a:rPr lang="es-419"/>
              <a:t>El bloque "Si-hacer" nos permite ejecutar un fragmento de código si se cumple una determinada condición. Por ejemplo, podemos usar este bloque para decirle al programa: "Si un objeto está cerca del robot, entonces gira 90º". Dentro de este bloque, podemos especificar la condición que se debe cumplir y el conjunto de acciones a realizar si se cumple.</a:t>
            </a:r>
            <a:endParaRPr/>
          </a:p>
          <a:p>
            <a:pPr indent="0" lvl="0" marL="0" marR="0" rtl="0" algn="just">
              <a:lnSpc>
                <a:spcPct val="115000"/>
              </a:lnSpc>
              <a:spcBef>
                <a:spcPts val="1200"/>
              </a:spcBef>
              <a:spcAft>
                <a:spcPts val="1200"/>
              </a:spcAft>
              <a:buNone/>
            </a:pPr>
            <a:r>
              <a:t/>
            </a:r>
            <a:endParaRPr/>
          </a:p>
        </p:txBody>
      </p:sp>
      <p:pic>
        <p:nvPicPr>
          <p:cNvPr id="82" name="Google Shape;82;p15"/>
          <p:cNvPicPr preferRelativeResize="0"/>
          <p:nvPr/>
        </p:nvPicPr>
        <p:blipFill>
          <a:blip r:embed="rId3">
            <a:alphaModFix/>
          </a:blip>
          <a:stretch>
            <a:fillRect/>
          </a:stretch>
        </p:blipFill>
        <p:spPr>
          <a:xfrm>
            <a:off x="6109950" y="2055050"/>
            <a:ext cx="2755050" cy="2338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Condicionales</a:t>
            </a:r>
            <a:endParaRPr/>
          </a:p>
          <a:p>
            <a:pPr indent="0" lvl="0" marL="0" rtl="0" algn="l">
              <a:spcBef>
                <a:spcPts val="0"/>
              </a:spcBef>
              <a:spcAft>
                <a:spcPts val="0"/>
              </a:spcAft>
              <a:buNone/>
            </a:pPr>
            <a:r>
              <a:t/>
            </a:r>
            <a:endParaRPr/>
          </a:p>
        </p:txBody>
      </p:sp>
      <p:sp>
        <p:nvSpPr>
          <p:cNvPr id="88" name="Google Shape;88;p16"/>
          <p:cNvSpPr txBox="1"/>
          <p:nvPr>
            <p:ph idx="1" type="body"/>
          </p:nvPr>
        </p:nvSpPr>
        <p:spPr>
          <a:xfrm>
            <a:off x="471900" y="1919075"/>
            <a:ext cx="4964700" cy="3153000"/>
          </a:xfrm>
          <a:prstGeom prst="rect">
            <a:avLst/>
          </a:prstGeom>
        </p:spPr>
        <p:txBody>
          <a:bodyPr anchorCtr="0" anchor="t" bIns="91425" lIns="91425" spcFirstLastPara="1" rIns="91425" wrap="square" tIns="91425">
            <a:normAutofit fontScale="85000" lnSpcReduction="10000"/>
          </a:bodyPr>
          <a:lstStyle/>
          <a:p>
            <a:pPr indent="0" lvl="0" marL="0" marR="0" rtl="0" algn="just">
              <a:lnSpc>
                <a:spcPct val="115000"/>
              </a:lnSpc>
              <a:spcBef>
                <a:spcPts val="0"/>
              </a:spcBef>
              <a:spcAft>
                <a:spcPts val="0"/>
              </a:spcAft>
              <a:buNone/>
            </a:pPr>
            <a:r>
              <a:rPr b="1" lang="es-419"/>
              <a:t>Si-hacer-sino</a:t>
            </a:r>
            <a:endParaRPr b="1"/>
          </a:p>
          <a:p>
            <a:pPr indent="0" lvl="0" marL="0" marR="0" rtl="0" algn="just">
              <a:lnSpc>
                <a:spcPct val="115000"/>
              </a:lnSpc>
              <a:spcBef>
                <a:spcPts val="1200"/>
              </a:spcBef>
              <a:spcAft>
                <a:spcPts val="1200"/>
              </a:spcAft>
              <a:buNone/>
            </a:pPr>
            <a:r>
              <a:rPr lang="es-419"/>
              <a:t>El bloque "Si-hacer- sino"</a:t>
            </a:r>
            <a:r>
              <a:rPr lang="es-419"/>
              <a:t> se utiliza cuando se desea ejecutar un fragmento de código si se cumple una determinada condición, pero también se desea ejecutar un fragmento alternativo si la condición no se cumple. Por ejemplo, podríamos utilizar este bloque para decirle al programa: "Si el robot detecta un obstáculo, entonces muévete hacia atrás; de lo contrario, muévete hacia adelante". En este bloque, también podemos especificar la condición que se debe cumplir, así como las acciones a realizar si se cumple y si no se cumple.</a:t>
            </a:r>
            <a:endParaRPr/>
          </a:p>
        </p:txBody>
      </p:sp>
      <p:pic>
        <p:nvPicPr>
          <p:cNvPr id="89" name="Google Shape;89;p16"/>
          <p:cNvPicPr preferRelativeResize="0"/>
          <p:nvPr/>
        </p:nvPicPr>
        <p:blipFill>
          <a:blip r:embed="rId3">
            <a:alphaModFix/>
          </a:blip>
          <a:stretch>
            <a:fillRect/>
          </a:stretch>
        </p:blipFill>
        <p:spPr>
          <a:xfrm>
            <a:off x="6109950" y="2055050"/>
            <a:ext cx="2755050" cy="2338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Operadores Lógicos AND y OR</a:t>
            </a:r>
            <a:endParaRPr/>
          </a:p>
          <a:p>
            <a:pPr indent="0" lvl="0" marL="0" rtl="0" algn="l">
              <a:spcBef>
                <a:spcPts val="0"/>
              </a:spcBef>
              <a:spcAft>
                <a:spcPts val="0"/>
              </a:spcAft>
              <a:buNone/>
            </a:pPr>
            <a:r>
              <a:t/>
            </a:r>
            <a:endParaRPr/>
          </a:p>
        </p:txBody>
      </p:sp>
      <p:sp>
        <p:nvSpPr>
          <p:cNvPr id="95" name="Google Shape;95;p17"/>
          <p:cNvSpPr txBox="1"/>
          <p:nvPr>
            <p:ph idx="1" type="body"/>
          </p:nvPr>
        </p:nvSpPr>
        <p:spPr>
          <a:xfrm>
            <a:off x="471900" y="1919075"/>
            <a:ext cx="4964700" cy="3153000"/>
          </a:xfrm>
          <a:prstGeom prst="rect">
            <a:avLst/>
          </a:prstGeom>
        </p:spPr>
        <p:txBody>
          <a:bodyPr anchorCtr="0" anchor="t" bIns="91425" lIns="91425" spcFirstLastPara="1" rIns="91425" wrap="square" tIns="91425">
            <a:normAutofit lnSpcReduction="20000"/>
          </a:bodyPr>
          <a:lstStyle/>
          <a:p>
            <a:pPr indent="0" lvl="0" marL="0" marR="0" rtl="0" algn="just">
              <a:lnSpc>
                <a:spcPct val="115000"/>
              </a:lnSpc>
              <a:spcBef>
                <a:spcPts val="0"/>
              </a:spcBef>
              <a:spcAft>
                <a:spcPts val="0"/>
              </a:spcAft>
              <a:buNone/>
            </a:pPr>
            <a:r>
              <a:rPr b="1" lang="es-419"/>
              <a:t>Operador “y” (and) </a:t>
            </a:r>
            <a:endParaRPr b="1"/>
          </a:p>
          <a:p>
            <a:pPr indent="0" lvl="0" marL="0" marR="0" rtl="0" algn="just">
              <a:lnSpc>
                <a:spcPct val="115000"/>
              </a:lnSpc>
              <a:spcBef>
                <a:spcPts val="1200"/>
              </a:spcBef>
              <a:spcAft>
                <a:spcPts val="0"/>
              </a:spcAft>
              <a:buNone/>
            </a:pPr>
            <a:r>
              <a:rPr lang="es-419"/>
              <a:t>Cuando se utiliza el operador “y” retorna un valor verdadero si y sólo si ambos valores son verdaderos, en otros casos, retorna falso.</a:t>
            </a:r>
            <a:endParaRPr/>
          </a:p>
          <a:p>
            <a:pPr indent="0" lvl="0" marL="0" rtl="0" algn="just">
              <a:spcBef>
                <a:spcPts val="1200"/>
              </a:spcBef>
              <a:spcAft>
                <a:spcPts val="0"/>
              </a:spcAft>
              <a:buNone/>
            </a:pPr>
            <a:r>
              <a:rPr b="1" lang="es-419"/>
              <a:t>Operador “o” (or) </a:t>
            </a:r>
            <a:endParaRPr b="1"/>
          </a:p>
          <a:p>
            <a:pPr indent="0" lvl="0" marL="0" rtl="0" algn="just">
              <a:spcBef>
                <a:spcPts val="1200"/>
              </a:spcBef>
              <a:spcAft>
                <a:spcPts val="1200"/>
              </a:spcAft>
              <a:buNone/>
            </a:pPr>
            <a:r>
              <a:rPr lang="es-419"/>
              <a:t>Cuando se utiliza el operador “o” retorna un valor verdadero cuando al menos uno de los valores es verdadero, retorna falso si y sólo si ambos son falsos.</a:t>
            </a:r>
            <a:endParaRPr b="1"/>
          </a:p>
        </p:txBody>
      </p:sp>
      <p:pic>
        <p:nvPicPr>
          <p:cNvPr id="96" name="Google Shape;96;p17"/>
          <p:cNvPicPr preferRelativeResize="0"/>
          <p:nvPr/>
        </p:nvPicPr>
        <p:blipFill>
          <a:blip r:embed="rId3">
            <a:alphaModFix/>
          </a:blip>
          <a:stretch>
            <a:fillRect/>
          </a:stretch>
        </p:blipFill>
        <p:spPr>
          <a:xfrm>
            <a:off x="5914025" y="2267825"/>
            <a:ext cx="2856675" cy="2528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Variables</a:t>
            </a:r>
            <a:endParaRPr/>
          </a:p>
          <a:p>
            <a:pPr indent="0" lvl="0" marL="0" rtl="0" algn="l">
              <a:spcBef>
                <a:spcPts val="0"/>
              </a:spcBef>
              <a:spcAft>
                <a:spcPts val="0"/>
              </a:spcAft>
              <a:buNone/>
            </a:pPr>
            <a:r>
              <a:t/>
            </a:r>
            <a:endParaRPr/>
          </a:p>
        </p:txBody>
      </p:sp>
      <p:sp>
        <p:nvSpPr>
          <p:cNvPr id="102" name="Google Shape;102;p18"/>
          <p:cNvSpPr txBox="1"/>
          <p:nvPr>
            <p:ph idx="1" type="body"/>
          </p:nvPr>
        </p:nvSpPr>
        <p:spPr>
          <a:xfrm>
            <a:off x="471900" y="1919075"/>
            <a:ext cx="4964700" cy="3153000"/>
          </a:xfrm>
          <a:prstGeom prst="rect">
            <a:avLst/>
          </a:prstGeom>
        </p:spPr>
        <p:txBody>
          <a:bodyPr anchorCtr="0" anchor="t" bIns="91425" lIns="91425" spcFirstLastPara="1" rIns="91425" wrap="square" tIns="91425">
            <a:normAutofit fontScale="92500" lnSpcReduction="10000"/>
          </a:bodyPr>
          <a:lstStyle/>
          <a:p>
            <a:pPr indent="0" lvl="0" marL="0" marR="0" rtl="0" algn="just">
              <a:lnSpc>
                <a:spcPct val="115000"/>
              </a:lnSpc>
              <a:spcBef>
                <a:spcPts val="0"/>
              </a:spcBef>
              <a:spcAft>
                <a:spcPts val="1200"/>
              </a:spcAft>
              <a:buNone/>
            </a:pPr>
            <a:r>
              <a:rPr lang="es-419"/>
              <a:t>Las variables en Open Roberta Lab nos permiten almacenar y manipular datos. Podemos pensar en ellas como contenedores que guardan información que puede cambiar a lo largo del programa. Al utilizar variables, podemos crear programas más dinámicos e interactivos. En Open Roberta Lab, podemos crear variables y asignarles un valor utilizando bloques específicos. Estas variables pueden ser de diferentes tipos, como números, texto o lógicos. Observa el video de como se crean las variables en Open Roberta.</a:t>
            </a:r>
            <a:endParaRPr b="1"/>
          </a:p>
        </p:txBody>
      </p:sp>
      <p:pic>
        <p:nvPicPr>
          <p:cNvPr id="103" name="Google Shape;103;p18" title="openrobertavariables.mp4">
            <a:hlinkClick r:id="rId3"/>
          </p:cNvPr>
          <p:cNvPicPr preferRelativeResize="0"/>
          <p:nvPr/>
        </p:nvPicPr>
        <p:blipFill>
          <a:blip r:embed="rId4">
            <a:alphaModFix/>
          </a:blip>
          <a:stretch>
            <a:fillRect/>
          </a:stretch>
        </p:blipFill>
        <p:spPr>
          <a:xfrm>
            <a:off x="5546650" y="2466174"/>
            <a:ext cx="3338399" cy="156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Funciones</a:t>
            </a:r>
            <a:endParaRPr/>
          </a:p>
          <a:p>
            <a:pPr indent="0" lvl="0" marL="0" rtl="0" algn="l">
              <a:spcBef>
                <a:spcPts val="0"/>
              </a:spcBef>
              <a:spcAft>
                <a:spcPts val="0"/>
              </a:spcAft>
              <a:buNone/>
            </a:pPr>
            <a:r>
              <a:t/>
            </a:r>
            <a:endParaRPr/>
          </a:p>
        </p:txBody>
      </p:sp>
      <p:sp>
        <p:nvSpPr>
          <p:cNvPr id="109" name="Google Shape;109;p19"/>
          <p:cNvSpPr txBox="1"/>
          <p:nvPr>
            <p:ph idx="1" type="body"/>
          </p:nvPr>
        </p:nvSpPr>
        <p:spPr>
          <a:xfrm>
            <a:off x="471900" y="1919075"/>
            <a:ext cx="4964700" cy="3153000"/>
          </a:xfrm>
          <a:prstGeom prst="rect">
            <a:avLst/>
          </a:prstGeom>
        </p:spPr>
        <p:txBody>
          <a:bodyPr anchorCtr="0" anchor="t" bIns="91425" lIns="91425" spcFirstLastPara="1" rIns="91425" wrap="square" tIns="91425">
            <a:normAutofit lnSpcReduction="10000"/>
          </a:bodyPr>
          <a:lstStyle/>
          <a:p>
            <a:pPr indent="0" lvl="0" marL="0" marR="0" rtl="0" algn="just">
              <a:lnSpc>
                <a:spcPct val="115000"/>
              </a:lnSpc>
              <a:spcBef>
                <a:spcPts val="0"/>
              </a:spcBef>
              <a:spcAft>
                <a:spcPts val="1200"/>
              </a:spcAft>
              <a:buNone/>
            </a:pPr>
            <a:r>
              <a:rPr lang="es-419"/>
              <a:t>Una función es un bloque de código reutilizable que realiza una tarea específica, mientras que una subrutina es un bloque de código que también realiza una tarea específica, pero puede o no tener un valor de retorno. Estos elementos son fundamentales en la programación, ya que nos permiten escribir código más organizado, modular y fácil de mantener. Observa el video para que ubiques las funciones en Open Roberta.</a:t>
            </a:r>
            <a:endParaRPr/>
          </a:p>
        </p:txBody>
      </p:sp>
      <p:pic>
        <p:nvPicPr>
          <p:cNvPr id="110" name="Google Shape;110;p19"/>
          <p:cNvPicPr preferRelativeResize="0"/>
          <p:nvPr/>
        </p:nvPicPr>
        <p:blipFill>
          <a:blip r:embed="rId3">
            <a:alphaModFix/>
          </a:blip>
          <a:stretch>
            <a:fillRect/>
          </a:stretch>
        </p:blipFill>
        <p:spPr>
          <a:xfrm>
            <a:off x="5589025" y="1768650"/>
            <a:ext cx="3371850" cy="1447800"/>
          </a:xfrm>
          <a:prstGeom prst="rect">
            <a:avLst/>
          </a:prstGeom>
          <a:noFill/>
          <a:ln>
            <a:noFill/>
          </a:ln>
        </p:spPr>
      </p:pic>
      <p:pic>
        <p:nvPicPr>
          <p:cNvPr id="111" name="Google Shape;111;p19" title="funciones.mp4">
            <a:hlinkClick r:id="rId4"/>
          </p:cNvPr>
          <p:cNvPicPr preferRelativeResize="0"/>
          <p:nvPr/>
        </p:nvPicPr>
        <p:blipFill>
          <a:blip r:embed="rId5">
            <a:alphaModFix/>
          </a:blip>
          <a:stretch>
            <a:fillRect/>
          </a:stretch>
        </p:blipFill>
        <p:spPr>
          <a:xfrm>
            <a:off x="6001163" y="3216450"/>
            <a:ext cx="2474176" cy="1855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Ejemplos</a:t>
            </a:r>
            <a:endParaRPr/>
          </a:p>
        </p:txBody>
      </p:sp>
      <p:sp>
        <p:nvSpPr>
          <p:cNvPr id="117" name="Google Shape;117;p20"/>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s-419" sz="4800"/>
              <a:t>Condicionales, Lógica, Variables y Funciones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s-419"/>
              <a:t>Si-hacer: </a:t>
            </a:r>
            <a:r>
              <a:rPr lang="es-419"/>
              <a:t>Si el robot detecta color verde girar 90º derecha y parar</a:t>
            </a:r>
            <a:endParaRPr/>
          </a:p>
        </p:txBody>
      </p:sp>
      <p:pic>
        <p:nvPicPr>
          <p:cNvPr id="123" name="Google Shape;123;p21"/>
          <p:cNvPicPr preferRelativeResize="0"/>
          <p:nvPr/>
        </p:nvPicPr>
        <p:blipFill>
          <a:blip r:embed="rId3">
            <a:alphaModFix/>
          </a:blip>
          <a:stretch>
            <a:fillRect/>
          </a:stretch>
        </p:blipFill>
        <p:spPr>
          <a:xfrm>
            <a:off x="333788" y="1959725"/>
            <a:ext cx="5514975" cy="2628900"/>
          </a:xfrm>
          <a:prstGeom prst="rect">
            <a:avLst/>
          </a:prstGeom>
          <a:noFill/>
          <a:ln>
            <a:noFill/>
          </a:ln>
        </p:spPr>
      </p:pic>
      <p:pic>
        <p:nvPicPr>
          <p:cNvPr id="124" name="Google Shape;124;p21" title="ejemplosihaceropenroberta.mp4">
            <a:hlinkClick r:id="rId4"/>
          </p:cNvPr>
          <p:cNvPicPr preferRelativeResize="0"/>
          <p:nvPr/>
        </p:nvPicPr>
        <p:blipFill>
          <a:blip r:embed="rId5">
            <a:alphaModFix/>
          </a:blip>
          <a:stretch>
            <a:fillRect/>
          </a:stretch>
        </p:blipFill>
        <p:spPr>
          <a:xfrm>
            <a:off x="6043263" y="2152763"/>
            <a:ext cx="2990437" cy="22428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s-419"/>
              <a:t>Si-hacer-sino: </a:t>
            </a:r>
            <a:r>
              <a:rPr lang="es-419"/>
              <a:t>Si el robot detecta obstáculo parar sino  seguir hacia adelante</a:t>
            </a:r>
            <a:endParaRPr/>
          </a:p>
        </p:txBody>
      </p:sp>
      <p:pic>
        <p:nvPicPr>
          <p:cNvPr id="130" name="Google Shape;130;p22"/>
          <p:cNvPicPr preferRelativeResize="0"/>
          <p:nvPr/>
        </p:nvPicPr>
        <p:blipFill>
          <a:blip r:embed="rId3">
            <a:alphaModFix/>
          </a:blip>
          <a:stretch>
            <a:fillRect/>
          </a:stretch>
        </p:blipFill>
        <p:spPr>
          <a:xfrm>
            <a:off x="0" y="1801925"/>
            <a:ext cx="6305550" cy="2152650"/>
          </a:xfrm>
          <a:prstGeom prst="rect">
            <a:avLst/>
          </a:prstGeom>
          <a:noFill/>
          <a:ln>
            <a:noFill/>
          </a:ln>
        </p:spPr>
      </p:pic>
      <p:pic>
        <p:nvPicPr>
          <p:cNvPr id="131" name="Google Shape;131;p22" title="ejemplosihcersinoopenroberta.mp4">
            <a:hlinkClick r:id="rId4"/>
          </p:cNvPr>
          <p:cNvPicPr preferRelativeResize="0"/>
          <p:nvPr/>
        </p:nvPicPr>
        <p:blipFill>
          <a:blip r:embed="rId5">
            <a:alphaModFix/>
          </a:blip>
          <a:stretch>
            <a:fillRect/>
          </a:stretch>
        </p:blipFill>
        <p:spPr>
          <a:xfrm>
            <a:off x="4913399" y="3001330"/>
            <a:ext cx="4230600" cy="1985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s-419"/>
              <a:t>Operador “y”</a:t>
            </a:r>
            <a:r>
              <a:rPr b="1" lang="es-419"/>
              <a:t>: </a:t>
            </a:r>
            <a:r>
              <a:rPr lang="es-419"/>
              <a:t>Si el robot detecta color amarillo y obstáculo gira 90º y para.</a:t>
            </a:r>
            <a:endParaRPr/>
          </a:p>
        </p:txBody>
      </p:sp>
      <p:pic>
        <p:nvPicPr>
          <p:cNvPr id="137" name="Google Shape;137;p23"/>
          <p:cNvPicPr preferRelativeResize="0"/>
          <p:nvPr/>
        </p:nvPicPr>
        <p:blipFill>
          <a:blip r:embed="rId3">
            <a:alphaModFix/>
          </a:blip>
          <a:stretch>
            <a:fillRect/>
          </a:stretch>
        </p:blipFill>
        <p:spPr>
          <a:xfrm>
            <a:off x="0" y="1675650"/>
            <a:ext cx="8839200" cy="2004687"/>
          </a:xfrm>
          <a:prstGeom prst="rect">
            <a:avLst/>
          </a:prstGeom>
          <a:noFill/>
          <a:ln>
            <a:noFill/>
          </a:ln>
        </p:spPr>
      </p:pic>
      <p:pic>
        <p:nvPicPr>
          <p:cNvPr id="138" name="Google Shape;138;p23" title="ejemploandopenroberta.mp4">
            <a:hlinkClick r:id="rId4"/>
          </p:cNvPr>
          <p:cNvPicPr preferRelativeResize="0"/>
          <p:nvPr/>
        </p:nvPicPr>
        <p:blipFill>
          <a:blip r:embed="rId5">
            <a:alphaModFix/>
          </a:blip>
          <a:stretch>
            <a:fillRect/>
          </a:stretch>
        </p:blipFill>
        <p:spPr>
          <a:xfrm>
            <a:off x="5906750" y="2756250"/>
            <a:ext cx="3106300" cy="2329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s-419"/>
              <a:t>Operador “o”: </a:t>
            </a:r>
            <a:r>
              <a:rPr lang="es-419"/>
              <a:t>Si el robot detecta color rojo o color verde gira 360º a la derecha sino mover hacia adelante, detener a 5 cm de la pared</a:t>
            </a:r>
            <a:endParaRPr/>
          </a:p>
        </p:txBody>
      </p:sp>
      <p:pic>
        <p:nvPicPr>
          <p:cNvPr id="144" name="Google Shape;144;p24"/>
          <p:cNvPicPr preferRelativeResize="0"/>
          <p:nvPr/>
        </p:nvPicPr>
        <p:blipFill>
          <a:blip r:embed="rId3">
            <a:alphaModFix/>
          </a:blip>
          <a:stretch>
            <a:fillRect/>
          </a:stretch>
        </p:blipFill>
        <p:spPr>
          <a:xfrm>
            <a:off x="42975" y="1709325"/>
            <a:ext cx="8839200" cy="30920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s-419"/>
              <a:t>Funciones y variables: </a:t>
            </a:r>
            <a:r>
              <a:rPr lang="es-419"/>
              <a:t>Dibujar 3 cuadrados de lado 30 cm consecutivos usando funciones y variables</a:t>
            </a:r>
            <a:endParaRPr/>
          </a:p>
        </p:txBody>
      </p:sp>
      <p:pic>
        <p:nvPicPr>
          <p:cNvPr id="150" name="Google Shape;150;p25"/>
          <p:cNvPicPr preferRelativeResize="0"/>
          <p:nvPr/>
        </p:nvPicPr>
        <p:blipFill>
          <a:blip r:embed="rId3">
            <a:alphaModFix/>
          </a:blip>
          <a:stretch>
            <a:fillRect/>
          </a:stretch>
        </p:blipFill>
        <p:spPr>
          <a:xfrm>
            <a:off x="261825" y="1811225"/>
            <a:ext cx="3049879" cy="3332275"/>
          </a:xfrm>
          <a:prstGeom prst="rect">
            <a:avLst/>
          </a:prstGeom>
          <a:noFill/>
          <a:ln>
            <a:noFill/>
          </a:ln>
        </p:spPr>
      </p:pic>
      <p:pic>
        <p:nvPicPr>
          <p:cNvPr id="151" name="Google Shape;151;p25" title="ejemplofuncionesvariablesopenroberta.mp4">
            <a:hlinkClick r:id="rId4"/>
          </p:cNvPr>
          <p:cNvPicPr preferRelativeResize="0"/>
          <p:nvPr/>
        </p:nvPicPr>
        <p:blipFill>
          <a:blip r:embed="rId5">
            <a:alphaModFix/>
          </a:blip>
          <a:stretch>
            <a:fillRect/>
          </a:stretch>
        </p:blipFill>
        <p:spPr>
          <a:xfrm>
            <a:off x="4171229" y="1743025"/>
            <a:ext cx="4443034" cy="3332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Retos</a:t>
            </a:r>
            <a:endParaRPr/>
          </a:p>
        </p:txBody>
      </p:sp>
      <p:sp>
        <p:nvSpPr>
          <p:cNvPr id="157" name="Google Shape;157;p26"/>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s-419" sz="4800"/>
              <a:t>Condicionales, Lógica, Variables y Funciones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Realiza el siguiente reto</a:t>
            </a:r>
            <a:endParaRPr/>
          </a:p>
        </p:txBody>
      </p:sp>
      <p:sp>
        <p:nvSpPr>
          <p:cNvPr id="163" name="Google Shape;163;p27"/>
          <p:cNvSpPr txBox="1"/>
          <p:nvPr>
            <p:ph idx="1" type="body"/>
          </p:nvPr>
        </p:nvSpPr>
        <p:spPr>
          <a:xfrm>
            <a:off x="471900" y="1919075"/>
            <a:ext cx="3525300" cy="31530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s-419"/>
              <a:t>Tu tarea es crear un programa en Open Roberta que haga que el Robot recorra se estacione en los dos parking. Uno luego del otro. Utiliza el escenario predeterminado en Open Roberta.</a:t>
            </a:r>
            <a:endParaRPr/>
          </a:p>
          <a:p>
            <a:pPr indent="-334328" lvl="0" marL="457200" rtl="0" algn="l">
              <a:spcBef>
                <a:spcPts val="0"/>
              </a:spcBef>
              <a:spcAft>
                <a:spcPts val="0"/>
              </a:spcAft>
              <a:buSzPct val="100000"/>
              <a:buChar char="●"/>
            </a:pPr>
            <a:r>
              <a:rPr lang="es-419"/>
              <a:t>Utiliza las guías de colores en la pista para la lógica de programación de tu robot.</a:t>
            </a:r>
            <a:endParaRPr/>
          </a:p>
          <a:p>
            <a:pPr indent="-334328" lvl="0" marL="457200" rtl="0" algn="l">
              <a:spcBef>
                <a:spcPts val="0"/>
              </a:spcBef>
              <a:spcAft>
                <a:spcPts val="0"/>
              </a:spcAft>
              <a:buSzPct val="100000"/>
              <a:buChar char="●"/>
            </a:pPr>
            <a:r>
              <a:rPr lang="es-419"/>
              <a:t>Las flechas indican el recorrido</a:t>
            </a:r>
            <a:endParaRPr/>
          </a:p>
        </p:txBody>
      </p:sp>
      <p:pic>
        <p:nvPicPr>
          <p:cNvPr id="164" name="Google Shape;164;p27"/>
          <p:cNvPicPr preferRelativeResize="0"/>
          <p:nvPr/>
        </p:nvPicPr>
        <p:blipFill>
          <a:blip r:embed="rId3">
            <a:alphaModFix/>
          </a:blip>
          <a:stretch>
            <a:fillRect/>
          </a:stretch>
        </p:blipFill>
        <p:spPr>
          <a:xfrm>
            <a:off x="4078000" y="1919075"/>
            <a:ext cx="4842000" cy="3153110"/>
          </a:xfrm>
          <a:prstGeom prst="rect">
            <a:avLst/>
          </a:prstGeom>
          <a:noFill/>
          <a:ln>
            <a:noFill/>
          </a:ln>
        </p:spPr>
      </p:pic>
      <p:cxnSp>
        <p:nvCxnSpPr>
          <p:cNvPr id="165" name="Google Shape;165;p27"/>
          <p:cNvCxnSpPr/>
          <p:nvPr/>
        </p:nvCxnSpPr>
        <p:spPr>
          <a:xfrm flipH="1" rot="10800000">
            <a:off x="4281525" y="2390950"/>
            <a:ext cx="1215000" cy="11700"/>
          </a:xfrm>
          <a:prstGeom prst="straightConnector1">
            <a:avLst/>
          </a:prstGeom>
          <a:noFill/>
          <a:ln cap="flat" cmpd="sng" w="28575">
            <a:solidFill>
              <a:schemeClr val="dk2"/>
            </a:solidFill>
            <a:prstDash val="solid"/>
            <a:round/>
            <a:headEnd len="med" w="med" type="none"/>
            <a:tailEnd len="med" w="med" type="none"/>
          </a:ln>
        </p:spPr>
      </p:cxnSp>
      <p:cxnSp>
        <p:nvCxnSpPr>
          <p:cNvPr id="166" name="Google Shape;166;p27"/>
          <p:cNvCxnSpPr/>
          <p:nvPr/>
        </p:nvCxnSpPr>
        <p:spPr>
          <a:xfrm>
            <a:off x="5496625" y="2390850"/>
            <a:ext cx="11700" cy="849300"/>
          </a:xfrm>
          <a:prstGeom prst="straightConnector1">
            <a:avLst/>
          </a:prstGeom>
          <a:noFill/>
          <a:ln cap="flat" cmpd="sng" w="28575">
            <a:solidFill>
              <a:schemeClr val="dk2"/>
            </a:solidFill>
            <a:prstDash val="solid"/>
            <a:round/>
            <a:headEnd len="med" w="med" type="none"/>
            <a:tailEnd len="med" w="med" type="triangle"/>
          </a:ln>
        </p:spPr>
      </p:cxnSp>
      <p:cxnSp>
        <p:nvCxnSpPr>
          <p:cNvPr id="167" name="Google Shape;167;p27"/>
          <p:cNvCxnSpPr/>
          <p:nvPr/>
        </p:nvCxnSpPr>
        <p:spPr>
          <a:xfrm rot="10800000">
            <a:off x="4682525" y="3240250"/>
            <a:ext cx="825900" cy="0"/>
          </a:xfrm>
          <a:prstGeom prst="straightConnector1">
            <a:avLst/>
          </a:prstGeom>
          <a:noFill/>
          <a:ln cap="flat" cmpd="sng" w="28575">
            <a:solidFill>
              <a:schemeClr val="dk2"/>
            </a:solidFill>
            <a:prstDash val="solid"/>
            <a:round/>
            <a:headEnd len="med" w="med" type="none"/>
            <a:tailEnd len="med" w="med" type="none"/>
          </a:ln>
        </p:spPr>
      </p:cxnSp>
      <p:cxnSp>
        <p:nvCxnSpPr>
          <p:cNvPr id="168" name="Google Shape;168;p27"/>
          <p:cNvCxnSpPr/>
          <p:nvPr/>
        </p:nvCxnSpPr>
        <p:spPr>
          <a:xfrm rot="10800000">
            <a:off x="4694425" y="2851150"/>
            <a:ext cx="0" cy="389100"/>
          </a:xfrm>
          <a:prstGeom prst="straightConnector1">
            <a:avLst/>
          </a:prstGeom>
          <a:noFill/>
          <a:ln cap="flat" cmpd="sng" w="28575">
            <a:solidFill>
              <a:schemeClr val="dk2"/>
            </a:solidFill>
            <a:prstDash val="solid"/>
            <a:round/>
            <a:headEnd len="med" w="med" type="none"/>
            <a:tailEnd len="med" w="med" type="triangle"/>
          </a:ln>
        </p:spPr>
      </p:cxnSp>
      <p:cxnSp>
        <p:nvCxnSpPr>
          <p:cNvPr id="169" name="Google Shape;169;p27"/>
          <p:cNvCxnSpPr/>
          <p:nvPr/>
        </p:nvCxnSpPr>
        <p:spPr>
          <a:xfrm>
            <a:off x="4600000" y="2862850"/>
            <a:ext cx="0" cy="365700"/>
          </a:xfrm>
          <a:prstGeom prst="straightConnector1">
            <a:avLst/>
          </a:prstGeom>
          <a:noFill/>
          <a:ln cap="flat" cmpd="sng" w="28575">
            <a:solidFill>
              <a:srgbClr val="0000FF"/>
            </a:solidFill>
            <a:prstDash val="solid"/>
            <a:round/>
            <a:headEnd len="med" w="med" type="none"/>
            <a:tailEnd len="med" w="med" type="triangle"/>
          </a:ln>
        </p:spPr>
      </p:cxnSp>
      <p:cxnSp>
        <p:nvCxnSpPr>
          <p:cNvPr id="170" name="Google Shape;170;p27"/>
          <p:cNvCxnSpPr/>
          <p:nvPr/>
        </p:nvCxnSpPr>
        <p:spPr>
          <a:xfrm>
            <a:off x="4600000" y="3299225"/>
            <a:ext cx="861300" cy="11700"/>
          </a:xfrm>
          <a:prstGeom prst="straightConnector1">
            <a:avLst/>
          </a:prstGeom>
          <a:noFill/>
          <a:ln cap="flat" cmpd="sng" w="28575">
            <a:solidFill>
              <a:srgbClr val="0000FF"/>
            </a:solidFill>
            <a:prstDash val="solid"/>
            <a:round/>
            <a:headEnd len="med" w="med" type="none"/>
            <a:tailEnd len="med" w="med" type="none"/>
          </a:ln>
        </p:spPr>
      </p:cxnSp>
      <p:cxnSp>
        <p:nvCxnSpPr>
          <p:cNvPr id="171" name="Google Shape;171;p27"/>
          <p:cNvCxnSpPr/>
          <p:nvPr/>
        </p:nvCxnSpPr>
        <p:spPr>
          <a:xfrm>
            <a:off x="5461225" y="3334625"/>
            <a:ext cx="23700" cy="1557300"/>
          </a:xfrm>
          <a:prstGeom prst="straightConnector1">
            <a:avLst/>
          </a:prstGeom>
          <a:noFill/>
          <a:ln cap="flat" cmpd="sng" w="28575">
            <a:solidFill>
              <a:srgbClr val="0000FF"/>
            </a:solidFill>
            <a:prstDash val="solid"/>
            <a:round/>
            <a:headEnd len="med" w="med" type="none"/>
            <a:tailEnd len="med" w="med" type="triangle"/>
          </a:ln>
        </p:spPr>
      </p:cxnSp>
      <p:cxnSp>
        <p:nvCxnSpPr>
          <p:cNvPr id="172" name="Google Shape;172;p27"/>
          <p:cNvCxnSpPr/>
          <p:nvPr/>
        </p:nvCxnSpPr>
        <p:spPr>
          <a:xfrm flipH="1" rot="10800000">
            <a:off x="5520225" y="4679450"/>
            <a:ext cx="837600" cy="177000"/>
          </a:xfrm>
          <a:prstGeom prst="straightConnector1">
            <a:avLst/>
          </a:prstGeom>
          <a:noFill/>
          <a:ln cap="flat" cmpd="sng" w="28575">
            <a:solidFill>
              <a:srgbClr val="0000FF"/>
            </a:solidFill>
            <a:prstDash val="solid"/>
            <a:round/>
            <a:headEnd len="med" w="med" type="none"/>
            <a:tailEnd len="med" w="med" type="triangle"/>
          </a:ln>
        </p:spPr>
      </p:cxnSp>
      <p:cxnSp>
        <p:nvCxnSpPr>
          <p:cNvPr id="173" name="Google Shape;173;p27"/>
          <p:cNvCxnSpPr/>
          <p:nvPr/>
        </p:nvCxnSpPr>
        <p:spPr>
          <a:xfrm rot="10800000">
            <a:off x="6357875" y="4396400"/>
            <a:ext cx="82500" cy="2595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Solución</a:t>
            </a:r>
            <a:endParaRPr/>
          </a:p>
        </p:txBody>
      </p:sp>
      <p:sp>
        <p:nvSpPr>
          <p:cNvPr id="179" name="Google Shape;179;p28"/>
          <p:cNvSpPr txBox="1"/>
          <p:nvPr/>
        </p:nvSpPr>
        <p:spPr>
          <a:xfrm>
            <a:off x="1093300" y="1403900"/>
            <a:ext cx="3000000" cy="38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500"/>
              </a:spcAft>
              <a:buNone/>
            </a:pPr>
            <a:r>
              <a:t/>
            </a:r>
            <a:endParaRPr sz="1300">
              <a:latin typeface="Roboto"/>
              <a:ea typeface="Roboto"/>
              <a:cs typeface="Roboto"/>
              <a:sym typeface="Roboto"/>
            </a:endParaRPr>
          </a:p>
        </p:txBody>
      </p:sp>
      <p:pic>
        <p:nvPicPr>
          <p:cNvPr id="180" name="Google Shape;180;p28" title="ejercicio2.mp4">
            <a:hlinkClick r:id="rId3"/>
          </p:cNvPr>
          <p:cNvPicPr preferRelativeResize="0"/>
          <p:nvPr/>
        </p:nvPicPr>
        <p:blipFill>
          <a:blip r:embed="rId4">
            <a:alphaModFix/>
          </a:blip>
          <a:stretch>
            <a:fillRect/>
          </a:stretch>
        </p:blipFill>
        <p:spPr>
          <a:xfrm>
            <a:off x="1918874" y="766525"/>
            <a:ext cx="5735026" cy="4301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Realizar el siguiente reto</a:t>
            </a:r>
            <a:endParaRPr/>
          </a:p>
        </p:txBody>
      </p:sp>
      <p:sp>
        <p:nvSpPr>
          <p:cNvPr id="186" name="Google Shape;186;p29"/>
          <p:cNvSpPr txBox="1"/>
          <p:nvPr>
            <p:ph idx="1" type="body"/>
          </p:nvPr>
        </p:nvSpPr>
        <p:spPr>
          <a:xfrm>
            <a:off x="240475" y="1805400"/>
            <a:ext cx="5745300" cy="3059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s-419"/>
              <a:t>Tu tarea es crear un programa en Open Roberta que haga que el Robot dibuje 10 cuadrados (uno dentro del otro) que tengan 5 cm de separación entre ellos. Haga el programa lo más compacto posible.</a:t>
            </a:r>
            <a:endParaRPr/>
          </a:p>
          <a:p>
            <a:pPr indent="-342900" lvl="0" marL="457200" rtl="0" algn="l">
              <a:spcBef>
                <a:spcPts val="0"/>
              </a:spcBef>
              <a:spcAft>
                <a:spcPts val="0"/>
              </a:spcAft>
              <a:buSzPts val="1800"/>
              <a:buChar char="●"/>
            </a:pPr>
            <a:r>
              <a:rPr lang="es-419"/>
              <a:t>La </a:t>
            </a:r>
            <a:r>
              <a:rPr lang="es-419"/>
              <a:t>figura muestra</a:t>
            </a:r>
            <a:r>
              <a:rPr lang="es-419"/>
              <a:t> </a:t>
            </a:r>
            <a:r>
              <a:rPr lang="es-419"/>
              <a:t>cómo</a:t>
            </a:r>
            <a:r>
              <a:rPr lang="es-419"/>
              <a:t> </a:t>
            </a:r>
            <a:r>
              <a:rPr lang="es-419"/>
              <a:t>deberían</a:t>
            </a:r>
            <a:r>
              <a:rPr lang="es-419"/>
              <a:t> lucir los cuadrados aproximadamente.</a:t>
            </a:r>
            <a:endParaRPr/>
          </a:p>
          <a:p>
            <a:pPr indent="-342900" lvl="0" marL="457200" rtl="0" algn="l">
              <a:spcBef>
                <a:spcPts val="0"/>
              </a:spcBef>
              <a:spcAft>
                <a:spcPts val="0"/>
              </a:spcAft>
              <a:buSzPts val="1800"/>
              <a:buChar char="●"/>
            </a:pPr>
            <a:r>
              <a:rPr b="1" lang="es-419"/>
              <a:t>Tip: </a:t>
            </a:r>
            <a:r>
              <a:rPr lang="es-419"/>
              <a:t>En </a:t>
            </a:r>
            <a:r>
              <a:rPr lang="es-419"/>
              <a:t>este</a:t>
            </a:r>
            <a:r>
              <a:rPr lang="es-419"/>
              <a:t> ejercicio, deberás utilizar los controles de acción, control, matemática, variables, </a:t>
            </a:r>
            <a:r>
              <a:rPr lang="es-419"/>
              <a:t>función</a:t>
            </a:r>
            <a:r>
              <a:rPr lang="es-419"/>
              <a:t>.</a:t>
            </a:r>
            <a:endParaRPr/>
          </a:p>
          <a:p>
            <a:pPr indent="-342900" lvl="0" marL="457200" rtl="0" algn="l">
              <a:spcBef>
                <a:spcPts val="0"/>
              </a:spcBef>
              <a:spcAft>
                <a:spcPts val="0"/>
              </a:spcAft>
              <a:buSzPts val="1800"/>
              <a:buChar char="●"/>
            </a:pPr>
            <a:r>
              <a:rPr lang="es-419"/>
              <a:t>Utiliza el escenario de coordenadas predefinido</a:t>
            </a:r>
            <a:endParaRPr/>
          </a:p>
        </p:txBody>
      </p:sp>
      <p:pic>
        <p:nvPicPr>
          <p:cNvPr id="187" name="Google Shape;187;p29"/>
          <p:cNvPicPr preferRelativeResize="0"/>
          <p:nvPr/>
        </p:nvPicPr>
        <p:blipFill>
          <a:blip r:embed="rId3">
            <a:alphaModFix/>
          </a:blip>
          <a:stretch>
            <a:fillRect/>
          </a:stretch>
        </p:blipFill>
        <p:spPr>
          <a:xfrm>
            <a:off x="6357350" y="2286125"/>
            <a:ext cx="2552700" cy="2343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Solución</a:t>
            </a:r>
            <a:endParaRPr/>
          </a:p>
        </p:txBody>
      </p:sp>
      <p:sp>
        <p:nvSpPr>
          <p:cNvPr id="193" name="Google Shape;193;p30"/>
          <p:cNvSpPr txBox="1"/>
          <p:nvPr/>
        </p:nvSpPr>
        <p:spPr>
          <a:xfrm>
            <a:off x="1093300" y="1403900"/>
            <a:ext cx="3000000" cy="38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500"/>
              </a:spcAft>
              <a:buNone/>
            </a:pPr>
            <a:r>
              <a:t/>
            </a:r>
            <a:endParaRPr sz="1300">
              <a:latin typeface="Roboto"/>
              <a:ea typeface="Roboto"/>
              <a:cs typeface="Roboto"/>
              <a:sym typeface="Roboto"/>
            </a:endParaRPr>
          </a:p>
        </p:txBody>
      </p:sp>
      <p:pic>
        <p:nvPicPr>
          <p:cNvPr id="194" name="Google Shape;194;p30" title="ejercicio1.mp4">
            <a:hlinkClick r:id="rId3"/>
          </p:cNvPr>
          <p:cNvPicPr preferRelativeResize="0"/>
          <p:nvPr/>
        </p:nvPicPr>
        <p:blipFill>
          <a:blip r:embed="rId4">
            <a:alphaModFix/>
          </a:blip>
          <a:stretch>
            <a:fillRect/>
          </a:stretch>
        </p:blipFill>
        <p:spPr>
          <a:xfrm>
            <a:off x="1343650" y="702575"/>
            <a:ext cx="6031576" cy="452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Realiza el siguiente reto</a:t>
            </a:r>
            <a:endParaRPr/>
          </a:p>
        </p:txBody>
      </p:sp>
      <p:sp>
        <p:nvSpPr>
          <p:cNvPr id="200" name="Google Shape;200;p31"/>
          <p:cNvSpPr txBox="1"/>
          <p:nvPr>
            <p:ph idx="4294967295" type="body"/>
          </p:nvPr>
        </p:nvSpPr>
        <p:spPr>
          <a:xfrm>
            <a:off x="191600" y="779150"/>
            <a:ext cx="4010400" cy="346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Tu tarea es crear un programa en Open Roberta que haga que el Robot recorra el laberinto.</a:t>
            </a:r>
            <a:endParaRPr/>
          </a:p>
          <a:p>
            <a:pPr indent="-342900" lvl="0" marL="457200" rtl="0" algn="l">
              <a:spcBef>
                <a:spcPts val="0"/>
              </a:spcBef>
              <a:spcAft>
                <a:spcPts val="0"/>
              </a:spcAft>
              <a:buSzPts val="1800"/>
              <a:buChar char="●"/>
            </a:pPr>
            <a:r>
              <a:rPr lang="es-419"/>
              <a:t>Utiliza los sensores de color para detectar los cruces.</a:t>
            </a:r>
            <a:endParaRPr/>
          </a:p>
          <a:p>
            <a:pPr indent="-342900" lvl="0" marL="457200" rtl="0" algn="l">
              <a:spcBef>
                <a:spcPts val="0"/>
              </a:spcBef>
              <a:spcAft>
                <a:spcPts val="0"/>
              </a:spcAft>
              <a:buSzPts val="1800"/>
              <a:buChar char="●"/>
            </a:pPr>
            <a:r>
              <a:rPr lang="es-419"/>
              <a:t>Descarga </a:t>
            </a:r>
            <a:r>
              <a:rPr lang="es-419" u="sng">
                <a:solidFill>
                  <a:schemeClr val="hlink"/>
                </a:solidFill>
                <a:hlinkClick r:id="rId3"/>
              </a:rPr>
              <a:t>aquí </a:t>
            </a:r>
            <a:r>
              <a:rPr lang="es-419"/>
              <a:t>la imagen</a:t>
            </a:r>
            <a:endParaRPr/>
          </a:p>
          <a:p>
            <a:pPr indent="-342900" lvl="0" marL="457200" rtl="0" algn="l">
              <a:spcBef>
                <a:spcPts val="0"/>
              </a:spcBef>
              <a:spcAft>
                <a:spcPts val="0"/>
              </a:spcAft>
              <a:buSzPts val="1800"/>
              <a:buChar char="●"/>
            </a:pPr>
            <a:r>
              <a:rPr lang="es-419"/>
              <a:t>Utiliza lógica de programación como variables, funciones, condicionales, operadores lógicos, etc.</a:t>
            </a:r>
            <a:endParaRPr/>
          </a:p>
        </p:txBody>
      </p:sp>
      <p:pic>
        <p:nvPicPr>
          <p:cNvPr id="201" name="Google Shape;201;p31"/>
          <p:cNvPicPr preferRelativeResize="0"/>
          <p:nvPr/>
        </p:nvPicPr>
        <p:blipFill>
          <a:blip r:embed="rId4">
            <a:alphaModFix/>
          </a:blip>
          <a:stretch>
            <a:fillRect/>
          </a:stretch>
        </p:blipFill>
        <p:spPr>
          <a:xfrm>
            <a:off x="4378850" y="1064650"/>
            <a:ext cx="4637200" cy="3346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Solución</a:t>
            </a:r>
            <a:endParaRPr/>
          </a:p>
        </p:txBody>
      </p:sp>
      <p:sp>
        <p:nvSpPr>
          <p:cNvPr id="207" name="Google Shape;207;p32"/>
          <p:cNvSpPr txBox="1"/>
          <p:nvPr/>
        </p:nvSpPr>
        <p:spPr>
          <a:xfrm>
            <a:off x="1093300" y="1403900"/>
            <a:ext cx="3000000" cy="38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500"/>
              </a:spcAft>
              <a:buNone/>
            </a:pPr>
            <a:r>
              <a:t/>
            </a:r>
            <a:endParaRPr sz="1300">
              <a:latin typeface="Roboto"/>
              <a:ea typeface="Roboto"/>
              <a:cs typeface="Roboto"/>
              <a:sym typeface="Roboto"/>
            </a:endParaRPr>
          </a:p>
        </p:txBody>
      </p:sp>
      <p:pic>
        <p:nvPicPr>
          <p:cNvPr id="208" name="Google Shape;208;p32" title="ejercicio3.mp4">
            <a:hlinkClick r:id="rId3"/>
          </p:cNvPr>
          <p:cNvPicPr preferRelativeResize="0"/>
          <p:nvPr/>
        </p:nvPicPr>
        <p:blipFill>
          <a:blip r:embed="rId4">
            <a:alphaModFix/>
          </a:blip>
          <a:stretch>
            <a:fillRect/>
          </a:stretch>
        </p:blipFill>
        <p:spPr>
          <a:xfrm>
            <a:off x="1535425" y="699175"/>
            <a:ext cx="5840100" cy="4380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