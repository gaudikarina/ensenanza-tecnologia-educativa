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9199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919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9b0da31677_2_10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9b0da31677_2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e84950d9c9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e84950d9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e84950d9c9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e84950d9c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e84950d9c9_0_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e84950d9c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e84950d9c9_0_7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e84950d9c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e84950d9c9_0_1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e84950d9c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e84950d9c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e84950d9c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e84950d9c9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e84950d9c9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e84950d9c9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e84950d9c9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e84950d9c9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e84950d9c9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e84950d9c9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e84950d9c9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hyperlink" Target="https://lab.open-roberta.org/"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Open Roberta Lab</a:t>
            </a:r>
            <a:br>
              <a:rPr lang="es-419"/>
            </a:br>
            <a:r>
              <a:rPr lang="es-419"/>
              <a:t>Actividad Evaluada</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Momento 01 - Avance 01									 03/10/2023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Recordemos de la clase anterior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idx="2" type="body"/>
          </p:nvPr>
        </p:nvSpPr>
        <p:spPr>
          <a:xfrm>
            <a:off x="4939500" y="108175"/>
            <a:ext cx="3837000" cy="49590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s-419"/>
              <a:t>Ingresa a </a:t>
            </a:r>
            <a:r>
              <a:rPr lang="es-419" u="sng">
                <a:solidFill>
                  <a:schemeClr val="hlink"/>
                </a:solidFill>
                <a:hlinkClick r:id="rId3"/>
              </a:rPr>
              <a:t>Open Roberta</a:t>
            </a:r>
            <a:r>
              <a:rPr lang="es-419"/>
              <a:t> en la web</a:t>
            </a:r>
            <a:endParaRPr/>
          </a:p>
          <a:p>
            <a:pPr indent="-342900" lvl="0" marL="457200" rtl="0" algn="l">
              <a:spcBef>
                <a:spcPts val="1600"/>
              </a:spcBef>
              <a:spcAft>
                <a:spcPts val="1600"/>
              </a:spcAft>
              <a:buSzPts val="1800"/>
              <a:buChar char="●"/>
            </a:pPr>
            <a:r>
              <a:rPr lang="es-419"/>
              <a:t>Escoge el Robot EV3</a:t>
            </a:r>
            <a:endParaRPr/>
          </a:p>
        </p:txBody>
      </p:sp>
      <p:pic>
        <p:nvPicPr>
          <p:cNvPr id="79" name="Google Shape;79;p15"/>
          <p:cNvPicPr preferRelativeResize="0"/>
          <p:nvPr/>
        </p:nvPicPr>
        <p:blipFill>
          <a:blip r:embed="rId4">
            <a:alphaModFix/>
          </a:blip>
          <a:stretch>
            <a:fillRect/>
          </a:stretch>
        </p:blipFill>
        <p:spPr>
          <a:xfrm>
            <a:off x="182450" y="827924"/>
            <a:ext cx="4300874" cy="2609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idx="2" type="body"/>
          </p:nvPr>
        </p:nvSpPr>
        <p:spPr>
          <a:xfrm>
            <a:off x="4939500" y="108175"/>
            <a:ext cx="3837000" cy="49590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1600"/>
              </a:spcAft>
              <a:buSzPts val="1800"/>
              <a:buChar char="●"/>
            </a:pPr>
            <a:r>
              <a:rPr lang="es-419"/>
              <a:t>Escoge la versión EV3leJOS 0.9.1</a:t>
            </a:r>
            <a:endParaRPr/>
          </a:p>
        </p:txBody>
      </p:sp>
      <p:pic>
        <p:nvPicPr>
          <p:cNvPr id="85" name="Google Shape;85;p16"/>
          <p:cNvPicPr preferRelativeResize="0"/>
          <p:nvPr/>
        </p:nvPicPr>
        <p:blipFill>
          <a:blip r:embed="rId3">
            <a:alphaModFix/>
          </a:blip>
          <a:stretch>
            <a:fillRect/>
          </a:stretch>
        </p:blipFill>
        <p:spPr>
          <a:xfrm>
            <a:off x="59123" y="934425"/>
            <a:ext cx="4572000" cy="2852406"/>
          </a:xfrm>
          <a:prstGeom prst="rect">
            <a:avLst/>
          </a:prstGeom>
          <a:noFill/>
          <a:ln>
            <a:noFill/>
          </a:ln>
        </p:spPr>
      </p:pic>
      <p:sp>
        <p:nvSpPr>
          <p:cNvPr id="86" name="Google Shape;86;p16"/>
          <p:cNvSpPr/>
          <p:nvPr/>
        </p:nvSpPr>
        <p:spPr>
          <a:xfrm>
            <a:off x="559850" y="1507825"/>
            <a:ext cx="1300800" cy="94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idx="2" type="body"/>
          </p:nvPr>
        </p:nvSpPr>
        <p:spPr>
          <a:xfrm>
            <a:off x="169950" y="386175"/>
            <a:ext cx="3837000" cy="4254600"/>
          </a:xfrm>
          <a:prstGeom prst="rect">
            <a:avLst/>
          </a:prstGeom>
          <a:noFill/>
        </p:spPr>
        <p:txBody>
          <a:bodyPr anchorCtr="0" anchor="ctr" bIns="91425" lIns="91425" spcFirstLastPara="1" rIns="91425" wrap="square" tIns="91425">
            <a:noAutofit/>
          </a:bodyPr>
          <a:lstStyle/>
          <a:p>
            <a:pPr indent="0" lvl="0" marL="457200" rtl="0" algn="l">
              <a:spcBef>
                <a:spcPts val="0"/>
              </a:spcBef>
              <a:spcAft>
                <a:spcPts val="0"/>
              </a:spcAft>
              <a:buNone/>
            </a:pPr>
            <a:r>
              <a:rPr lang="es-419" sz="1150">
                <a:solidFill>
                  <a:schemeClr val="dk2"/>
                </a:solidFill>
              </a:rPr>
              <a:t>Para poder hacer uso de todas las herramientas de Open Roberta, es necesario en tu primer acceso crear una cuenta, o afiliarse a un grupo de usuarios, a continuación se muestran ambos métodos.</a:t>
            </a:r>
            <a:endParaRPr sz="1150">
              <a:solidFill>
                <a:schemeClr val="dk2"/>
              </a:solidFill>
            </a:endParaRPr>
          </a:p>
          <a:p>
            <a:pPr indent="0" lvl="0" marL="457200" rtl="0" algn="l">
              <a:spcBef>
                <a:spcPts val="1600"/>
              </a:spcBef>
              <a:spcAft>
                <a:spcPts val="0"/>
              </a:spcAft>
              <a:buNone/>
            </a:pPr>
            <a:r>
              <a:rPr b="1" lang="es-419" sz="1550">
                <a:solidFill>
                  <a:schemeClr val="accent3"/>
                </a:solidFill>
              </a:rPr>
              <a:t>En la clase de utilizaremos el método de afiliarse a un grupo de usuarios.</a:t>
            </a:r>
            <a:endParaRPr b="1" sz="1550">
              <a:solidFill>
                <a:schemeClr val="accent3"/>
              </a:solidFill>
            </a:endParaRPr>
          </a:p>
          <a:p>
            <a:pPr indent="-342900" lvl="0" marL="457200" rtl="0" algn="l">
              <a:spcBef>
                <a:spcPts val="1600"/>
              </a:spcBef>
              <a:spcAft>
                <a:spcPts val="1600"/>
              </a:spcAft>
              <a:buClr>
                <a:schemeClr val="dk2"/>
              </a:buClr>
              <a:buSzPts val="1800"/>
              <a:buAutoNum type="arabicPeriod" startAt="2"/>
            </a:pPr>
            <a:r>
              <a:rPr lang="es-419">
                <a:solidFill>
                  <a:schemeClr val="dk2"/>
                </a:solidFill>
              </a:rPr>
              <a:t>Afiliarse a un grupo: </a:t>
            </a:r>
            <a:r>
              <a:rPr lang="es-419" sz="1150">
                <a:solidFill>
                  <a:schemeClr val="dk2"/>
                </a:solidFill>
              </a:rPr>
              <a:t> únicamente se llena el formulario y con ello todo tu trabajo quedará automáticamente grabado en la sesión de clase, donde tu profesora tendrá acceso inmediatamente.</a:t>
            </a:r>
            <a:endParaRPr>
              <a:solidFill>
                <a:schemeClr val="dk2"/>
              </a:solidFill>
            </a:endParaRPr>
          </a:p>
        </p:txBody>
      </p:sp>
      <p:grpSp>
        <p:nvGrpSpPr>
          <p:cNvPr id="92" name="Google Shape;92;p17"/>
          <p:cNvGrpSpPr/>
          <p:nvPr/>
        </p:nvGrpSpPr>
        <p:grpSpPr>
          <a:xfrm>
            <a:off x="5062475" y="964725"/>
            <a:ext cx="3648075" cy="2800350"/>
            <a:chOff x="5034250" y="386175"/>
            <a:chExt cx="3648075" cy="2800350"/>
          </a:xfrm>
        </p:grpSpPr>
        <p:pic>
          <p:nvPicPr>
            <p:cNvPr id="93" name="Google Shape;93;p17"/>
            <p:cNvPicPr preferRelativeResize="0"/>
            <p:nvPr/>
          </p:nvPicPr>
          <p:blipFill>
            <a:blip r:embed="rId3">
              <a:alphaModFix/>
            </a:blip>
            <a:stretch>
              <a:fillRect/>
            </a:stretch>
          </p:blipFill>
          <p:spPr>
            <a:xfrm>
              <a:off x="5034250" y="386175"/>
              <a:ext cx="3648075" cy="2800350"/>
            </a:xfrm>
            <a:prstGeom prst="rect">
              <a:avLst/>
            </a:prstGeom>
            <a:noFill/>
            <a:ln>
              <a:noFill/>
            </a:ln>
          </p:spPr>
        </p:pic>
        <p:sp>
          <p:nvSpPr>
            <p:cNvPr id="94" name="Google Shape;94;p17"/>
            <p:cNvSpPr/>
            <p:nvPr/>
          </p:nvSpPr>
          <p:spPr>
            <a:xfrm>
              <a:off x="5601650" y="436975"/>
              <a:ext cx="585600" cy="556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Afiliarse a un grupo</a:t>
            </a:r>
            <a:endParaRPr/>
          </a:p>
        </p:txBody>
      </p:sp>
      <p:sp>
        <p:nvSpPr>
          <p:cNvPr id="100" name="Google Shape;100;p18"/>
          <p:cNvSpPr txBox="1"/>
          <p:nvPr>
            <p:ph idx="1" type="body"/>
          </p:nvPr>
        </p:nvSpPr>
        <p:spPr>
          <a:xfrm>
            <a:off x="226075" y="1550500"/>
            <a:ext cx="2808000" cy="3163500"/>
          </a:xfrm>
          <a:prstGeom prst="rect">
            <a:avLst/>
          </a:prstGeom>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SzPts val="1200"/>
              <a:buChar char="●"/>
            </a:pPr>
            <a:r>
              <a:rPr lang="es-419"/>
              <a:t>Rellena el formulario</a:t>
            </a:r>
            <a:endParaRPr/>
          </a:p>
          <a:p>
            <a:pPr indent="-304800" lvl="0" marL="457200" rtl="0" algn="l">
              <a:lnSpc>
                <a:spcPct val="200000"/>
              </a:lnSpc>
              <a:spcBef>
                <a:spcPts val="0"/>
              </a:spcBef>
              <a:spcAft>
                <a:spcPts val="0"/>
              </a:spcAft>
              <a:buSzPts val="1200"/>
              <a:buChar char="●"/>
            </a:pPr>
            <a:r>
              <a:rPr b="1" lang="es-419"/>
              <a:t>Nombre de usuario: </a:t>
            </a:r>
            <a:r>
              <a:rPr lang="es-419"/>
              <a:t>son las iniciales de tu nombre (sin apellido)</a:t>
            </a:r>
            <a:endParaRPr/>
          </a:p>
          <a:p>
            <a:pPr indent="-304800" lvl="0" marL="457200" rtl="0" algn="l">
              <a:lnSpc>
                <a:spcPct val="200000"/>
              </a:lnSpc>
              <a:spcBef>
                <a:spcPts val="0"/>
              </a:spcBef>
              <a:spcAft>
                <a:spcPts val="0"/>
              </a:spcAft>
              <a:buSzPts val="1200"/>
              <a:buChar char="●"/>
            </a:pPr>
            <a:r>
              <a:rPr b="1" lang="es-419"/>
              <a:t>Contraseña: </a:t>
            </a:r>
            <a:endParaRPr b="1"/>
          </a:p>
        </p:txBody>
      </p:sp>
      <p:pic>
        <p:nvPicPr>
          <p:cNvPr id="101" name="Google Shape;101;p18"/>
          <p:cNvPicPr preferRelativeResize="0"/>
          <p:nvPr/>
        </p:nvPicPr>
        <p:blipFill>
          <a:blip r:embed="rId3">
            <a:alphaModFix/>
          </a:blip>
          <a:stretch>
            <a:fillRect/>
          </a:stretch>
        </p:blipFill>
        <p:spPr>
          <a:xfrm>
            <a:off x="4146028" y="0"/>
            <a:ext cx="2576550" cy="4838700"/>
          </a:xfrm>
          <a:prstGeom prst="rect">
            <a:avLst/>
          </a:prstGeom>
          <a:noFill/>
          <a:ln>
            <a:noFill/>
          </a:ln>
        </p:spPr>
      </p:pic>
      <p:pic>
        <p:nvPicPr>
          <p:cNvPr id="102" name="Google Shape;102;p18"/>
          <p:cNvPicPr preferRelativeResize="0"/>
          <p:nvPr/>
        </p:nvPicPr>
        <p:blipFill>
          <a:blip r:embed="rId4">
            <a:alphaModFix/>
          </a:blip>
          <a:stretch>
            <a:fillRect/>
          </a:stretch>
        </p:blipFill>
        <p:spPr>
          <a:xfrm>
            <a:off x="1675028" y="3002825"/>
            <a:ext cx="1600200" cy="361950"/>
          </a:xfrm>
          <a:prstGeom prst="rect">
            <a:avLst/>
          </a:prstGeom>
          <a:noFill/>
          <a:ln>
            <a:noFill/>
          </a:ln>
        </p:spPr>
      </p:pic>
      <p:pic>
        <p:nvPicPr>
          <p:cNvPr id="103" name="Google Shape;103;p18"/>
          <p:cNvPicPr preferRelativeResize="0"/>
          <p:nvPr/>
        </p:nvPicPr>
        <p:blipFill>
          <a:blip r:embed="rId4">
            <a:alphaModFix/>
          </a:blip>
          <a:stretch>
            <a:fillRect/>
          </a:stretch>
        </p:blipFill>
        <p:spPr>
          <a:xfrm>
            <a:off x="4699025" y="3642050"/>
            <a:ext cx="1170725" cy="264800"/>
          </a:xfrm>
          <a:prstGeom prst="rect">
            <a:avLst/>
          </a:prstGeom>
          <a:noFill/>
          <a:ln>
            <a:noFill/>
          </a:ln>
        </p:spPr>
      </p:pic>
      <p:cxnSp>
        <p:nvCxnSpPr>
          <p:cNvPr id="104" name="Google Shape;104;p18"/>
          <p:cNvCxnSpPr/>
          <p:nvPr/>
        </p:nvCxnSpPr>
        <p:spPr>
          <a:xfrm flipH="1">
            <a:off x="1509300" y="3293075"/>
            <a:ext cx="430500" cy="352800"/>
          </a:xfrm>
          <a:prstGeom prst="straightConnector1">
            <a:avLst/>
          </a:prstGeom>
          <a:noFill/>
          <a:ln cap="flat" cmpd="sng" w="28575">
            <a:solidFill>
              <a:schemeClr val="accent6"/>
            </a:solidFill>
            <a:prstDash val="solid"/>
            <a:round/>
            <a:headEnd len="med" w="med" type="none"/>
            <a:tailEnd len="med" w="med" type="triangle"/>
          </a:ln>
        </p:spPr>
      </p:cxnSp>
      <p:sp>
        <p:nvSpPr>
          <p:cNvPr id="105" name="Google Shape;105;p18"/>
          <p:cNvSpPr txBox="1"/>
          <p:nvPr/>
        </p:nvSpPr>
        <p:spPr>
          <a:xfrm>
            <a:off x="747425" y="3645875"/>
            <a:ext cx="101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solidFill>
                  <a:schemeClr val="lt1"/>
                </a:solidFill>
                <a:latin typeface="Roboto"/>
                <a:ea typeface="Roboto"/>
                <a:cs typeface="Roboto"/>
                <a:sym typeface="Roboto"/>
              </a:rPr>
              <a:t>Código:</a:t>
            </a:r>
            <a:endParaRPr b="1">
              <a:solidFill>
                <a:schemeClr val="lt1"/>
              </a:solidFill>
              <a:latin typeface="Roboto"/>
              <a:ea typeface="Roboto"/>
              <a:cs typeface="Roboto"/>
              <a:sym typeface="Roboto"/>
            </a:endParaRPr>
          </a:p>
        </p:txBody>
      </p:sp>
      <p:sp>
        <p:nvSpPr>
          <p:cNvPr id="106" name="Google Shape;106;p18"/>
          <p:cNvSpPr txBox="1"/>
          <p:nvPr/>
        </p:nvSpPr>
        <p:spPr>
          <a:xfrm>
            <a:off x="2127475" y="3706550"/>
            <a:ext cx="101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solidFill>
                  <a:schemeClr val="lt1"/>
                </a:solidFill>
                <a:latin typeface="Roboto"/>
                <a:ea typeface="Roboto"/>
                <a:cs typeface="Roboto"/>
                <a:sym typeface="Roboto"/>
              </a:rPr>
              <a:t>Iniciales</a:t>
            </a:r>
            <a:endParaRPr b="1">
              <a:solidFill>
                <a:schemeClr val="lt1"/>
              </a:solidFill>
              <a:latin typeface="Roboto"/>
              <a:ea typeface="Roboto"/>
              <a:cs typeface="Roboto"/>
              <a:sym typeface="Roboto"/>
            </a:endParaRPr>
          </a:p>
        </p:txBody>
      </p:sp>
      <p:cxnSp>
        <p:nvCxnSpPr>
          <p:cNvPr id="107" name="Google Shape;107;p18"/>
          <p:cNvCxnSpPr>
            <a:endCxn id="106" idx="0"/>
          </p:cNvCxnSpPr>
          <p:nvPr/>
        </p:nvCxnSpPr>
        <p:spPr>
          <a:xfrm flipH="1">
            <a:off x="2635525" y="3293150"/>
            <a:ext cx="390900" cy="413400"/>
          </a:xfrm>
          <a:prstGeom prst="straightConnector1">
            <a:avLst/>
          </a:prstGeom>
          <a:noFill/>
          <a:ln cap="flat" cmpd="sng" w="28575">
            <a:solidFill>
              <a:schemeClr val="accent6"/>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Open Roberta Lab</a:t>
            </a:r>
            <a:br>
              <a:rPr lang="es-419"/>
            </a:br>
            <a:r>
              <a:rPr lang="es-419"/>
              <a:t>Reto 1</a:t>
            </a:r>
            <a:endParaRPr/>
          </a:p>
        </p:txBody>
      </p:sp>
      <p:sp>
        <p:nvSpPr>
          <p:cNvPr id="113" name="Google Shape;113;p19"/>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Avance 01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Reto 1</a:t>
            </a:r>
            <a:endParaRPr/>
          </a:p>
        </p:txBody>
      </p:sp>
      <p:sp>
        <p:nvSpPr>
          <p:cNvPr id="119" name="Google Shape;119;p20"/>
          <p:cNvSpPr txBox="1"/>
          <p:nvPr>
            <p:ph idx="4294967295" type="body"/>
          </p:nvPr>
        </p:nvSpPr>
        <p:spPr>
          <a:xfrm>
            <a:off x="98250" y="824950"/>
            <a:ext cx="3999900" cy="3097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sz="1800"/>
              <a:t>Escoge el escenario de la figura</a:t>
            </a:r>
            <a:endParaRPr sz="1800"/>
          </a:p>
          <a:p>
            <a:pPr indent="-342900" lvl="0" marL="457200" rtl="0" algn="l">
              <a:spcBef>
                <a:spcPts val="0"/>
              </a:spcBef>
              <a:spcAft>
                <a:spcPts val="0"/>
              </a:spcAft>
              <a:buSzPts val="1800"/>
              <a:buChar char="●"/>
            </a:pPr>
            <a:r>
              <a:rPr lang="es-419" sz="1800"/>
              <a:t>Activa el trazo</a:t>
            </a:r>
            <a:endParaRPr sz="1800"/>
          </a:p>
          <a:p>
            <a:pPr indent="-342900" lvl="0" marL="457200" rtl="0" algn="l">
              <a:spcBef>
                <a:spcPts val="0"/>
              </a:spcBef>
              <a:spcAft>
                <a:spcPts val="0"/>
              </a:spcAft>
              <a:buSzPts val="1800"/>
              <a:buChar char="●"/>
            </a:pPr>
            <a:r>
              <a:rPr b="1" lang="es-419" sz="1800">
                <a:solidFill>
                  <a:srgbClr val="1C4587"/>
                </a:solidFill>
              </a:rPr>
              <a:t>Utilizando sólo bloques de acción</a:t>
            </a:r>
            <a:endParaRPr b="1" sz="1800">
              <a:solidFill>
                <a:srgbClr val="1C4587"/>
              </a:solidFill>
            </a:endParaRPr>
          </a:p>
          <a:p>
            <a:pPr indent="-342900" lvl="0" marL="457200" rtl="0" algn="l">
              <a:spcBef>
                <a:spcPts val="0"/>
              </a:spcBef>
              <a:spcAft>
                <a:spcPts val="0"/>
              </a:spcAft>
              <a:buClr>
                <a:srgbClr val="1C4587"/>
              </a:buClr>
              <a:buSzPts val="1800"/>
              <a:buChar char="●"/>
            </a:pPr>
            <a:r>
              <a:rPr lang="es-419" sz="1800"/>
              <a:t>Mueve el robot desde la posición inicial mostrada hasta el punto más lejano realizando el recorrido como se muestra en la imagen de la siguiente lámina.</a:t>
            </a:r>
            <a:endParaRPr sz="1800"/>
          </a:p>
          <a:p>
            <a:pPr indent="-342900" lvl="0" marL="457200" rtl="0" algn="l">
              <a:spcBef>
                <a:spcPts val="0"/>
              </a:spcBef>
              <a:spcAft>
                <a:spcPts val="0"/>
              </a:spcAft>
              <a:buSzPts val="1800"/>
              <a:buChar char="●"/>
            </a:pPr>
            <a:r>
              <a:rPr lang="es-419" sz="1800"/>
              <a:t>Recuerda guardar tu trabajo</a:t>
            </a:r>
            <a:endParaRPr sz="1800"/>
          </a:p>
          <a:p>
            <a:pPr indent="0" lvl="0" marL="0" rtl="0" algn="l">
              <a:lnSpc>
                <a:spcPct val="150000"/>
              </a:lnSpc>
              <a:spcBef>
                <a:spcPts val="1600"/>
              </a:spcBef>
              <a:spcAft>
                <a:spcPts val="0"/>
              </a:spcAft>
              <a:buNone/>
            </a:pPr>
            <a:r>
              <a:t/>
            </a:r>
            <a:endParaRPr>
              <a:solidFill>
                <a:srgbClr val="737373"/>
              </a:solidFill>
            </a:endParaRPr>
          </a:p>
          <a:p>
            <a:pPr indent="0" lvl="0" marL="0" rtl="0" algn="l">
              <a:lnSpc>
                <a:spcPct val="150000"/>
              </a:lnSpc>
              <a:spcBef>
                <a:spcPts val="1600"/>
              </a:spcBef>
              <a:spcAft>
                <a:spcPts val="0"/>
              </a:spcAft>
              <a:buNone/>
            </a:pPr>
            <a:r>
              <a:t/>
            </a:r>
            <a:endParaRPr>
              <a:solidFill>
                <a:srgbClr val="737373"/>
              </a:solidFill>
            </a:endParaRPr>
          </a:p>
          <a:p>
            <a:pPr indent="0" lvl="0" marL="0" rtl="0" algn="l">
              <a:lnSpc>
                <a:spcPct val="150000"/>
              </a:lnSpc>
              <a:spcBef>
                <a:spcPts val="1600"/>
              </a:spcBef>
              <a:spcAft>
                <a:spcPts val="0"/>
              </a:spcAft>
              <a:buNone/>
            </a:pPr>
            <a:r>
              <a:t/>
            </a:r>
            <a:endParaRPr>
              <a:solidFill>
                <a:srgbClr val="737373"/>
              </a:solidFill>
            </a:endParaRPr>
          </a:p>
          <a:p>
            <a:pPr indent="0" lvl="0" marL="0" rtl="0" algn="l">
              <a:spcBef>
                <a:spcPts val="1600"/>
              </a:spcBef>
              <a:spcAft>
                <a:spcPts val="1600"/>
              </a:spcAft>
              <a:buNone/>
            </a:pPr>
            <a:r>
              <a:t/>
            </a:r>
            <a:endParaRPr/>
          </a:p>
        </p:txBody>
      </p:sp>
      <p:pic>
        <p:nvPicPr>
          <p:cNvPr id="120" name="Google Shape;120;p20"/>
          <p:cNvPicPr preferRelativeResize="0"/>
          <p:nvPr/>
        </p:nvPicPr>
        <p:blipFill>
          <a:blip r:embed="rId3">
            <a:alphaModFix/>
          </a:blip>
          <a:stretch>
            <a:fillRect/>
          </a:stretch>
        </p:blipFill>
        <p:spPr>
          <a:xfrm>
            <a:off x="4513300" y="931825"/>
            <a:ext cx="4225325" cy="2678150"/>
          </a:xfrm>
          <a:prstGeom prst="rect">
            <a:avLst/>
          </a:prstGeom>
          <a:noFill/>
          <a:ln>
            <a:noFill/>
          </a:ln>
        </p:spPr>
      </p:pic>
      <p:pic>
        <p:nvPicPr>
          <p:cNvPr id="121" name="Google Shape;121;p20"/>
          <p:cNvPicPr preferRelativeResize="0"/>
          <p:nvPr/>
        </p:nvPicPr>
        <p:blipFill>
          <a:blip r:embed="rId4">
            <a:alphaModFix/>
          </a:blip>
          <a:stretch>
            <a:fillRect/>
          </a:stretch>
        </p:blipFill>
        <p:spPr>
          <a:xfrm>
            <a:off x="3572825" y="3849375"/>
            <a:ext cx="2749950" cy="1191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Recorrido Reto 01</a:t>
            </a:r>
            <a:endParaRPr/>
          </a:p>
        </p:txBody>
      </p:sp>
      <p:pic>
        <p:nvPicPr>
          <p:cNvPr id="127" name="Google Shape;127;p21"/>
          <p:cNvPicPr preferRelativeResize="0"/>
          <p:nvPr/>
        </p:nvPicPr>
        <p:blipFill>
          <a:blip r:embed="rId3">
            <a:alphaModFix/>
          </a:blip>
          <a:stretch>
            <a:fillRect/>
          </a:stretch>
        </p:blipFill>
        <p:spPr>
          <a:xfrm>
            <a:off x="1465800" y="304800"/>
            <a:ext cx="6894372" cy="4392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idx="4294967295" type="body"/>
          </p:nvPr>
        </p:nvSpPr>
        <p:spPr>
          <a:xfrm>
            <a:off x="171075" y="657437"/>
            <a:ext cx="3999900" cy="3097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sz="1800"/>
              <a:t>Escoge el escenario de la figura</a:t>
            </a:r>
            <a:endParaRPr sz="1800"/>
          </a:p>
          <a:p>
            <a:pPr indent="-342900" lvl="0" marL="457200" rtl="0" algn="l">
              <a:spcBef>
                <a:spcPts val="0"/>
              </a:spcBef>
              <a:spcAft>
                <a:spcPts val="0"/>
              </a:spcAft>
              <a:buSzPts val="1800"/>
              <a:buChar char="●"/>
            </a:pPr>
            <a:r>
              <a:rPr lang="es-419" sz="1800"/>
              <a:t>Activa el trazo</a:t>
            </a:r>
            <a:endParaRPr sz="1800"/>
          </a:p>
          <a:p>
            <a:pPr indent="-342900" lvl="0" marL="457200" rtl="0" algn="l">
              <a:spcBef>
                <a:spcPts val="0"/>
              </a:spcBef>
              <a:spcAft>
                <a:spcPts val="0"/>
              </a:spcAft>
              <a:buSzPts val="1800"/>
              <a:buChar char="●"/>
            </a:pPr>
            <a:r>
              <a:rPr b="1" lang="es-419" sz="1800">
                <a:solidFill>
                  <a:srgbClr val="1C4587"/>
                </a:solidFill>
              </a:rPr>
              <a:t>Utilizando sólo bloques de acción</a:t>
            </a:r>
            <a:endParaRPr b="1" sz="1800">
              <a:solidFill>
                <a:srgbClr val="1C4587"/>
              </a:solidFill>
            </a:endParaRPr>
          </a:p>
          <a:p>
            <a:pPr indent="-342900" lvl="0" marL="457200" rtl="0" algn="l">
              <a:spcBef>
                <a:spcPts val="0"/>
              </a:spcBef>
              <a:spcAft>
                <a:spcPts val="0"/>
              </a:spcAft>
              <a:buClr>
                <a:srgbClr val="1C4587"/>
              </a:buClr>
              <a:buSzPts val="1800"/>
              <a:buChar char="●"/>
            </a:pPr>
            <a:r>
              <a:rPr lang="es-419" sz="1800"/>
              <a:t>Dibuja con el robot las figuras geométricas (estudia la tabla), el tamaño del lado es de 30 cm, realizando el recorrido como se muestra en la imagen de la siguiente lámina</a:t>
            </a:r>
            <a:endParaRPr sz="1800"/>
          </a:p>
          <a:p>
            <a:pPr indent="-342900" lvl="0" marL="457200" rtl="0" algn="l">
              <a:spcBef>
                <a:spcPts val="0"/>
              </a:spcBef>
              <a:spcAft>
                <a:spcPts val="0"/>
              </a:spcAft>
              <a:buSzPts val="1800"/>
              <a:buChar char="●"/>
            </a:pPr>
            <a:r>
              <a:rPr lang="es-419"/>
              <a:t>Recuerda guardar tu trabajo</a:t>
            </a:r>
            <a:endParaRPr/>
          </a:p>
          <a:p>
            <a:pPr indent="0" lvl="0" marL="0" rtl="0" algn="l">
              <a:lnSpc>
                <a:spcPct val="150000"/>
              </a:lnSpc>
              <a:spcBef>
                <a:spcPts val="1600"/>
              </a:spcBef>
              <a:spcAft>
                <a:spcPts val="0"/>
              </a:spcAft>
              <a:buNone/>
            </a:pPr>
            <a:r>
              <a:t/>
            </a:r>
            <a:endParaRPr>
              <a:solidFill>
                <a:srgbClr val="737373"/>
              </a:solidFill>
            </a:endParaRPr>
          </a:p>
          <a:p>
            <a:pPr indent="0" lvl="0" marL="0" rtl="0" algn="l">
              <a:lnSpc>
                <a:spcPct val="150000"/>
              </a:lnSpc>
              <a:spcBef>
                <a:spcPts val="1600"/>
              </a:spcBef>
              <a:spcAft>
                <a:spcPts val="0"/>
              </a:spcAft>
              <a:buNone/>
            </a:pPr>
            <a:r>
              <a:t/>
            </a:r>
            <a:endParaRPr>
              <a:solidFill>
                <a:srgbClr val="737373"/>
              </a:solidFill>
            </a:endParaRPr>
          </a:p>
          <a:p>
            <a:pPr indent="0" lvl="0" marL="0" rtl="0" algn="l">
              <a:lnSpc>
                <a:spcPct val="150000"/>
              </a:lnSpc>
              <a:spcBef>
                <a:spcPts val="1600"/>
              </a:spcBef>
              <a:spcAft>
                <a:spcPts val="0"/>
              </a:spcAft>
              <a:buNone/>
            </a:pPr>
            <a:r>
              <a:t/>
            </a:r>
            <a:endParaRPr>
              <a:solidFill>
                <a:srgbClr val="737373"/>
              </a:solidFill>
            </a:endParaRPr>
          </a:p>
          <a:p>
            <a:pPr indent="0" lvl="0" marL="0" rtl="0" algn="l">
              <a:spcBef>
                <a:spcPts val="1600"/>
              </a:spcBef>
              <a:spcAft>
                <a:spcPts val="1600"/>
              </a:spcAft>
              <a:buNone/>
            </a:pPr>
            <a:r>
              <a:t/>
            </a:r>
            <a:endParaRPr/>
          </a:p>
        </p:txBody>
      </p:sp>
      <p:pic>
        <p:nvPicPr>
          <p:cNvPr id="133" name="Google Shape;133;p22"/>
          <p:cNvPicPr preferRelativeResize="0"/>
          <p:nvPr/>
        </p:nvPicPr>
        <p:blipFill>
          <a:blip r:embed="rId3">
            <a:alphaModFix/>
          </a:blip>
          <a:stretch>
            <a:fillRect/>
          </a:stretch>
        </p:blipFill>
        <p:spPr>
          <a:xfrm>
            <a:off x="1863200" y="4252200"/>
            <a:ext cx="1937075" cy="839400"/>
          </a:xfrm>
          <a:prstGeom prst="rect">
            <a:avLst/>
          </a:prstGeom>
          <a:noFill/>
          <a:ln>
            <a:noFill/>
          </a:ln>
        </p:spPr>
      </p:pic>
      <p:sp>
        <p:nvSpPr>
          <p:cNvPr id="134" name="Google Shape;134;p22"/>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Reto 2</a:t>
            </a:r>
            <a:endParaRPr/>
          </a:p>
        </p:txBody>
      </p:sp>
      <p:pic>
        <p:nvPicPr>
          <p:cNvPr id="135" name="Google Shape;135;p22"/>
          <p:cNvPicPr preferRelativeResize="0"/>
          <p:nvPr/>
        </p:nvPicPr>
        <p:blipFill rotWithShape="1">
          <a:blip r:embed="rId4">
            <a:alphaModFix/>
          </a:blip>
          <a:srcRect b="43307" l="0" r="0" t="0"/>
          <a:stretch/>
        </p:blipFill>
        <p:spPr>
          <a:xfrm>
            <a:off x="4721275" y="3389153"/>
            <a:ext cx="4352850" cy="1450675"/>
          </a:xfrm>
          <a:prstGeom prst="rect">
            <a:avLst/>
          </a:prstGeom>
          <a:noFill/>
          <a:ln>
            <a:noFill/>
          </a:ln>
        </p:spPr>
      </p:pic>
      <p:pic>
        <p:nvPicPr>
          <p:cNvPr id="136" name="Google Shape;136;p22"/>
          <p:cNvPicPr preferRelativeResize="0"/>
          <p:nvPr/>
        </p:nvPicPr>
        <p:blipFill>
          <a:blip r:embed="rId5">
            <a:alphaModFix/>
          </a:blip>
          <a:stretch>
            <a:fillRect/>
          </a:stretch>
        </p:blipFill>
        <p:spPr>
          <a:xfrm>
            <a:off x="5035100" y="847825"/>
            <a:ext cx="3306725" cy="2400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Reto 02: Dibujar figuras geométricas</a:t>
            </a:r>
            <a:endParaRPr/>
          </a:p>
        </p:txBody>
      </p:sp>
      <p:pic>
        <p:nvPicPr>
          <p:cNvPr id="142" name="Google Shape;142;p23"/>
          <p:cNvPicPr preferRelativeResize="0"/>
          <p:nvPr/>
        </p:nvPicPr>
        <p:blipFill>
          <a:blip r:embed="rId3">
            <a:alphaModFix/>
          </a:blip>
          <a:stretch>
            <a:fillRect/>
          </a:stretch>
        </p:blipFill>
        <p:spPr>
          <a:xfrm>
            <a:off x="1341050" y="304800"/>
            <a:ext cx="6039836" cy="4392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Felicitaciones has terminado tu evaluación,</a:t>
            </a:r>
            <a:r>
              <a:rPr lang="es-419"/>
              <a:t> por favor mantén silencio en tu puesto de trabajo. 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