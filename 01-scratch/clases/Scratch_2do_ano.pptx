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d62653668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d62653668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d62653802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d62653802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d62653802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d62653802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d62653802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d62653802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d62653802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d62653802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d62653802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d62653802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d62653802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d62653802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d62653802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d62653802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d62653802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d62653802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d62653802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d62653802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d626538020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d626538020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d62653802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d62653802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d626538020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d626538020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d626538020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d626538020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d62653802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d62653802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2.png"/><Relationship Id="rId5" Type="http://schemas.openxmlformats.org/officeDocument/2006/relationships/hyperlink" Target="https://scratch.mit.edu/projects/786800620" TargetMode="External"/><Relationship Id="rId6" Type="http://schemas.openxmlformats.org/officeDocument/2006/relationships/hyperlink" Target="https://scratch.mit.edu/projects/786800620" TargetMode="External"/><Relationship Id="rId7" Type="http://schemas.openxmlformats.org/officeDocument/2006/relationships/hyperlink" Target="https://scratch.mit.edu/projects/78680062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7.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4.png"/><Relationship Id="rId7"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29.png"/><Relationship Id="rId6"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22.png"/><Relationship Id="rId6"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2.png"/><Relationship Id="rId6" Type="http://schemas.openxmlformats.org/officeDocument/2006/relationships/image" Target="../media/image35.png"/><Relationship Id="rId7"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33.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Scratch</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Programación en Bloques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Funciones</a:t>
            </a:r>
            <a:endParaRPr/>
          </a:p>
        </p:txBody>
      </p:sp>
      <p:sp>
        <p:nvSpPr>
          <p:cNvPr id="74" name="Google Shape;74;p14"/>
          <p:cNvSpPr txBox="1"/>
          <p:nvPr>
            <p:ph idx="2" type="body"/>
          </p:nvPr>
        </p:nvSpPr>
        <p:spPr>
          <a:xfrm>
            <a:off x="233925" y="2052575"/>
            <a:ext cx="3999900" cy="29187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Vamos a realizar un programa donde nuestro personaje 1 (hedgehog) </a:t>
            </a:r>
            <a:r>
              <a:rPr lang="es-419"/>
              <a:t>caminará</a:t>
            </a:r>
            <a:r>
              <a:rPr lang="es-419"/>
              <a:t> alrededor del escenario (Forest) , </a:t>
            </a:r>
            <a:r>
              <a:rPr lang="es-419"/>
              <a:t>dirá</a:t>
            </a:r>
            <a:r>
              <a:rPr lang="es-419"/>
              <a:t> al inicio hola y al finalizar </a:t>
            </a:r>
            <a:r>
              <a:rPr lang="es-419"/>
              <a:t>adiós</a:t>
            </a:r>
            <a:r>
              <a:rPr lang="es-419"/>
              <a:t>,  a la mitad de su caminata, </a:t>
            </a:r>
            <a:r>
              <a:rPr lang="es-419"/>
              <a:t>cambia</a:t>
            </a:r>
            <a:r>
              <a:rPr lang="es-419"/>
              <a:t> de disfraz (durmiendo) y de escenario (Woods).</a:t>
            </a:r>
            <a:endParaRPr/>
          </a:p>
          <a:p>
            <a:pPr indent="-317500" lvl="0" marL="457200" rtl="0" algn="l">
              <a:spcBef>
                <a:spcPts val="0"/>
              </a:spcBef>
              <a:spcAft>
                <a:spcPts val="0"/>
              </a:spcAft>
              <a:buSzPts val="1400"/>
              <a:buChar char="●"/>
            </a:pPr>
            <a:r>
              <a:rPr lang="es-419"/>
              <a:t>A medida que el </a:t>
            </a:r>
            <a:r>
              <a:rPr lang="es-419"/>
              <a:t>personaje 1</a:t>
            </a:r>
            <a:r>
              <a:rPr lang="es-419"/>
              <a:t> realice la caminata, en el fondo aparecerá un pato (personaje 2) </a:t>
            </a:r>
            <a:r>
              <a:rPr lang="es-419"/>
              <a:t>qué</a:t>
            </a:r>
            <a:r>
              <a:rPr lang="es-419"/>
              <a:t> sonará y luego desaparecerá.</a:t>
            </a:r>
            <a:endParaRPr/>
          </a:p>
        </p:txBody>
      </p:sp>
      <p:sp>
        <p:nvSpPr>
          <p:cNvPr id="75" name="Google Shape;75;p14"/>
          <p:cNvSpPr txBox="1"/>
          <p:nvPr/>
        </p:nvSpPr>
        <p:spPr>
          <a:xfrm>
            <a:off x="102350" y="1688850"/>
            <a:ext cx="4523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En primer lugar abre tu </a:t>
            </a:r>
            <a:r>
              <a:rPr lang="es-419">
                <a:latin typeface="Roboto"/>
                <a:ea typeface="Roboto"/>
                <a:cs typeface="Roboto"/>
                <a:sym typeface="Roboto"/>
              </a:rPr>
              <a:t>sesión</a:t>
            </a:r>
            <a:r>
              <a:rPr lang="es-419">
                <a:latin typeface="Roboto"/>
                <a:ea typeface="Roboto"/>
                <a:cs typeface="Roboto"/>
                <a:sym typeface="Roboto"/>
              </a:rPr>
              <a:t> de Scratch </a:t>
            </a:r>
            <a:endParaRPr>
              <a:latin typeface="Roboto"/>
              <a:ea typeface="Roboto"/>
              <a:cs typeface="Roboto"/>
              <a:sym typeface="Roboto"/>
            </a:endParaRPr>
          </a:p>
        </p:txBody>
      </p:sp>
      <p:pic>
        <p:nvPicPr>
          <p:cNvPr id="76" name="Google Shape;76;p14"/>
          <p:cNvPicPr preferRelativeResize="0"/>
          <p:nvPr/>
        </p:nvPicPr>
        <p:blipFill>
          <a:blip r:embed="rId3">
            <a:alphaModFix/>
          </a:blip>
          <a:stretch>
            <a:fillRect/>
          </a:stretch>
        </p:blipFill>
        <p:spPr>
          <a:xfrm>
            <a:off x="5547400" y="1720275"/>
            <a:ext cx="2773313" cy="3332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1. </a:t>
            </a:r>
            <a:r>
              <a:rPr lang="es-419"/>
              <a:t>Moverse alrededor</a:t>
            </a:r>
            <a:endParaRPr/>
          </a:p>
        </p:txBody>
      </p:sp>
      <p:sp>
        <p:nvSpPr>
          <p:cNvPr id="82" name="Google Shape;82;p15"/>
          <p:cNvSpPr txBox="1"/>
          <p:nvPr>
            <p:ph idx="2" type="body"/>
          </p:nvPr>
        </p:nvSpPr>
        <p:spPr>
          <a:xfrm>
            <a:off x="233925" y="1927062"/>
            <a:ext cx="3999900" cy="29187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Utiliza las coordenadas de las 4 esquinas del cuadrado del escenario:</a:t>
            </a:r>
            <a:endParaRPr/>
          </a:p>
          <a:p>
            <a:pPr indent="-304800" lvl="1" marL="914400" rtl="0" algn="l">
              <a:spcBef>
                <a:spcPts val="0"/>
              </a:spcBef>
              <a:spcAft>
                <a:spcPts val="0"/>
              </a:spcAft>
              <a:buSzPts val="1200"/>
              <a:buChar char="○"/>
            </a:pPr>
            <a:r>
              <a:rPr lang="es-419"/>
              <a:t>x=-180, y=120</a:t>
            </a:r>
            <a:endParaRPr/>
          </a:p>
          <a:p>
            <a:pPr indent="-304800" lvl="1" marL="914400" rtl="0" algn="l">
              <a:spcBef>
                <a:spcPts val="0"/>
              </a:spcBef>
              <a:spcAft>
                <a:spcPts val="0"/>
              </a:spcAft>
              <a:buSzPts val="1200"/>
              <a:buChar char="○"/>
            </a:pPr>
            <a:r>
              <a:rPr lang="es-419"/>
              <a:t>x=180, y=120</a:t>
            </a:r>
            <a:endParaRPr/>
          </a:p>
          <a:p>
            <a:pPr indent="-304800" lvl="1" marL="914400" rtl="0" algn="l">
              <a:spcBef>
                <a:spcPts val="0"/>
              </a:spcBef>
              <a:spcAft>
                <a:spcPts val="0"/>
              </a:spcAft>
              <a:buSzPts val="1200"/>
              <a:buChar char="○"/>
            </a:pPr>
            <a:r>
              <a:rPr lang="es-419"/>
              <a:t>x=180, y=-120</a:t>
            </a:r>
            <a:endParaRPr/>
          </a:p>
          <a:p>
            <a:pPr indent="-304800" lvl="1" marL="914400" rtl="0" algn="l">
              <a:spcBef>
                <a:spcPts val="0"/>
              </a:spcBef>
              <a:spcAft>
                <a:spcPts val="0"/>
              </a:spcAft>
              <a:buSzPts val="1200"/>
              <a:buChar char="○"/>
            </a:pPr>
            <a:r>
              <a:rPr lang="es-419"/>
              <a:t>x=-180, y=-120</a:t>
            </a:r>
            <a:endParaRPr/>
          </a:p>
          <a:p>
            <a:pPr indent="-317500" lvl="0" marL="457200" rtl="0" algn="l">
              <a:spcBef>
                <a:spcPts val="0"/>
              </a:spcBef>
              <a:spcAft>
                <a:spcPts val="0"/>
              </a:spcAft>
              <a:buSzPts val="1400"/>
              <a:buChar char="●"/>
            </a:pPr>
            <a:r>
              <a:rPr lang="es-419"/>
              <a:t>Utiliza el bloque o función:</a:t>
            </a:r>
            <a:endParaRPr/>
          </a:p>
          <a:p>
            <a:pPr indent="0" lvl="0" marL="457200" rtl="0" algn="l">
              <a:spcBef>
                <a:spcPts val="1200"/>
              </a:spcBef>
              <a:spcAft>
                <a:spcPts val="1200"/>
              </a:spcAft>
              <a:buNone/>
            </a:pPr>
            <a:r>
              <a:t/>
            </a:r>
            <a:endParaRPr/>
          </a:p>
        </p:txBody>
      </p:sp>
      <p:pic>
        <p:nvPicPr>
          <p:cNvPr id="83" name="Google Shape;83;p15"/>
          <p:cNvPicPr preferRelativeResize="0"/>
          <p:nvPr/>
        </p:nvPicPr>
        <p:blipFill>
          <a:blip r:embed="rId3">
            <a:alphaModFix/>
          </a:blip>
          <a:stretch>
            <a:fillRect/>
          </a:stretch>
        </p:blipFill>
        <p:spPr>
          <a:xfrm>
            <a:off x="772750" y="3631125"/>
            <a:ext cx="2456456" cy="433925"/>
          </a:xfrm>
          <a:prstGeom prst="rect">
            <a:avLst/>
          </a:prstGeom>
          <a:noFill/>
          <a:ln>
            <a:noFill/>
          </a:ln>
        </p:spPr>
      </p:pic>
      <p:pic>
        <p:nvPicPr>
          <p:cNvPr id="84" name="Google Shape;84;p15"/>
          <p:cNvPicPr preferRelativeResize="0"/>
          <p:nvPr/>
        </p:nvPicPr>
        <p:blipFill>
          <a:blip r:embed="rId4">
            <a:alphaModFix/>
          </a:blip>
          <a:stretch>
            <a:fillRect/>
          </a:stretch>
        </p:blipFill>
        <p:spPr>
          <a:xfrm>
            <a:off x="4680775" y="1813000"/>
            <a:ext cx="3619500" cy="2562225"/>
          </a:xfrm>
          <a:prstGeom prst="rect">
            <a:avLst/>
          </a:prstGeom>
          <a:noFill/>
          <a:ln>
            <a:noFill/>
          </a:ln>
        </p:spPr>
      </p:pic>
      <p:sp>
        <p:nvSpPr>
          <p:cNvPr id="85" name="Google Shape;85;p15"/>
          <p:cNvSpPr txBox="1"/>
          <p:nvPr/>
        </p:nvSpPr>
        <p:spPr>
          <a:xfrm>
            <a:off x="4871925" y="4583800"/>
            <a:ext cx="405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u="sng">
                <a:solidFill>
                  <a:schemeClr val="hlink"/>
                </a:solidFill>
                <a:latin typeface="Roboto"/>
                <a:ea typeface="Roboto"/>
                <a:cs typeface="Roboto"/>
                <a:sym typeface="Roboto"/>
                <a:hlinkClick r:id="rId5"/>
              </a:rPr>
              <a:t>¿</a:t>
            </a:r>
            <a:r>
              <a:rPr lang="es-419" u="sng">
                <a:solidFill>
                  <a:schemeClr val="hlink"/>
                </a:solidFill>
                <a:latin typeface="Roboto"/>
                <a:ea typeface="Roboto"/>
                <a:cs typeface="Roboto"/>
                <a:sym typeface="Roboto"/>
                <a:hlinkClick r:id="rId6"/>
              </a:rPr>
              <a:t>Qué</a:t>
            </a:r>
            <a:r>
              <a:rPr lang="es-419" u="sng">
                <a:solidFill>
                  <a:schemeClr val="hlink"/>
                </a:solidFill>
                <a:latin typeface="Roboto"/>
                <a:ea typeface="Roboto"/>
                <a:cs typeface="Roboto"/>
                <a:sym typeface="Roboto"/>
                <a:hlinkClick r:id="rId7"/>
              </a:rPr>
              <a:t> sucede?</a:t>
            </a:r>
            <a:endParaRPr>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2. Función Apariencia</a:t>
            </a:r>
            <a:endParaRPr/>
          </a:p>
        </p:txBody>
      </p:sp>
      <p:sp>
        <p:nvSpPr>
          <p:cNvPr id="91" name="Google Shape;91;p16"/>
          <p:cNvSpPr txBox="1"/>
          <p:nvPr>
            <p:ph idx="2" type="body"/>
          </p:nvPr>
        </p:nvSpPr>
        <p:spPr>
          <a:xfrm>
            <a:off x="3037325" y="1879925"/>
            <a:ext cx="2381400" cy="1536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AutoNum type="arabicPeriod"/>
            </a:pPr>
            <a:r>
              <a:rPr lang="es-419"/>
              <a:t>Utiliza la función: </a:t>
            </a:r>
            <a:endParaRPr/>
          </a:p>
          <a:p>
            <a:pPr indent="0" lvl="0" marL="0" rtl="0" algn="l">
              <a:spcBef>
                <a:spcPts val="1200"/>
              </a:spcBef>
              <a:spcAft>
                <a:spcPts val="0"/>
              </a:spcAft>
              <a:buNone/>
            </a:pPr>
            <a:r>
              <a:t/>
            </a:r>
            <a:endParaRPr/>
          </a:p>
          <a:p>
            <a:pPr indent="-317500" lvl="0" marL="457200" rtl="0" algn="l">
              <a:spcBef>
                <a:spcPts val="1200"/>
              </a:spcBef>
              <a:spcAft>
                <a:spcPts val="0"/>
              </a:spcAft>
              <a:buSzPts val="1400"/>
              <a:buAutoNum type="arabicPeriod" startAt="2"/>
            </a:pPr>
            <a:r>
              <a:rPr lang="es-419"/>
              <a:t>Ubicala</a:t>
            </a:r>
            <a:r>
              <a:rPr lang="es-419"/>
              <a:t> al inicio y final del recorrido</a:t>
            </a:r>
            <a:endParaRPr/>
          </a:p>
        </p:txBody>
      </p:sp>
      <p:pic>
        <p:nvPicPr>
          <p:cNvPr id="92" name="Google Shape;92;p16"/>
          <p:cNvPicPr preferRelativeResize="0"/>
          <p:nvPr/>
        </p:nvPicPr>
        <p:blipFill>
          <a:blip r:embed="rId3">
            <a:alphaModFix/>
          </a:blip>
          <a:stretch>
            <a:fillRect/>
          </a:stretch>
        </p:blipFill>
        <p:spPr>
          <a:xfrm>
            <a:off x="3191375" y="2217650"/>
            <a:ext cx="2169625" cy="433925"/>
          </a:xfrm>
          <a:prstGeom prst="rect">
            <a:avLst/>
          </a:prstGeom>
          <a:noFill/>
          <a:ln>
            <a:noFill/>
          </a:ln>
        </p:spPr>
      </p:pic>
      <p:sp>
        <p:nvSpPr>
          <p:cNvPr id="93" name="Google Shape;93;p16"/>
          <p:cNvSpPr txBox="1"/>
          <p:nvPr>
            <p:ph idx="2" type="body"/>
          </p:nvPr>
        </p:nvSpPr>
        <p:spPr>
          <a:xfrm>
            <a:off x="124000" y="1738475"/>
            <a:ext cx="2695500" cy="3366300"/>
          </a:xfrm>
          <a:prstGeom prst="rect">
            <a:avLst/>
          </a:prstGeom>
          <a:ln>
            <a:noFill/>
          </a:ln>
        </p:spPr>
        <p:txBody>
          <a:bodyPr anchorCtr="0" anchor="t" bIns="91425" lIns="91425" spcFirstLastPara="1" rIns="91425" wrap="square" tIns="91425">
            <a:normAutofit fontScale="92500" lnSpcReduction="10000"/>
          </a:bodyPr>
          <a:lstStyle/>
          <a:p>
            <a:pPr indent="-310833" lvl="0" marL="457200" rtl="0" algn="l">
              <a:spcBef>
                <a:spcPts val="0"/>
              </a:spcBef>
              <a:spcAft>
                <a:spcPts val="0"/>
              </a:spcAft>
              <a:buSzPct val="100000"/>
              <a:buChar char="●"/>
            </a:pPr>
            <a:r>
              <a:rPr lang="es-419"/>
              <a:t>Vamos a realizar un programa donde nuestro personaje 1 (hedgehog) caminará alrededor del escenario (Forest) , </a:t>
            </a:r>
            <a:r>
              <a:rPr lang="es-419">
                <a:highlight>
                  <a:schemeClr val="accent6"/>
                </a:highlight>
              </a:rPr>
              <a:t>dirá al inicio hola y al finalizar adiós,</a:t>
            </a:r>
            <a:r>
              <a:rPr lang="es-419"/>
              <a:t>  a la mitad de su caminata, cambia de disfraz (durmiendo) y de escenario (Woods).</a:t>
            </a:r>
            <a:endParaRPr/>
          </a:p>
          <a:p>
            <a:pPr indent="-310833" lvl="0" marL="457200" rtl="0" algn="l">
              <a:spcBef>
                <a:spcPts val="0"/>
              </a:spcBef>
              <a:spcAft>
                <a:spcPts val="0"/>
              </a:spcAft>
              <a:buSzPct val="100000"/>
              <a:buChar char="●"/>
            </a:pPr>
            <a:r>
              <a:rPr lang="es-419"/>
              <a:t>A medida que el personaje 1 realice la caminata, en el fondo aparecerá un pato (personaje 2) qué sonará y luego desaparecerá.</a:t>
            </a:r>
            <a:endParaRPr/>
          </a:p>
        </p:txBody>
      </p:sp>
      <p:pic>
        <p:nvPicPr>
          <p:cNvPr id="94" name="Google Shape;94;p16"/>
          <p:cNvPicPr preferRelativeResize="0"/>
          <p:nvPr/>
        </p:nvPicPr>
        <p:blipFill>
          <a:blip r:embed="rId4">
            <a:alphaModFix/>
          </a:blip>
          <a:stretch>
            <a:fillRect/>
          </a:stretch>
        </p:blipFill>
        <p:spPr>
          <a:xfrm>
            <a:off x="5732875" y="1972057"/>
            <a:ext cx="3046900" cy="2973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2. Función Apariencia</a:t>
            </a:r>
            <a:endParaRPr/>
          </a:p>
        </p:txBody>
      </p:sp>
      <p:sp>
        <p:nvSpPr>
          <p:cNvPr id="100" name="Google Shape;100;p17"/>
          <p:cNvSpPr txBox="1"/>
          <p:nvPr>
            <p:ph idx="2" type="body"/>
          </p:nvPr>
        </p:nvSpPr>
        <p:spPr>
          <a:xfrm>
            <a:off x="3037325" y="1879925"/>
            <a:ext cx="2695500" cy="29343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AutoNum type="arabicPeriod"/>
            </a:pPr>
            <a:r>
              <a:rPr lang="es-419"/>
              <a:t>Utiliza las funciones: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17500" lvl="0" marL="457200" rtl="0" algn="l">
              <a:spcBef>
                <a:spcPts val="1200"/>
              </a:spcBef>
              <a:spcAft>
                <a:spcPts val="0"/>
              </a:spcAft>
              <a:buSzPts val="1400"/>
              <a:buAutoNum type="arabicPeriod" startAt="2"/>
            </a:pPr>
            <a:r>
              <a:rPr lang="es-419"/>
              <a:t>Ubicalas en la mitad de la programación</a:t>
            </a:r>
            <a:endParaRPr/>
          </a:p>
          <a:p>
            <a:pPr indent="-317500" lvl="0" marL="457200" rtl="0" algn="l">
              <a:spcBef>
                <a:spcPts val="0"/>
              </a:spcBef>
              <a:spcAft>
                <a:spcPts val="0"/>
              </a:spcAft>
              <a:buSzPts val="1400"/>
              <a:buAutoNum type="arabicPeriod" startAt="2"/>
            </a:pPr>
            <a:r>
              <a:rPr lang="es-419"/>
              <a:t>Qué</a:t>
            </a:r>
            <a:r>
              <a:rPr lang="es-419"/>
              <a:t> sucede cuando lo corres por primera vez?</a:t>
            </a:r>
            <a:endParaRPr/>
          </a:p>
          <a:p>
            <a:pPr indent="-317500" lvl="0" marL="457200" rtl="0" algn="l">
              <a:spcBef>
                <a:spcPts val="0"/>
              </a:spcBef>
              <a:spcAft>
                <a:spcPts val="0"/>
              </a:spcAft>
              <a:buSzPts val="1400"/>
              <a:buAutoNum type="arabicPeriod" startAt="2"/>
            </a:pPr>
            <a:r>
              <a:rPr lang="es-419"/>
              <a:t>Corrígelo</a:t>
            </a:r>
            <a:r>
              <a:rPr lang="es-419"/>
              <a:t>.</a:t>
            </a:r>
            <a:endParaRPr/>
          </a:p>
        </p:txBody>
      </p:sp>
      <p:sp>
        <p:nvSpPr>
          <p:cNvPr id="101" name="Google Shape;101;p17"/>
          <p:cNvSpPr txBox="1"/>
          <p:nvPr>
            <p:ph idx="2" type="body"/>
          </p:nvPr>
        </p:nvSpPr>
        <p:spPr>
          <a:xfrm>
            <a:off x="124000" y="1738475"/>
            <a:ext cx="2695500" cy="3366300"/>
          </a:xfrm>
          <a:prstGeom prst="rect">
            <a:avLst/>
          </a:prstGeom>
          <a:ln>
            <a:noFill/>
          </a:ln>
        </p:spPr>
        <p:txBody>
          <a:bodyPr anchorCtr="0" anchor="t" bIns="91425" lIns="91425" spcFirstLastPara="1" rIns="91425" wrap="square" tIns="91425">
            <a:normAutofit fontScale="92500" lnSpcReduction="10000"/>
          </a:bodyPr>
          <a:lstStyle/>
          <a:p>
            <a:pPr indent="-310833" lvl="0" marL="457200" rtl="0" algn="l">
              <a:spcBef>
                <a:spcPts val="0"/>
              </a:spcBef>
              <a:spcAft>
                <a:spcPts val="0"/>
              </a:spcAft>
              <a:buSzPct val="100000"/>
              <a:buChar char="●"/>
            </a:pPr>
            <a:r>
              <a:rPr lang="es-419"/>
              <a:t>Vamos a realizar un programa donde nuestro personaje 1 (hedgehog) caminará alrededor del escenario (Forest) , dirá al inicio hola y al finalizar adiós, </a:t>
            </a:r>
            <a:r>
              <a:rPr lang="es-419">
                <a:highlight>
                  <a:srgbClr val="FF9900"/>
                </a:highlight>
              </a:rPr>
              <a:t> a la mitad de su caminata, cambia de disfraz (durmiendo) y de escenario (Woods).</a:t>
            </a:r>
            <a:endParaRPr>
              <a:highlight>
                <a:srgbClr val="FF9900"/>
              </a:highlight>
            </a:endParaRPr>
          </a:p>
          <a:p>
            <a:pPr indent="-310833" lvl="0" marL="457200" rtl="0" algn="l">
              <a:spcBef>
                <a:spcPts val="0"/>
              </a:spcBef>
              <a:spcAft>
                <a:spcPts val="0"/>
              </a:spcAft>
              <a:buSzPct val="100000"/>
              <a:buChar char="●"/>
            </a:pPr>
            <a:r>
              <a:rPr lang="es-419"/>
              <a:t>A medida que el personaje 1 realice la caminata, en el fondo aparecerá un pato (personaje 2) qué sonará y luego desaparecerá.</a:t>
            </a:r>
            <a:endParaRPr/>
          </a:p>
        </p:txBody>
      </p:sp>
      <p:pic>
        <p:nvPicPr>
          <p:cNvPr id="102" name="Google Shape;102;p17"/>
          <p:cNvPicPr preferRelativeResize="0"/>
          <p:nvPr/>
        </p:nvPicPr>
        <p:blipFill>
          <a:blip r:embed="rId3">
            <a:alphaModFix/>
          </a:blip>
          <a:stretch>
            <a:fillRect/>
          </a:stretch>
        </p:blipFill>
        <p:spPr>
          <a:xfrm>
            <a:off x="3332725" y="2241200"/>
            <a:ext cx="1620439" cy="433925"/>
          </a:xfrm>
          <a:prstGeom prst="rect">
            <a:avLst/>
          </a:prstGeom>
          <a:noFill/>
          <a:ln>
            <a:noFill/>
          </a:ln>
        </p:spPr>
      </p:pic>
      <p:pic>
        <p:nvPicPr>
          <p:cNvPr id="103" name="Google Shape;103;p17"/>
          <p:cNvPicPr preferRelativeResize="0"/>
          <p:nvPr/>
        </p:nvPicPr>
        <p:blipFill>
          <a:blip r:embed="rId4">
            <a:alphaModFix/>
          </a:blip>
          <a:stretch>
            <a:fillRect/>
          </a:stretch>
        </p:blipFill>
        <p:spPr>
          <a:xfrm>
            <a:off x="3332725" y="2675125"/>
            <a:ext cx="1702321" cy="433925"/>
          </a:xfrm>
          <a:prstGeom prst="rect">
            <a:avLst/>
          </a:prstGeom>
          <a:noFill/>
          <a:ln>
            <a:noFill/>
          </a:ln>
        </p:spPr>
      </p:pic>
      <p:pic>
        <p:nvPicPr>
          <p:cNvPr id="104" name="Google Shape;104;p17"/>
          <p:cNvPicPr preferRelativeResize="0"/>
          <p:nvPr/>
        </p:nvPicPr>
        <p:blipFill>
          <a:blip r:embed="rId5">
            <a:alphaModFix/>
          </a:blip>
          <a:stretch>
            <a:fillRect/>
          </a:stretch>
        </p:blipFill>
        <p:spPr>
          <a:xfrm>
            <a:off x="6042275" y="1682375"/>
            <a:ext cx="2688633" cy="3332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a:t>
            </a:r>
            <a:r>
              <a:rPr lang="es-419"/>
              <a:t>. Función Apariencia, Sonido y Control</a:t>
            </a:r>
            <a:endParaRPr/>
          </a:p>
        </p:txBody>
      </p:sp>
      <p:sp>
        <p:nvSpPr>
          <p:cNvPr id="110" name="Google Shape;110;p18"/>
          <p:cNvSpPr txBox="1"/>
          <p:nvPr>
            <p:ph idx="2" type="body"/>
          </p:nvPr>
        </p:nvSpPr>
        <p:spPr>
          <a:xfrm>
            <a:off x="3037325" y="1879925"/>
            <a:ext cx="2695500" cy="30363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AutoNum type="arabicPeriod"/>
            </a:pPr>
            <a:r>
              <a:rPr lang="es-419"/>
              <a:t>Utiliza las funciones: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17500" lvl="0" marL="457200" rtl="0" algn="l">
              <a:spcBef>
                <a:spcPts val="1200"/>
              </a:spcBef>
              <a:spcAft>
                <a:spcPts val="0"/>
              </a:spcAft>
              <a:buSzPts val="1400"/>
              <a:buAutoNum type="arabicPeriod" startAt="2"/>
            </a:pPr>
            <a:r>
              <a:rPr lang="es-419"/>
              <a:t>Combínala</a:t>
            </a:r>
            <a:r>
              <a:rPr lang="es-419"/>
              <a:t> con la </a:t>
            </a:r>
            <a:r>
              <a:rPr lang="es-419"/>
              <a:t>función</a:t>
            </a:r>
            <a:r>
              <a:rPr lang="es-419"/>
              <a:t>:</a:t>
            </a:r>
            <a:endParaRPr/>
          </a:p>
          <a:p>
            <a:pPr indent="0" lvl="0" marL="0" rtl="0" algn="l">
              <a:spcBef>
                <a:spcPts val="1200"/>
              </a:spcBef>
              <a:spcAft>
                <a:spcPts val="0"/>
              </a:spcAft>
              <a:buNone/>
            </a:pPr>
            <a:r>
              <a:t/>
            </a:r>
            <a:endParaRPr/>
          </a:p>
          <a:p>
            <a:pPr indent="-317500" lvl="0" marL="457200" rtl="0" algn="l">
              <a:spcBef>
                <a:spcPts val="1200"/>
              </a:spcBef>
              <a:spcAft>
                <a:spcPts val="0"/>
              </a:spcAft>
              <a:buSzPts val="1400"/>
              <a:buAutoNum type="arabicPeriod"/>
            </a:pPr>
            <a:r>
              <a:rPr lang="es-419"/>
              <a:t>Para el sonido utiliza:</a:t>
            </a:r>
            <a:endParaRPr/>
          </a:p>
        </p:txBody>
      </p:sp>
      <p:sp>
        <p:nvSpPr>
          <p:cNvPr id="111" name="Google Shape;111;p18"/>
          <p:cNvSpPr txBox="1"/>
          <p:nvPr>
            <p:ph idx="2" type="body"/>
          </p:nvPr>
        </p:nvSpPr>
        <p:spPr>
          <a:xfrm>
            <a:off x="124000" y="1738475"/>
            <a:ext cx="2695500" cy="3366300"/>
          </a:xfrm>
          <a:prstGeom prst="rect">
            <a:avLst/>
          </a:prstGeom>
          <a:ln>
            <a:noFill/>
          </a:ln>
        </p:spPr>
        <p:txBody>
          <a:bodyPr anchorCtr="0" anchor="t" bIns="91425" lIns="91425" spcFirstLastPara="1" rIns="91425" wrap="square" tIns="91425">
            <a:normAutofit fontScale="92500" lnSpcReduction="10000"/>
          </a:bodyPr>
          <a:lstStyle/>
          <a:p>
            <a:pPr indent="-310833" lvl="0" marL="457200" rtl="0" algn="l">
              <a:spcBef>
                <a:spcPts val="0"/>
              </a:spcBef>
              <a:spcAft>
                <a:spcPts val="0"/>
              </a:spcAft>
              <a:buSzPct val="100000"/>
              <a:buChar char="●"/>
            </a:pPr>
            <a:r>
              <a:rPr lang="es-419"/>
              <a:t>Vamos a realizar un programa donde nuestro personaje 1 (hedgehog) caminará alrededor del escenario (Forest) , dirá al inicio hola y al finalizar adiós,  a la mitad de su caminata, cambia de disfraz (durmiendo) y de escenario (Woods).</a:t>
            </a:r>
            <a:endParaRPr/>
          </a:p>
          <a:p>
            <a:pPr indent="-310833" lvl="0" marL="457200" rtl="0" algn="l">
              <a:spcBef>
                <a:spcPts val="0"/>
              </a:spcBef>
              <a:spcAft>
                <a:spcPts val="0"/>
              </a:spcAft>
              <a:buSzPct val="100000"/>
              <a:buChar char="●"/>
            </a:pPr>
            <a:r>
              <a:rPr lang="es-419">
                <a:highlight>
                  <a:schemeClr val="accent6"/>
                </a:highlight>
              </a:rPr>
              <a:t>A medida que el personaje 1 realice la caminata, en el fondo aparecerá un pato (personaje 2) qué sonará y luego desaparecerá.</a:t>
            </a:r>
            <a:endParaRPr>
              <a:highlight>
                <a:schemeClr val="accent6"/>
              </a:highlight>
            </a:endParaRPr>
          </a:p>
        </p:txBody>
      </p:sp>
      <p:pic>
        <p:nvPicPr>
          <p:cNvPr id="112" name="Google Shape;112;p18"/>
          <p:cNvPicPr preferRelativeResize="0"/>
          <p:nvPr/>
        </p:nvPicPr>
        <p:blipFill>
          <a:blip r:embed="rId3">
            <a:alphaModFix/>
          </a:blip>
          <a:stretch>
            <a:fillRect/>
          </a:stretch>
        </p:blipFill>
        <p:spPr>
          <a:xfrm>
            <a:off x="3430750" y="2226038"/>
            <a:ext cx="2000250" cy="1209675"/>
          </a:xfrm>
          <a:prstGeom prst="rect">
            <a:avLst/>
          </a:prstGeom>
          <a:noFill/>
          <a:ln>
            <a:noFill/>
          </a:ln>
        </p:spPr>
      </p:pic>
      <p:pic>
        <p:nvPicPr>
          <p:cNvPr id="113" name="Google Shape;113;p18"/>
          <p:cNvPicPr preferRelativeResize="0"/>
          <p:nvPr/>
        </p:nvPicPr>
        <p:blipFill>
          <a:blip r:embed="rId4">
            <a:alphaModFix/>
          </a:blip>
          <a:stretch>
            <a:fillRect/>
          </a:stretch>
        </p:blipFill>
        <p:spPr>
          <a:xfrm>
            <a:off x="3792950" y="3851025"/>
            <a:ext cx="1275869" cy="433925"/>
          </a:xfrm>
          <a:prstGeom prst="rect">
            <a:avLst/>
          </a:prstGeom>
          <a:noFill/>
          <a:ln>
            <a:noFill/>
          </a:ln>
        </p:spPr>
      </p:pic>
      <p:pic>
        <p:nvPicPr>
          <p:cNvPr id="114" name="Google Shape;114;p18"/>
          <p:cNvPicPr preferRelativeResize="0"/>
          <p:nvPr/>
        </p:nvPicPr>
        <p:blipFill>
          <a:blip r:embed="rId5">
            <a:alphaModFix/>
          </a:blip>
          <a:stretch>
            <a:fillRect/>
          </a:stretch>
        </p:blipFill>
        <p:spPr>
          <a:xfrm>
            <a:off x="3549625" y="4576597"/>
            <a:ext cx="2138425" cy="566900"/>
          </a:xfrm>
          <a:prstGeom prst="rect">
            <a:avLst/>
          </a:prstGeom>
          <a:noFill/>
          <a:ln>
            <a:noFill/>
          </a:ln>
        </p:spPr>
      </p:pic>
      <p:pic>
        <p:nvPicPr>
          <p:cNvPr id="115" name="Google Shape;115;p18"/>
          <p:cNvPicPr preferRelativeResize="0"/>
          <p:nvPr/>
        </p:nvPicPr>
        <p:blipFill>
          <a:blip r:embed="rId6">
            <a:alphaModFix/>
          </a:blip>
          <a:stretch>
            <a:fillRect/>
          </a:stretch>
        </p:blipFill>
        <p:spPr>
          <a:xfrm>
            <a:off x="5950650" y="2263475"/>
            <a:ext cx="3106375" cy="240436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a:t>
            </a:r>
            <a:r>
              <a:rPr lang="es-419"/>
              <a:t>. Programa Final</a:t>
            </a:r>
            <a:endParaRPr/>
          </a:p>
        </p:txBody>
      </p:sp>
      <p:sp>
        <p:nvSpPr>
          <p:cNvPr id="121" name="Google Shape;121;p19"/>
          <p:cNvSpPr txBox="1"/>
          <p:nvPr>
            <p:ph idx="2" type="body"/>
          </p:nvPr>
        </p:nvSpPr>
        <p:spPr>
          <a:xfrm>
            <a:off x="124000" y="1738475"/>
            <a:ext cx="2695500" cy="3366300"/>
          </a:xfrm>
          <a:prstGeom prst="rect">
            <a:avLst/>
          </a:prstGeom>
          <a:ln>
            <a:noFill/>
          </a:ln>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s-419"/>
              <a:t>Añade el bloque  de eventos, al inicio de cada personaje</a:t>
            </a:r>
            <a:endParaRPr/>
          </a:p>
          <a:p>
            <a:pPr indent="-317500" lvl="0" marL="457200" rtl="0" algn="l">
              <a:spcBef>
                <a:spcPts val="0"/>
              </a:spcBef>
              <a:spcAft>
                <a:spcPts val="0"/>
              </a:spcAft>
              <a:buSzPts val="1400"/>
              <a:buChar char="●"/>
            </a:pPr>
            <a:r>
              <a:rPr lang="es-419"/>
              <a:t>La corrección es iniciar el programa con el disfraz hedgehog-a y el escenario Forest.</a:t>
            </a:r>
            <a:endParaRPr/>
          </a:p>
          <a:p>
            <a:pPr indent="-317500" lvl="0" marL="457200" rtl="0" algn="l">
              <a:spcBef>
                <a:spcPts val="0"/>
              </a:spcBef>
              <a:spcAft>
                <a:spcPts val="0"/>
              </a:spcAft>
              <a:buSzPts val="1400"/>
              <a:buChar char="●"/>
            </a:pPr>
            <a:r>
              <a:rPr lang="es-419"/>
              <a:t>Ahora corre tu programa</a:t>
            </a:r>
            <a:endParaRPr/>
          </a:p>
          <a:p>
            <a:pPr indent="0" lvl="0" marL="457200" rtl="0" algn="l">
              <a:spcBef>
                <a:spcPts val="1200"/>
              </a:spcBef>
              <a:spcAft>
                <a:spcPts val="1200"/>
              </a:spcAft>
              <a:buNone/>
            </a:pPr>
            <a:r>
              <a:t/>
            </a:r>
            <a:endParaRPr/>
          </a:p>
        </p:txBody>
      </p:sp>
      <p:pic>
        <p:nvPicPr>
          <p:cNvPr id="122" name="Google Shape;122;p19"/>
          <p:cNvPicPr preferRelativeResize="0"/>
          <p:nvPr/>
        </p:nvPicPr>
        <p:blipFill>
          <a:blip r:embed="rId3">
            <a:alphaModFix/>
          </a:blip>
          <a:stretch>
            <a:fillRect/>
          </a:stretch>
        </p:blipFill>
        <p:spPr>
          <a:xfrm>
            <a:off x="2819500" y="1809750"/>
            <a:ext cx="1314450" cy="762000"/>
          </a:xfrm>
          <a:prstGeom prst="rect">
            <a:avLst/>
          </a:prstGeom>
          <a:noFill/>
          <a:ln>
            <a:noFill/>
          </a:ln>
        </p:spPr>
      </p:pic>
      <p:pic>
        <p:nvPicPr>
          <p:cNvPr id="123" name="Google Shape;123;p19"/>
          <p:cNvPicPr preferRelativeResize="0"/>
          <p:nvPr/>
        </p:nvPicPr>
        <p:blipFill>
          <a:blip r:embed="rId4">
            <a:alphaModFix/>
          </a:blip>
          <a:stretch>
            <a:fillRect/>
          </a:stretch>
        </p:blipFill>
        <p:spPr>
          <a:xfrm>
            <a:off x="5440700" y="1705925"/>
            <a:ext cx="2035068" cy="33322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Eventos y Valores</a:t>
            </a:r>
            <a:endParaRPr/>
          </a:p>
        </p:txBody>
      </p:sp>
      <p:pic>
        <p:nvPicPr>
          <p:cNvPr id="129" name="Google Shape;129;p20"/>
          <p:cNvPicPr preferRelativeResize="0"/>
          <p:nvPr/>
        </p:nvPicPr>
        <p:blipFill>
          <a:blip r:embed="rId3">
            <a:alphaModFix/>
          </a:blip>
          <a:stretch>
            <a:fillRect/>
          </a:stretch>
        </p:blipFill>
        <p:spPr>
          <a:xfrm>
            <a:off x="278850" y="675850"/>
            <a:ext cx="2124300" cy="4374425"/>
          </a:xfrm>
          <a:prstGeom prst="rect">
            <a:avLst/>
          </a:prstGeom>
          <a:noFill/>
          <a:ln>
            <a:noFill/>
          </a:ln>
        </p:spPr>
      </p:pic>
      <p:pic>
        <p:nvPicPr>
          <p:cNvPr id="130" name="Google Shape;130;p20"/>
          <p:cNvPicPr preferRelativeResize="0"/>
          <p:nvPr/>
        </p:nvPicPr>
        <p:blipFill>
          <a:blip r:embed="rId4">
            <a:alphaModFix/>
          </a:blip>
          <a:stretch>
            <a:fillRect/>
          </a:stretch>
        </p:blipFill>
        <p:spPr>
          <a:xfrm>
            <a:off x="2869650" y="865675"/>
            <a:ext cx="1562100" cy="1333500"/>
          </a:xfrm>
          <a:prstGeom prst="rect">
            <a:avLst/>
          </a:prstGeom>
          <a:noFill/>
          <a:ln>
            <a:noFill/>
          </a:ln>
        </p:spPr>
      </p:pic>
      <p:pic>
        <p:nvPicPr>
          <p:cNvPr id="131" name="Google Shape;131;p20"/>
          <p:cNvPicPr preferRelativeResize="0"/>
          <p:nvPr/>
        </p:nvPicPr>
        <p:blipFill>
          <a:blip r:embed="rId5">
            <a:alphaModFix/>
          </a:blip>
          <a:stretch>
            <a:fillRect/>
          </a:stretch>
        </p:blipFill>
        <p:spPr>
          <a:xfrm>
            <a:off x="2669625" y="2378900"/>
            <a:ext cx="1962150" cy="1181100"/>
          </a:xfrm>
          <a:prstGeom prst="rect">
            <a:avLst/>
          </a:prstGeom>
          <a:noFill/>
          <a:ln>
            <a:noFill/>
          </a:ln>
        </p:spPr>
      </p:pic>
      <p:pic>
        <p:nvPicPr>
          <p:cNvPr id="132" name="Google Shape;132;p20"/>
          <p:cNvPicPr preferRelativeResize="0"/>
          <p:nvPr/>
        </p:nvPicPr>
        <p:blipFill>
          <a:blip r:embed="rId6">
            <a:alphaModFix/>
          </a:blip>
          <a:stretch>
            <a:fillRect/>
          </a:stretch>
        </p:blipFill>
        <p:spPr>
          <a:xfrm>
            <a:off x="6580925" y="771450"/>
            <a:ext cx="2410675" cy="4148024"/>
          </a:xfrm>
          <a:prstGeom prst="rect">
            <a:avLst/>
          </a:prstGeom>
          <a:noFill/>
          <a:ln>
            <a:noFill/>
          </a:ln>
        </p:spPr>
      </p:pic>
      <p:pic>
        <p:nvPicPr>
          <p:cNvPr id="133" name="Google Shape;133;p20"/>
          <p:cNvPicPr preferRelativeResize="0"/>
          <p:nvPr/>
        </p:nvPicPr>
        <p:blipFill>
          <a:blip r:embed="rId7">
            <a:alphaModFix/>
          </a:blip>
          <a:stretch>
            <a:fillRect/>
          </a:stretch>
        </p:blipFill>
        <p:spPr>
          <a:xfrm>
            <a:off x="4431749" y="1101263"/>
            <a:ext cx="2124300" cy="352360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Eventos y Valores</a:t>
            </a:r>
            <a:endParaRPr/>
          </a:p>
        </p:txBody>
      </p:sp>
      <p:sp>
        <p:nvSpPr>
          <p:cNvPr id="139" name="Google Shape;139;p21"/>
          <p:cNvSpPr txBox="1"/>
          <p:nvPr>
            <p:ph idx="4294967295" type="body"/>
          </p:nvPr>
        </p:nvSpPr>
        <p:spPr>
          <a:xfrm>
            <a:off x="178975" y="858975"/>
            <a:ext cx="8592600" cy="4049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s-419"/>
              <a:t>Con los personajes y fondos del programa anterior realiza la siguiente historieta:</a:t>
            </a:r>
            <a:endParaRPr/>
          </a:p>
          <a:p>
            <a:pPr indent="0" lvl="0" marL="457200" rtl="0" algn="l">
              <a:spcBef>
                <a:spcPts val="1200"/>
              </a:spcBef>
              <a:spcAft>
                <a:spcPts val="1200"/>
              </a:spcAft>
              <a:buNone/>
            </a:pPr>
            <a:r>
              <a:rPr lang="es-419"/>
              <a:t>Un dia el </a:t>
            </a:r>
            <a:r>
              <a:rPr lang="es-419"/>
              <a:t>puercoespín</a:t>
            </a:r>
            <a:r>
              <a:rPr lang="es-419"/>
              <a:t> y el pato decidieron encontrarse en el bosque, al verse (deben estar frente a frente y en el centro del bosque), se saludaron,  y empezaron a charlar un largo rato, por lo que se hizo de noche (cambiar escenario a Woods </a:t>
            </a:r>
            <a:r>
              <a:rPr lang="es-419"/>
              <a:t>después</a:t>
            </a:r>
            <a:r>
              <a:rPr lang="es-419"/>
              <a:t> de 10 segundos), al verse de noche el pato le dice al </a:t>
            </a:r>
            <a:r>
              <a:rPr lang="es-419"/>
              <a:t>puercoespín</a:t>
            </a:r>
            <a:r>
              <a:rPr lang="es-419"/>
              <a:t> que debe seguir su camino, a lo que el puercoespin responde que no puede irse hasta que no reciba el mensaje secreto, el pato le responde: “Yo me voy” y desaparece caminando haciendo su sonido. Quedando el </a:t>
            </a:r>
            <a:r>
              <a:rPr lang="es-419"/>
              <a:t>puercoespín</a:t>
            </a:r>
            <a:r>
              <a:rPr lang="es-419"/>
              <a:t> esperando el mensaje secreto (debe ser </a:t>
            </a:r>
            <a:r>
              <a:rPr lang="es-419"/>
              <a:t>introducido por el</a:t>
            </a:r>
            <a:r>
              <a:rPr lang="es-419"/>
              <a:t> usuario), que al recibirlo </a:t>
            </a:r>
            <a:r>
              <a:rPr lang="es-419"/>
              <a:t>continua</a:t>
            </a:r>
            <a:r>
              <a:rPr lang="es-419"/>
              <a:t> su camino hacia el final del bosque disminuyendo su tamaño hasta no verse.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Eventos y Valores</a:t>
            </a:r>
            <a:endParaRPr/>
          </a:p>
        </p:txBody>
      </p:sp>
      <p:sp>
        <p:nvSpPr>
          <p:cNvPr id="145" name="Google Shape;145;p22"/>
          <p:cNvSpPr txBox="1"/>
          <p:nvPr>
            <p:ph idx="4294967295" type="body"/>
          </p:nvPr>
        </p:nvSpPr>
        <p:spPr>
          <a:xfrm>
            <a:off x="178975" y="858975"/>
            <a:ext cx="8592600" cy="1566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a:t>Con los personajes y fondos del programa anterior realiza la siguiente historieta:</a:t>
            </a:r>
            <a:endParaRPr/>
          </a:p>
          <a:p>
            <a:pPr indent="0" lvl="0" marL="457200" rtl="0" algn="l">
              <a:spcBef>
                <a:spcPts val="1200"/>
              </a:spcBef>
              <a:spcAft>
                <a:spcPts val="1200"/>
              </a:spcAft>
              <a:buNone/>
            </a:pPr>
            <a:r>
              <a:rPr lang="es-419"/>
              <a:t>Un dia el puercoespín y el pato decidieron encontrarse en el bosque, al verse (deben estar frente a frente y en el centro del bosque), se saludaron,</a:t>
            </a:r>
            <a:endParaRPr/>
          </a:p>
        </p:txBody>
      </p:sp>
      <p:pic>
        <p:nvPicPr>
          <p:cNvPr id="146" name="Google Shape;146;p22"/>
          <p:cNvPicPr preferRelativeResize="0"/>
          <p:nvPr/>
        </p:nvPicPr>
        <p:blipFill>
          <a:blip r:embed="rId3">
            <a:alphaModFix/>
          </a:blip>
          <a:stretch>
            <a:fillRect/>
          </a:stretch>
        </p:blipFill>
        <p:spPr>
          <a:xfrm>
            <a:off x="712050" y="2425275"/>
            <a:ext cx="2065278" cy="2413425"/>
          </a:xfrm>
          <a:prstGeom prst="rect">
            <a:avLst/>
          </a:prstGeom>
          <a:noFill/>
          <a:ln>
            <a:noFill/>
          </a:ln>
        </p:spPr>
      </p:pic>
      <p:pic>
        <p:nvPicPr>
          <p:cNvPr id="147" name="Google Shape;147;p22"/>
          <p:cNvPicPr preferRelativeResize="0"/>
          <p:nvPr/>
        </p:nvPicPr>
        <p:blipFill>
          <a:blip r:embed="rId4">
            <a:alphaModFix/>
          </a:blip>
          <a:stretch>
            <a:fillRect/>
          </a:stretch>
        </p:blipFill>
        <p:spPr>
          <a:xfrm>
            <a:off x="4572003" y="2425275"/>
            <a:ext cx="3213946" cy="2413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Eventos y Valores</a:t>
            </a:r>
            <a:endParaRPr/>
          </a:p>
        </p:txBody>
      </p:sp>
      <p:sp>
        <p:nvSpPr>
          <p:cNvPr id="153" name="Google Shape;153;p23"/>
          <p:cNvSpPr txBox="1"/>
          <p:nvPr>
            <p:ph idx="4294967295" type="body"/>
          </p:nvPr>
        </p:nvSpPr>
        <p:spPr>
          <a:xfrm>
            <a:off x="178975" y="858975"/>
            <a:ext cx="8592600" cy="1566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a:t>
            </a:r>
            <a:r>
              <a:rPr lang="es-419"/>
              <a:t>y empezaron a charlar un largo rato, por lo que se hizo de noche (cambiar escenario a Woods después de 10 segundos), </a:t>
            </a:r>
            <a:endParaRPr/>
          </a:p>
        </p:txBody>
      </p:sp>
      <p:pic>
        <p:nvPicPr>
          <p:cNvPr id="154" name="Google Shape;154;p23"/>
          <p:cNvPicPr preferRelativeResize="0"/>
          <p:nvPr/>
        </p:nvPicPr>
        <p:blipFill>
          <a:blip r:embed="rId3">
            <a:alphaModFix/>
          </a:blip>
          <a:stretch>
            <a:fillRect/>
          </a:stretch>
        </p:blipFill>
        <p:spPr>
          <a:xfrm>
            <a:off x="451850" y="2702950"/>
            <a:ext cx="3753103" cy="2354431"/>
          </a:xfrm>
          <a:prstGeom prst="rect">
            <a:avLst/>
          </a:prstGeom>
          <a:noFill/>
          <a:ln>
            <a:noFill/>
          </a:ln>
        </p:spPr>
      </p:pic>
      <p:pic>
        <p:nvPicPr>
          <p:cNvPr id="155" name="Google Shape;155;p23"/>
          <p:cNvPicPr preferRelativeResize="0"/>
          <p:nvPr/>
        </p:nvPicPr>
        <p:blipFill>
          <a:blip r:embed="rId4">
            <a:alphaModFix/>
          </a:blip>
          <a:stretch>
            <a:fillRect/>
          </a:stretch>
        </p:blipFill>
        <p:spPr>
          <a:xfrm>
            <a:off x="4772403" y="3181988"/>
            <a:ext cx="4305300" cy="1162050"/>
          </a:xfrm>
          <a:prstGeom prst="rect">
            <a:avLst/>
          </a:prstGeom>
          <a:noFill/>
          <a:ln>
            <a:noFill/>
          </a:ln>
        </p:spPr>
      </p:pic>
      <p:pic>
        <p:nvPicPr>
          <p:cNvPr id="156" name="Google Shape;156;p23"/>
          <p:cNvPicPr preferRelativeResize="0"/>
          <p:nvPr/>
        </p:nvPicPr>
        <p:blipFill>
          <a:blip r:embed="rId5">
            <a:alphaModFix/>
          </a:blip>
          <a:stretch>
            <a:fillRect/>
          </a:stretch>
        </p:blipFill>
        <p:spPr>
          <a:xfrm>
            <a:off x="6025850" y="1662950"/>
            <a:ext cx="1104900" cy="1057275"/>
          </a:xfrm>
          <a:prstGeom prst="rect">
            <a:avLst/>
          </a:prstGeom>
          <a:noFill/>
          <a:ln>
            <a:noFill/>
          </a:ln>
        </p:spPr>
      </p:pic>
      <p:pic>
        <p:nvPicPr>
          <p:cNvPr id="157" name="Google Shape;157;p23"/>
          <p:cNvPicPr preferRelativeResize="0"/>
          <p:nvPr/>
        </p:nvPicPr>
        <p:blipFill>
          <a:blip r:embed="rId6">
            <a:alphaModFix/>
          </a:blip>
          <a:stretch>
            <a:fillRect/>
          </a:stretch>
        </p:blipFill>
        <p:spPr>
          <a:xfrm>
            <a:off x="1311803" y="1619250"/>
            <a:ext cx="1028700" cy="952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Eventos y Valores</a:t>
            </a:r>
            <a:endParaRPr/>
          </a:p>
        </p:txBody>
      </p:sp>
      <p:sp>
        <p:nvSpPr>
          <p:cNvPr id="163" name="Google Shape;163;p24"/>
          <p:cNvSpPr txBox="1"/>
          <p:nvPr>
            <p:ph idx="4294967295" type="body"/>
          </p:nvPr>
        </p:nvSpPr>
        <p:spPr>
          <a:xfrm>
            <a:off x="178975" y="858975"/>
            <a:ext cx="8592600" cy="15663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s-419"/>
              <a:t>…</a:t>
            </a:r>
            <a:r>
              <a:rPr lang="es-419"/>
              <a:t>al verse de noche el pato le dice al puercoespín que debe seguir su camino, a lo que el puercoespin responde que no puede irse hasta que no reciba el mensaje secreto…</a:t>
            </a:r>
            <a:endParaRPr/>
          </a:p>
        </p:txBody>
      </p:sp>
      <p:pic>
        <p:nvPicPr>
          <p:cNvPr id="164" name="Google Shape;164;p24"/>
          <p:cNvPicPr preferRelativeResize="0"/>
          <p:nvPr/>
        </p:nvPicPr>
        <p:blipFill>
          <a:blip r:embed="rId3">
            <a:alphaModFix/>
          </a:blip>
          <a:stretch>
            <a:fillRect/>
          </a:stretch>
        </p:blipFill>
        <p:spPr>
          <a:xfrm>
            <a:off x="6086025" y="1960038"/>
            <a:ext cx="1104900" cy="1057275"/>
          </a:xfrm>
          <a:prstGeom prst="rect">
            <a:avLst/>
          </a:prstGeom>
          <a:noFill/>
          <a:ln>
            <a:noFill/>
          </a:ln>
        </p:spPr>
      </p:pic>
      <p:pic>
        <p:nvPicPr>
          <p:cNvPr id="165" name="Google Shape;165;p24"/>
          <p:cNvPicPr preferRelativeResize="0"/>
          <p:nvPr/>
        </p:nvPicPr>
        <p:blipFill>
          <a:blip r:embed="rId4">
            <a:alphaModFix/>
          </a:blip>
          <a:stretch>
            <a:fillRect/>
          </a:stretch>
        </p:blipFill>
        <p:spPr>
          <a:xfrm>
            <a:off x="1535453" y="2012425"/>
            <a:ext cx="1028700" cy="952500"/>
          </a:xfrm>
          <a:prstGeom prst="rect">
            <a:avLst/>
          </a:prstGeom>
          <a:noFill/>
          <a:ln>
            <a:noFill/>
          </a:ln>
        </p:spPr>
      </p:pic>
      <p:pic>
        <p:nvPicPr>
          <p:cNvPr id="166" name="Google Shape;166;p24"/>
          <p:cNvPicPr preferRelativeResize="0"/>
          <p:nvPr/>
        </p:nvPicPr>
        <p:blipFill>
          <a:blip r:embed="rId5">
            <a:alphaModFix/>
          </a:blip>
          <a:stretch>
            <a:fillRect/>
          </a:stretch>
        </p:blipFill>
        <p:spPr>
          <a:xfrm>
            <a:off x="4949775" y="3229125"/>
            <a:ext cx="3975075" cy="1460925"/>
          </a:xfrm>
          <a:prstGeom prst="rect">
            <a:avLst/>
          </a:prstGeom>
          <a:noFill/>
          <a:ln>
            <a:noFill/>
          </a:ln>
        </p:spPr>
      </p:pic>
      <p:pic>
        <p:nvPicPr>
          <p:cNvPr id="167" name="Google Shape;167;p24"/>
          <p:cNvPicPr preferRelativeResize="0"/>
          <p:nvPr/>
        </p:nvPicPr>
        <p:blipFill>
          <a:blip r:embed="rId6">
            <a:alphaModFix/>
          </a:blip>
          <a:stretch>
            <a:fillRect/>
          </a:stretch>
        </p:blipFill>
        <p:spPr>
          <a:xfrm>
            <a:off x="98250" y="2964925"/>
            <a:ext cx="4821100" cy="1525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Eventos y Valores</a:t>
            </a:r>
            <a:endParaRPr/>
          </a:p>
        </p:txBody>
      </p:sp>
      <p:sp>
        <p:nvSpPr>
          <p:cNvPr id="173" name="Google Shape;173;p25"/>
          <p:cNvSpPr txBox="1"/>
          <p:nvPr>
            <p:ph idx="4294967295" type="body"/>
          </p:nvPr>
        </p:nvSpPr>
        <p:spPr>
          <a:xfrm>
            <a:off x="178975" y="858975"/>
            <a:ext cx="8592600" cy="1566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419"/>
              <a:t>…</a:t>
            </a:r>
            <a:r>
              <a:rPr lang="es-419"/>
              <a:t>el pato le responde: “Yo me voy” y desaparece caminando haciendo su sonido. Quedando el puercoespín esperando el mensaje secreto (debe ser introducido por el usuario), que al recibirlo continua su camino hacia el final del bosque disminuyendo su tamaño hasta no verse.</a:t>
            </a:r>
            <a:endParaRPr/>
          </a:p>
          <a:p>
            <a:pPr indent="0" lvl="0" marL="457200" rtl="0" algn="l">
              <a:spcBef>
                <a:spcPts val="1200"/>
              </a:spcBef>
              <a:spcAft>
                <a:spcPts val="1200"/>
              </a:spcAft>
              <a:buNone/>
            </a:pPr>
            <a:r>
              <a:t/>
            </a:r>
            <a:endParaRPr/>
          </a:p>
        </p:txBody>
      </p:sp>
      <p:pic>
        <p:nvPicPr>
          <p:cNvPr id="174" name="Google Shape;174;p25"/>
          <p:cNvPicPr preferRelativeResize="0"/>
          <p:nvPr/>
        </p:nvPicPr>
        <p:blipFill>
          <a:blip r:embed="rId3">
            <a:alphaModFix/>
          </a:blip>
          <a:stretch>
            <a:fillRect/>
          </a:stretch>
        </p:blipFill>
        <p:spPr>
          <a:xfrm>
            <a:off x="178978" y="2012438"/>
            <a:ext cx="1028700" cy="952500"/>
          </a:xfrm>
          <a:prstGeom prst="rect">
            <a:avLst/>
          </a:prstGeom>
          <a:noFill/>
          <a:ln>
            <a:noFill/>
          </a:ln>
        </p:spPr>
      </p:pic>
      <p:pic>
        <p:nvPicPr>
          <p:cNvPr id="175" name="Google Shape;175;p25"/>
          <p:cNvPicPr preferRelativeResize="0"/>
          <p:nvPr/>
        </p:nvPicPr>
        <p:blipFill>
          <a:blip r:embed="rId4">
            <a:alphaModFix/>
          </a:blip>
          <a:stretch>
            <a:fillRect/>
          </a:stretch>
        </p:blipFill>
        <p:spPr>
          <a:xfrm>
            <a:off x="5320843" y="2665200"/>
            <a:ext cx="2808682" cy="2266300"/>
          </a:xfrm>
          <a:prstGeom prst="rect">
            <a:avLst/>
          </a:prstGeom>
          <a:noFill/>
          <a:ln>
            <a:noFill/>
          </a:ln>
        </p:spPr>
      </p:pic>
      <p:pic>
        <p:nvPicPr>
          <p:cNvPr id="176" name="Google Shape;176;p25"/>
          <p:cNvPicPr preferRelativeResize="0"/>
          <p:nvPr/>
        </p:nvPicPr>
        <p:blipFill>
          <a:blip r:embed="rId5">
            <a:alphaModFix/>
          </a:blip>
          <a:stretch>
            <a:fillRect/>
          </a:stretch>
        </p:blipFill>
        <p:spPr>
          <a:xfrm>
            <a:off x="6086025" y="1960038"/>
            <a:ext cx="1104900" cy="1057275"/>
          </a:xfrm>
          <a:prstGeom prst="rect">
            <a:avLst/>
          </a:prstGeom>
          <a:noFill/>
          <a:ln>
            <a:noFill/>
          </a:ln>
        </p:spPr>
      </p:pic>
      <p:pic>
        <p:nvPicPr>
          <p:cNvPr id="177" name="Google Shape;177;p25"/>
          <p:cNvPicPr preferRelativeResize="0"/>
          <p:nvPr/>
        </p:nvPicPr>
        <p:blipFill>
          <a:blip r:embed="rId6">
            <a:alphaModFix/>
          </a:blip>
          <a:stretch>
            <a:fillRect/>
          </a:stretch>
        </p:blipFill>
        <p:spPr>
          <a:xfrm>
            <a:off x="449450" y="3159763"/>
            <a:ext cx="3781425" cy="1447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Eventos y Valores</a:t>
            </a:r>
            <a:endParaRPr/>
          </a:p>
        </p:txBody>
      </p:sp>
      <p:sp>
        <p:nvSpPr>
          <p:cNvPr id="183" name="Google Shape;183;p26"/>
          <p:cNvSpPr txBox="1"/>
          <p:nvPr>
            <p:ph idx="4294967295" type="body"/>
          </p:nvPr>
        </p:nvSpPr>
        <p:spPr>
          <a:xfrm>
            <a:off x="178975" y="858975"/>
            <a:ext cx="8592600" cy="1566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419"/>
              <a:t>…el pato le responde: “Yo me voy” y desaparece caminando haciendo su sonido. Quedando el puercoespín esperando el mensaje secreto (debe ser introducido por el usuario), que al recibirlo continua su camino hacia el final del bosque disminuyendo su tamaño hasta no verse.</a:t>
            </a:r>
            <a:endParaRPr/>
          </a:p>
          <a:p>
            <a:pPr indent="0" lvl="0" marL="457200" rtl="0" algn="l">
              <a:spcBef>
                <a:spcPts val="1200"/>
              </a:spcBef>
              <a:spcAft>
                <a:spcPts val="1200"/>
              </a:spcAft>
              <a:buNone/>
            </a:pPr>
            <a:r>
              <a:t/>
            </a:r>
            <a:endParaRPr/>
          </a:p>
        </p:txBody>
      </p:sp>
      <p:pic>
        <p:nvPicPr>
          <p:cNvPr id="184" name="Google Shape;184;p26"/>
          <p:cNvPicPr preferRelativeResize="0"/>
          <p:nvPr/>
        </p:nvPicPr>
        <p:blipFill>
          <a:blip r:embed="rId3">
            <a:alphaModFix/>
          </a:blip>
          <a:stretch>
            <a:fillRect/>
          </a:stretch>
        </p:blipFill>
        <p:spPr>
          <a:xfrm>
            <a:off x="178978" y="2012438"/>
            <a:ext cx="1028700" cy="952500"/>
          </a:xfrm>
          <a:prstGeom prst="rect">
            <a:avLst/>
          </a:prstGeom>
          <a:noFill/>
          <a:ln>
            <a:noFill/>
          </a:ln>
        </p:spPr>
      </p:pic>
      <p:pic>
        <p:nvPicPr>
          <p:cNvPr id="185" name="Google Shape;185;p26"/>
          <p:cNvPicPr preferRelativeResize="0"/>
          <p:nvPr/>
        </p:nvPicPr>
        <p:blipFill>
          <a:blip r:embed="rId4">
            <a:alphaModFix/>
          </a:blip>
          <a:stretch>
            <a:fillRect/>
          </a:stretch>
        </p:blipFill>
        <p:spPr>
          <a:xfrm>
            <a:off x="2749724" y="1865875"/>
            <a:ext cx="2358275" cy="3204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Lazos</a:t>
            </a:r>
            <a:endParaRPr/>
          </a:p>
        </p:txBody>
      </p:sp>
      <p:sp>
        <p:nvSpPr>
          <p:cNvPr id="191" name="Google Shape;191;p27"/>
          <p:cNvSpPr txBox="1"/>
          <p:nvPr>
            <p:ph idx="4294967295" type="body"/>
          </p:nvPr>
        </p:nvSpPr>
        <p:spPr>
          <a:xfrm>
            <a:off x="4168800" y="858975"/>
            <a:ext cx="4602900" cy="1566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Para mejorar la última parte se puede utilizar un lazo</a:t>
            </a:r>
            <a:endParaRPr/>
          </a:p>
        </p:txBody>
      </p:sp>
      <p:pic>
        <p:nvPicPr>
          <p:cNvPr id="192" name="Google Shape;192;p27"/>
          <p:cNvPicPr preferRelativeResize="0"/>
          <p:nvPr/>
        </p:nvPicPr>
        <p:blipFill>
          <a:blip r:embed="rId3">
            <a:alphaModFix/>
          </a:blip>
          <a:stretch>
            <a:fillRect/>
          </a:stretch>
        </p:blipFill>
        <p:spPr>
          <a:xfrm>
            <a:off x="4168803" y="1565525"/>
            <a:ext cx="1028700" cy="952500"/>
          </a:xfrm>
          <a:prstGeom prst="rect">
            <a:avLst/>
          </a:prstGeom>
          <a:noFill/>
          <a:ln>
            <a:noFill/>
          </a:ln>
        </p:spPr>
      </p:pic>
      <p:pic>
        <p:nvPicPr>
          <p:cNvPr id="193" name="Google Shape;193;p27"/>
          <p:cNvPicPr preferRelativeResize="0"/>
          <p:nvPr/>
        </p:nvPicPr>
        <p:blipFill>
          <a:blip r:embed="rId4">
            <a:alphaModFix/>
          </a:blip>
          <a:stretch>
            <a:fillRect/>
          </a:stretch>
        </p:blipFill>
        <p:spPr>
          <a:xfrm>
            <a:off x="3961025" y="2425275"/>
            <a:ext cx="4810543" cy="2413425"/>
          </a:xfrm>
          <a:prstGeom prst="rect">
            <a:avLst/>
          </a:prstGeom>
          <a:noFill/>
          <a:ln>
            <a:noFill/>
          </a:ln>
        </p:spPr>
      </p:pic>
      <p:pic>
        <p:nvPicPr>
          <p:cNvPr id="194" name="Google Shape;194;p27"/>
          <p:cNvPicPr preferRelativeResize="0"/>
          <p:nvPr/>
        </p:nvPicPr>
        <p:blipFill>
          <a:blip r:embed="rId5">
            <a:alphaModFix/>
          </a:blip>
          <a:stretch>
            <a:fillRect/>
          </a:stretch>
        </p:blipFill>
        <p:spPr>
          <a:xfrm>
            <a:off x="152400" y="771450"/>
            <a:ext cx="2143125" cy="1276350"/>
          </a:xfrm>
          <a:prstGeom prst="rect">
            <a:avLst/>
          </a:prstGeom>
          <a:noFill/>
          <a:ln>
            <a:noFill/>
          </a:ln>
        </p:spPr>
      </p:pic>
      <p:pic>
        <p:nvPicPr>
          <p:cNvPr id="195" name="Google Shape;195;p27"/>
          <p:cNvPicPr preferRelativeResize="0"/>
          <p:nvPr/>
        </p:nvPicPr>
        <p:blipFill>
          <a:blip r:embed="rId6">
            <a:alphaModFix/>
          </a:blip>
          <a:stretch>
            <a:fillRect/>
          </a:stretch>
        </p:blipFill>
        <p:spPr>
          <a:xfrm>
            <a:off x="152400" y="2200200"/>
            <a:ext cx="1800225" cy="1219200"/>
          </a:xfrm>
          <a:prstGeom prst="rect">
            <a:avLst/>
          </a:prstGeom>
          <a:noFill/>
          <a:ln>
            <a:noFill/>
          </a:ln>
        </p:spPr>
      </p:pic>
      <p:pic>
        <p:nvPicPr>
          <p:cNvPr id="196" name="Google Shape;196;p27"/>
          <p:cNvPicPr preferRelativeResize="0"/>
          <p:nvPr/>
        </p:nvPicPr>
        <p:blipFill>
          <a:blip r:embed="rId7">
            <a:alphaModFix/>
          </a:blip>
          <a:stretch>
            <a:fillRect/>
          </a:stretch>
        </p:blipFill>
        <p:spPr>
          <a:xfrm>
            <a:off x="152400" y="3571800"/>
            <a:ext cx="2305050" cy="1314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Condicionales</a:t>
            </a:r>
            <a:endParaRPr/>
          </a:p>
        </p:txBody>
      </p:sp>
      <p:sp>
        <p:nvSpPr>
          <p:cNvPr id="202" name="Google Shape;202;p28"/>
          <p:cNvSpPr txBox="1"/>
          <p:nvPr>
            <p:ph idx="4294967295" type="body"/>
          </p:nvPr>
        </p:nvSpPr>
        <p:spPr>
          <a:xfrm>
            <a:off x="4168800" y="858975"/>
            <a:ext cx="4602900" cy="1566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También</a:t>
            </a:r>
            <a:r>
              <a:rPr lang="es-419"/>
              <a:t> se puede mejorar utilizando un condicional en el tamaño del </a:t>
            </a:r>
            <a:r>
              <a:rPr lang="es-419"/>
              <a:t>puercoespín</a:t>
            </a:r>
            <a:r>
              <a:rPr lang="es-419"/>
              <a:t>, escondiendolo cuando su tamaño sea muy pequeño.</a:t>
            </a:r>
            <a:endParaRPr/>
          </a:p>
        </p:txBody>
      </p:sp>
      <p:pic>
        <p:nvPicPr>
          <p:cNvPr id="203" name="Google Shape;203;p28"/>
          <p:cNvPicPr preferRelativeResize="0"/>
          <p:nvPr/>
        </p:nvPicPr>
        <p:blipFill>
          <a:blip r:embed="rId3">
            <a:alphaModFix/>
          </a:blip>
          <a:stretch>
            <a:fillRect/>
          </a:stretch>
        </p:blipFill>
        <p:spPr>
          <a:xfrm>
            <a:off x="304175" y="1142450"/>
            <a:ext cx="2162175" cy="3152775"/>
          </a:xfrm>
          <a:prstGeom prst="rect">
            <a:avLst/>
          </a:prstGeom>
          <a:noFill/>
          <a:ln>
            <a:noFill/>
          </a:ln>
        </p:spPr>
      </p:pic>
      <p:pic>
        <p:nvPicPr>
          <p:cNvPr id="204" name="Google Shape;204;p28"/>
          <p:cNvPicPr preferRelativeResize="0"/>
          <p:nvPr/>
        </p:nvPicPr>
        <p:blipFill>
          <a:blip r:embed="rId4">
            <a:alphaModFix/>
          </a:blip>
          <a:stretch>
            <a:fillRect/>
          </a:stretch>
        </p:blipFill>
        <p:spPr>
          <a:xfrm>
            <a:off x="3192125" y="2425275"/>
            <a:ext cx="3891979" cy="2413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