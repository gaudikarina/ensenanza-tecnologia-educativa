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62653668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62653668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d62653668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d62653668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d62653668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d62653668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62653668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d62653668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d62653668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d62653668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62653668a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62653668a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62653668a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d62653668a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d62653668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d62653668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d62653668a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d62653668a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cratch.mit.edu/projects/786951296" TargetMode="External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cratch.mit.edu/projects/786951511" TargetMode="External"/><Relationship Id="rId4" Type="http://schemas.openxmlformats.org/officeDocument/2006/relationships/hyperlink" Target="https://scratch.mit.edu/projects/786951511" TargetMode="External"/><Relationship Id="rId5" Type="http://schemas.openxmlformats.org/officeDocument/2006/relationships/hyperlink" Target="https://scratch.mit.edu/projects/786951511" TargetMode="External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10" Type="http://schemas.openxmlformats.org/officeDocument/2006/relationships/hyperlink" Target="https://scratch.mit.edu/projects/786952345" TargetMode="External"/><Relationship Id="rId9" Type="http://schemas.openxmlformats.org/officeDocument/2006/relationships/image" Target="../media/image7.png"/><Relationship Id="rId5" Type="http://schemas.openxmlformats.org/officeDocument/2006/relationships/hyperlink" Target="https://scratch.mit.edu/projects/786952159" TargetMode="External"/><Relationship Id="rId6" Type="http://schemas.openxmlformats.org/officeDocument/2006/relationships/hyperlink" Target="https://scratch.mit.edu/projects/786952159" TargetMode="External"/><Relationship Id="rId7" Type="http://schemas.openxmlformats.org/officeDocument/2006/relationships/hyperlink" Target="https://scratch.mit.edu/projects/786952159" TargetMode="External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cratch.mit.edu/projects/786952569" TargetMode="External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hyperlink" Target="https://scratch.mit.edu/projects/786800620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cratch.mit.edu/projects/786954268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hyperlink" Target="https://scratch.mit.edu/projects/786956989" TargetMode="External"/><Relationship Id="rId7" Type="http://schemas.openxmlformats.org/officeDocument/2006/relationships/hyperlink" Target="https://scratch.mit.edu/projects/78695698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Scratch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Programación en Bloques continuación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</a:t>
            </a:r>
            <a:endParaRPr/>
          </a:p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471900" y="1919075"/>
            <a:ext cx="3999900" cy="30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Fíjate</a:t>
            </a:r>
            <a:r>
              <a:rPr lang="es-419"/>
              <a:t> que hay un área en el bloque con el valor de </a:t>
            </a:r>
            <a:r>
              <a:rPr b="1" lang="es-419"/>
              <a:t>10, </a:t>
            </a:r>
            <a:r>
              <a:rPr lang="es-419"/>
              <a:t>que puede ser cambiada. </a:t>
            </a:r>
            <a:r>
              <a:rPr lang="es-419"/>
              <a:t>A este valor se le llama </a:t>
            </a:r>
            <a:r>
              <a:rPr b="1" lang="es-419"/>
              <a:t>ENTRADA</a:t>
            </a:r>
            <a:r>
              <a:rPr lang="es-419"/>
              <a:t> a una función y es la información que una función puede utilizar para cambiar cómo se comporta.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En el caso del bloque </a:t>
            </a:r>
            <a:r>
              <a:rPr b="1" lang="es-419"/>
              <a:t>MOVER, </a:t>
            </a:r>
            <a:r>
              <a:rPr lang="es-419"/>
              <a:t>indica el número de pasos que el personaje debe moverse.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Por ejemplo: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Añade al personaje 30 pasos y gira 15 grados como se muestra en la figura.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Puedes verlo en el ejemplo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Mover y Girar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625" y="1705925"/>
            <a:ext cx="3762375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6769250" y="3416425"/>
            <a:ext cx="510300" cy="1256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7397450" y="3675550"/>
            <a:ext cx="15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conjunto de bloques se le llama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guión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en Scratch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01" y="2034000"/>
            <a:ext cx="2658867" cy="11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</a:t>
            </a:r>
            <a:endParaRPr/>
          </a:p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334475" y="1909275"/>
            <a:ext cx="3999900" cy="16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Prueba ahora el bloque: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¿</a:t>
            </a:r>
            <a:r>
              <a:rPr lang="es-419"/>
              <a:t>Qué</a:t>
            </a:r>
            <a:r>
              <a:rPr lang="es-419"/>
              <a:t> sucede?</a:t>
            </a:r>
            <a:endParaRPr/>
          </a:p>
        </p:txBody>
      </p:sp>
      <p:sp>
        <p:nvSpPr>
          <p:cNvPr id="85" name="Google Shape;85;p15"/>
          <p:cNvSpPr txBox="1"/>
          <p:nvPr>
            <p:ph idx="2" type="body"/>
          </p:nvPr>
        </p:nvSpPr>
        <p:spPr>
          <a:xfrm>
            <a:off x="334475" y="3175500"/>
            <a:ext cx="3999900" cy="4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Cambia ahora el personaje por:</a:t>
            </a: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788" y="3595725"/>
            <a:ext cx="178117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4405125" y="1985937"/>
            <a:ext cx="3999900" cy="29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400"/>
              <a:buFont typeface="Roboto"/>
              <a:buChar char="●"/>
            </a:pPr>
            <a:r>
              <a:rPr lang="es-419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Vamos a hacer que recorra todo el escenario.</a:t>
            </a:r>
            <a:endParaRPr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400"/>
              <a:buFont typeface="Roboto"/>
              <a:buChar char="●"/>
            </a:pPr>
            <a:r>
              <a:rPr lang="es-419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Utiliza las coordenadas de las 4 esquinas del cuadrado del escenario:</a:t>
            </a:r>
            <a:endParaRPr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Roboto"/>
              <a:buChar char="○"/>
            </a:pPr>
            <a:r>
              <a:rPr lang="es-419" sz="12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x=-180, y=120</a:t>
            </a:r>
            <a:endParaRPr sz="12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Roboto"/>
              <a:buChar char="○"/>
            </a:pPr>
            <a:r>
              <a:rPr lang="es-419" sz="12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x=180, y=120</a:t>
            </a:r>
            <a:endParaRPr sz="12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Roboto"/>
              <a:buChar char="○"/>
            </a:pPr>
            <a:r>
              <a:rPr lang="es-419" sz="12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x=180, y=-120</a:t>
            </a:r>
            <a:endParaRPr sz="12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200"/>
              <a:buFont typeface="Roboto"/>
              <a:buChar char="○"/>
            </a:pPr>
            <a:r>
              <a:rPr lang="es-419" sz="12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x=-180, y=-120</a:t>
            </a:r>
            <a:endParaRPr sz="12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400"/>
              <a:buFont typeface="Roboto"/>
              <a:buChar char="●"/>
            </a:pPr>
            <a:r>
              <a:rPr lang="es-419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Utiliza el bloque o función:</a:t>
            </a:r>
            <a:endParaRPr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7925" y="4225975"/>
            <a:ext cx="2357426" cy="67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5"/>
          <p:cNvCxnSpPr/>
          <p:nvPr/>
        </p:nvCxnSpPr>
        <p:spPr>
          <a:xfrm flipH="1">
            <a:off x="3836900" y="1781025"/>
            <a:ext cx="29400" cy="32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</a:t>
            </a:r>
            <a:endParaRPr/>
          </a:p>
        </p:txBody>
      </p:sp>
      <p:sp>
        <p:nvSpPr>
          <p:cNvPr id="95" name="Google Shape;95;p16"/>
          <p:cNvSpPr txBox="1"/>
          <p:nvPr>
            <p:ph idx="2" type="body"/>
          </p:nvPr>
        </p:nvSpPr>
        <p:spPr>
          <a:xfrm>
            <a:off x="354125" y="1985925"/>
            <a:ext cx="3999900" cy="4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El script o </a:t>
            </a:r>
            <a:r>
              <a:rPr lang="es-419"/>
              <a:t>guión</a:t>
            </a:r>
            <a:r>
              <a:rPr lang="es-419"/>
              <a:t> </a:t>
            </a:r>
            <a:r>
              <a:rPr lang="es-419"/>
              <a:t>sería</a:t>
            </a:r>
            <a:r>
              <a:rPr lang="es-419"/>
              <a:t>: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2864050" y="1913450"/>
            <a:ext cx="31434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ct val="100000"/>
              <a:buFont typeface="Roboto"/>
              <a:buChar char="●"/>
            </a:pP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¿</a:t>
            </a: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Qué</a:t>
            </a:r>
            <a:r>
              <a:rPr lang="es-419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 sucede?</a:t>
            </a:r>
            <a:endParaRPr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ct val="100000"/>
              <a:buFont typeface="Roboto"/>
              <a:buChar char="●"/>
            </a:pPr>
            <a:r>
              <a:rPr lang="es-419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Cómo</a:t>
            </a:r>
            <a:r>
              <a:rPr lang="es-419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podemos mejorarlo?</a:t>
            </a:r>
            <a:endParaRPr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ct val="100000"/>
              <a:buFont typeface="Roboto"/>
              <a:buChar char="●"/>
            </a:pPr>
            <a:r>
              <a:rPr lang="es-419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Utiliza el siguiente bloque en las tres instrucciones luego de la primera:</a:t>
            </a:r>
            <a:endParaRPr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775" y="2406225"/>
            <a:ext cx="2398025" cy="25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64113" y="2885725"/>
            <a:ext cx="3143275" cy="5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8">
            <a:alphaModFix/>
          </a:blip>
          <a:srcRect b="0" l="0" r="14391" t="0"/>
          <a:stretch/>
        </p:blipFill>
        <p:spPr>
          <a:xfrm>
            <a:off x="5878056" y="2192050"/>
            <a:ext cx="3047144" cy="2519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16"/>
          <p:cNvCxnSpPr/>
          <p:nvPr/>
        </p:nvCxnSpPr>
        <p:spPr>
          <a:xfrm flipH="1">
            <a:off x="2802525" y="2155225"/>
            <a:ext cx="7200" cy="26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6"/>
          <p:cNvCxnSpPr/>
          <p:nvPr/>
        </p:nvCxnSpPr>
        <p:spPr>
          <a:xfrm>
            <a:off x="5950125" y="1957125"/>
            <a:ext cx="14700" cy="28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6"/>
          <p:cNvSpPr txBox="1"/>
          <p:nvPr>
            <p:ph idx="2" type="body"/>
          </p:nvPr>
        </p:nvSpPr>
        <p:spPr>
          <a:xfrm>
            <a:off x="6112275" y="2101625"/>
            <a:ext cx="2472000" cy="4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El resultado: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6419700" y="4539600"/>
            <a:ext cx="25974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Sube el programa final a la plataforma como ejercicio1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</a:t>
            </a:r>
            <a:endParaRPr/>
          </a:p>
        </p:txBody>
      </p:sp>
      <p:sp>
        <p:nvSpPr>
          <p:cNvPr id="109" name="Google Shape;109;p17"/>
          <p:cNvSpPr txBox="1"/>
          <p:nvPr>
            <p:ph idx="2" type="body"/>
          </p:nvPr>
        </p:nvSpPr>
        <p:spPr>
          <a:xfrm>
            <a:off x="354125" y="1985925"/>
            <a:ext cx="39999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Veamos ahora la categoría apariencia</a:t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388" y="2354475"/>
            <a:ext cx="10953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5700" y="3126875"/>
            <a:ext cx="116205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>
            <p:ph idx="2" type="body"/>
          </p:nvPr>
        </p:nvSpPr>
        <p:spPr>
          <a:xfrm>
            <a:off x="471900" y="4113100"/>
            <a:ext cx="39999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u="sng">
                <a:solidFill>
                  <a:schemeClr val="hlink"/>
                </a:solidFill>
                <a:hlinkClick r:id="rId5"/>
              </a:rPr>
              <a:t>¿</a:t>
            </a:r>
            <a:r>
              <a:rPr lang="es-419" u="sng">
                <a:solidFill>
                  <a:schemeClr val="hlink"/>
                </a:solidFill>
                <a:hlinkClick r:id="rId6"/>
              </a:rPr>
              <a:t>Qué</a:t>
            </a:r>
            <a:r>
              <a:rPr lang="es-419" u="sng">
                <a:solidFill>
                  <a:schemeClr val="hlink"/>
                </a:solidFill>
                <a:hlinkClick r:id="rId7"/>
              </a:rPr>
              <a:t> sucede?</a:t>
            </a:r>
            <a:endParaRPr/>
          </a:p>
        </p:txBody>
      </p:sp>
      <p:sp>
        <p:nvSpPr>
          <p:cNvPr id="113" name="Google Shape;113;p17"/>
          <p:cNvSpPr txBox="1"/>
          <p:nvPr>
            <p:ph idx="2" type="body"/>
          </p:nvPr>
        </p:nvSpPr>
        <p:spPr>
          <a:xfrm>
            <a:off x="4619375" y="1985925"/>
            <a:ext cx="39999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Cambialos por: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38300" y="2349713"/>
            <a:ext cx="21336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54250" y="3278888"/>
            <a:ext cx="230505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>
            <p:ph idx="2" type="body"/>
          </p:nvPr>
        </p:nvSpPr>
        <p:spPr>
          <a:xfrm>
            <a:off x="4306825" y="4265500"/>
            <a:ext cx="39999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u="sng">
                <a:solidFill>
                  <a:schemeClr val="hlink"/>
                </a:solidFill>
                <a:hlinkClick r:id="rId10"/>
              </a:rPr>
              <a:t>¿Qué sucede?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</a:t>
            </a:r>
            <a:endParaRPr/>
          </a:p>
        </p:txBody>
      </p:sp>
      <p:sp>
        <p:nvSpPr>
          <p:cNvPr id="122" name="Google Shape;122;p18"/>
          <p:cNvSpPr txBox="1"/>
          <p:nvPr>
            <p:ph idx="2" type="body"/>
          </p:nvPr>
        </p:nvSpPr>
        <p:spPr>
          <a:xfrm>
            <a:off x="354125" y="1985925"/>
            <a:ext cx="39999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Cambiar disfraz: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Cambiemos el personaje a Bear</a:t>
            </a:r>
            <a:endParaRPr/>
          </a:p>
        </p:txBody>
      </p:sp>
      <p:sp>
        <p:nvSpPr>
          <p:cNvPr id="123" name="Google Shape;123;p18"/>
          <p:cNvSpPr txBox="1"/>
          <p:nvPr>
            <p:ph idx="2" type="body"/>
          </p:nvPr>
        </p:nvSpPr>
        <p:spPr>
          <a:xfrm>
            <a:off x="4476750" y="4738125"/>
            <a:ext cx="39999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u="sng">
                <a:solidFill>
                  <a:schemeClr val="hlink"/>
                </a:solidFill>
                <a:hlinkClick r:id="rId3"/>
              </a:rPr>
              <a:t>¿Qué sucede?</a:t>
            </a:r>
            <a:endParaRPr/>
          </a:p>
        </p:txBody>
      </p:sp>
      <p:sp>
        <p:nvSpPr>
          <p:cNvPr id="124" name="Google Shape;124;p18"/>
          <p:cNvSpPr txBox="1"/>
          <p:nvPr>
            <p:ph idx="2" type="body"/>
          </p:nvPr>
        </p:nvSpPr>
        <p:spPr>
          <a:xfrm>
            <a:off x="4572000" y="1730725"/>
            <a:ext cx="39999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Inicia tu </a:t>
            </a:r>
            <a:r>
              <a:rPr lang="es-419"/>
              <a:t>guión</a:t>
            </a:r>
            <a:r>
              <a:rPr lang="es-419"/>
              <a:t> colocando el disfraz a de bear y en la parte izquierda del escenario</a:t>
            </a:r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75" y="2571738"/>
            <a:ext cx="219075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2150" y="2302988"/>
            <a:ext cx="19335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>
            <p:ph idx="2" type="body"/>
          </p:nvPr>
        </p:nvSpPr>
        <p:spPr>
          <a:xfrm>
            <a:off x="4659000" y="3178800"/>
            <a:ext cx="39999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Luego mueve el oso a través del escenario y que se levante:</a:t>
            </a:r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4150" y="3501475"/>
            <a:ext cx="260985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585" y="4372375"/>
            <a:ext cx="2948736" cy="6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</a:t>
            </a:r>
            <a:endParaRPr/>
          </a:p>
        </p:txBody>
      </p:sp>
      <p:sp>
        <p:nvSpPr>
          <p:cNvPr id="135" name="Google Shape;135;p19"/>
          <p:cNvSpPr txBox="1"/>
          <p:nvPr>
            <p:ph idx="2" type="body"/>
          </p:nvPr>
        </p:nvSpPr>
        <p:spPr>
          <a:xfrm>
            <a:off x="305050" y="1730725"/>
            <a:ext cx="39999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Añade el Escenario Forest: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Inicia tu </a:t>
            </a:r>
            <a:r>
              <a:rPr lang="es-419"/>
              <a:t>guión</a:t>
            </a:r>
            <a:r>
              <a:rPr lang="es-419"/>
              <a:t> con el escenario Forest:</a:t>
            </a:r>
            <a:endParaRPr/>
          </a:p>
        </p:txBody>
      </p:sp>
      <p:sp>
        <p:nvSpPr>
          <p:cNvPr id="136" name="Google Shape;136;p19"/>
          <p:cNvSpPr txBox="1"/>
          <p:nvPr>
            <p:ph idx="2" type="body"/>
          </p:nvPr>
        </p:nvSpPr>
        <p:spPr>
          <a:xfrm>
            <a:off x="3353500" y="4372375"/>
            <a:ext cx="12957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491" u="sng">
                <a:solidFill>
                  <a:schemeClr val="hlink"/>
                </a:solidFill>
                <a:hlinkClick r:id="rId4"/>
              </a:rPr>
              <a:t>¿Qué sucede?</a:t>
            </a:r>
            <a:endParaRPr sz="2491"/>
          </a:p>
        </p:txBody>
      </p:sp>
      <p:sp>
        <p:nvSpPr>
          <p:cNvPr id="137" name="Google Shape;137;p19"/>
          <p:cNvSpPr txBox="1"/>
          <p:nvPr>
            <p:ph idx="2" type="body"/>
          </p:nvPr>
        </p:nvSpPr>
        <p:spPr>
          <a:xfrm>
            <a:off x="4649200" y="1853650"/>
            <a:ext cx="3999900" cy="12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El oso se sale del escenario por el lado derecho y el escenario cambia.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Ahora debemos ver a nuestro oso entrar a esta nueva área caminando y parando en el medio:</a:t>
            </a:r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1025" y="2303000"/>
            <a:ext cx="184785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>
            <p:ph idx="2" type="body"/>
          </p:nvPr>
        </p:nvSpPr>
        <p:spPr>
          <a:xfrm>
            <a:off x="305050" y="3551600"/>
            <a:ext cx="39999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Haz que tu personaje camine con el comando desplazar en y al finalizar cambia de escenario a Woods and Beanch</a:t>
            </a:r>
            <a:endParaRPr/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2425" y="3027125"/>
            <a:ext cx="3611575" cy="13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6419700" y="4539600"/>
            <a:ext cx="25974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Sube el programa final a la plataforma como ejercicio2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</a:t>
            </a:r>
            <a:endParaRPr/>
          </a:p>
        </p:txBody>
      </p:sp>
      <p:sp>
        <p:nvSpPr>
          <p:cNvPr id="147" name="Google Shape;147;p20"/>
          <p:cNvSpPr txBox="1"/>
          <p:nvPr>
            <p:ph idx="2" type="body"/>
          </p:nvPr>
        </p:nvSpPr>
        <p:spPr>
          <a:xfrm>
            <a:off x="305050" y="1730725"/>
            <a:ext cx="39999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Sonido y Control: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Realicemos el juego “al escondite” con el pato</a:t>
            </a:r>
            <a:endParaRPr/>
          </a:p>
        </p:txBody>
      </p:sp>
      <p:sp>
        <p:nvSpPr>
          <p:cNvPr id="148" name="Google Shape;148;p20"/>
          <p:cNvSpPr txBox="1"/>
          <p:nvPr>
            <p:ph idx="2" type="body"/>
          </p:nvPr>
        </p:nvSpPr>
        <p:spPr>
          <a:xfrm>
            <a:off x="3368450" y="4334850"/>
            <a:ext cx="11364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491" u="sng">
                <a:solidFill>
                  <a:schemeClr val="hlink"/>
                </a:solidFill>
                <a:hlinkClick r:id="rId3"/>
              </a:rPr>
              <a:t>¿Qué sucede?</a:t>
            </a:r>
            <a:endParaRPr sz="2491"/>
          </a:p>
        </p:txBody>
      </p:sp>
      <p:sp>
        <p:nvSpPr>
          <p:cNvPr id="149" name="Google Shape;149;p20"/>
          <p:cNvSpPr txBox="1"/>
          <p:nvPr>
            <p:ph idx="2" type="body"/>
          </p:nvPr>
        </p:nvSpPr>
        <p:spPr>
          <a:xfrm>
            <a:off x="252675" y="3639550"/>
            <a:ext cx="3999900" cy="8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Utiliza los comandos:</a:t>
            </a:r>
            <a:endParaRPr/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7147" y="2268725"/>
            <a:ext cx="1295700" cy="11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838" y="4520050"/>
            <a:ext cx="1512362" cy="67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8538" y="3918125"/>
            <a:ext cx="6477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1100" y="4009975"/>
            <a:ext cx="1862850" cy="510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>
            <p:ph idx="2" type="body"/>
          </p:nvPr>
        </p:nvSpPr>
        <p:spPr>
          <a:xfrm>
            <a:off x="4924700" y="1883125"/>
            <a:ext cx="39999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Extensiones:</a:t>
            </a:r>
            <a:endParaRPr/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55150" y="1898088"/>
            <a:ext cx="65722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57475" y="2889825"/>
            <a:ext cx="4334352" cy="1803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</a:t>
            </a:r>
            <a:endParaRPr/>
          </a:p>
        </p:txBody>
      </p:sp>
      <p:sp>
        <p:nvSpPr>
          <p:cNvPr id="162" name="Google Shape;162;p21"/>
          <p:cNvSpPr txBox="1"/>
          <p:nvPr>
            <p:ph idx="2" type="body"/>
          </p:nvPr>
        </p:nvSpPr>
        <p:spPr>
          <a:xfrm>
            <a:off x="305050" y="1730725"/>
            <a:ext cx="39999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Por ejemplo la </a:t>
            </a:r>
            <a:r>
              <a:rPr lang="es-419"/>
              <a:t>extensión</a:t>
            </a:r>
            <a:r>
              <a:rPr lang="es-419"/>
              <a:t> Música</a:t>
            </a:r>
            <a:endParaRPr/>
          </a:p>
        </p:txBody>
      </p:sp>
      <p:sp>
        <p:nvSpPr>
          <p:cNvPr id="163" name="Google Shape;163;p21"/>
          <p:cNvSpPr txBox="1"/>
          <p:nvPr>
            <p:ph idx="2" type="body"/>
          </p:nvPr>
        </p:nvSpPr>
        <p:spPr>
          <a:xfrm>
            <a:off x="4086625" y="1800825"/>
            <a:ext cx="39999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Se puede crear una canciòn utilizando sus notas con la </a:t>
            </a:r>
            <a:r>
              <a:rPr lang="es-419"/>
              <a:t>instrucción</a:t>
            </a:r>
            <a:r>
              <a:rPr lang="es-419"/>
              <a:t>: </a:t>
            </a:r>
            <a:endParaRPr/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922" y="2122875"/>
            <a:ext cx="1825225" cy="27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2297" y="2420600"/>
            <a:ext cx="277177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7550" y="3222000"/>
            <a:ext cx="229552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>
            <p:ph idx="2" type="body"/>
          </p:nvPr>
        </p:nvSpPr>
        <p:spPr>
          <a:xfrm>
            <a:off x="4231550" y="2993325"/>
            <a:ext cx="39999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Escoger el instrumento:</a:t>
            </a:r>
            <a:endParaRPr/>
          </a:p>
        </p:txBody>
      </p:sp>
      <p:sp>
        <p:nvSpPr>
          <p:cNvPr id="168" name="Google Shape;168;p21"/>
          <p:cNvSpPr txBox="1"/>
          <p:nvPr>
            <p:ph idx="2" type="body"/>
          </p:nvPr>
        </p:nvSpPr>
        <p:spPr>
          <a:xfrm>
            <a:off x="4339050" y="4020575"/>
            <a:ext cx="39999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Cambiar el tempo</a:t>
            </a:r>
            <a:endParaRPr/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9700" y="4381500"/>
            <a:ext cx="18669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</a:t>
            </a:r>
            <a:endParaRPr/>
          </a:p>
        </p:txBody>
      </p:sp>
      <p:sp>
        <p:nvSpPr>
          <p:cNvPr id="175" name="Google Shape;175;p22"/>
          <p:cNvSpPr txBox="1"/>
          <p:nvPr>
            <p:ph idx="2" type="body"/>
          </p:nvPr>
        </p:nvSpPr>
        <p:spPr>
          <a:xfrm>
            <a:off x="305050" y="1730725"/>
            <a:ext cx="39999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Por ejemplo la extensión </a:t>
            </a:r>
            <a:r>
              <a:rPr lang="es-419"/>
              <a:t>Lápiz</a:t>
            </a:r>
            <a:endParaRPr/>
          </a:p>
        </p:txBody>
      </p:sp>
      <p:pic>
        <p:nvPicPr>
          <p:cNvPr id="176" name="Google Shape;176;p22"/>
          <p:cNvPicPr preferRelativeResize="0"/>
          <p:nvPr/>
        </p:nvPicPr>
        <p:blipFill rotWithShape="1">
          <a:blip r:embed="rId3">
            <a:alphaModFix/>
          </a:blip>
          <a:srcRect b="33119" l="0" r="0" t="0"/>
          <a:stretch/>
        </p:blipFill>
        <p:spPr>
          <a:xfrm>
            <a:off x="1363750" y="2119771"/>
            <a:ext cx="2286000" cy="29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/>
          <p:cNvPicPr preferRelativeResize="0"/>
          <p:nvPr/>
        </p:nvPicPr>
        <p:blipFill rotWithShape="1">
          <a:blip r:embed="rId3">
            <a:alphaModFix/>
          </a:blip>
          <a:srcRect b="0" l="0" r="0" t="66652"/>
          <a:stretch/>
        </p:blipFill>
        <p:spPr>
          <a:xfrm>
            <a:off x="3050100" y="2168367"/>
            <a:ext cx="2286000" cy="14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5066850" y="1941750"/>
            <a:ext cx="39999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Se puede utilizar para dibujar en el escenario prueba lo siguiente:</a:t>
            </a:r>
            <a:endParaRPr/>
          </a:p>
        </p:txBody>
      </p:sp>
      <p:pic>
        <p:nvPicPr>
          <p:cNvPr id="179" name="Google Shape;17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0525" y="2522100"/>
            <a:ext cx="1476375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6900" y="2571750"/>
            <a:ext cx="1498963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>
            <a:hlinkClick r:id="rId6"/>
          </p:cNvPr>
          <p:cNvSpPr txBox="1"/>
          <p:nvPr/>
        </p:nvSpPr>
        <p:spPr>
          <a:xfrm>
            <a:off x="6188577" y="4490125"/>
            <a:ext cx="2225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¿Qué sucede?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" name="Google Shape;182;p22"/>
          <p:cNvCxnSpPr/>
          <p:nvPr/>
        </p:nvCxnSpPr>
        <p:spPr>
          <a:xfrm flipH="1">
            <a:off x="5172450" y="1773700"/>
            <a:ext cx="36600" cy="32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