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bold.fntdata"/><Relationship Id="rId14" Type="http://schemas.openxmlformats.org/officeDocument/2006/relationships/slide" Target="slides/slide9.xml"/><Relationship Id="rId36" Type="http://schemas.openxmlformats.org/officeDocument/2006/relationships/font" Target="fonts/Roboto-regular.fntdata"/><Relationship Id="rId17" Type="http://schemas.openxmlformats.org/officeDocument/2006/relationships/slide" Target="slides/slide12.xml"/><Relationship Id="rId39" Type="http://schemas.openxmlformats.org/officeDocument/2006/relationships/font" Target="fonts/Roboto-boldItalic.fntdata"/><Relationship Id="rId16" Type="http://schemas.openxmlformats.org/officeDocument/2006/relationships/slide" Target="slides/slide11.xml"/><Relationship Id="rId38" Type="http://schemas.openxmlformats.org/officeDocument/2006/relationships/font" Target="fonts/Robo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ddc3b4053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ddc3b4053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ddc3b4053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ddc3b4053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ddc3b4053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ddc3b4053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ddc3b4053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ddc3b4053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ddc3b4053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ddc3b4053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ddc3b4053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ddc3b4053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ddc3b4053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ddc3b4053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ddc3b4053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ddc3b4053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ddc3b4053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ddc3b4053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ddc3b4053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ddc3b4053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ddc40f0ab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ddc40f0ab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ddc40f0ab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ddc40f0ab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ddc40f0ab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ddc40f0ab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ddc40f0ab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ddc40f0ab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ddc40f0ab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ddc40f0ab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ddc40f0ab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ddc40f0ab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ddc40f0ab5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ddc40f0ab5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ddc40f0ab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ddc40f0ab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ddc40f0ab5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ddc40f0ab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ddc40f0ab5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ddc40f0ab5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ddc40f0ab5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ddc40f0ab5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ddc40f0ab5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ddc40f0ab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ddc40f0ab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ddc40f0ab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ddc40f0ab5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ddc40f0ab5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ddc40f0ab5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ddc40f0ab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ddc40f0ab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ddc40f0ab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ddc40f0ab5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ddc40f0ab5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ddc40f0ab5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ddc40f0ab5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ddc40f0ab5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ddc40f0ab5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s://drive.google.com/drive/folders/125716nN6j4Wd0-g11EHDdq4IaEcvudV0?usp=sharing" TargetMode="External"/><Relationship Id="rId4" Type="http://schemas.openxmlformats.org/officeDocument/2006/relationships/hyperlink" Target="https://drive.google.com/drive/folders/125716nN6j4Wd0-g11EHDdq4IaEcvudV0?usp=sharing" TargetMode="External"/><Relationship Id="rId10" Type="http://schemas.openxmlformats.org/officeDocument/2006/relationships/image" Target="../media/image33.png"/><Relationship Id="rId9" Type="http://schemas.openxmlformats.org/officeDocument/2006/relationships/image" Target="../media/image34.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5.jpg"/><Relationship Id="rId4" Type="http://schemas.openxmlformats.org/officeDocument/2006/relationships/image" Target="../media/image2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5.jpg"/><Relationship Id="rId4"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34.png"/><Relationship Id="rId7" Type="http://schemas.openxmlformats.org/officeDocument/2006/relationships/image" Target="../media/image32.png"/><Relationship Id="rId8"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0.png"/><Relationship Id="rId5"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hyperlink" Target="http://drive.google.com/file/d/1Wy03ZE0UXyWRzQvyUg8YWlVRtFMC6DFL/view" TargetMode="External"/><Relationship Id="rId5"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Scratch</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s-419"/>
              <a:t>Definición</a:t>
            </a:r>
            <a:r>
              <a:rPr lang="es-419"/>
              <a:t> de historieta animada, componentes, creación de una historieta en Scratch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Historieta Animada o Storyboard</a:t>
            </a:r>
            <a:endParaRPr/>
          </a:p>
        </p:txBody>
      </p:sp>
      <p:sp>
        <p:nvSpPr>
          <p:cNvPr id="74" name="Google Shape;74;p14"/>
          <p:cNvSpPr txBox="1"/>
          <p:nvPr>
            <p:ph idx="1" type="body"/>
          </p:nvPr>
        </p:nvSpPr>
        <p:spPr>
          <a:xfrm>
            <a:off x="471900" y="1919075"/>
            <a:ext cx="4413600" cy="2710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250">
                <a:solidFill>
                  <a:srgbClr val="1D2125"/>
                </a:solidFill>
                <a:highlight>
                  <a:srgbClr val="FFFFFF"/>
                </a:highlight>
              </a:rPr>
              <a:t>Un storyboard es un esquema visual para un video. Se compone de una serie de imágenes en miniatura que muestra lo que sucede en el video, de principio a fin. También incluye notas sobre lo que sucede en cada escena. Podríamos decir que se parece mucho a un cómic.</a:t>
            </a:r>
            <a:endParaRPr sz="1250">
              <a:solidFill>
                <a:srgbClr val="1D2125"/>
              </a:solidFill>
              <a:highlight>
                <a:srgbClr val="FFFFFF"/>
              </a:highlight>
            </a:endParaRPr>
          </a:p>
          <a:p>
            <a:pPr indent="0" lvl="0" marL="0" rtl="0" algn="just">
              <a:spcBef>
                <a:spcPts val="1200"/>
              </a:spcBef>
              <a:spcAft>
                <a:spcPts val="1200"/>
              </a:spcAft>
              <a:buNone/>
            </a:pPr>
            <a:r>
              <a:rPr lang="es-419" sz="1250">
                <a:solidFill>
                  <a:srgbClr val="1D2125"/>
                </a:solidFill>
                <a:highlight>
                  <a:srgbClr val="FFFFFF"/>
                </a:highlight>
              </a:rPr>
              <a:t>Los elementos del storyboard pueden ser más simples o más complejos. Por lo general, están dibujados a mano, aunque algunas personas prefieren usar software para crear sus imágenes. Tanto si se realiza a mano o a través de un software, el objetivo es crear una representación gráfica de un </a:t>
            </a:r>
            <a:r>
              <a:rPr lang="es-419" sz="1250">
                <a:solidFill>
                  <a:srgbClr val="1D2125"/>
                </a:solidFill>
                <a:highlight>
                  <a:srgbClr val="FFFFFF"/>
                </a:highlight>
              </a:rPr>
              <a:t>guión</a:t>
            </a:r>
            <a:r>
              <a:rPr lang="es-419" sz="1250">
                <a:solidFill>
                  <a:srgbClr val="1D2125"/>
                </a:solidFill>
                <a:highlight>
                  <a:srgbClr val="FFFFFF"/>
                </a:highlight>
              </a:rPr>
              <a:t>.</a:t>
            </a:r>
            <a:endParaRPr sz="1900"/>
          </a:p>
        </p:txBody>
      </p:sp>
      <p:pic>
        <p:nvPicPr>
          <p:cNvPr id="75" name="Google Shape;75;p14"/>
          <p:cNvPicPr preferRelativeResize="0"/>
          <p:nvPr/>
        </p:nvPicPr>
        <p:blipFill>
          <a:blip r:embed="rId3">
            <a:alphaModFix/>
          </a:blip>
          <a:stretch>
            <a:fillRect/>
          </a:stretch>
        </p:blipFill>
        <p:spPr>
          <a:xfrm>
            <a:off x="5000850" y="2251950"/>
            <a:ext cx="3953700" cy="18638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Partes de una </a:t>
            </a:r>
            <a:r>
              <a:rPr lang="es-419"/>
              <a:t>Historieta Animada o Storyboard</a:t>
            </a:r>
            <a:endParaRPr/>
          </a:p>
        </p:txBody>
      </p:sp>
      <p:sp>
        <p:nvSpPr>
          <p:cNvPr id="81" name="Google Shape;81;p15"/>
          <p:cNvSpPr txBox="1"/>
          <p:nvPr>
            <p:ph idx="1" type="body"/>
          </p:nvPr>
        </p:nvSpPr>
        <p:spPr>
          <a:xfrm>
            <a:off x="471900" y="1919075"/>
            <a:ext cx="4413600" cy="307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250">
                <a:solidFill>
                  <a:srgbClr val="1D2125"/>
                </a:solidFill>
                <a:highlight>
                  <a:srgbClr val="FFFFFF"/>
                </a:highlight>
              </a:rPr>
              <a:t>Como hemos mencionado antes, un storyboard es una forma visual de organizar una historia en un orden lógico y se usa para muchas cosas. En él, el diseñador crea imágenes, panel por panel, que ilustran el orden y lo que ocurre dentro de una historia, incluyendo, por supuesto, a los personajes y el diálogo. Así, hay 5 elementos del storyboard que son básicos para que sea efectivo:</a:t>
            </a:r>
            <a:endParaRPr sz="1250">
              <a:solidFill>
                <a:srgbClr val="1D2125"/>
              </a:solidFill>
              <a:highlight>
                <a:srgbClr val="FFFFFF"/>
              </a:highlight>
            </a:endParaRPr>
          </a:p>
          <a:p>
            <a:pPr indent="-307975" lvl="0" marL="457200" rtl="0" algn="l">
              <a:spcBef>
                <a:spcPts val="1200"/>
              </a:spcBef>
              <a:spcAft>
                <a:spcPts val="0"/>
              </a:spcAft>
              <a:buClr>
                <a:srgbClr val="1D2125"/>
              </a:buClr>
              <a:buSzPts val="1250"/>
              <a:buChar char="●"/>
            </a:pPr>
            <a:r>
              <a:rPr lang="es-419" sz="1250">
                <a:solidFill>
                  <a:srgbClr val="1D2125"/>
                </a:solidFill>
                <a:highlight>
                  <a:srgbClr val="FFFFFF"/>
                </a:highlight>
              </a:rPr>
              <a:t>La historia</a:t>
            </a:r>
            <a:endParaRPr sz="125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50">
                <a:solidFill>
                  <a:srgbClr val="1D2125"/>
                </a:solidFill>
                <a:highlight>
                  <a:srgbClr val="FFFFFF"/>
                </a:highlight>
              </a:rPr>
              <a:t>Los personajes</a:t>
            </a:r>
            <a:endParaRPr sz="125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50">
                <a:solidFill>
                  <a:srgbClr val="1D2125"/>
                </a:solidFill>
                <a:highlight>
                  <a:srgbClr val="FFFFFF"/>
                </a:highlight>
              </a:rPr>
              <a:t>Los diálogos y los textos</a:t>
            </a:r>
            <a:endParaRPr sz="125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50">
                <a:solidFill>
                  <a:srgbClr val="1D2125"/>
                </a:solidFill>
                <a:highlight>
                  <a:srgbClr val="FFFFFF"/>
                </a:highlight>
              </a:rPr>
              <a:t>La línea de tiempo </a:t>
            </a:r>
            <a:endParaRPr sz="125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50">
                <a:solidFill>
                  <a:srgbClr val="1D2125"/>
                </a:solidFill>
                <a:highlight>
                  <a:srgbClr val="FFFFFF"/>
                </a:highlight>
              </a:rPr>
              <a:t>Los detalles de la cámara</a:t>
            </a:r>
            <a:endParaRPr sz="1350">
              <a:solidFill>
                <a:srgbClr val="1D2125"/>
              </a:solidFill>
              <a:highlight>
                <a:srgbClr val="FFFFFF"/>
              </a:highlight>
            </a:endParaRPr>
          </a:p>
        </p:txBody>
      </p:sp>
      <p:pic>
        <p:nvPicPr>
          <p:cNvPr id="82" name="Google Shape;82;p15"/>
          <p:cNvPicPr preferRelativeResize="0"/>
          <p:nvPr/>
        </p:nvPicPr>
        <p:blipFill>
          <a:blip r:embed="rId3">
            <a:alphaModFix/>
          </a:blip>
          <a:stretch>
            <a:fillRect/>
          </a:stretch>
        </p:blipFill>
        <p:spPr>
          <a:xfrm>
            <a:off x="5232375" y="1964650"/>
            <a:ext cx="3187675" cy="2793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La Historia</a:t>
            </a:r>
            <a:endParaRPr/>
          </a:p>
        </p:txBody>
      </p:sp>
      <p:sp>
        <p:nvSpPr>
          <p:cNvPr id="88" name="Google Shape;88;p16"/>
          <p:cNvSpPr txBox="1"/>
          <p:nvPr>
            <p:ph idx="1" type="body"/>
          </p:nvPr>
        </p:nvSpPr>
        <p:spPr>
          <a:xfrm>
            <a:off x="471900" y="1919075"/>
            <a:ext cx="4413600" cy="3071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200">
                <a:solidFill>
                  <a:srgbClr val="1D2125"/>
                </a:solidFill>
                <a:highlight>
                  <a:srgbClr val="FFFFFF"/>
                </a:highlight>
              </a:rPr>
              <a:t>Este es el primero y el más importante de los elementos del storyboard. Al disponer la historia que quieres contar, se puede ver si es coherente visualmente hablando, si es una historia completa o le falta información. Igualmente, te ayudará a organizar los puntos clave y todos aquellos detalles necesarios.</a:t>
            </a:r>
            <a:endParaRPr sz="1200">
              <a:solidFill>
                <a:srgbClr val="1D2125"/>
              </a:solidFill>
              <a:highlight>
                <a:srgbClr val="FFFFFF"/>
              </a:highlight>
            </a:endParaRPr>
          </a:p>
          <a:p>
            <a:pPr indent="0" lvl="0" marL="0" rtl="0" algn="just">
              <a:spcBef>
                <a:spcPts val="1200"/>
              </a:spcBef>
              <a:spcAft>
                <a:spcPts val="1200"/>
              </a:spcAft>
              <a:buNone/>
            </a:pPr>
            <a:r>
              <a:rPr lang="es-419" sz="1200">
                <a:solidFill>
                  <a:srgbClr val="1D2125"/>
                </a:solidFill>
                <a:highlight>
                  <a:srgbClr val="FFFFFF"/>
                </a:highlight>
              </a:rPr>
              <a:t>Cuando se tiene clara la historia, es bueno crear una línea de tiempo en la que queden bien definidos el comienzo, el nudo y el final de la historia, así como cualquier transición importante. Un video corporativo no tiene que contar una historia compleja, pero sí necesita tensión de algún tipo, y una resolución correcta.</a:t>
            </a:r>
            <a:endParaRPr sz="1200">
              <a:solidFill>
                <a:srgbClr val="1D2125"/>
              </a:solidFill>
              <a:highlight>
                <a:srgbClr val="FFFFFF"/>
              </a:highlight>
            </a:endParaRPr>
          </a:p>
        </p:txBody>
      </p:sp>
      <p:pic>
        <p:nvPicPr>
          <p:cNvPr id="89" name="Google Shape;89;p16"/>
          <p:cNvPicPr preferRelativeResize="0"/>
          <p:nvPr/>
        </p:nvPicPr>
        <p:blipFill>
          <a:blip r:embed="rId3">
            <a:alphaModFix/>
          </a:blip>
          <a:stretch>
            <a:fillRect/>
          </a:stretch>
        </p:blipFill>
        <p:spPr>
          <a:xfrm>
            <a:off x="5056425" y="1751500"/>
            <a:ext cx="3953700" cy="31629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Los Personajes</a:t>
            </a:r>
            <a:endParaRPr/>
          </a:p>
        </p:txBody>
      </p:sp>
      <p:sp>
        <p:nvSpPr>
          <p:cNvPr id="95" name="Google Shape;95;p17"/>
          <p:cNvSpPr txBox="1"/>
          <p:nvPr>
            <p:ph idx="1" type="body"/>
          </p:nvPr>
        </p:nvSpPr>
        <p:spPr>
          <a:xfrm>
            <a:off x="407025" y="1843350"/>
            <a:ext cx="4413600" cy="3071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300">
                <a:solidFill>
                  <a:srgbClr val="1D2125"/>
                </a:solidFill>
                <a:highlight>
                  <a:srgbClr val="FFFFFF"/>
                </a:highlight>
              </a:rPr>
              <a:t>Un storyboard también tiene que contemplar a los personajes de la historia. Al crear uno, la mayoría de los guionistas usan bolígrafo o lápiz y no se preocupan por hacer que los personajes se vean bien. Algunos incluso usan figuras de palo en lugar de dibujar personajes completos.</a:t>
            </a:r>
            <a:endParaRPr sz="1300">
              <a:solidFill>
                <a:srgbClr val="1D2125"/>
              </a:solidFill>
              <a:highlight>
                <a:srgbClr val="FFFFFF"/>
              </a:highlight>
            </a:endParaRPr>
          </a:p>
          <a:p>
            <a:pPr indent="0" lvl="0" marL="0" rtl="0" algn="just">
              <a:spcBef>
                <a:spcPts val="1200"/>
              </a:spcBef>
              <a:spcAft>
                <a:spcPts val="0"/>
              </a:spcAft>
              <a:buNone/>
            </a:pPr>
            <a:r>
              <a:rPr lang="es-419" sz="1300">
                <a:solidFill>
                  <a:srgbClr val="1D2125"/>
                </a:solidFill>
                <a:highlight>
                  <a:srgbClr val="FFFFFF"/>
                </a:highlight>
              </a:rPr>
              <a:t>Cuando un escritor dibuja un storyboard, los personajes de la historia pueden desarrollar sus propias personalidades a través de la forma en que el creador ilustra la historia. El storyboard debe ilustrar las acciones de los personajes, pero también la forma en que se mueven o lo que están haciendo.</a:t>
            </a:r>
            <a:endParaRPr sz="1300">
              <a:solidFill>
                <a:srgbClr val="1D2125"/>
              </a:solidFill>
              <a:highlight>
                <a:srgbClr val="FFFFFF"/>
              </a:highlight>
            </a:endParaRPr>
          </a:p>
          <a:p>
            <a:pPr indent="0" lvl="0" marL="0" rtl="0" algn="just">
              <a:spcBef>
                <a:spcPts val="1200"/>
              </a:spcBef>
              <a:spcAft>
                <a:spcPts val="1200"/>
              </a:spcAft>
              <a:buNone/>
            </a:pPr>
            <a:r>
              <a:t/>
            </a:r>
            <a:endParaRPr sz="1300">
              <a:solidFill>
                <a:srgbClr val="1D2125"/>
              </a:solidFill>
              <a:highlight>
                <a:srgbClr val="FFFFFF"/>
              </a:highlight>
            </a:endParaRPr>
          </a:p>
        </p:txBody>
      </p:sp>
      <p:pic>
        <p:nvPicPr>
          <p:cNvPr id="96" name="Google Shape;96;p17"/>
          <p:cNvPicPr preferRelativeResize="0"/>
          <p:nvPr/>
        </p:nvPicPr>
        <p:blipFill>
          <a:blip r:embed="rId3">
            <a:alphaModFix/>
          </a:blip>
          <a:stretch>
            <a:fillRect/>
          </a:stretch>
        </p:blipFill>
        <p:spPr>
          <a:xfrm>
            <a:off x="5010075" y="2301788"/>
            <a:ext cx="3762900" cy="2154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El Diálogo y los Textos</a:t>
            </a:r>
            <a:endParaRPr/>
          </a:p>
        </p:txBody>
      </p:sp>
      <p:sp>
        <p:nvSpPr>
          <p:cNvPr id="102" name="Google Shape;102;p18"/>
          <p:cNvSpPr txBox="1"/>
          <p:nvPr>
            <p:ph idx="1" type="body"/>
          </p:nvPr>
        </p:nvSpPr>
        <p:spPr>
          <a:xfrm>
            <a:off x="407025" y="1843350"/>
            <a:ext cx="4413600" cy="3071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400">
                <a:solidFill>
                  <a:srgbClr val="1D2125"/>
                </a:solidFill>
                <a:highlight>
                  <a:srgbClr val="FFFFFF"/>
                </a:highlight>
              </a:rPr>
              <a:t>El diálogo es otro de los elementos del storyboard. No solo se debe mostrar a los personajes de la historia, sino también enseñar lo que dicen. La representación gráfica puede ilustrar el tono de voz que usan los personajes, como el volumen de las palabras o los sentimientos que las palabras pueden producir, como la ira, el sarcasmo o la emoción.</a:t>
            </a:r>
            <a:endParaRPr sz="1400">
              <a:solidFill>
                <a:srgbClr val="1D2125"/>
              </a:solidFill>
              <a:highlight>
                <a:srgbClr val="FFFFFF"/>
              </a:highlight>
            </a:endParaRPr>
          </a:p>
          <a:p>
            <a:pPr indent="0" lvl="0" marL="0" rtl="0" algn="just">
              <a:spcBef>
                <a:spcPts val="1200"/>
              </a:spcBef>
              <a:spcAft>
                <a:spcPts val="1200"/>
              </a:spcAft>
              <a:buNone/>
            </a:pPr>
            <a:r>
              <a:rPr lang="es-419" sz="1400">
                <a:solidFill>
                  <a:srgbClr val="1D2125"/>
                </a:solidFill>
                <a:highlight>
                  <a:srgbClr val="FFFFFF"/>
                </a:highlight>
              </a:rPr>
              <a:t>Por otro lado, es buena idea que añadas lo que sea más importante de esa parte concreta de la historia, ya que a la hora de grabar esas anotaciones serán muy útiles.</a:t>
            </a:r>
            <a:endParaRPr sz="1500">
              <a:solidFill>
                <a:srgbClr val="1D2125"/>
              </a:solidFill>
              <a:highlight>
                <a:srgbClr val="FFFFFF"/>
              </a:highlight>
            </a:endParaRPr>
          </a:p>
        </p:txBody>
      </p:sp>
      <p:pic>
        <p:nvPicPr>
          <p:cNvPr id="103" name="Google Shape;103;p18"/>
          <p:cNvPicPr preferRelativeResize="0"/>
          <p:nvPr/>
        </p:nvPicPr>
        <p:blipFill>
          <a:blip r:embed="rId3">
            <a:alphaModFix/>
          </a:blip>
          <a:stretch>
            <a:fillRect/>
          </a:stretch>
        </p:blipFill>
        <p:spPr>
          <a:xfrm>
            <a:off x="5056450" y="2187075"/>
            <a:ext cx="3674675" cy="2024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Los detalles de la cámara</a:t>
            </a:r>
            <a:endParaRPr/>
          </a:p>
        </p:txBody>
      </p:sp>
      <p:sp>
        <p:nvSpPr>
          <p:cNvPr id="109" name="Google Shape;109;p19"/>
          <p:cNvSpPr txBox="1"/>
          <p:nvPr>
            <p:ph idx="1" type="body"/>
          </p:nvPr>
        </p:nvSpPr>
        <p:spPr>
          <a:xfrm>
            <a:off x="407025" y="1843350"/>
            <a:ext cx="4413600" cy="30711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s-419">
                <a:solidFill>
                  <a:srgbClr val="1D2125"/>
                </a:solidFill>
                <a:highlight>
                  <a:srgbClr val="FFFFFF"/>
                </a:highlight>
              </a:rPr>
              <a:t>En cuanto al uso de la cámara en el storyboard hay mucho que decir. El </a:t>
            </a:r>
            <a:r>
              <a:rPr lang="es-419">
                <a:solidFill>
                  <a:srgbClr val="1D2125"/>
                </a:solidFill>
                <a:highlight>
                  <a:srgbClr val="FFFFFF"/>
                </a:highlight>
              </a:rPr>
              <a:t>guión</a:t>
            </a:r>
            <a:r>
              <a:rPr lang="es-419">
                <a:solidFill>
                  <a:srgbClr val="1D2125"/>
                </a:solidFill>
                <a:highlight>
                  <a:srgbClr val="FFFFFF"/>
                </a:highlight>
              </a:rPr>
              <a:t> gráfico define concretamente dónde debe colocarse la cámara y cómo debe ser cada plano. También puede definir cómo se darán las transiciones, cuánto durará cada plano, dónde debe dirigirse la atención, etc.</a:t>
            </a:r>
            <a:endParaRPr sz="2300">
              <a:solidFill>
                <a:srgbClr val="1D2125"/>
              </a:solidFill>
              <a:highlight>
                <a:srgbClr val="FFFFFF"/>
              </a:highlight>
            </a:endParaRPr>
          </a:p>
        </p:txBody>
      </p:sp>
      <p:pic>
        <p:nvPicPr>
          <p:cNvPr id="110" name="Google Shape;110;p19"/>
          <p:cNvPicPr preferRelativeResize="0"/>
          <p:nvPr/>
        </p:nvPicPr>
        <p:blipFill>
          <a:blip r:embed="rId3">
            <a:alphaModFix/>
          </a:blip>
          <a:stretch>
            <a:fillRect/>
          </a:stretch>
        </p:blipFill>
        <p:spPr>
          <a:xfrm>
            <a:off x="5742225" y="1712762"/>
            <a:ext cx="2689793" cy="3332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¿Cómo crear un </a:t>
            </a:r>
            <a:r>
              <a:rPr lang="es-419"/>
              <a:t>guión</a:t>
            </a:r>
            <a:r>
              <a:rPr lang="es-419"/>
              <a:t> gráfico?</a:t>
            </a:r>
            <a:endParaRPr/>
          </a:p>
        </p:txBody>
      </p:sp>
      <p:sp>
        <p:nvSpPr>
          <p:cNvPr id="116" name="Google Shape;116;p20"/>
          <p:cNvSpPr txBox="1"/>
          <p:nvPr>
            <p:ph idx="1" type="body"/>
          </p:nvPr>
        </p:nvSpPr>
        <p:spPr>
          <a:xfrm>
            <a:off x="388475" y="1769225"/>
            <a:ext cx="8370600" cy="3286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200">
                <a:solidFill>
                  <a:srgbClr val="1D2125"/>
                </a:solidFill>
                <a:highlight>
                  <a:srgbClr val="FFFFFF"/>
                </a:highlight>
              </a:rPr>
              <a:t>Para crear tu propio storyboard debes seguir los siguientes pasos:</a:t>
            </a:r>
            <a:endParaRPr sz="1200">
              <a:solidFill>
                <a:srgbClr val="1D2125"/>
              </a:solidFill>
              <a:highlight>
                <a:srgbClr val="FFFFFF"/>
              </a:highlight>
            </a:endParaRPr>
          </a:p>
          <a:p>
            <a:pPr indent="-307975" lvl="0" marL="457200" rtl="0" algn="l">
              <a:spcBef>
                <a:spcPts val="1200"/>
              </a:spcBef>
              <a:spcAft>
                <a:spcPts val="0"/>
              </a:spcAft>
              <a:buClr>
                <a:srgbClr val="1D2125"/>
              </a:buClr>
              <a:buSzPts val="1250"/>
              <a:buChar char="●"/>
            </a:pPr>
            <a:r>
              <a:rPr lang="es-419" sz="1200">
                <a:solidFill>
                  <a:srgbClr val="1D2125"/>
                </a:solidFill>
                <a:highlight>
                  <a:srgbClr val="FFFFFF"/>
                </a:highlight>
              </a:rPr>
              <a:t>Elabora una línea temporal. Piensa cuál va a ser el inicio de tu historia, el desarrollo y el desenlace. Incluso si tu historia tiene saltos temporales, es el momento de apuntarlo todo. Te ayudará comenzar creando un listado de todo lo que va a pasar, para después ordenarlo.</a:t>
            </a:r>
            <a:endParaRPr sz="120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00">
                <a:solidFill>
                  <a:srgbClr val="1D2125"/>
                </a:solidFill>
                <a:highlight>
                  <a:srgbClr val="FFFFFF"/>
                </a:highlight>
              </a:rPr>
              <a:t>Identifica cuáles son los momentos clave de tu historia. Aquellos en los que se representa el mensaje que quieres transmitir.</a:t>
            </a:r>
            <a:endParaRPr sz="120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00">
                <a:solidFill>
                  <a:srgbClr val="1D2125"/>
                </a:solidFill>
                <a:highlight>
                  <a:srgbClr val="FFFFFF"/>
                </a:highlight>
              </a:rPr>
              <a:t>Ten en cuenta que el storyboard sirve para mostrar visualmente una idea, por lo que el nivel de detalle no tiene por qué ser muy alto. En ocasiones, bastan unos bocetos para plasmar las ideas clave.</a:t>
            </a:r>
            <a:endParaRPr sz="120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00">
                <a:solidFill>
                  <a:srgbClr val="1D2125"/>
                </a:solidFill>
                <a:highlight>
                  <a:srgbClr val="FFFFFF"/>
                </a:highlight>
              </a:rPr>
              <a:t>Elige el medio con el que vas a representar tu guion. Utilizar elementos multimedia te facilitará compartirlo.</a:t>
            </a:r>
            <a:endParaRPr sz="120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00">
                <a:solidFill>
                  <a:srgbClr val="1D2125"/>
                </a:solidFill>
                <a:highlight>
                  <a:srgbClr val="FFFFFF"/>
                </a:highlight>
              </a:rPr>
              <a:t>Elabora los bocetos y compleméntalos con información. No dudes añadir líneas explicativas debajo de cada viñeta, pero intenta que sea lo más concreto posible.</a:t>
            </a:r>
            <a:endParaRPr sz="120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00">
                <a:solidFill>
                  <a:srgbClr val="1D2125"/>
                </a:solidFill>
                <a:highlight>
                  <a:srgbClr val="FFFFFF"/>
                </a:highlight>
              </a:rPr>
              <a:t>Si te preocupa qué representar en cada viñeta, piensa en dónde puedes "cortar" la historia. </a:t>
            </a:r>
            <a:endParaRPr sz="1200">
              <a:solidFill>
                <a:srgbClr val="1D2125"/>
              </a:solidFill>
              <a:highlight>
                <a:srgbClr val="FFFFFF"/>
              </a:highlight>
            </a:endParaRPr>
          </a:p>
          <a:p>
            <a:pPr indent="-307975" lvl="0" marL="457200" rtl="0" algn="l">
              <a:spcBef>
                <a:spcPts val="0"/>
              </a:spcBef>
              <a:spcAft>
                <a:spcPts val="0"/>
              </a:spcAft>
              <a:buClr>
                <a:srgbClr val="1D2125"/>
              </a:buClr>
              <a:buSzPts val="1250"/>
              <a:buChar char="●"/>
            </a:pPr>
            <a:r>
              <a:rPr lang="es-419" sz="1200">
                <a:solidFill>
                  <a:srgbClr val="1D2125"/>
                </a:solidFill>
                <a:highlight>
                  <a:srgbClr val="FFFFFF"/>
                </a:highlight>
              </a:rPr>
              <a:t>A lo largo del proceso creativo, es posible que tu storyboard sufra cambios. Es totalmente normal que añadas unas ideas y descartes otras.</a:t>
            </a:r>
            <a:endParaRPr sz="1200">
              <a:solidFill>
                <a:srgbClr val="1D2125"/>
              </a:solidFill>
              <a:highlight>
                <a:srgbClr val="FFFFFF"/>
              </a:highlight>
            </a:endParaRPr>
          </a:p>
          <a:p>
            <a:pPr indent="0" lvl="0" marL="0" rtl="0" algn="just">
              <a:spcBef>
                <a:spcPts val="1200"/>
              </a:spcBef>
              <a:spcAft>
                <a:spcPts val="1200"/>
              </a:spcAft>
              <a:buNone/>
            </a:pPr>
            <a:r>
              <a:t/>
            </a:r>
            <a:endParaRPr sz="1900">
              <a:solidFill>
                <a:srgbClr val="1D2125"/>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265500" y="519575"/>
            <a:ext cx="4045200" cy="14823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s-419" sz="3180"/>
              <a:t>Vamos a crear ahora una historia animada en Scratch</a:t>
            </a:r>
            <a:endParaRPr sz="3180"/>
          </a:p>
        </p:txBody>
      </p:sp>
      <p:sp>
        <p:nvSpPr>
          <p:cNvPr id="122" name="Google Shape;122;p21"/>
          <p:cNvSpPr txBox="1"/>
          <p:nvPr>
            <p:ph idx="1" type="subTitle"/>
          </p:nvPr>
        </p:nvSpPr>
        <p:spPr>
          <a:xfrm>
            <a:off x="265500" y="2436567"/>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sz="1700">
                <a:solidFill>
                  <a:srgbClr val="1D2125"/>
                </a:solidFill>
                <a:highlight>
                  <a:srgbClr val="FFFFFF"/>
                </a:highlight>
              </a:rPr>
              <a:t>En este caso usaremos la siguiente historia</a:t>
            </a:r>
            <a:endParaRPr sz="1700">
              <a:solidFill>
                <a:srgbClr val="1D2125"/>
              </a:solidFill>
              <a:highlight>
                <a:srgbClr val="FFFFFF"/>
              </a:highlight>
            </a:endParaRPr>
          </a:p>
        </p:txBody>
      </p:sp>
      <p:cxnSp>
        <p:nvCxnSpPr>
          <p:cNvPr id="123" name="Google Shape;123;p21"/>
          <p:cNvCxnSpPr/>
          <p:nvPr/>
        </p:nvCxnSpPr>
        <p:spPr>
          <a:xfrm>
            <a:off x="2828100" y="2914075"/>
            <a:ext cx="1482600" cy="900"/>
          </a:xfrm>
          <a:prstGeom prst="straightConnector1">
            <a:avLst/>
          </a:prstGeom>
          <a:noFill/>
          <a:ln cap="flat" cmpd="sng" w="38100">
            <a:solidFill>
              <a:schemeClr val="accent3"/>
            </a:solidFill>
            <a:prstDash val="solid"/>
            <a:round/>
            <a:headEnd len="med" w="med" type="none"/>
            <a:tailEnd len="med" w="med" type="triangle"/>
          </a:ln>
        </p:spPr>
      </p:cxnSp>
      <p:pic>
        <p:nvPicPr>
          <p:cNvPr id="124" name="Google Shape;124;p21"/>
          <p:cNvPicPr preferRelativeResize="0"/>
          <p:nvPr/>
        </p:nvPicPr>
        <p:blipFill>
          <a:blip r:embed="rId3">
            <a:alphaModFix/>
          </a:blip>
          <a:stretch>
            <a:fillRect/>
          </a:stretch>
        </p:blipFill>
        <p:spPr>
          <a:xfrm>
            <a:off x="4795975" y="23687"/>
            <a:ext cx="4083725" cy="50961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471900" y="738725"/>
            <a:ext cx="8222100" cy="7677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SzPts val="990"/>
              <a:buNone/>
            </a:pPr>
            <a:r>
              <a:rPr lang="es-419" sz="3180"/>
              <a:t>Identificamos los personajes</a:t>
            </a:r>
            <a:endParaRPr sz="3180"/>
          </a:p>
        </p:txBody>
      </p:sp>
      <p:sp>
        <p:nvSpPr>
          <p:cNvPr id="130" name="Google Shape;130;p22"/>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Son 6</a:t>
            </a:r>
            <a:endParaRPr sz="1700">
              <a:solidFill>
                <a:srgbClr val="1D2125"/>
              </a:solidFill>
              <a:highlight>
                <a:srgbClr val="FFFFFF"/>
              </a:highlight>
            </a:endParaRPr>
          </a:p>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Podemos escoger los personajes desde Scratch o utilizar </a:t>
            </a:r>
            <a:r>
              <a:rPr lang="es-419" sz="1700">
                <a:solidFill>
                  <a:srgbClr val="1D2125"/>
                </a:solidFill>
                <a:highlight>
                  <a:srgbClr val="FFFFFF"/>
                </a:highlight>
              </a:rPr>
              <a:t>imágenes desde internet. </a:t>
            </a:r>
            <a:endParaRPr sz="1700">
              <a:solidFill>
                <a:srgbClr val="1D2125"/>
              </a:solidFill>
              <a:highlight>
                <a:srgbClr val="FFFFFF"/>
              </a:highlight>
            </a:endParaRPr>
          </a:p>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Si utilizamos imágenes desde internet debemos buscar varios disfraces que sirvan la recreación de la historieta.</a:t>
            </a:r>
            <a:r>
              <a:rPr lang="es-419" sz="1700">
                <a:solidFill>
                  <a:srgbClr val="1D2125"/>
                </a:solidFill>
                <a:highlight>
                  <a:srgbClr val="FFFFFF"/>
                </a:highlight>
              </a:rPr>
              <a:t> </a:t>
            </a:r>
            <a:endParaRPr sz="1700">
              <a:solidFill>
                <a:srgbClr val="1D2125"/>
              </a:solidFill>
              <a:highlight>
                <a:srgbClr val="FFFFFF"/>
              </a:highlight>
            </a:endParaRPr>
          </a:p>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Vamos a usar las siguientes </a:t>
            </a:r>
            <a:r>
              <a:rPr lang="es-419" sz="1700">
                <a:solidFill>
                  <a:srgbClr val="1D2125"/>
                </a:solidFill>
                <a:highlight>
                  <a:srgbClr val="FFFFFF"/>
                </a:highlight>
              </a:rPr>
              <a:t>descargarlas </a:t>
            </a:r>
            <a:r>
              <a:rPr lang="es-419" sz="1700" u="sng">
                <a:solidFill>
                  <a:schemeClr val="hlink"/>
                </a:solidFill>
                <a:highlight>
                  <a:srgbClr val="FFFFFF"/>
                </a:highlight>
                <a:hlinkClick r:id="rId3"/>
              </a:rPr>
              <a:t>aquí</a:t>
            </a:r>
            <a:r>
              <a:rPr lang="es-419" sz="1700" u="sng">
                <a:solidFill>
                  <a:schemeClr val="hlink"/>
                </a:solidFill>
                <a:highlight>
                  <a:srgbClr val="FFFFFF"/>
                </a:highlight>
                <a:hlinkClick r:id="rId4"/>
              </a:rPr>
              <a:t>.</a:t>
            </a:r>
            <a:endParaRPr sz="1700">
              <a:solidFill>
                <a:srgbClr val="1D2125"/>
              </a:solidFill>
              <a:highlight>
                <a:srgbClr val="FFFFFF"/>
              </a:highlight>
            </a:endParaRPr>
          </a:p>
        </p:txBody>
      </p:sp>
      <p:pic>
        <p:nvPicPr>
          <p:cNvPr id="131" name="Google Shape;131;p22"/>
          <p:cNvPicPr preferRelativeResize="0"/>
          <p:nvPr/>
        </p:nvPicPr>
        <p:blipFill>
          <a:blip r:embed="rId5">
            <a:alphaModFix/>
          </a:blip>
          <a:stretch>
            <a:fillRect/>
          </a:stretch>
        </p:blipFill>
        <p:spPr>
          <a:xfrm>
            <a:off x="4572000" y="1825650"/>
            <a:ext cx="1057275" cy="1962150"/>
          </a:xfrm>
          <a:prstGeom prst="rect">
            <a:avLst/>
          </a:prstGeom>
          <a:noFill/>
          <a:ln>
            <a:noFill/>
          </a:ln>
        </p:spPr>
      </p:pic>
      <p:pic>
        <p:nvPicPr>
          <p:cNvPr id="132" name="Google Shape;132;p22"/>
          <p:cNvPicPr preferRelativeResize="0"/>
          <p:nvPr/>
        </p:nvPicPr>
        <p:blipFill>
          <a:blip r:embed="rId6">
            <a:alphaModFix/>
          </a:blip>
          <a:stretch>
            <a:fillRect/>
          </a:stretch>
        </p:blipFill>
        <p:spPr>
          <a:xfrm>
            <a:off x="5629275" y="1825650"/>
            <a:ext cx="1152525" cy="2019300"/>
          </a:xfrm>
          <a:prstGeom prst="rect">
            <a:avLst/>
          </a:prstGeom>
          <a:noFill/>
          <a:ln>
            <a:noFill/>
          </a:ln>
        </p:spPr>
      </p:pic>
      <p:pic>
        <p:nvPicPr>
          <p:cNvPr id="133" name="Google Shape;133;p22"/>
          <p:cNvPicPr preferRelativeResize="0"/>
          <p:nvPr/>
        </p:nvPicPr>
        <p:blipFill>
          <a:blip r:embed="rId7">
            <a:alphaModFix/>
          </a:blip>
          <a:stretch>
            <a:fillRect/>
          </a:stretch>
        </p:blipFill>
        <p:spPr>
          <a:xfrm>
            <a:off x="6781800" y="1849463"/>
            <a:ext cx="1390650" cy="1971675"/>
          </a:xfrm>
          <a:prstGeom prst="rect">
            <a:avLst/>
          </a:prstGeom>
          <a:noFill/>
          <a:ln>
            <a:noFill/>
          </a:ln>
        </p:spPr>
      </p:pic>
      <p:pic>
        <p:nvPicPr>
          <p:cNvPr id="134" name="Google Shape;134;p22"/>
          <p:cNvPicPr preferRelativeResize="0"/>
          <p:nvPr/>
        </p:nvPicPr>
        <p:blipFill>
          <a:blip r:embed="rId8">
            <a:alphaModFix/>
          </a:blip>
          <a:stretch>
            <a:fillRect/>
          </a:stretch>
        </p:blipFill>
        <p:spPr>
          <a:xfrm>
            <a:off x="5848200" y="3670073"/>
            <a:ext cx="2952125" cy="1473426"/>
          </a:xfrm>
          <a:prstGeom prst="rect">
            <a:avLst/>
          </a:prstGeom>
          <a:noFill/>
          <a:ln>
            <a:noFill/>
          </a:ln>
        </p:spPr>
      </p:pic>
      <p:pic>
        <p:nvPicPr>
          <p:cNvPr id="135" name="Google Shape;135;p22"/>
          <p:cNvPicPr preferRelativeResize="0"/>
          <p:nvPr/>
        </p:nvPicPr>
        <p:blipFill>
          <a:blip r:embed="rId9">
            <a:alphaModFix/>
          </a:blip>
          <a:stretch>
            <a:fillRect/>
          </a:stretch>
        </p:blipFill>
        <p:spPr>
          <a:xfrm>
            <a:off x="8172452" y="2571744"/>
            <a:ext cx="971551" cy="867318"/>
          </a:xfrm>
          <a:prstGeom prst="rect">
            <a:avLst/>
          </a:prstGeom>
          <a:noFill/>
          <a:ln>
            <a:noFill/>
          </a:ln>
        </p:spPr>
      </p:pic>
      <p:pic>
        <p:nvPicPr>
          <p:cNvPr id="136" name="Google Shape;136;p22"/>
          <p:cNvPicPr preferRelativeResize="0"/>
          <p:nvPr/>
        </p:nvPicPr>
        <p:blipFill>
          <a:blip r:embed="rId10">
            <a:alphaModFix/>
          </a:blip>
          <a:stretch>
            <a:fillRect/>
          </a:stretch>
        </p:blipFill>
        <p:spPr>
          <a:xfrm>
            <a:off x="4405313" y="3711463"/>
            <a:ext cx="1390648" cy="13906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471900" y="738725"/>
            <a:ext cx="8222100" cy="7677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Buscamos los escenarios similares</a:t>
            </a:r>
            <a:endParaRPr sz="3180"/>
          </a:p>
        </p:txBody>
      </p:sp>
      <p:sp>
        <p:nvSpPr>
          <p:cNvPr id="142" name="Google Shape;142;p23"/>
          <p:cNvSpPr txBox="1"/>
          <p:nvPr>
            <p:ph idx="1" type="body"/>
          </p:nvPr>
        </p:nvSpPr>
        <p:spPr>
          <a:xfrm>
            <a:off x="471900" y="1919075"/>
            <a:ext cx="8148300" cy="1097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Tenemos de escenario una ciudad, vamos a combinar estos dos escenarios</a:t>
            </a:r>
            <a:endParaRPr sz="1700">
              <a:solidFill>
                <a:srgbClr val="1D2125"/>
              </a:solidFill>
              <a:highlight>
                <a:srgbClr val="FFFFFF"/>
              </a:highlight>
            </a:endParaRPr>
          </a:p>
        </p:txBody>
      </p:sp>
      <p:pic>
        <p:nvPicPr>
          <p:cNvPr id="143" name="Google Shape;143;p23"/>
          <p:cNvPicPr preferRelativeResize="0"/>
          <p:nvPr/>
        </p:nvPicPr>
        <p:blipFill>
          <a:blip r:embed="rId3">
            <a:alphaModFix/>
          </a:blip>
          <a:stretch>
            <a:fillRect/>
          </a:stretch>
        </p:blipFill>
        <p:spPr>
          <a:xfrm>
            <a:off x="4833225" y="2645550"/>
            <a:ext cx="4011965" cy="2122724"/>
          </a:xfrm>
          <a:prstGeom prst="rect">
            <a:avLst/>
          </a:prstGeom>
          <a:noFill/>
          <a:ln>
            <a:noFill/>
          </a:ln>
        </p:spPr>
      </p:pic>
      <p:pic>
        <p:nvPicPr>
          <p:cNvPr id="144" name="Google Shape;144;p23"/>
          <p:cNvPicPr preferRelativeResize="0"/>
          <p:nvPr/>
        </p:nvPicPr>
        <p:blipFill>
          <a:blip r:embed="rId4">
            <a:alphaModFix/>
          </a:blip>
          <a:stretch>
            <a:fillRect/>
          </a:stretch>
        </p:blipFill>
        <p:spPr>
          <a:xfrm>
            <a:off x="770552" y="2645551"/>
            <a:ext cx="3684050" cy="21227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471900" y="738725"/>
            <a:ext cx="8222100" cy="7677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Buscamos los escenarios similares</a:t>
            </a:r>
            <a:endParaRPr sz="3180"/>
          </a:p>
        </p:txBody>
      </p:sp>
      <p:sp>
        <p:nvSpPr>
          <p:cNvPr id="150" name="Google Shape;150;p24"/>
          <p:cNvSpPr txBox="1"/>
          <p:nvPr>
            <p:ph idx="1" type="body"/>
          </p:nvPr>
        </p:nvSpPr>
        <p:spPr>
          <a:xfrm>
            <a:off x="471900" y="1919075"/>
            <a:ext cx="8148300" cy="1097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En primer lugar abre Scratch y sube los siguientes escenarios</a:t>
            </a:r>
            <a:endParaRPr sz="1700">
              <a:solidFill>
                <a:srgbClr val="1D2125"/>
              </a:solidFill>
              <a:highlight>
                <a:srgbClr val="FFFFFF"/>
              </a:highlight>
            </a:endParaRPr>
          </a:p>
        </p:txBody>
      </p:sp>
      <p:pic>
        <p:nvPicPr>
          <p:cNvPr id="151" name="Google Shape;151;p24"/>
          <p:cNvPicPr preferRelativeResize="0"/>
          <p:nvPr/>
        </p:nvPicPr>
        <p:blipFill>
          <a:blip r:embed="rId3">
            <a:alphaModFix/>
          </a:blip>
          <a:stretch>
            <a:fillRect/>
          </a:stretch>
        </p:blipFill>
        <p:spPr>
          <a:xfrm>
            <a:off x="4833225" y="2645550"/>
            <a:ext cx="4011965" cy="2122724"/>
          </a:xfrm>
          <a:prstGeom prst="rect">
            <a:avLst/>
          </a:prstGeom>
          <a:noFill/>
          <a:ln>
            <a:noFill/>
          </a:ln>
        </p:spPr>
      </p:pic>
      <p:pic>
        <p:nvPicPr>
          <p:cNvPr id="152" name="Google Shape;152;p24"/>
          <p:cNvPicPr preferRelativeResize="0"/>
          <p:nvPr/>
        </p:nvPicPr>
        <p:blipFill>
          <a:blip r:embed="rId4">
            <a:alphaModFix/>
          </a:blip>
          <a:stretch>
            <a:fillRect/>
          </a:stretch>
        </p:blipFill>
        <p:spPr>
          <a:xfrm>
            <a:off x="770552" y="2645551"/>
            <a:ext cx="3684050" cy="21227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471900" y="738725"/>
            <a:ext cx="8222100" cy="7677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Buscamos los escenarios similares</a:t>
            </a:r>
            <a:endParaRPr sz="3180"/>
          </a:p>
        </p:txBody>
      </p:sp>
      <p:sp>
        <p:nvSpPr>
          <p:cNvPr id="158" name="Google Shape;158;p25"/>
          <p:cNvSpPr txBox="1"/>
          <p:nvPr>
            <p:ph idx="1" type="body"/>
          </p:nvPr>
        </p:nvSpPr>
        <p:spPr>
          <a:xfrm>
            <a:off x="471900" y="1919075"/>
            <a:ext cx="8148300" cy="1097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En segundo lugar sube las siguientes </a:t>
            </a:r>
            <a:r>
              <a:rPr lang="es-419" sz="1700">
                <a:solidFill>
                  <a:srgbClr val="1D2125"/>
                </a:solidFill>
                <a:highlight>
                  <a:srgbClr val="FFFFFF"/>
                </a:highlight>
              </a:rPr>
              <a:t>imágenes</a:t>
            </a:r>
            <a:r>
              <a:rPr lang="es-419" sz="1700">
                <a:solidFill>
                  <a:srgbClr val="1D2125"/>
                </a:solidFill>
                <a:highlight>
                  <a:srgbClr val="FFFFFF"/>
                </a:highlight>
              </a:rPr>
              <a:t> como personajes:</a:t>
            </a:r>
            <a:endParaRPr sz="1700">
              <a:solidFill>
                <a:srgbClr val="1D2125"/>
              </a:solidFill>
              <a:highlight>
                <a:srgbClr val="FFFFFF"/>
              </a:highlight>
            </a:endParaRPr>
          </a:p>
        </p:txBody>
      </p:sp>
      <p:pic>
        <p:nvPicPr>
          <p:cNvPr id="159" name="Google Shape;159;p25"/>
          <p:cNvPicPr preferRelativeResize="0"/>
          <p:nvPr/>
        </p:nvPicPr>
        <p:blipFill>
          <a:blip r:embed="rId3">
            <a:alphaModFix/>
          </a:blip>
          <a:stretch>
            <a:fillRect/>
          </a:stretch>
        </p:blipFill>
        <p:spPr>
          <a:xfrm>
            <a:off x="563900" y="3016175"/>
            <a:ext cx="1285452" cy="1822525"/>
          </a:xfrm>
          <a:prstGeom prst="rect">
            <a:avLst/>
          </a:prstGeom>
          <a:noFill/>
          <a:ln>
            <a:noFill/>
          </a:ln>
        </p:spPr>
      </p:pic>
      <p:pic>
        <p:nvPicPr>
          <p:cNvPr id="160" name="Google Shape;160;p25"/>
          <p:cNvPicPr preferRelativeResize="0"/>
          <p:nvPr/>
        </p:nvPicPr>
        <p:blipFill>
          <a:blip r:embed="rId4">
            <a:alphaModFix/>
          </a:blip>
          <a:stretch>
            <a:fillRect/>
          </a:stretch>
        </p:blipFill>
        <p:spPr>
          <a:xfrm>
            <a:off x="1849352" y="3016175"/>
            <a:ext cx="982040" cy="1822525"/>
          </a:xfrm>
          <a:prstGeom prst="rect">
            <a:avLst/>
          </a:prstGeom>
          <a:noFill/>
          <a:ln>
            <a:noFill/>
          </a:ln>
        </p:spPr>
      </p:pic>
      <p:pic>
        <p:nvPicPr>
          <p:cNvPr id="161" name="Google Shape;161;p25"/>
          <p:cNvPicPr preferRelativeResize="0"/>
          <p:nvPr/>
        </p:nvPicPr>
        <p:blipFill>
          <a:blip r:embed="rId5">
            <a:alphaModFix/>
          </a:blip>
          <a:stretch>
            <a:fillRect/>
          </a:stretch>
        </p:blipFill>
        <p:spPr>
          <a:xfrm>
            <a:off x="2831392" y="3016175"/>
            <a:ext cx="1209258" cy="1822525"/>
          </a:xfrm>
          <a:prstGeom prst="rect">
            <a:avLst/>
          </a:prstGeom>
          <a:noFill/>
          <a:ln>
            <a:noFill/>
          </a:ln>
        </p:spPr>
      </p:pic>
      <p:pic>
        <p:nvPicPr>
          <p:cNvPr id="162" name="Google Shape;162;p25"/>
          <p:cNvPicPr preferRelativeResize="0"/>
          <p:nvPr/>
        </p:nvPicPr>
        <p:blipFill>
          <a:blip r:embed="rId6">
            <a:alphaModFix/>
          </a:blip>
          <a:stretch>
            <a:fillRect/>
          </a:stretch>
        </p:blipFill>
        <p:spPr>
          <a:xfrm>
            <a:off x="1480220" y="2270207"/>
            <a:ext cx="658068" cy="836639"/>
          </a:xfrm>
          <a:prstGeom prst="rect">
            <a:avLst/>
          </a:prstGeom>
          <a:noFill/>
          <a:ln>
            <a:noFill/>
          </a:ln>
        </p:spPr>
      </p:pic>
      <p:pic>
        <p:nvPicPr>
          <p:cNvPr id="163" name="Google Shape;163;p25"/>
          <p:cNvPicPr preferRelativeResize="0"/>
          <p:nvPr/>
        </p:nvPicPr>
        <p:blipFill>
          <a:blip r:embed="rId7">
            <a:alphaModFix/>
          </a:blip>
          <a:stretch>
            <a:fillRect/>
          </a:stretch>
        </p:blipFill>
        <p:spPr>
          <a:xfrm>
            <a:off x="5708577" y="2644300"/>
            <a:ext cx="3301673" cy="2346801"/>
          </a:xfrm>
          <a:prstGeom prst="rect">
            <a:avLst/>
          </a:prstGeom>
          <a:noFill/>
          <a:ln>
            <a:noFill/>
          </a:ln>
        </p:spPr>
      </p:pic>
      <p:pic>
        <p:nvPicPr>
          <p:cNvPr id="164" name="Google Shape;164;p25"/>
          <p:cNvPicPr preferRelativeResize="0"/>
          <p:nvPr/>
        </p:nvPicPr>
        <p:blipFill>
          <a:blip r:embed="rId8">
            <a:alphaModFix/>
          </a:blip>
          <a:stretch>
            <a:fillRect/>
          </a:stretch>
        </p:blipFill>
        <p:spPr>
          <a:xfrm>
            <a:off x="3773550" y="2531825"/>
            <a:ext cx="2571750" cy="2571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471900" y="738725"/>
            <a:ext cx="8222100" cy="7677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Buscamos los escenarios similares</a:t>
            </a:r>
            <a:endParaRPr sz="3180"/>
          </a:p>
        </p:txBody>
      </p:sp>
      <p:sp>
        <p:nvSpPr>
          <p:cNvPr id="170" name="Google Shape;170;p26"/>
          <p:cNvSpPr txBox="1"/>
          <p:nvPr>
            <p:ph idx="1" type="body"/>
          </p:nvPr>
        </p:nvSpPr>
        <p:spPr>
          <a:xfrm>
            <a:off x="471900" y="1919075"/>
            <a:ext cx="5607900" cy="25080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En tercer lugar añade los disfraces de cada personaje, por ejemplo selecciona el personaje de la niña</a:t>
            </a:r>
            <a:endParaRPr sz="1700">
              <a:solidFill>
                <a:srgbClr val="1D2125"/>
              </a:solidFill>
              <a:highlight>
                <a:srgbClr val="FFFFFF"/>
              </a:highlight>
            </a:endParaRPr>
          </a:p>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Una vez seleccionado te diriges a la pestaña disfraces</a:t>
            </a:r>
            <a:endParaRPr sz="1700">
              <a:solidFill>
                <a:srgbClr val="1D2125"/>
              </a:solidFill>
              <a:highlight>
                <a:srgbClr val="FFFFFF"/>
              </a:highlight>
            </a:endParaRPr>
          </a:p>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Y subes las </a:t>
            </a:r>
            <a:r>
              <a:rPr lang="es-419" sz="1700">
                <a:solidFill>
                  <a:srgbClr val="1D2125"/>
                </a:solidFill>
                <a:highlight>
                  <a:srgbClr val="FFFFFF"/>
                </a:highlight>
              </a:rPr>
              <a:t>demás</a:t>
            </a:r>
            <a:r>
              <a:rPr lang="es-419" sz="1700">
                <a:solidFill>
                  <a:srgbClr val="1D2125"/>
                </a:solidFill>
                <a:highlight>
                  <a:srgbClr val="FFFFFF"/>
                </a:highlight>
              </a:rPr>
              <a:t> </a:t>
            </a:r>
            <a:r>
              <a:rPr lang="es-419" sz="1700">
                <a:solidFill>
                  <a:srgbClr val="1D2125"/>
                </a:solidFill>
                <a:highlight>
                  <a:srgbClr val="FFFFFF"/>
                </a:highlight>
              </a:rPr>
              <a:t>imágenes</a:t>
            </a:r>
            <a:r>
              <a:rPr lang="es-419" sz="1700">
                <a:solidFill>
                  <a:srgbClr val="1D2125"/>
                </a:solidFill>
                <a:highlight>
                  <a:srgbClr val="FFFFFF"/>
                </a:highlight>
              </a:rPr>
              <a:t> de ese personaje que </a:t>
            </a:r>
            <a:r>
              <a:rPr lang="es-419" sz="1700">
                <a:solidFill>
                  <a:srgbClr val="1D2125"/>
                </a:solidFill>
                <a:highlight>
                  <a:srgbClr val="FFFFFF"/>
                </a:highlight>
              </a:rPr>
              <a:t>serían</a:t>
            </a:r>
            <a:r>
              <a:rPr lang="es-419" sz="1700">
                <a:solidFill>
                  <a:srgbClr val="1D2125"/>
                </a:solidFill>
                <a:highlight>
                  <a:srgbClr val="FFFFFF"/>
                </a:highlight>
              </a:rPr>
              <a:t> sus disfraces.</a:t>
            </a:r>
            <a:endParaRPr sz="1700">
              <a:solidFill>
                <a:srgbClr val="1D2125"/>
              </a:solidFill>
              <a:highlight>
                <a:srgbClr val="FFFFFF"/>
              </a:highlight>
            </a:endParaRPr>
          </a:p>
          <a:p>
            <a:pPr indent="-336550" lvl="0" marL="457200" rtl="0" algn="l">
              <a:spcBef>
                <a:spcPts val="0"/>
              </a:spcBef>
              <a:spcAft>
                <a:spcPts val="0"/>
              </a:spcAft>
              <a:buClr>
                <a:srgbClr val="1D2125"/>
              </a:buClr>
              <a:buSzPts val="1700"/>
              <a:buChar char="●"/>
            </a:pPr>
            <a:r>
              <a:rPr lang="es-419" sz="1700">
                <a:solidFill>
                  <a:srgbClr val="1D2125"/>
                </a:solidFill>
                <a:highlight>
                  <a:srgbClr val="FFFFFF"/>
                </a:highlight>
              </a:rPr>
              <a:t>Hacer esto con todos los personajes que lo requieran</a:t>
            </a:r>
            <a:endParaRPr sz="1700">
              <a:solidFill>
                <a:srgbClr val="1D2125"/>
              </a:solidFill>
              <a:highlight>
                <a:srgbClr val="FFFFFF"/>
              </a:highlight>
            </a:endParaRPr>
          </a:p>
        </p:txBody>
      </p:sp>
      <p:pic>
        <p:nvPicPr>
          <p:cNvPr id="171" name="Google Shape;171;p26"/>
          <p:cNvPicPr preferRelativeResize="0"/>
          <p:nvPr/>
        </p:nvPicPr>
        <p:blipFill>
          <a:blip r:embed="rId3">
            <a:alphaModFix/>
          </a:blip>
          <a:stretch>
            <a:fillRect/>
          </a:stretch>
        </p:blipFill>
        <p:spPr>
          <a:xfrm>
            <a:off x="6474500" y="1798725"/>
            <a:ext cx="1768924" cy="250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471900" y="738725"/>
            <a:ext cx="4348500" cy="7677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fontScale="90000"/>
          </a:bodyPr>
          <a:lstStyle/>
          <a:p>
            <a:pPr indent="0" lvl="0" marL="0" rtl="0" algn="l">
              <a:spcBef>
                <a:spcPts val="0"/>
              </a:spcBef>
              <a:spcAft>
                <a:spcPts val="0"/>
              </a:spcAft>
              <a:buSzPct val="31132"/>
              <a:buNone/>
            </a:pPr>
            <a:r>
              <a:rPr lang="es-419" sz="3180"/>
              <a:t>Ahora definamos la </a:t>
            </a:r>
            <a:r>
              <a:rPr lang="es-419" sz="3180"/>
              <a:t>línea</a:t>
            </a:r>
            <a:r>
              <a:rPr lang="es-419" sz="3180"/>
              <a:t> de tiempo y los detalles de cámara</a:t>
            </a:r>
            <a:endParaRPr sz="3180"/>
          </a:p>
        </p:txBody>
      </p:sp>
      <p:pic>
        <p:nvPicPr>
          <p:cNvPr id="177" name="Google Shape;177;p27"/>
          <p:cNvPicPr preferRelativeResize="0"/>
          <p:nvPr/>
        </p:nvPicPr>
        <p:blipFill>
          <a:blip r:embed="rId3">
            <a:alphaModFix/>
          </a:blip>
          <a:stretch>
            <a:fillRect/>
          </a:stretch>
        </p:blipFill>
        <p:spPr>
          <a:xfrm>
            <a:off x="4944250" y="144162"/>
            <a:ext cx="4083725" cy="5096124"/>
          </a:xfrm>
          <a:prstGeom prst="rect">
            <a:avLst/>
          </a:prstGeom>
          <a:noFill/>
          <a:ln>
            <a:noFill/>
          </a:ln>
        </p:spPr>
      </p:pic>
      <p:sp>
        <p:nvSpPr>
          <p:cNvPr id="178" name="Google Shape;178;p27"/>
          <p:cNvSpPr txBox="1"/>
          <p:nvPr/>
        </p:nvSpPr>
        <p:spPr>
          <a:xfrm>
            <a:off x="103325" y="1700050"/>
            <a:ext cx="4661700" cy="318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colocar los 3 niños hablando</a:t>
            </a:r>
            <a:endParaRPr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Tira el cambur</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efecto de cambur por el aire</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cambiar niño 2 expresión</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cambiar niña expresion</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cambiar niño 1 </a:t>
            </a:r>
            <a:r>
              <a:rPr lang="es-419" sz="1300">
                <a:latin typeface="Roboto"/>
                <a:ea typeface="Roboto"/>
                <a:cs typeface="Roboto"/>
                <a:sym typeface="Roboto"/>
              </a:rPr>
              <a:t>expresión</a:t>
            </a:r>
            <a:endParaRPr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Niño 2 dice: ¡Hey!¡Cuidado!</a:t>
            </a:r>
            <a:endParaRPr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Niña dice: Cuando aprenderan las personas a no botar basura desde el bus</a:t>
            </a:r>
            <a:endParaRPr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Para este </a:t>
            </a:r>
            <a:r>
              <a:rPr lang="es-419" sz="1300">
                <a:latin typeface="Roboto"/>
                <a:ea typeface="Roboto"/>
                <a:cs typeface="Roboto"/>
                <a:sym typeface="Roboto"/>
              </a:rPr>
              <a:t>diálogo</a:t>
            </a:r>
            <a:r>
              <a:rPr lang="es-419" sz="1300">
                <a:latin typeface="Roboto"/>
                <a:ea typeface="Roboto"/>
                <a:cs typeface="Roboto"/>
                <a:sym typeface="Roboto"/>
              </a:rPr>
              <a:t> u</a:t>
            </a:r>
            <a:r>
              <a:rPr lang="es-419" sz="1300">
                <a:latin typeface="Roboto"/>
                <a:ea typeface="Roboto"/>
                <a:cs typeface="Roboto"/>
                <a:sym typeface="Roboto"/>
              </a:rPr>
              <a:t>tilizar en Scratch el comando de enviar mensaje y al recibir mensaje de eventos</a:t>
            </a:r>
            <a:endParaRPr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Niño 1  molesto…</a:t>
            </a:r>
            <a:endParaRPr sz="1300">
              <a:latin typeface="Roboto"/>
              <a:ea typeface="Roboto"/>
              <a:cs typeface="Roboto"/>
              <a:sym typeface="Roboto"/>
            </a:endParaRPr>
          </a:p>
        </p:txBody>
      </p:sp>
      <p:sp>
        <p:nvSpPr>
          <p:cNvPr id="179" name="Google Shape;179;p27"/>
          <p:cNvSpPr/>
          <p:nvPr/>
        </p:nvSpPr>
        <p:spPr>
          <a:xfrm>
            <a:off x="6117950" y="1783450"/>
            <a:ext cx="389400" cy="3150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1</a:t>
            </a:r>
            <a:endParaRPr/>
          </a:p>
        </p:txBody>
      </p:sp>
      <p:sp>
        <p:nvSpPr>
          <p:cNvPr id="180" name="Google Shape;180;p27"/>
          <p:cNvSpPr/>
          <p:nvPr/>
        </p:nvSpPr>
        <p:spPr>
          <a:xfrm>
            <a:off x="7818025" y="2204600"/>
            <a:ext cx="389400" cy="3150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2</a:t>
            </a:r>
            <a:endParaRPr/>
          </a:p>
        </p:txBody>
      </p:sp>
      <p:sp>
        <p:nvSpPr>
          <p:cNvPr id="181" name="Google Shape;181;p27"/>
          <p:cNvSpPr/>
          <p:nvPr/>
        </p:nvSpPr>
        <p:spPr>
          <a:xfrm>
            <a:off x="6320800" y="3218900"/>
            <a:ext cx="389400" cy="3150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3</a:t>
            </a:r>
            <a:endParaRPr/>
          </a:p>
        </p:txBody>
      </p:sp>
      <p:sp>
        <p:nvSpPr>
          <p:cNvPr id="182" name="Google Shape;182;p27"/>
          <p:cNvSpPr/>
          <p:nvPr/>
        </p:nvSpPr>
        <p:spPr>
          <a:xfrm>
            <a:off x="7909675" y="3218900"/>
            <a:ext cx="389400" cy="3150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4</a:t>
            </a:r>
            <a:endParaRPr/>
          </a:p>
        </p:txBody>
      </p:sp>
      <p:sp>
        <p:nvSpPr>
          <p:cNvPr id="183" name="Google Shape;183;p27"/>
          <p:cNvSpPr/>
          <p:nvPr/>
        </p:nvSpPr>
        <p:spPr>
          <a:xfrm>
            <a:off x="8136225" y="4070475"/>
            <a:ext cx="389400" cy="3150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189" name="Google Shape;189;p28"/>
          <p:cNvSpPr txBox="1"/>
          <p:nvPr/>
        </p:nvSpPr>
        <p:spPr>
          <a:xfrm>
            <a:off x="103325" y="1700050"/>
            <a:ext cx="4661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p:txBody>
      </p:sp>
      <p:sp>
        <p:nvSpPr>
          <p:cNvPr id="190" name="Google Shape;190;p28"/>
          <p:cNvSpPr txBox="1"/>
          <p:nvPr/>
        </p:nvSpPr>
        <p:spPr>
          <a:xfrm>
            <a:off x="103325" y="2485150"/>
            <a:ext cx="4661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Dar click en fondos, en la pestaña fondos escoger el fondo de inicio:</a:t>
            </a:r>
            <a:endParaRPr sz="1300">
              <a:latin typeface="Roboto"/>
              <a:ea typeface="Roboto"/>
              <a:cs typeface="Roboto"/>
              <a:sym typeface="Roboto"/>
            </a:endParaRPr>
          </a:p>
        </p:txBody>
      </p:sp>
      <p:pic>
        <p:nvPicPr>
          <p:cNvPr id="191" name="Google Shape;191;p28"/>
          <p:cNvPicPr preferRelativeResize="0"/>
          <p:nvPr/>
        </p:nvPicPr>
        <p:blipFill>
          <a:blip r:embed="rId3">
            <a:alphaModFix/>
          </a:blip>
          <a:stretch>
            <a:fillRect/>
          </a:stretch>
        </p:blipFill>
        <p:spPr>
          <a:xfrm>
            <a:off x="471900" y="3209102"/>
            <a:ext cx="3796772" cy="1934399"/>
          </a:xfrm>
          <a:prstGeom prst="rect">
            <a:avLst/>
          </a:prstGeom>
          <a:noFill/>
          <a:ln>
            <a:noFill/>
          </a:ln>
        </p:spPr>
      </p:pic>
      <p:sp>
        <p:nvSpPr>
          <p:cNvPr id="192" name="Google Shape;192;p28"/>
          <p:cNvSpPr txBox="1"/>
          <p:nvPr/>
        </p:nvSpPr>
        <p:spPr>
          <a:xfrm>
            <a:off x="4572000" y="1746075"/>
            <a:ext cx="4661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startAt="2"/>
            </a:pPr>
            <a:r>
              <a:rPr lang="es-419" sz="1300">
                <a:latin typeface="Roboto"/>
                <a:ea typeface="Roboto"/>
                <a:cs typeface="Roboto"/>
                <a:sym typeface="Roboto"/>
              </a:rPr>
              <a:t>En la pestaña de código:</a:t>
            </a:r>
            <a:endParaRPr sz="1300">
              <a:latin typeface="Roboto"/>
              <a:ea typeface="Roboto"/>
              <a:cs typeface="Roboto"/>
              <a:sym typeface="Roboto"/>
            </a:endParaRPr>
          </a:p>
        </p:txBody>
      </p:sp>
      <p:pic>
        <p:nvPicPr>
          <p:cNvPr id="193" name="Google Shape;193;p28"/>
          <p:cNvPicPr preferRelativeResize="0"/>
          <p:nvPr/>
        </p:nvPicPr>
        <p:blipFill>
          <a:blip r:embed="rId4">
            <a:alphaModFix/>
          </a:blip>
          <a:stretch>
            <a:fillRect/>
          </a:stretch>
        </p:blipFill>
        <p:spPr>
          <a:xfrm>
            <a:off x="5065595" y="2485153"/>
            <a:ext cx="3593300" cy="2220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199" name="Google Shape;199;p29"/>
          <p:cNvSpPr txBox="1"/>
          <p:nvPr/>
        </p:nvSpPr>
        <p:spPr>
          <a:xfrm>
            <a:off x="103325" y="1700050"/>
            <a:ext cx="4661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p:txBody>
      </p:sp>
      <p:sp>
        <p:nvSpPr>
          <p:cNvPr id="200" name="Google Shape;200;p29"/>
          <p:cNvSpPr txBox="1"/>
          <p:nvPr/>
        </p:nvSpPr>
        <p:spPr>
          <a:xfrm>
            <a:off x="158700" y="2571750"/>
            <a:ext cx="4661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startAt="3"/>
            </a:pPr>
            <a:r>
              <a:rPr lang="es-419" sz="1300">
                <a:latin typeface="Roboto"/>
                <a:ea typeface="Roboto"/>
                <a:cs typeface="Roboto"/>
                <a:sym typeface="Roboto"/>
              </a:rPr>
              <a:t>Dar click en personaje bus y colocar el código:</a:t>
            </a:r>
            <a:endParaRPr sz="1300">
              <a:latin typeface="Roboto"/>
              <a:ea typeface="Roboto"/>
              <a:cs typeface="Roboto"/>
              <a:sym typeface="Roboto"/>
            </a:endParaRPr>
          </a:p>
        </p:txBody>
      </p:sp>
      <p:pic>
        <p:nvPicPr>
          <p:cNvPr id="201" name="Google Shape;201;p29"/>
          <p:cNvPicPr preferRelativeResize="0"/>
          <p:nvPr/>
        </p:nvPicPr>
        <p:blipFill>
          <a:blip r:embed="rId3">
            <a:alphaModFix/>
          </a:blip>
          <a:stretch>
            <a:fillRect/>
          </a:stretch>
        </p:blipFill>
        <p:spPr>
          <a:xfrm>
            <a:off x="5016550" y="728975"/>
            <a:ext cx="4018800" cy="427055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07" name="Google Shape;207;p30"/>
          <p:cNvSpPr txBox="1"/>
          <p:nvPr/>
        </p:nvSpPr>
        <p:spPr>
          <a:xfrm>
            <a:off x="103325" y="1700050"/>
            <a:ext cx="46617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colocar los 3 niños hablando</a:t>
            </a:r>
            <a:endParaRPr sz="1300">
              <a:latin typeface="Roboto"/>
              <a:ea typeface="Roboto"/>
              <a:cs typeface="Roboto"/>
              <a:sym typeface="Roboto"/>
            </a:endParaRPr>
          </a:p>
          <a:p>
            <a:pPr indent="0" lvl="0" marL="1371600" rtl="0" algn="l">
              <a:spcBef>
                <a:spcPts val="0"/>
              </a:spcBef>
              <a:spcAft>
                <a:spcPts val="0"/>
              </a:spcAft>
              <a:buNone/>
            </a:pPr>
            <a:r>
              <a:t/>
            </a:r>
            <a:endParaRPr sz="1300">
              <a:latin typeface="Roboto"/>
              <a:ea typeface="Roboto"/>
              <a:cs typeface="Roboto"/>
              <a:sym typeface="Roboto"/>
            </a:endParaRPr>
          </a:p>
        </p:txBody>
      </p:sp>
      <p:sp>
        <p:nvSpPr>
          <p:cNvPr id="208" name="Google Shape;208;p30"/>
          <p:cNvSpPr txBox="1"/>
          <p:nvPr/>
        </p:nvSpPr>
        <p:spPr>
          <a:xfrm>
            <a:off x="158700" y="2571750"/>
            <a:ext cx="4661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startAt="4"/>
            </a:pPr>
            <a:r>
              <a:rPr lang="es-419" sz="1300">
                <a:latin typeface="Roboto"/>
                <a:ea typeface="Roboto"/>
                <a:cs typeface="Roboto"/>
                <a:sym typeface="Roboto"/>
              </a:rPr>
              <a:t>Dar click en personaje NIÑA y colocar el </a:t>
            </a:r>
            <a:r>
              <a:rPr lang="es-419" sz="1300">
                <a:latin typeface="Roboto"/>
                <a:ea typeface="Roboto"/>
                <a:cs typeface="Roboto"/>
                <a:sym typeface="Roboto"/>
              </a:rPr>
              <a:t>código</a:t>
            </a:r>
            <a:endParaRPr sz="1300">
              <a:latin typeface="Roboto"/>
              <a:ea typeface="Roboto"/>
              <a:cs typeface="Roboto"/>
              <a:sym typeface="Roboto"/>
            </a:endParaRPr>
          </a:p>
        </p:txBody>
      </p:sp>
      <p:pic>
        <p:nvPicPr>
          <p:cNvPr id="209" name="Google Shape;209;p30"/>
          <p:cNvPicPr preferRelativeResize="0"/>
          <p:nvPr/>
        </p:nvPicPr>
        <p:blipFill>
          <a:blip r:embed="rId3">
            <a:alphaModFix/>
          </a:blip>
          <a:stretch>
            <a:fillRect/>
          </a:stretch>
        </p:blipFill>
        <p:spPr>
          <a:xfrm>
            <a:off x="4820400" y="1804025"/>
            <a:ext cx="3590925" cy="2905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15" name="Google Shape;215;p31"/>
          <p:cNvSpPr txBox="1"/>
          <p:nvPr/>
        </p:nvSpPr>
        <p:spPr>
          <a:xfrm>
            <a:off x="103325" y="1700050"/>
            <a:ext cx="46617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colocar los 3 niños hablando</a:t>
            </a:r>
            <a:endParaRPr sz="1300">
              <a:latin typeface="Roboto"/>
              <a:ea typeface="Roboto"/>
              <a:cs typeface="Roboto"/>
              <a:sym typeface="Roboto"/>
            </a:endParaRPr>
          </a:p>
        </p:txBody>
      </p:sp>
      <p:sp>
        <p:nvSpPr>
          <p:cNvPr id="216" name="Google Shape;216;p31"/>
          <p:cNvSpPr txBox="1"/>
          <p:nvPr/>
        </p:nvSpPr>
        <p:spPr>
          <a:xfrm>
            <a:off x="158700" y="2571750"/>
            <a:ext cx="4661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startAt="4"/>
            </a:pPr>
            <a:r>
              <a:rPr lang="es-419" sz="1300">
                <a:latin typeface="Roboto"/>
                <a:ea typeface="Roboto"/>
                <a:cs typeface="Roboto"/>
                <a:sym typeface="Roboto"/>
              </a:rPr>
              <a:t>Dar click en personaje NIÑO1 y colocar el </a:t>
            </a:r>
            <a:r>
              <a:rPr lang="es-419" sz="1300">
                <a:latin typeface="Roboto"/>
                <a:ea typeface="Roboto"/>
                <a:cs typeface="Roboto"/>
                <a:sym typeface="Roboto"/>
              </a:rPr>
              <a:t>código</a:t>
            </a:r>
            <a:endParaRPr sz="1300">
              <a:latin typeface="Roboto"/>
              <a:ea typeface="Roboto"/>
              <a:cs typeface="Roboto"/>
              <a:sym typeface="Roboto"/>
            </a:endParaRPr>
          </a:p>
        </p:txBody>
      </p:sp>
      <p:pic>
        <p:nvPicPr>
          <p:cNvPr id="217" name="Google Shape;217;p31"/>
          <p:cNvPicPr preferRelativeResize="0"/>
          <p:nvPr/>
        </p:nvPicPr>
        <p:blipFill>
          <a:blip r:embed="rId3">
            <a:alphaModFix/>
          </a:blip>
          <a:stretch>
            <a:fillRect/>
          </a:stretch>
        </p:blipFill>
        <p:spPr>
          <a:xfrm>
            <a:off x="4572000" y="2000900"/>
            <a:ext cx="4018800" cy="283995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23" name="Google Shape;223;p32"/>
          <p:cNvSpPr txBox="1"/>
          <p:nvPr/>
        </p:nvSpPr>
        <p:spPr>
          <a:xfrm>
            <a:off x="103325" y="1700050"/>
            <a:ext cx="46617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colocar los 3 niños hablando</a:t>
            </a:r>
            <a:endParaRPr sz="1300">
              <a:latin typeface="Roboto"/>
              <a:ea typeface="Roboto"/>
              <a:cs typeface="Roboto"/>
              <a:sym typeface="Roboto"/>
            </a:endParaRPr>
          </a:p>
        </p:txBody>
      </p:sp>
      <p:sp>
        <p:nvSpPr>
          <p:cNvPr id="224" name="Google Shape;224;p32"/>
          <p:cNvSpPr txBox="1"/>
          <p:nvPr/>
        </p:nvSpPr>
        <p:spPr>
          <a:xfrm>
            <a:off x="158700" y="2571750"/>
            <a:ext cx="4661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startAt="4"/>
            </a:pPr>
            <a:r>
              <a:rPr lang="es-419" sz="1300">
                <a:latin typeface="Roboto"/>
                <a:ea typeface="Roboto"/>
                <a:cs typeface="Roboto"/>
                <a:sym typeface="Roboto"/>
              </a:rPr>
              <a:t>Dar click en personaje NIÑO2 y colocar el código</a:t>
            </a:r>
            <a:endParaRPr sz="1300">
              <a:latin typeface="Roboto"/>
              <a:ea typeface="Roboto"/>
              <a:cs typeface="Roboto"/>
              <a:sym typeface="Roboto"/>
            </a:endParaRPr>
          </a:p>
        </p:txBody>
      </p:sp>
      <p:pic>
        <p:nvPicPr>
          <p:cNvPr id="225" name="Google Shape;225;p32"/>
          <p:cNvPicPr preferRelativeResize="0"/>
          <p:nvPr/>
        </p:nvPicPr>
        <p:blipFill>
          <a:blip r:embed="rId3">
            <a:alphaModFix/>
          </a:blip>
          <a:stretch>
            <a:fillRect/>
          </a:stretch>
        </p:blipFill>
        <p:spPr>
          <a:xfrm>
            <a:off x="4765025" y="1825875"/>
            <a:ext cx="3867150" cy="3095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31" name="Google Shape;231;p33"/>
          <p:cNvSpPr txBox="1"/>
          <p:nvPr/>
        </p:nvSpPr>
        <p:spPr>
          <a:xfrm>
            <a:off x="103325" y="1700050"/>
            <a:ext cx="46617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colocar los 3 niños hablando</a:t>
            </a:r>
            <a:endParaRPr sz="1300">
              <a:latin typeface="Roboto"/>
              <a:ea typeface="Roboto"/>
              <a:cs typeface="Roboto"/>
              <a:sym typeface="Roboto"/>
            </a:endParaRPr>
          </a:p>
        </p:txBody>
      </p:sp>
      <p:sp>
        <p:nvSpPr>
          <p:cNvPr id="232" name="Google Shape;232;p33"/>
          <p:cNvSpPr txBox="1"/>
          <p:nvPr/>
        </p:nvSpPr>
        <p:spPr>
          <a:xfrm>
            <a:off x="158700" y="2571750"/>
            <a:ext cx="4661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startAt="4"/>
            </a:pPr>
            <a:r>
              <a:rPr lang="es-419" sz="1300">
                <a:latin typeface="Roboto"/>
                <a:ea typeface="Roboto"/>
                <a:cs typeface="Roboto"/>
                <a:sym typeface="Roboto"/>
              </a:rPr>
              <a:t>Dar click en personaje cambur y colocar el código</a:t>
            </a:r>
            <a:endParaRPr sz="1300">
              <a:latin typeface="Roboto"/>
              <a:ea typeface="Roboto"/>
              <a:cs typeface="Roboto"/>
              <a:sym typeface="Roboto"/>
            </a:endParaRPr>
          </a:p>
        </p:txBody>
      </p:sp>
      <p:pic>
        <p:nvPicPr>
          <p:cNvPr id="233" name="Google Shape;233;p33"/>
          <p:cNvPicPr preferRelativeResize="0"/>
          <p:nvPr/>
        </p:nvPicPr>
        <p:blipFill>
          <a:blip r:embed="rId3">
            <a:alphaModFix/>
          </a:blip>
          <a:stretch>
            <a:fillRect/>
          </a:stretch>
        </p:blipFill>
        <p:spPr>
          <a:xfrm>
            <a:off x="5213450" y="2405600"/>
            <a:ext cx="2019300" cy="1933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39" name="Google Shape;239;p34"/>
          <p:cNvSpPr txBox="1"/>
          <p:nvPr/>
        </p:nvSpPr>
        <p:spPr>
          <a:xfrm>
            <a:off x="103325" y="1700050"/>
            <a:ext cx="46617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colocar los 3 niños hablando</a:t>
            </a:r>
            <a:endParaRPr sz="1300">
              <a:latin typeface="Roboto"/>
              <a:ea typeface="Roboto"/>
              <a:cs typeface="Roboto"/>
              <a:sym typeface="Roboto"/>
            </a:endParaRPr>
          </a:p>
        </p:txBody>
      </p:sp>
      <p:sp>
        <p:nvSpPr>
          <p:cNvPr id="240" name="Google Shape;240;p34"/>
          <p:cNvSpPr txBox="1"/>
          <p:nvPr/>
        </p:nvSpPr>
        <p:spPr>
          <a:xfrm>
            <a:off x="158700" y="2571750"/>
            <a:ext cx="4661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startAt="4"/>
            </a:pPr>
            <a:r>
              <a:rPr lang="es-419" sz="1300">
                <a:latin typeface="Roboto"/>
                <a:ea typeface="Roboto"/>
                <a:cs typeface="Roboto"/>
                <a:sym typeface="Roboto"/>
              </a:rPr>
              <a:t>Dar click en personaje vendedor y colocar el código</a:t>
            </a:r>
            <a:endParaRPr sz="1300">
              <a:latin typeface="Roboto"/>
              <a:ea typeface="Roboto"/>
              <a:cs typeface="Roboto"/>
              <a:sym typeface="Roboto"/>
            </a:endParaRPr>
          </a:p>
        </p:txBody>
      </p:sp>
      <p:pic>
        <p:nvPicPr>
          <p:cNvPr id="241" name="Google Shape;241;p34"/>
          <p:cNvPicPr preferRelativeResize="0"/>
          <p:nvPr/>
        </p:nvPicPr>
        <p:blipFill>
          <a:blip r:embed="rId3">
            <a:alphaModFix/>
          </a:blip>
          <a:stretch>
            <a:fillRect/>
          </a:stretch>
        </p:blipFill>
        <p:spPr>
          <a:xfrm>
            <a:off x="5213450" y="2405600"/>
            <a:ext cx="2019300" cy="19335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47" name="Google Shape;247;p35"/>
          <p:cNvSpPr txBox="1"/>
          <p:nvPr/>
        </p:nvSpPr>
        <p:spPr>
          <a:xfrm>
            <a:off x="103325" y="1700050"/>
            <a:ext cx="46617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colocar los 3 niños hablando</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Tira el cambur</a:t>
            </a:r>
            <a:endParaRPr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efecto de cambur por el aire</a:t>
            </a:r>
            <a:endParaRPr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cambiar niño 2 expresión</a:t>
            </a:r>
            <a:endParaRPr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cambiar niña expresion</a:t>
            </a:r>
            <a:endParaRPr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cambiar niño 1 expresión</a:t>
            </a:r>
            <a:endParaRPr sz="1300">
              <a:latin typeface="Roboto"/>
              <a:ea typeface="Roboto"/>
              <a:cs typeface="Roboto"/>
              <a:sym typeface="Roboto"/>
            </a:endParaRPr>
          </a:p>
          <a:p>
            <a:pPr indent="0" lvl="0" marL="1371600" rtl="0" algn="l">
              <a:spcBef>
                <a:spcPts val="0"/>
              </a:spcBef>
              <a:spcAft>
                <a:spcPts val="0"/>
              </a:spcAft>
              <a:buNone/>
            </a:pPr>
            <a:r>
              <a:t/>
            </a:r>
            <a:endParaRPr sz="1300">
              <a:latin typeface="Roboto"/>
              <a:ea typeface="Roboto"/>
              <a:cs typeface="Roboto"/>
              <a:sym typeface="Roboto"/>
            </a:endParaRPr>
          </a:p>
        </p:txBody>
      </p:sp>
      <p:sp>
        <p:nvSpPr>
          <p:cNvPr id="248" name="Google Shape;248;p35"/>
          <p:cNvSpPr txBox="1"/>
          <p:nvPr/>
        </p:nvSpPr>
        <p:spPr>
          <a:xfrm>
            <a:off x="158700" y="3685900"/>
            <a:ext cx="4661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 para el cambur y su efecto de caer del bus</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startAt="2"/>
            </a:pPr>
            <a:r>
              <a:rPr lang="es-419" sz="1300">
                <a:latin typeface="Roboto"/>
                <a:ea typeface="Roboto"/>
                <a:cs typeface="Roboto"/>
                <a:sym typeface="Roboto"/>
              </a:rPr>
              <a:t>En la pestaña de código:</a:t>
            </a:r>
            <a:endParaRPr sz="1300">
              <a:latin typeface="Roboto"/>
              <a:ea typeface="Roboto"/>
              <a:cs typeface="Roboto"/>
              <a:sym typeface="Roboto"/>
            </a:endParaRPr>
          </a:p>
        </p:txBody>
      </p:sp>
      <p:pic>
        <p:nvPicPr>
          <p:cNvPr id="249" name="Google Shape;249;p35"/>
          <p:cNvPicPr preferRelativeResize="0"/>
          <p:nvPr/>
        </p:nvPicPr>
        <p:blipFill>
          <a:blip r:embed="rId3">
            <a:alphaModFix/>
          </a:blip>
          <a:stretch>
            <a:fillRect/>
          </a:stretch>
        </p:blipFill>
        <p:spPr>
          <a:xfrm>
            <a:off x="5135725" y="75513"/>
            <a:ext cx="2919500" cy="4992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55" name="Google Shape;255;p36"/>
          <p:cNvSpPr txBox="1"/>
          <p:nvPr/>
        </p:nvSpPr>
        <p:spPr>
          <a:xfrm>
            <a:off x="103325" y="1700050"/>
            <a:ext cx="46617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0" marL="457200" rtl="0" algn="l">
              <a:spcBef>
                <a:spcPts val="0"/>
              </a:spcBef>
              <a:spcAft>
                <a:spcPts val="0"/>
              </a:spcAft>
              <a:buSzPts val="1300"/>
              <a:buFont typeface="Roboto"/>
              <a:buAutoNum type="arabicPeriod"/>
            </a:pPr>
            <a:r>
              <a:rPr lang="es-419" sz="1300">
                <a:latin typeface="Roboto"/>
                <a:ea typeface="Roboto"/>
                <a:cs typeface="Roboto"/>
                <a:sym typeface="Roboto"/>
              </a:rPr>
              <a:t>Sale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animar el bus entrando a la ciudad</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colocar los 3 niños hablando</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lphaLcPeriod"/>
            </a:pPr>
            <a:r>
              <a:rPr lang="es-419" sz="1300">
                <a:latin typeface="Roboto"/>
                <a:ea typeface="Roboto"/>
                <a:cs typeface="Roboto"/>
                <a:sym typeface="Roboto"/>
              </a:rPr>
              <a:t>Tira el cambur</a:t>
            </a:r>
            <a:endParaRPr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efecto de cambur por el aire</a:t>
            </a:r>
            <a:endParaRPr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cambiar niño 2 expresión</a:t>
            </a:r>
            <a:endParaRPr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cambiar niña expresion</a:t>
            </a:r>
            <a:endParaRPr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cambiar niño 1 expresión</a:t>
            </a:r>
            <a:endParaRPr sz="1300">
              <a:latin typeface="Roboto"/>
              <a:ea typeface="Roboto"/>
              <a:cs typeface="Roboto"/>
              <a:sym typeface="Roboto"/>
            </a:endParaRPr>
          </a:p>
          <a:p>
            <a:pPr indent="0" lvl="0" marL="1371600" rtl="0" algn="l">
              <a:spcBef>
                <a:spcPts val="0"/>
              </a:spcBef>
              <a:spcAft>
                <a:spcPts val="0"/>
              </a:spcAft>
              <a:buNone/>
            </a:pPr>
            <a:r>
              <a:t/>
            </a:r>
            <a:endParaRPr sz="1300">
              <a:latin typeface="Roboto"/>
              <a:ea typeface="Roboto"/>
              <a:cs typeface="Roboto"/>
              <a:sym typeface="Roboto"/>
            </a:endParaRPr>
          </a:p>
        </p:txBody>
      </p:sp>
      <p:sp>
        <p:nvSpPr>
          <p:cNvPr id="256" name="Google Shape;256;p36"/>
          <p:cNvSpPr txBox="1"/>
          <p:nvPr/>
        </p:nvSpPr>
        <p:spPr>
          <a:xfrm>
            <a:off x="158700" y="3685900"/>
            <a:ext cx="46617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 para la linea del tiempo se lleva:</a:t>
            </a:r>
            <a:endParaRPr b="1" sz="1300">
              <a:latin typeface="Roboto"/>
              <a:ea typeface="Roboto"/>
              <a:cs typeface="Roboto"/>
              <a:sym typeface="Roboto"/>
            </a:endParaRPr>
          </a:p>
          <a:p>
            <a:pPr indent="-311150" lvl="0" marL="457200" rtl="0" algn="l">
              <a:spcBef>
                <a:spcPts val="0"/>
              </a:spcBef>
              <a:spcAft>
                <a:spcPts val="0"/>
              </a:spcAft>
              <a:buSzPts val="1300"/>
              <a:buFont typeface="Roboto"/>
              <a:buChar char="●"/>
            </a:pPr>
            <a:r>
              <a:rPr lang="es-419" sz="1300">
                <a:latin typeface="Roboto"/>
                <a:ea typeface="Roboto"/>
                <a:cs typeface="Roboto"/>
                <a:sym typeface="Roboto"/>
              </a:rPr>
              <a:t>5 segundos al inicio por el bus</a:t>
            </a:r>
            <a:endParaRPr sz="1300">
              <a:latin typeface="Roboto"/>
              <a:ea typeface="Roboto"/>
              <a:cs typeface="Roboto"/>
              <a:sym typeface="Roboto"/>
            </a:endParaRPr>
          </a:p>
          <a:p>
            <a:pPr indent="-311150" lvl="0" marL="457200" rtl="0" algn="l">
              <a:spcBef>
                <a:spcPts val="0"/>
              </a:spcBef>
              <a:spcAft>
                <a:spcPts val="0"/>
              </a:spcAft>
              <a:buSzPts val="1300"/>
              <a:buFont typeface="Roboto"/>
              <a:buChar char="●"/>
            </a:pPr>
            <a:r>
              <a:rPr lang="es-419" sz="1300">
                <a:latin typeface="Roboto"/>
                <a:ea typeface="Roboto"/>
                <a:cs typeface="Roboto"/>
                <a:sym typeface="Roboto"/>
              </a:rPr>
              <a:t>Niños conversando  5 segundos </a:t>
            </a:r>
            <a:endParaRPr sz="1300">
              <a:latin typeface="Roboto"/>
              <a:ea typeface="Roboto"/>
              <a:cs typeface="Roboto"/>
              <a:sym typeface="Roboto"/>
            </a:endParaRPr>
          </a:p>
          <a:p>
            <a:pPr indent="-311150" lvl="0" marL="457200" rtl="0" algn="l">
              <a:spcBef>
                <a:spcPts val="0"/>
              </a:spcBef>
              <a:spcAft>
                <a:spcPts val="0"/>
              </a:spcAft>
              <a:buSzPts val="1300"/>
              <a:buFont typeface="Roboto"/>
              <a:buChar char="●"/>
            </a:pPr>
            <a:r>
              <a:rPr lang="es-419" sz="1300">
                <a:latin typeface="Roboto"/>
                <a:ea typeface="Roboto"/>
                <a:cs typeface="Roboto"/>
                <a:sym typeface="Roboto"/>
              </a:rPr>
              <a:t>Se estima el tiempo de </a:t>
            </a:r>
            <a:r>
              <a:rPr lang="es-419" sz="1300">
                <a:latin typeface="Roboto"/>
                <a:ea typeface="Roboto"/>
                <a:cs typeface="Roboto"/>
                <a:sym typeface="Roboto"/>
              </a:rPr>
              <a:t>caída</a:t>
            </a:r>
            <a:r>
              <a:rPr lang="es-419" sz="1300">
                <a:latin typeface="Roboto"/>
                <a:ea typeface="Roboto"/>
                <a:cs typeface="Roboto"/>
                <a:sym typeface="Roboto"/>
              </a:rPr>
              <a:t> del cambur hacia el personaje en 0.5 segundos</a:t>
            </a:r>
            <a:endParaRPr sz="1300">
              <a:latin typeface="Roboto"/>
              <a:ea typeface="Roboto"/>
              <a:cs typeface="Roboto"/>
              <a:sym typeface="Roboto"/>
            </a:endParaRPr>
          </a:p>
          <a:p>
            <a:pPr indent="-311150" lvl="0" marL="457200" rtl="0" algn="l">
              <a:spcBef>
                <a:spcPts val="0"/>
              </a:spcBef>
              <a:spcAft>
                <a:spcPts val="0"/>
              </a:spcAft>
              <a:buSzPts val="1300"/>
              <a:buFont typeface="Roboto"/>
              <a:buChar char="●"/>
            </a:pPr>
            <a:r>
              <a:rPr lang="es-419" sz="1300">
                <a:latin typeface="Roboto"/>
                <a:ea typeface="Roboto"/>
                <a:cs typeface="Roboto"/>
                <a:sym typeface="Roboto"/>
              </a:rPr>
              <a:t>Se añade el </a:t>
            </a:r>
            <a:r>
              <a:rPr lang="es-419" sz="1300">
                <a:latin typeface="Roboto"/>
                <a:ea typeface="Roboto"/>
                <a:cs typeface="Roboto"/>
                <a:sym typeface="Roboto"/>
              </a:rPr>
              <a:t>código</a:t>
            </a:r>
            <a:r>
              <a:rPr lang="es-419" sz="1300">
                <a:latin typeface="Roboto"/>
                <a:ea typeface="Roboto"/>
                <a:cs typeface="Roboto"/>
                <a:sym typeface="Roboto"/>
              </a:rPr>
              <a:t> en niño 2</a:t>
            </a:r>
            <a:endParaRPr sz="1300">
              <a:latin typeface="Roboto"/>
              <a:ea typeface="Roboto"/>
              <a:cs typeface="Roboto"/>
              <a:sym typeface="Roboto"/>
            </a:endParaRPr>
          </a:p>
        </p:txBody>
      </p:sp>
      <p:pic>
        <p:nvPicPr>
          <p:cNvPr id="257" name="Google Shape;257;p36"/>
          <p:cNvPicPr preferRelativeResize="0"/>
          <p:nvPr/>
        </p:nvPicPr>
        <p:blipFill>
          <a:blip r:embed="rId3">
            <a:alphaModFix/>
          </a:blip>
          <a:stretch>
            <a:fillRect/>
          </a:stretch>
        </p:blipFill>
        <p:spPr>
          <a:xfrm>
            <a:off x="5180625" y="2427450"/>
            <a:ext cx="3705225" cy="1724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7"/>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63" name="Google Shape;263;p37"/>
          <p:cNvSpPr txBox="1"/>
          <p:nvPr/>
        </p:nvSpPr>
        <p:spPr>
          <a:xfrm>
            <a:off x="103325" y="1700050"/>
            <a:ext cx="46617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b="1"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cambiar niña expresion</a:t>
            </a:r>
            <a:endParaRPr sz="1300">
              <a:latin typeface="Roboto"/>
              <a:ea typeface="Roboto"/>
              <a:cs typeface="Roboto"/>
              <a:sym typeface="Roboto"/>
            </a:endParaRPr>
          </a:p>
          <a:p>
            <a:pPr indent="-311150" lvl="2" marL="1828800" rtl="0" algn="l">
              <a:spcBef>
                <a:spcPts val="0"/>
              </a:spcBef>
              <a:spcAft>
                <a:spcPts val="0"/>
              </a:spcAft>
              <a:buSzPts val="1300"/>
              <a:buFont typeface="Roboto"/>
              <a:buAutoNum type="romanLcPeriod"/>
            </a:pPr>
            <a:r>
              <a:rPr lang="es-419" sz="1300">
                <a:latin typeface="Roboto"/>
                <a:ea typeface="Roboto"/>
                <a:cs typeface="Roboto"/>
                <a:sym typeface="Roboto"/>
              </a:rPr>
              <a:t>cambiar niño 1 expresión</a:t>
            </a:r>
            <a:endParaRPr sz="1300">
              <a:latin typeface="Roboto"/>
              <a:ea typeface="Roboto"/>
              <a:cs typeface="Roboto"/>
              <a:sym typeface="Roboto"/>
            </a:endParaRPr>
          </a:p>
          <a:p>
            <a:pPr indent="0" lvl="0" marL="1371600" rtl="0" algn="l">
              <a:spcBef>
                <a:spcPts val="0"/>
              </a:spcBef>
              <a:spcAft>
                <a:spcPts val="0"/>
              </a:spcAft>
              <a:buNone/>
            </a:pPr>
            <a:r>
              <a:t/>
            </a:r>
            <a:endParaRPr sz="1300">
              <a:latin typeface="Roboto"/>
              <a:ea typeface="Roboto"/>
              <a:cs typeface="Roboto"/>
              <a:sym typeface="Roboto"/>
            </a:endParaRPr>
          </a:p>
        </p:txBody>
      </p:sp>
      <p:sp>
        <p:nvSpPr>
          <p:cNvPr id="264" name="Google Shape;264;p37"/>
          <p:cNvSpPr txBox="1"/>
          <p:nvPr/>
        </p:nvSpPr>
        <p:spPr>
          <a:xfrm>
            <a:off x="103325" y="2571750"/>
            <a:ext cx="2105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 para niño 1:</a:t>
            </a:r>
            <a:endParaRPr sz="1300">
              <a:latin typeface="Roboto"/>
              <a:ea typeface="Roboto"/>
              <a:cs typeface="Roboto"/>
              <a:sym typeface="Roboto"/>
            </a:endParaRPr>
          </a:p>
        </p:txBody>
      </p:sp>
      <p:sp>
        <p:nvSpPr>
          <p:cNvPr id="265" name="Google Shape;265;p37"/>
          <p:cNvSpPr txBox="1"/>
          <p:nvPr/>
        </p:nvSpPr>
        <p:spPr>
          <a:xfrm>
            <a:off x="4820400" y="1838200"/>
            <a:ext cx="2105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 para niña:</a:t>
            </a:r>
            <a:endParaRPr sz="1300">
              <a:latin typeface="Roboto"/>
              <a:ea typeface="Roboto"/>
              <a:cs typeface="Roboto"/>
              <a:sym typeface="Roboto"/>
            </a:endParaRPr>
          </a:p>
        </p:txBody>
      </p:sp>
      <p:pic>
        <p:nvPicPr>
          <p:cNvPr id="266" name="Google Shape;266;p37"/>
          <p:cNvPicPr preferRelativeResize="0"/>
          <p:nvPr/>
        </p:nvPicPr>
        <p:blipFill>
          <a:blip r:embed="rId3">
            <a:alphaModFix/>
          </a:blip>
          <a:stretch>
            <a:fillRect/>
          </a:stretch>
        </p:blipFill>
        <p:spPr>
          <a:xfrm>
            <a:off x="152400" y="3109050"/>
            <a:ext cx="3445400" cy="1633375"/>
          </a:xfrm>
          <a:prstGeom prst="rect">
            <a:avLst/>
          </a:prstGeom>
          <a:noFill/>
          <a:ln>
            <a:noFill/>
          </a:ln>
        </p:spPr>
      </p:pic>
      <p:pic>
        <p:nvPicPr>
          <p:cNvPr id="267" name="Google Shape;267;p37"/>
          <p:cNvPicPr preferRelativeResize="0"/>
          <p:nvPr/>
        </p:nvPicPr>
        <p:blipFill>
          <a:blip r:embed="rId4">
            <a:alphaModFix/>
          </a:blip>
          <a:stretch>
            <a:fillRect/>
          </a:stretch>
        </p:blipFill>
        <p:spPr>
          <a:xfrm>
            <a:off x="5084625" y="2509525"/>
            <a:ext cx="3314700" cy="1276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8"/>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73" name="Google Shape;273;p38"/>
          <p:cNvSpPr txBox="1"/>
          <p:nvPr/>
        </p:nvSpPr>
        <p:spPr>
          <a:xfrm>
            <a:off x="103325" y="1700050"/>
            <a:ext cx="46617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Niño 2 dice: ¡Hey!¡Cuidado!</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Niña dice: Cuando aprenderan las personas a no botar basura desde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Para este diálogo utilizar en Scratch el comando de enviar mensaje y al recibir mensaje de eventos.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Niño 1 se molesta</a:t>
            </a:r>
            <a:endParaRPr sz="1300">
              <a:latin typeface="Roboto"/>
              <a:ea typeface="Roboto"/>
              <a:cs typeface="Roboto"/>
              <a:sym typeface="Roboto"/>
            </a:endParaRPr>
          </a:p>
        </p:txBody>
      </p:sp>
      <p:grpSp>
        <p:nvGrpSpPr>
          <p:cNvPr id="274" name="Google Shape;274;p38"/>
          <p:cNvGrpSpPr/>
          <p:nvPr/>
        </p:nvGrpSpPr>
        <p:grpSpPr>
          <a:xfrm>
            <a:off x="5564187" y="46736"/>
            <a:ext cx="3439139" cy="2586738"/>
            <a:chOff x="5323300" y="1109576"/>
            <a:chExt cx="2326100" cy="1794725"/>
          </a:xfrm>
        </p:grpSpPr>
        <p:pic>
          <p:nvPicPr>
            <p:cNvPr id="275" name="Google Shape;275;p38"/>
            <p:cNvPicPr preferRelativeResize="0"/>
            <p:nvPr/>
          </p:nvPicPr>
          <p:blipFill rotWithShape="1">
            <a:blip r:embed="rId3">
              <a:alphaModFix/>
            </a:blip>
            <a:srcRect b="45839" l="9279" r="33761" t="18943"/>
            <a:stretch/>
          </p:blipFill>
          <p:spPr>
            <a:xfrm>
              <a:off x="5323300" y="1109576"/>
              <a:ext cx="2326100" cy="1794725"/>
            </a:xfrm>
            <a:prstGeom prst="rect">
              <a:avLst/>
            </a:prstGeom>
            <a:noFill/>
            <a:ln>
              <a:noFill/>
            </a:ln>
          </p:spPr>
        </p:pic>
        <p:sp>
          <p:nvSpPr>
            <p:cNvPr id="276" name="Google Shape;276;p38"/>
            <p:cNvSpPr/>
            <p:nvPr/>
          </p:nvSpPr>
          <p:spPr>
            <a:xfrm>
              <a:off x="6117950" y="1783450"/>
              <a:ext cx="389400" cy="3150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1</a:t>
              </a:r>
              <a:endParaRPr/>
            </a:p>
          </p:txBody>
        </p:sp>
      </p:grpSp>
      <p:sp>
        <p:nvSpPr>
          <p:cNvPr id="277" name="Google Shape;277;p38"/>
          <p:cNvSpPr txBox="1"/>
          <p:nvPr/>
        </p:nvSpPr>
        <p:spPr>
          <a:xfrm>
            <a:off x="103325" y="3485650"/>
            <a:ext cx="4661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En Scratch </a:t>
            </a:r>
            <a:endParaRPr b="1" sz="1300">
              <a:latin typeface="Roboto"/>
              <a:ea typeface="Roboto"/>
              <a:cs typeface="Roboto"/>
              <a:sym typeface="Roboto"/>
            </a:endParaRPr>
          </a:p>
          <a:p>
            <a:pPr indent="0" lvl="0" marL="0" rtl="0" algn="l">
              <a:spcBef>
                <a:spcPts val="0"/>
              </a:spcBef>
              <a:spcAft>
                <a:spcPts val="0"/>
              </a:spcAft>
              <a:buNone/>
            </a:pPr>
            <a:r>
              <a:rPr lang="es-419" sz="1300">
                <a:latin typeface="Roboto"/>
                <a:ea typeface="Roboto"/>
                <a:cs typeface="Roboto"/>
                <a:sym typeface="Roboto"/>
              </a:rPr>
              <a:t>Para el dialogo se usaran los controles </a:t>
            </a:r>
            <a:endParaRPr sz="1300">
              <a:latin typeface="Roboto"/>
              <a:ea typeface="Roboto"/>
              <a:cs typeface="Roboto"/>
              <a:sym typeface="Roboto"/>
            </a:endParaRPr>
          </a:p>
        </p:txBody>
      </p:sp>
      <p:pic>
        <p:nvPicPr>
          <p:cNvPr id="278" name="Google Shape;278;p38"/>
          <p:cNvPicPr preferRelativeResize="0"/>
          <p:nvPr/>
        </p:nvPicPr>
        <p:blipFill>
          <a:blip r:embed="rId4">
            <a:alphaModFix/>
          </a:blip>
          <a:stretch>
            <a:fillRect/>
          </a:stretch>
        </p:blipFill>
        <p:spPr>
          <a:xfrm>
            <a:off x="152425" y="3994600"/>
            <a:ext cx="2034425" cy="961725"/>
          </a:xfrm>
          <a:prstGeom prst="rect">
            <a:avLst/>
          </a:prstGeom>
          <a:noFill/>
          <a:ln>
            <a:noFill/>
          </a:ln>
        </p:spPr>
      </p:pic>
      <p:pic>
        <p:nvPicPr>
          <p:cNvPr id="279" name="Google Shape;279;p38"/>
          <p:cNvPicPr preferRelativeResize="0"/>
          <p:nvPr/>
        </p:nvPicPr>
        <p:blipFill>
          <a:blip r:embed="rId5">
            <a:alphaModFix/>
          </a:blip>
          <a:stretch>
            <a:fillRect/>
          </a:stretch>
        </p:blipFill>
        <p:spPr>
          <a:xfrm>
            <a:off x="2237675" y="4070652"/>
            <a:ext cx="1895475" cy="809625"/>
          </a:xfrm>
          <a:prstGeom prst="rect">
            <a:avLst/>
          </a:prstGeom>
          <a:noFill/>
          <a:ln>
            <a:noFill/>
          </a:ln>
        </p:spPr>
      </p:pic>
      <p:pic>
        <p:nvPicPr>
          <p:cNvPr id="280" name="Google Shape;280;p38"/>
          <p:cNvPicPr preferRelativeResize="0"/>
          <p:nvPr/>
        </p:nvPicPr>
        <p:blipFill>
          <a:blip r:embed="rId6">
            <a:alphaModFix/>
          </a:blip>
          <a:stretch>
            <a:fillRect/>
          </a:stretch>
        </p:blipFill>
        <p:spPr>
          <a:xfrm>
            <a:off x="4183975" y="2945877"/>
            <a:ext cx="3067610" cy="1934399"/>
          </a:xfrm>
          <a:prstGeom prst="rect">
            <a:avLst/>
          </a:prstGeom>
          <a:noFill/>
          <a:ln>
            <a:noFill/>
          </a:ln>
        </p:spPr>
      </p:pic>
      <p:pic>
        <p:nvPicPr>
          <p:cNvPr id="281" name="Google Shape;281;p38"/>
          <p:cNvPicPr preferRelativeResize="0"/>
          <p:nvPr/>
        </p:nvPicPr>
        <p:blipFill>
          <a:blip r:embed="rId7">
            <a:alphaModFix/>
          </a:blip>
          <a:stretch>
            <a:fillRect/>
          </a:stretch>
        </p:blipFill>
        <p:spPr>
          <a:xfrm>
            <a:off x="6893793" y="3014763"/>
            <a:ext cx="2250200" cy="1526775"/>
          </a:xfrm>
          <a:prstGeom prst="rect">
            <a:avLst/>
          </a:prstGeom>
          <a:noFill/>
          <a:ln>
            <a:noFill/>
          </a:ln>
        </p:spPr>
      </p:pic>
      <p:sp>
        <p:nvSpPr>
          <p:cNvPr id="282" name="Google Shape;282;p38"/>
          <p:cNvSpPr txBox="1"/>
          <p:nvPr/>
        </p:nvSpPr>
        <p:spPr>
          <a:xfrm>
            <a:off x="4943150" y="2610500"/>
            <a:ext cx="177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latin typeface="Roboto"/>
                <a:ea typeface="Roboto"/>
                <a:cs typeface="Roboto"/>
                <a:sym typeface="Roboto"/>
              </a:rPr>
              <a:t>En niño 2:</a:t>
            </a:r>
            <a:endParaRPr b="1">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288" name="Google Shape;288;p39"/>
          <p:cNvSpPr txBox="1"/>
          <p:nvPr/>
        </p:nvSpPr>
        <p:spPr>
          <a:xfrm>
            <a:off x="103325" y="1700050"/>
            <a:ext cx="46617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Niño 2 dice: ¡Hey!¡Cuidado!</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Niña dice: Cuando aprenderan las personas a no botar basura desde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Para este diálogo utilizar en Scratch el comando de enviar mensaje y al recibir mensaje de eventos.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Niño 1 se molesta</a:t>
            </a:r>
            <a:endParaRPr sz="1300">
              <a:latin typeface="Roboto"/>
              <a:ea typeface="Roboto"/>
              <a:cs typeface="Roboto"/>
              <a:sym typeface="Roboto"/>
            </a:endParaRPr>
          </a:p>
        </p:txBody>
      </p:sp>
      <p:grpSp>
        <p:nvGrpSpPr>
          <p:cNvPr id="289" name="Google Shape;289;p39"/>
          <p:cNvGrpSpPr/>
          <p:nvPr/>
        </p:nvGrpSpPr>
        <p:grpSpPr>
          <a:xfrm>
            <a:off x="5564187" y="46736"/>
            <a:ext cx="3439139" cy="2586738"/>
            <a:chOff x="5323300" y="1109576"/>
            <a:chExt cx="2326100" cy="1794725"/>
          </a:xfrm>
        </p:grpSpPr>
        <p:pic>
          <p:nvPicPr>
            <p:cNvPr id="290" name="Google Shape;290;p39"/>
            <p:cNvPicPr preferRelativeResize="0"/>
            <p:nvPr/>
          </p:nvPicPr>
          <p:blipFill rotWithShape="1">
            <a:blip r:embed="rId3">
              <a:alphaModFix/>
            </a:blip>
            <a:srcRect b="45839" l="9279" r="33761" t="18943"/>
            <a:stretch/>
          </p:blipFill>
          <p:spPr>
            <a:xfrm>
              <a:off x="5323300" y="1109576"/>
              <a:ext cx="2326100" cy="1794725"/>
            </a:xfrm>
            <a:prstGeom prst="rect">
              <a:avLst/>
            </a:prstGeom>
            <a:noFill/>
            <a:ln>
              <a:noFill/>
            </a:ln>
          </p:spPr>
        </p:pic>
        <p:sp>
          <p:nvSpPr>
            <p:cNvPr id="291" name="Google Shape;291;p39"/>
            <p:cNvSpPr/>
            <p:nvPr/>
          </p:nvSpPr>
          <p:spPr>
            <a:xfrm>
              <a:off x="6117950" y="1783450"/>
              <a:ext cx="389400" cy="3150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1</a:t>
              </a:r>
              <a:endParaRPr/>
            </a:p>
          </p:txBody>
        </p:sp>
      </p:grpSp>
      <p:sp>
        <p:nvSpPr>
          <p:cNvPr id="292" name="Google Shape;292;p39"/>
          <p:cNvSpPr txBox="1"/>
          <p:nvPr/>
        </p:nvSpPr>
        <p:spPr>
          <a:xfrm>
            <a:off x="103325" y="3485650"/>
            <a:ext cx="177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latin typeface="Roboto"/>
                <a:ea typeface="Roboto"/>
                <a:cs typeface="Roboto"/>
                <a:sym typeface="Roboto"/>
              </a:rPr>
              <a:t>En niño 2:</a:t>
            </a:r>
            <a:endParaRPr b="1">
              <a:latin typeface="Roboto"/>
              <a:ea typeface="Roboto"/>
              <a:cs typeface="Roboto"/>
              <a:sym typeface="Roboto"/>
            </a:endParaRPr>
          </a:p>
        </p:txBody>
      </p:sp>
      <p:pic>
        <p:nvPicPr>
          <p:cNvPr id="293" name="Google Shape;293;p39"/>
          <p:cNvPicPr preferRelativeResize="0"/>
          <p:nvPr/>
        </p:nvPicPr>
        <p:blipFill>
          <a:blip r:embed="rId4">
            <a:alphaModFix/>
          </a:blip>
          <a:stretch>
            <a:fillRect/>
          </a:stretch>
        </p:blipFill>
        <p:spPr>
          <a:xfrm>
            <a:off x="179050" y="3885850"/>
            <a:ext cx="2937500" cy="829250"/>
          </a:xfrm>
          <a:prstGeom prst="rect">
            <a:avLst/>
          </a:prstGeom>
          <a:noFill/>
          <a:ln>
            <a:noFill/>
          </a:ln>
        </p:spPr>
      </p:pic>
      <p:pic>
        <p:nvPicPr>
          <p:cNvPr id="294" name="Google Shape;294;p39"/>
          <p:cNvPicPr preferRelativeResize="0"/>
          <p:nvPr/>
        </p:nvPicPr>
        <p:blipFill>
          <a:blip r:embed="rId5">
            <a:alphaModFix/>
          </a:blip>
          <a:stretch>
            <a:fillRect/>
          </a:stretch>
        </p:blipFill>
        <p:spPr>
          <a:xfrm>
            <a:off x="3623088" y="3759088"/>
            <a:ext cx="5438775" cy="1228725"/>
          </a:xfrm>
          <a:prstGeom prst="rect">
            <a:avLst/>
          </a:prstGeom>
          <a:noFill/>
          <a:ln>
            <a:noFill/>
          </a:ln>
        </p:spPr>
      </p:pic>
      <p:sp>
        <p:nvSpPr>
          <p:cNvPr id="295" name="Google Shape;295;p39"/>
          <p:cNvSpPr txBox="1"/>
          <p:nvPr/>
        </p:nvSpPr>
        <p:spPr>
          <a:xfrm>
            <a:off x="3686100" y="3441150"/>
            <a:ext cx="177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latin typeface="Roboto"/>
                <a:ea typeface="Roboto"/>
                <a:cs typeface="Roboto"/>
                <a:sym typeface="Roboto"/>
              </a:rPr>
              <a:t>En niña:</a:t>
            </a:r>
            <a:endParaRPr b="1">
              <a:latin typeface="Roboto"/>
              <a:ea typeface="Roboto"/>
              <a:cs typeface="Roboto"/>
              <a:sym typeface="Roboto"/>
            </a:endParaRPr>
          </a:p>
        </p:txBody>
      </p:sp>
      <p:sp>
        <p:nvSpPr>
          <p:cNvPr id="296" name="Google Shape;296;p39"/>
          <p:cNvSpPr/>
          <p:nvPr/>
        </p:nvSpPr>
        <p:spPr>
          <a:xfrm>
            <a:off x="152400" y="3430825"/>
            <a:ext cx="3095400" cy="1651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9"/>
          <p:cNvSpPr/>
          <p:nvPr/>
        </p:nvSpPr>
        <p:spPr>
          <a:xfrm>
            <a:off x="3565775" y="3430825"/>
            <a:ext cx="5438700" cy="16515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0"/>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sp>
        <p:nvSpPr>
          <p:cNvPr id="303" name="Google Shape;303;p40"/>
          <p:cNvSpPr txBox="1"/>
          <p:nvPr/>
        </p:nvSpPr>
        <p:spPr>
          <a:xfrm>
            <a:off x="103325" y="1700050"/>
            <a:ext cx="46617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latin typeface="Roboto"/>
                <a:ea typeface="Roboto"/>
                <a:cs typeface="Roboto"/>
                <a:sym typeface="Roboto"/>
              </a:rPr>
              <a:t>Escena 1 secuencia:</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Niño 2 dice: ¡Hey!¡Cuidado!</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Niña dice: Cuando aprenderan las personas a no botar basura desde el bus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Para este diálogo utilizar en Scratch el comando de enviar mensaje y al recibir mensaje de eventos.</a:t>
            </a:r>
            <a:endParaRPr sz="1300">
              <a:latin typeface="Roboto"/>
              <a:ea typeface="Roboto"/>
              <a:cs typeface="Roboto"/>
              <a:sym typeface="Roboto"/>
            </a:endParaRPr>
          </a:p>
          <a:p>
            <a:pPr indent="-311150" lvl="1" marL="1371600" rtl="0" algn="l">
              <a:spcBef>
                <a:spcPts val="0"/>
              </a:spcBef>
              <a:spcAft>
                <a:spcPts val="0"/>
              </a:spcAft>
              <a:buSzPts val="1300"/>
              <a:buFont typeface="Roboto"/>
              <a:buAutoNum type="arabicPeriod" startAt="3"/>
            </a:pPr>
            <a:r>
              <a:rPr lang="es-419" sz="1300">
                <a:latin typeface="Roboto"/>
                <a:ea typeface="Roboto"/>
                <a:cs typeface="Roboto"/>
                <a:sym typeface="Roboto"/>
              </a:rPr>
              <a:t>Niño 1 se molesta</a:t>
            </a:r>
            <a:endParaRPr sz="1300">
              <a:latin typeface="Roboto"/>
              <a:ea typeface="Roboto"/>
              <a:cs typeface="Roboto"/>
              <a:sym typeface="Roboto"/>
            </a:endParaRPr>
          </a:p>
        </p:txBody>
      </p:sp>
      <p:grpSp>
        <p:nvGrpSpPr>
          <p:cNvPr id="304" name="Google Shape;304;p40"/>
          <p:cNvGrpSpPr/>
          <p:nvPr/>
        </p:nvGrpSpPr>
        <p:grpSpPr>
          <a:xfrm>
            <a:off x="5564187" y="46736"/>
            <a:ext cx="3439139" cy="2586738"/>
            <a:chOff x="5323300" y="1109576"/>
            <a:chExt cx="2326100" cy="1794725"/>
          </a:xfrm>
        </p:grpSpPr>
        <p:pic>
          <p:nvPicPr>
            <p:cNvPr id="305" name="Google Shape;305;p40"/>
            <p:cNvPicPr preferRelativeResize="0"/>
            <p:nvPr/>
          </p:nvPicPr>
          <p:blipFill rotWithShape="1">
            <a:blip r:embed="rId3">
              <a:alphaModFix/>
            </a:blip>
            <a:srcRect b="45839" l="9279" r="33761" t="18943"/>
            <a:stretch/>
          </p:blipFill>
          <p:spPr>
            <a:xfrm>
              <a:off x="5323300" y="1109576"/>
              <a:ext cx="2326100" cy="1794725"/>
            </a:xfrm>
            <a:prstGeom prst="rect">
              <a:avLst/>
            </a:prstGeom>
            <a:noFill/>
            <a:ln>
              <a:noFill/>
            </a:ln>
          </p:spPr>
        </p:pic>
        <p:sp>
          <p:nvSpPr>
            <p:cNvPr id="306" name="Google Shape;306;p40"/>
            <p:cNvSpPr/>
            <p:nvPr/>
          </p:nvSpPr>
          <p:spPr>
            <a:xfrm>
              <a:off x="6117950" y="1783450"/>
              <a:ext cx="389400" cy="3150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1</a:t>
              </a:r>
              <a:endParaRPr/>
            </a:p>
          </p:txBody>
        </p:sp>
      </p:grpSp>
      <p:sp>
        <p:nvSpPr>
          <p:cNvPr id="307" name="Google Shape;307;p40"/>
          <p:cNvSpPr txBox="1"/>
          <p:nvPr/>
        </p:nvSpPr>
        <p:spPr>
          <a:xfrm>
            <a:off x="103325" y="3485650"/>
            <a:ext cx="177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latin typeface="Roboto"/>
                <a:ea typeface="Roboto"/>
                <a:cs typeface="Roboto"/>
                <a:sym typeface="Roboto"/>
              </a:rPr>
              <a:t>En niño 1:</a:t>
            </a:r>
            <a:endParaRPr b="1">
              <a:latin typeface="Roboto"/>
              <a:ea typeface="Roboto"/>
              <a:cs typeface="Roboto"/>
              <a:sym typeface="Roboto"/>
            </a:endParaRPr>
          </a:p>
        </p:txBody>
      </p:sp>
      <p:pic>
        <p:nvPicPr>
          <p:cNvPr id="308" name="Google Shape;308;p40"/>
          <p:cNvPicPr preferRelativeResize="0"/>
          <p:nvPr/>
        </p:nvPicPr>
        <p:blipFill>
          <a:blip r:embed="rId4">
            <a:alphaModFix/>
          </a:blip>
          <a:stretch>
            <a:fillRect/>
          </a:stretch>
        </p:blipFill>
        <p:spPr>
          <a:xfrm>
            <a:off x="2180650" y="3679150"/>
            <a:ext cx="2847975" cy="12858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1"/>
          <p:cNvSpPr txBox="1"/>
          <p:nvPr>
            <p:ph type="title"/>
          </p:nvPr>
        </p:nvSpPr>
        <p:spPr>
          <a:xfrm>
            <a:off x="471900" y="257350"/>
            <a:ext cx="4348500" cy="1249200"/>
          </a:xfrm>
          <a:prstGeom prst="rect">
            <a:avLst/>
          </a:prstGeom>
          <a:ln cap="flat" cmpd="sng" w="9525">
            <a:solidFill>
              <a:srgbClr val="FF0000"/>
            </a:solidFill>
            <a:prstDash val="solid"/>
            <a:round/>
            <a:headEnd len="sm" w="sm" type="none"/>
            <a:tailEnd len="sm" w="sm" type="none"/>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s-419" sz="3180"/>
              <a:t>Animando escena 01 en Scratch</a:t>
            </a:r>
            <a:endParaRPr sz="3180"/>
          </a:p>
        </p:txBody>
      </p:sp>
      <p:grpSp>
        <p:nvGrpSpPr>
          <p:cNvPr id="314" name="Google Shape;314;p41"/>
          <p:cNvGrpSpPr/>
          <p:nvPr/>
        </p:nvGrpSpPr>
        <p:grpSpPr>
          <a:xfrm>
            <a:off x="664037" y="1928061"/>
            <a:ext cx="3439139" cy="2586738"/>
            <a:chOff x="5323300" y="1109576"/>
            <a:chExt cx="2326100" cy="1794725"/>
          </a:xfrm>
        </p:grpSpPr>
        <p:pic>
          <p:nvPicPr>
            <p:cNvPr id="315" name="Google Shape;315;p41"/>
            <p:cNvPicPr preferRelativeResize="0"/>
            <p:nvPr/>
          </p:nvPicPr>
          <p:blipFill rotWithShape="1">
            <a:blip r:embed="rId3">
              <a:alphaModFix/>
            </a:blip>
            <a:srcRect b="45839" l="9279" r="33761" t="18943"/>
            <a:stretch/>
          </p:blipFill>
          <p:spPr>
            <a:xfrm>
              <a:off x="5323300" y="1109576"/>
              <a:ext cx="2326100" cy="1794725"/>
            </a:xfrm>
            <a:prstGeom prst="rect">
              <a:avLst/>
            </a:prstGeom>
            <a:noFill/>
            <a:ln>
              <a:noFill/>
            </a:ln>
          </p:spPr>
        </p:pic>
        <p:sp>
          <p:nvSpPr>
            <p:cNvPr id="316" name="Google Shape;316;p41"/>
            <p:cNvSpPr/>
            <p:nvPr/>
          </p:nvSpPr>
          <p:spPr>
            <a:xfrm>
              <a:off x="6117950" y="1783450"/>
              <a:ext cx="389400" cy="3150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1</a:t>
              </a:r>
              <a:endParaRPr/>
            </a:p>
          </p:txBody>
        </p:sp>
      </p:grpSp>
      <p:pic>
        <p:nvPicPr>
          <p:cNvPr id="317" name="Google Shape;317;p41" title="escena01.mp4">
            <a:hlinkClick r:id="rId4"/>
          </p:cNvPr>
          <p:cNvPicPr preferRelativeResize="0"/>
          <p:nvPr/>
        </p:nvPicPr>
        <p:blipFill>
          <a:blip r:embed="rId5">
            <a:alphaModFix/>
          </a:blip>
          <a:stretch>
            <a:fillRect/>
          </a:stretch>
        </p:blipFill>
        <p:spPr>
          <a:xfrm>
            <a:off x="4758749" y="1873349"/>
            <a:ext cx="3859525" cy="2894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Realiza:</a:t>
            </a:r>
            <a:endParaRPr/>
          </a:p>
        </p:txBody>
      </p:sp>
      <p:sp>
        <p:nvSpPr>
          <p:cNvPr id="323" name="Google Shape;323;p42"/>
          <p:cNvSpPr txBox="1"/>
          <p:nvPr>
            <p:ph idx="1" type="body"/>
          </p:nvPr>
        </p:nvSpPr>
        <p:spPr>
          <a:xfrm>
            <a:off x="471900" y="1919075"/>
            <a:ext cx="4689900" cy="27102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AutoNum type="arabicPeriod"/>
            </a:pPr>
            <a:r>
              <a:rPr lang="es-419" sz="2100"/>
              <a:t>La animación de la escena 01</a:t>
            </a:r>
            <a:endParaRPr sz="2100"/>
          </a:p>
          <a:p>
            <a:pPr indent="-361950" lvl="0" marL="457200" rtl="0" algn="l">
              <a:spcBef>
                <a:spcPts val="0"/>
              </a:spcBef>
              <a:spcAft>
                <a:spcPts val="0"/>
              </a:spcAft>
              <a:buSzPts val="2100"/>
              <a:buAutoNum type="arabicPeriod"/>
            </a:pPr>
            <a:r>
              <a:rPr lang="es-419" sz="2100"/>
              <a:t>Describe los pasos que </a:t>
            </a:r>
            <a:r>
              <a:rPr lang="es-419" sz="2100"/>
              <a:t>usarías</a:t>
            </a:r>
            <a:r>
              <a:rPr lang="es-419" sz="2100"/>
              <a:t> para </a:t>
            </a:r>
            <a:r>
              <a:rPr lang="es-419" sz="2100"/>
              <a:t>escenificar</a:t>
            </a:r>
            <a:r>
              <a:rPr lang="es-419" sz="2100"/>
              <a:t> las siguientes escenas, escena por escena.</a:t>
            </a:r>
            <a:endParaRPr sz="2100"/>
          </a:p>
          <a:p>
            <a:pPr indent="-361950" lvl="0" marL="457200" rtl="0" algn="l">
              <a:spcBef>
                <a:spcPts val="0"/>
              </a:spcBef>
              <a:spcAft>
                <a:spcPts val="0"/>
              </a:spcAft>
              <a:buSzPts val="2100"/>
              <a:buAutoNum type="arabicPeriod"/>
            </a:pPr>
            <a:r>
              <a:rPr lang="es-419" sz="2100"/>
              <a:t>Realiza la animación de las siguientes escenas.</a:t>
            </a:r>
            <a:endParaRPr sz="2100"/>
          </a:p>
        </p:txBody>
      </p:sp>
      <p:pic>
        <p:nvPicPr>
          <p:cNvPr id="324" name="Google Shape;324;p42"/>
          <p:cNvPicPr preferRelativeResize="0"/>
          <p:nvPr/>
        </p:nvPicPr>
        <p:blipFill>
          <a:blip r:embed="rId3">
            <a:alphaModFix/>
          </a:blip>
          <a:stretch>
            <a:fillRect/>
          </a:stretch>
        </p:blipFill>
        <p:spPr>
          <a:xfrm>
            <a:off x="4998950" y="23700"/>
            <a:ext cx="4083725" cy="50961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