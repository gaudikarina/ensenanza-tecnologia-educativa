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ef30be106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ef30be106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ddf3544002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ddf3544002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ddf3544002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ddf3544002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ef30be106e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ef30be106e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ef30be106e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ef30be106e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ddf3544002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ddf3544002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ddf3544002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1ddf3544002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ddf3544002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1ddf3544002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ddf3544002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1ddf3544002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hyperlink" Target="http://www.arduinoblocks.com/web/project/studentcode?pcode=i0%40uAN1X" TargetMode="External"/><Relationship Id="rId5" Type="http://schemas.openxmlformats.org/officeDocument/2006/relationships/hyperlink" Target="http://www.arduinoblocks.com/web/project/studentcode?pcode=b_7UcrKQ" TargetMode="External"/><Relationship Id="rId6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rive.google.com/file/d/1QdyBHXv8VkDRoU5FqNbIUQ39wMrWD2SP/view?usp=sharing" TargetMode="External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Prácticas de Arduino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Hardware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139575" y="7538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Evaluación</a:t>
            </a:r>
            <a:endParaRPr/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3425" y="343575"/>
            <a:ext cx="4857750" cy="94297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430725" y="1876300"/>
            <a:ext cx="4689600" cy="30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Utiliza el siguiente código para unirte al proyecto de esta evaluación</a:t>
            </a:r>
            <a:endParaRPr/>
          </a:p>
          <a:p>
            <a:pPr indent="-310832" lvl="1" marL="1371600" rtl="0" algn="l">
              <a:spcBef>
                <a:spcPts val="1200"/>
              </a:spcBef>
              <a:spcAft>
                <a:spcPts val="0"/>
              </a:spcAft>
              <a:buSzPct val="57143"/>
              <a:buAutoNum type="alphaLcPeriod"/>
            </a:pPr>
            <a:r>
              <a:rPr b="1" lang="es-419" sz="2450">
                <a:solidFill>
                  <a:srgbClr val="1155CC"/>
                </a:solidFill>
                <a:highlight>
                  <a:srgbClr val="F9F9F9"/>
                </a:highlight>
                <a:latin typeface="Arial"/>
                <a:ea typeface="Arial"/>
                <a:cs typeface="Arial"/>
                <a:sym typeface="Arial"/>
              </a:rPr>
              <a:t>UNO: </a:t>
            </a:r>
            <a:r>
              <a:rPr b="1" lang="es-419" sz="2450">
                <a:solidFill>
                  <a:schemeClr val="accent3"/>
                </a:solidFill>
                <a:highlight>
                  <a:srgbClr val="F9F9F9"/>
                </a:highlight>
                <a:latin typeface="Arial"/>
                <a:ea typeface="Arial"/>
                <a:cs typeface="Arial"/>
                <a:sym typeface="Arial"/>
              </a:rPr>
              <a:t>i0@uAN1X</a:t>
            </a:r>
            <a:endParaRPr b="1" sz="2450">
              <a:solidFill>
                <a:schemeClr val="accent3"/>
              </a:solidFill>
              <a:highlight>
                <a:srgbClr val="F9F9F9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0832" lvl="1" marL="1371600" rtl="0" algn="l">
              <a:spcBef>
                <a:spcPts val="0"/>
              </a:spcBef>
              <a:spcAft>
                <a:spcPts val="0"/>
              </a:spcAft>
              <a:buSzPct val="57143"/>
              <a:buAutoNum type="alphaLcPeriod"/>
            </a:pPr>
            <a:r>
              <a:rPr b="1" lang="es-419" sz="2450">
                <a:solidFill>
                  <a:srgbClr val="1155CC"/>
                </a:solidFill>
                <a:highlight>
                  <a:srgbClr val="F9F9F9"/>
                </a:highlight>
                <a:latin typeface="Arial"/>
                <a:ea typeface="Arial"/>
                <a:cs typeface="Arial"/>
                <a:sym typeface="Arial"/>
              </a:rPr>
              <a:t>NANO:</a:t>
            </a:r>
            <a:r>
              <a:rPr b="1" lang="es-419" sz="2450">
                <a:solidFill>
                  <a:schemeClr val="accent3"/>
                </a:solidFill>
                <a:highlight>
                  <a:srgbClr val="F9F9F9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s-419" sz="2450">
                <a:solidFill>
                  <a:schemeClr val="accent3"/>
                </a:solidFill>
                <a:highlight>
                  <a:srgbClr val="F9F9F9"/>
                </a:highlight>
                <a:latin typeface="Arial"/>
                <a:ea typeface="Arial"/>
                <a:cs typeface="Arial"/>
                <a:sym typeface="Arial"/>
              </a:rPr>
              <a:t>b_7UcrKQ</a:t>
            </a:r>
            <a:endParaRPr b="1" sz="2450">
              <a:solidFill>
                <a:schemeClr val="accent3"/>
              </a:solidFill>
              <a:highlight>
                <a:srgbClr val="F9F9F9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Ó</a:t>
            </a:r>
            <a:r>
              <a:rPr lang="es-419"/>
              <a:t> unete a través de los siguientes enlaces:</a:t>
            </a:r>
            <a:endParaRPr/>
          </a:p>
          <a:p>
            <a:pPr indent="-310832" lvl="1" marL="1371600" rtl="0" algn="l">
              <a:spcBef>
                <a:spcPts val="1200"/>
              </a:spcBef>
              <a:spcAft>
                <a:spcPts val="0"/>
              </a:spcAft>
              <a:buSzPct val="57143"/>
              <a:buAutoNum type="alphaLcPeriod"/>
            </a:pPr>
            <a:r>
              <a:rPr b="1" lang="es-419" sz="2450" u="sng">
                <a:solidFill>
                  <a:schemeClr val="hlink"/>
                </a:solidFill>
                <a:highlight>
                  <a:srgbClr val="F9F9F9"/>
                </a:highlight>
                <a:latin typeface="Arial"/>
                <a:ea typeface="Arial"/>
                <a:cs typeface="Arial"/>
                <a:sym typeface="Arial"/>
                <a:hlinkClick r:id="rId4"/>
              </a:rPr>
              <a:t>UNO</a:t>
            </a:r>
            <a:endParaRPr/>
          </a:p>
          <a:p>
            <a:pPr indent="-310832" lvl="1" marL="1371600" rtl="0" algn="l">
              <a:spcBef>
                <a:spcPts val="0"/>
              </a:spcBef>
              <a:spcAft>
                <a:spcPts val="0"/>
              </a:spcAft>
              <a:buSzPct val="57143"/>
              <a:buAutoNum type="alphaLcPeriod"/>
            </a:pPr>
            <a:r>
              <a:rPr b="1" lang="es-419" sz="2450" u="sng">
                <a:solidFill>
                  <a:schemeClr val="hlink"/>
                </a:solidFill>
                <a:highlight>
                  <a:srgbClr val="F9F9F9"/>
                </a:highlight>
                <a:latin typeface="Arial"/>
                <a:ea typeface="Arial"/>
                <a:cs typeface="Arial"/>
                <a:sym typeface="Arial"/>
                <a:hlinkClick r:id="rId5"/>
              </a:rPr>
              <a:t>NANO</a:t>
            </a:r>
            <a:endParaRPr/>
          </a:p>
        </p:txBody>
      </p:sp>
      <p:pic>
        <p:nvPicPr>
          <p:cNvPr id="76" name="Google Shape;76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91579" y="1765125"/>
            <a:ext cx="3749100" cy="323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POLARIDAD DEL LED</a:t>
            </a:r>
            <a:endParaRPr/>
          </a:p>
        </p:txBody>
      </p:sp>
      <p:pic>
        <p:nvPicPr>
          <p:cNvPr id="82" name="Google Shape;8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975" y="2045967"/>
            <a:ext cx="3230125" cy="2969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1678" y="1937050"/>
            <a:ext cx="5137173" cy="307890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/>
          <p:nvPr/>
        </p:nvSpPr>
        <p:spPr>
          <a:xfrm>
            <a:off x="297975" y="1784900"/>
            <a:ext cx="715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Roboto"/>
                <a:ea typeface="Roboto"/>
                <a:cs typeface="Roboto"/>
                <a:sym typeface="Roboto"/>
              </a:rPr>
              <a:t>IDENTIFIQUE EN LOS LED SU POLARIDAD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MONTAJE EN PROTOBOARD</a:t>
            </a:r>
            <a:endParaRPr/>
          </a:p>
        </p:txBody>
      </p:sp>
      <p:sp>
        <p:nvSpPr>
          <p:cNvPr id="90" name="Google Shape;90;p16"/>
          <p:cNvSpPr txBox="1"/>
          <p:nvPr>
            <p:ph idx="4294967295" type="body"/>
          </p:nvPr>
        </p:nvSpPr>
        <p:spPr>
          <a:xfrm>
            <a:off x="337350" y="666038"/>
            <a:ext cx="8469300" cy="14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s-419" sz="1685"/>
              <a:t>Realice el siguiente montaje, con el arduino y protoboard que te corresponde</a:t>
            </a:r>
            <a:endParaRPr sz="168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1685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1685"/>
          </a:p>
        </p:txBody>
      </p:sp>
      <p:pic>
        <p:nvPicPr>
          <p:cNvPr id="91" name="Google Shape;91;p16"/>
          <p:cNvPicPr preferRelativeResize="0"/>
          <p:nvPr/>
        </p:nvPicPr>
        <p:blipFill rotWithShape="1">
          <a:blip r:embed="rId3">
            <a:alphaModFix/>
          </a:blip>
          <a:srcRect b="13815" l="0" r="0" t="0"/>
          <a:stretch/>
        </p:blipFill>
        <p:spPr>
          <a:xfrm>
            <a:off x="45200" y="1220625"/>
            <a:ext cx="4141675" cy="344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8549" y="1326900"/>
            <a:ext cx="4830978" cy="334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CONEXIÓN DE ARDUINO A LA PC</a:t>
            </a:r>
            <a:endParaRPr/>
          </a:p>
        </p:txBody>
      </p:sp>
      <p:sp>
        <p:nvSpPr>
          <p:cNvPr id="98" name="Google Shape;98;p17"/>
          <p:cNvSpPr txBox="1"/>
          <p:nvPr>
            <p:ph idx="4294967295" type="body"/>
          </p:nvPr>
        </p:nvSpPr>
        <p:spPr>
          <a:xfrm>
            <a:off x="188175" y="693275"/>
            <a:ext cx="3315900" cy="14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85">
                <a:solidFill>
                  <a:schemeClr val="accent5"/>
                </a:solidFill>
              </a:rPr>
              <a:t>ARDUINO UNO</a:t>
            </a:r>
            <a:endParaRPr b="1" sz="1685">
              <a:solidFill>
                <a:schemeClr val="accent5"/>
              </a:solidFill>
            </a:endParaRPr>
          </a:p>
          <a:p>
            <a:pPr indent="-335598" lvl="0" marL="457200" rtl="0" algn="l">
              <a:spcBef>
                <a:spcPts val="1200"/>
              </a:spcBef>
              <a:spcAft>
                <a:spcPts val="0"/>
              </a:spcAft>
              <a:buSzPts val="1685"/>
              <a:buAutoNum type="arabicPeriod"/>
            </a:pPr>
            <a:r>
              <a:rPr lang="es-419" sz="1685"/>
              <a:t>Tome el cable USB tipo A - USB tipo B y conéctelo al Arduino Uno y la PC.</a:t>
            </a:r>
            <a:endParaRPr sz="1685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1685"/>
          </a:p>
        </p:txBody>
      </p:sp>
      <p:pic>
        <p:nvPicPr>
          <p:cNvPr id="99" name="Google Shape;9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8425" y="3036550"/>
            <a:ext cx="3936475" cy="20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3353" y="1206250"/>
            <a:ext cx="1208650" cy="120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7"/>
          <p:cNvPicPr preferRelativeResize="0"/>
          <p:nvPr/>
        </p:nvPicPr>
        <p:blipFill rotWithShape="1">
          <a:blip r:embed="rId5">
            <a:alphaModFix/>
          </a:blip>
          <a:srcRect b="8784" l="8329" r="6507" t="5438"/>
          <a:stretch/>
        </p:blipFill>
        <p:spPr>
          <a:xfrm>
            <a:off x="7846900" y="1179075"/>
            <a:ext cx="1253988" cy="1262993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7"/>
          <p:cNvSpPr txBox="1"/>
          <p:nvPr>
            <p:ph idx="4294967295" type="body"/>
          </p:nvPr>
        </p:nvSpPr>
        <p:spPr>
          <a:xfrm>
            <a:off x="4572000" y="754375"/>
            <a:ext cx="3690300" cy="14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85">
                <a:solidFill>
                  <a:schemeClr val="accent5"/>
                </a:solidFill>
              </a:rPr>
              <a:t>ARDUINO NANO</a:t>
            </a:r>
            <a:endParaRPr b="1" sz="1685">
              <a:solidFill>
                <a:schemeClr val="accent5"/>
              </a:solidFill>
            </a:endParaRPr>
          </a:p>
          <a:p>
            <a:pPr indent="-335598" lvl="0" marL="457200" rtl="0" algn="l">
              <a:spcBef>
                <a:spcPts val="1200"/>
              </a:spcBef>
              <a:spcAft>
                <a:spcPts val="0"/>
              </a:spcAft>
              <a:buSzPts val="1685"/>
              <a:buAutoNum type="arabicPeriod"/>
            </a:pPr>
            <a:r>
              <a:rPr lang="es-419" sz="1685"/>
              <a:t>Tome el cable USB tipo A - USB tipo B y conéctelo al Arduino Uno y la PC.</a:t>
            </a:r>
            <a:endParaRPr sz="1685"/>
          </a:p>
        </p:txBody>
      </p:sp>
      <p:sp>
        <p:nvSpPr>
          <p:cNvPr id="103" name="Google Shape;103;p17"/>
          <p:cNvSpPr txBox="1"/>
          <p:nvPr/>
        </p:nvSpPr>
        <p:spPr>
          <a:xfrm>
            <a:off x="400300" y="2571750"/>
            <a:ext cx="8285100" cy="10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559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5"/>
              <a:buFont typeface="Roboto"/>
              <a:buAutoNum type="arabicPeriod" startAt="2"/>
            </a:pPr>
            <a:r>
              <a:rPr lang="es-419" sz="1685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En el escritorio de la PC busque el programa Arduino Blocks Connector y ejecútalo.</a:t>
            </a:r>
            <a:endParaRPr sz="1685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559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5"/>
              <a:buFont typeface="Roboto"/>
              <a:buAutoNum type="arabicPeriod" startAt="2"/>
            </a:pPr>
            <a:r>
              <a:rPr lang="es-419" sz="1685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Se abrirá la ventana:</a:t>
            </a:r>
            <a:endParaRPr sz="1685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249728" y="50375"/>
            <a:ext cx="2808000" cy="95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 Arduino Blocks</a:t>
            </a:r>
            <a:endParaRPr/>
          </a:p>
        </p:txBody>
      </p:sp>
      <p:sp>
        <p:nvSpPr>
          <p:cNvPr id="109" name="Google Shape;109;p18"/>
          <p:cNvSpPr txBox="1"/>
          <p:nvPr>
            <p:ph idx="1" type="body"/>
          </p:nvPr>
        </p:nvSpPr>
        <p:spPr>
          <a:xfrm>
            <a:off x="119650" y="898250"/>
            <a:ext cx="2808000" cy="38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En la barra superior derecha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Escoja el COM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Para comunicarse con el Arduino dar click en Subir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Si todo está correcto saldrá la ventana que se muestra.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Al realizar esto se debe ver la secuencia de luces en el montaje realizado.</a:t>
            </a:r>
            <a:endParaRPr sz="1400"/>
          </a:p>
        </p:txBody>
      </p:sp>
      <p:pic>
        <p:nvPicPr>
          <p:cNvPr id="110" name="Google Shape;11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1553" y="352950"/>
            <a:ext cx="4838700" cy="14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8"/>
          <p:cNvSpPr/>
          <p:nvPr/>
        </p:nvSpPr>
        <p:spPr>
          <a:xfrm>
            <a:off x="8103775" y="1161300"/>
            <a:ext cx="676500" cy="473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8"/>
          <p:cNvSpPr/>
          <p:nvPr/>
        </p:nvSpPr>
        <p:spPr>
          <a:xfrm>
            <a:off x="5955750" y="1161300"/>
            <a:ext cx="676500" cy="473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3" name="Google Shape;113;p18"/>
          <p:cNvCxnSpPr>
            <a:endCxn id="114" idx="1"/>
          </p:cNvCxnSpPr>
          <p:nvPr/>
        </p:nvCxnSpPr>
        <p:spPr>
          <a:xfrm>
            <a:off x="1578050" y="2792563"/>
            <a:ext cx="1997400" cy="5313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14" name="Google Shape;11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75450" y="2233250"/>
            <a:ext cx="5314950" cy="218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 Arduino Blocks</a:t>
            </a:r>
            <a:endParaRPr/>
          </a:p>
        </p:txBody>
      </p:sp>
      <p:sp>
        <p:nvSpPr>
          <p:cNvPr id="120" name="Google Shape;120;p19"/>
          <p:cNvSpPr txBox="1"/>
          <p:nvPr>
            <p:ph idx="4294967295" type="body"/>
          </p:nvPr>
        </p:nvSpPr>
        <p:spPr>
          <a:xfrm>
            <a:off x="202950" y="721025"/>
            <a:ext cx="8617200" cy="8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/>
              <a:t>Realiza este programa: Secuencia de luces 01 </a:t>
            </a:r>
            <a:r>
              <a:rPr b="1" lang="es-419">
                <a:solidFill>
                  <a:srgbClr val="FF9900"/>
                </a:solidFill>
              </a:rPr>
              <a:t>(enciende el led de manera secuencial ascendente y lo apaga de manera secuencial descendente)</a:t>
            </a:r>
            <a:r>
              <a:rPr lang="es-419"/>
              <a:t>, grábalo en el arduino y corrobora que funciona correctamente. Guarda el programa en la mochila, ve el </a:t>
            </a:r>
            <a:r>
              <a:rPr lang="es-419" u="sng">
                <a:solidFill>
                  <a:schemeClr val="hlink"/>
                </a:solidFill>
                <a:hlinkClick r:id="rId3"/>
              </a:rPr>
              <a:t>video</a:t>
            </a:r>
            <a:endParaRPr/>
          </a:p>
        </p:txBody>
      </p:sp>
      <p:pic>
        <p:nvPicPr>
          <p:cNvPr id="121" name="Google Shape;12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8775" y="1787899"/>
            <a:ext cx="7206300" cy="299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 Arduino Blocks</a:t>
            </a:r>
            <a:endParaRPr/>
          </a:p>
        </p:txBody>
      </p:sp>
      <p:sp>
        <p:nvSpPr>
          <p:cNvPr id="127" name="Google Shape;127;p20"/>
          <p:cNvSpPr txBox="1"/>
          <p:nvPr>
            <p:ph idx="4294967295" type="body"/>
          </p:nvPr>
        </p:nvSpPr>
        <p:spPr>
          <a:xfrm>
            <a:off x="202950" y="721025"/>
            <a:ext cx="8617200" cy="8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/>
              <a:t>Realiza este programa: Secuencia de luces 02. Repite los pasos para grabarlo en el Arduino y llama a la profesora para evaluar, </a:t>
            </a:r>
            <a:r>
              <a:rPr lang="es-419"/>
              <a:t>grábalo en el arduino y corrobora que funciona correctamente. Guarda el programa en la mochila.</a:t>
            </a:r>
            <a:endParaRPr/>
          </a:p>
        </p:txBody>
      </p:sp>
      <p:pic>
        <p:nvPicPr>
          <p:cNvPr id="128" name="Google Shape;12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5124" y="1602125"/>
            <a:ext cx="6733762" cy="338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 Arduino Blocks</a:t>
            </a:r>
            <a:endParaRPr/>
          </a:p>
        </p:txBody>
      </p:sp>
      <p:sp>
        <p:nvSpPr>
          <p:cNvPr id="134" name="Google Shape;134;p21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/>
              <a:t>Realiza este programa: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600"/>
              <a:t>Secuencia de luces 03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1600"/>
              <a:t>Repite los pasos para </a:t>
            </a:r>
            <a:r>
              <a:rPr lang="es-419" sz="1600"/>
              <a:t>grabarlo</a:t>
            </a:r>
            <a:r>
              <a:rPr lang="es-419" sz="1600"/>
              <a:t> en el Arduino y llama a la profesora para evaluar, </a:t>
            </a:r>
            <a:r>
              <a:rPr lang="es-419" sz="1600"/>
              <a:t>grábalo en el arduino y corrobora que funciona correctamente. Guarda el programa en la mochila.</a:t>
            </a:r>
            <a:endParaRPr sz="1600"/>
          </a:p>
        </p:txBody>
      </p:sp>
      <p:pic>
        <p:nvPicPr>
          <p:cNvPr id="135" name="Google Shape;13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1228" y="536400"/>
            <a:ext cx="5805121" cy="432585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1"/>
          <p:cNvSpPr txBox="1"/>
          <p:nvPr/>
        </p:nvSpPr>
        <p:spPr>
          <a:xfrm>
            <a:off x="3413400" y="2943600"/>
            <a:ext cx="17901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Retardo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es una variable de tipo número, debes crearla desde el menú variables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 Arduino Blocks</a:t>
            </a:r>
            <a:endParaRPr/>
          </a:p>
        </p:txBody>
      </p:sp>
      <p:sp>
        <p:nvSpPr>
          <p:cNvPr id="142" name="Google Shape;142;p22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/>
              <a:t>Realiza este programa: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600"/>
              <a:t>Secuencia de luces 04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1600"/>
              <a:t>Repite los pasos para grabarlo en el Arduino y llama a la profesora para evaluar, </a:t>
            </a:r>
            <a:r>
              <a:rPr lang="es-419" sz="1600"/>
              <a:t>grábalo en el arduino y corrobora que funciona correctamente. Utiliza las 3 secuencias guardadas en la mochila.</a:t>
            </a:r>
            <a:endParaRPr sz="1600"/>
          </a:p>
        </p:txBody>
      </p:sp>
      <p:pic>
        <p:nvPicPr>
          <p:cNvPr id="143" name="Google Shape;14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8950" y="1280650"/>
            <a:ext cx="5805049" cy="361320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2"/>
          <p:cNvSpPr txBox="1"/>
          <p:nvPr/>
        </p:nvSpPr>
        <p:spPr>
          <a:xfrm>
            <a:off x="3676950" y="81050"/>
            <a:ext cx="5121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Apagar todo, secuencia 1, secuencia 2, secuencia 3, 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son funciones, debes crearlas desde el menú funciones.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