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A8FF637-7ED9-4C24-BF87-E995EEC2E428}">
  <a:tblStyle styleId="{6A8FF637-7ED9-4C24-BF87-E995EEC2E42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Roboto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Roboto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07e4a41af1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07e4a41af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dd95adf6b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dd95adf6b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07e4a41af1_0_4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07e4a41af1_0_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dd95adf6b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1dd95adf6b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dd95adf6b5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dd95adf6b5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dd95adf6b5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dd95adf6b5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dd95adf6b5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dd95adf6b5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dd95adf6b5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1dd95adf6b5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dd95adf6b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dd95adf6b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dd95adf6b5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1dd95adf6b5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dd95adf6b5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dd95adf6b5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6.png"/><Relationship Id="rId5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5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Robot seguidor de línea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Evaluación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430300"/>
            <a:ext cx="8222100" cy="107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Siga las Instrucciones: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Tiempo de ejecución 30 minutos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198525" y="1964188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Para el siguiente circuito, realice la programación en Arduino Blocks que se solicita.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En este ejercicio añadirá variables, funciones y utilizará el módulo de comunicación.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Para ello se explicará detalladamente como hacerlo.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Lea con atención las instrucciones y sigalas, es fundamental para que su evaluación sea exitosa</a:t>
            </a:r>
            <a:endParaRPr/>
          </a:p>
        </p:txBody>
      </p:sp>
      <p:pic>
        <p:nvPicPr>
          <p:cNvPr id="75" name="Google Shape;7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1150" y="1919075"/>
            <a:ext cx="4659901" cy="280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Conexiones:</a:t>
            </a:r>
            <a:endParaRPr/>
          </a:p>
        </p:txBody>
      </p:sp>
      <p:graphicFrame>
        <p:nvGraphicFramePr>
          <p:cNvPr id="81" name="Google Shape;81;p15"/>
          <p:cNvGraphicFramePr/>
          <p:nvPr/>
        </p:nvGraphicFramePr>
        <p:xfrm>
          <a:off x="7074175" y="1463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{6A8FF637-7ED9-4C24-BF87-E995EEC2E428}</a:tableStyleId>
              </a:tblPr>
              <a:tblGrid>
                <a:gridCol w="771100"/>
                <a:gridCol w="7476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/>
                        <a:t>L298N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/>
                        <a:t>Arduino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EnA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6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In1A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In2A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8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In3B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9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In4B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10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EnB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11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graphicFrame>
        <p:nvGraphicFramePr>
          <p:cNvPr id="82" name="Google Shape;82;p15"/>
          <p:cNvGraphicFramePr/>
          <p:nvPr/>
        </p:nvGraphicFramePr>
        <p:xfrm>
          <a:off x="5108663" y="18598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{6A8FF637-7ED9-4C24-BF87-E995EEC2E428}</a:tableStyleId>
              </a:tblPr>
              <a:tblGrid>
                <a:gridCol w="1069000"/>
                <a:gridCol w="7476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/>
                        <a:t>TCRT5000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/>
                        <a:t>Arduino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Izquierdo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05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Derecho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04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83" name="Google Shape;8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900" y="1330988"/>
            <a:ext cx="4659901" cy="280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675" y="926500"/>
            <a:ext cx="6877050" cy="17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90" name="Google Shape;90;p16"/>
          <p:cNvSpPr txBox="1"/>
          <p:nvPr/>
        </p:nvSpPr>
        <p:spPr>
          <a:xfrm>
            <a:off x="654675" y="3114575"/>
            <a:ext cx="571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Para Iniciar Baudios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diríjase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a: Comunicaciones/Puerto Serie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1" name="Google Shape;9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06400" y="3587725"/>
            <a:ext cx="2095500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25750" y="1875500"/>
            <a:ext cx="1721850" cy="326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6"/>
          <p:cNvSpPr/>
          <p:nvPr/>
        </p:nvSpPr>
        <p:spPr>
          <a:xfrm>
            <a:off x="6384025" y="1873375"/>
            <a:ext cx="1191600" cy="3276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275" y="838200"/>
            <a:ext cx="6877050" cy="17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100" name="Google Shape;100;p17"/>
          <p:cNvSpPr/>
          <p:nvPr/>
        </p:nvSpPr>
        <p:spPr>
          <a:xfrm>
            <a:off x="702675" y="1942576"/>
            <a:ext cx="1861500" cy="248700"/>
          </a:xfrm>
          <a:prstGeom prst="rect">
            <a:avLst/>
          </a:prstGeom>
          <a:noFill/>
          <a:ln cap="flat" cmpd="sng" w="3810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1" name="Google Shape;101;p17"/>
          <p:cNvCxnSpPr>
            <a:stCxn id="100" idx="2"/>
          </p:cNvCxnSpPr>
          <p:nvPr/>
        </p:nvCxnSpPr>
        <p:spPr>
          <a:xfrm flipH="1" rot="-5400000">
            <a:off x="2320425" y="1504276"/>
            <a:ext cx="169200" cy="1543200"/>
          </a:xfrm>
          <a:prstGeom prst="bentConnector2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2" name="Google Shape;102;p17"/>
          <p:cNvSpPr txBox="1"/>
          <p:nvPr/>
        </p:nvSpPr>
        <p:spPr>
          <a:xfrm>
            <a:off x="3176625" y="2136263"/>
            <a:ext cx="169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Variable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17"/>
          <p:cNvSpPr txBox="1"/>
          <p:nvPr/>
        </p:nvSpPr>
        <p:spPr>
          <a:xfrm>
            <a:off x="4056500" y="1705175"/>
            <a:ext cx="3551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Para hacer una variable en AB debes: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Ir a Variables/Crear Variable, para este caso es una variable tipo numérica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4" name="Google Shape;104;p17"/>
          <p:cNvPicPr preferRelativeResize="0"/>
          <p:nvPr/>
        </p:nvPicPr>
        <p:blipFill rotWithShape="1">
          <a:blip r:embed="rId4">
            <a:alphaModFix/>
          </a:blip>
          <a:srcRect b="0" l="0" r="27114" t="0"/>
          <a:stretch/>
        </p:blipFill>
        <p:spPr>
          <a:xfrm>
            <a:off x="1717562" y="2851925"/>
            <a:ext cx="3400625" cy="171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7"/>
          <p:cNvSpPr/>
          <p:nvPr/>
        </p:nvSpPr>
        <p:spPr>
          <a:xfrm>
            <a:off x="3858925" y="2887025"/>
            <a:ext cx="1198200" cy="2487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7"/>
          <p:cNvSpPr txBox="1"/>
          <p:nvPr/>
        </p:nvSpPr>
        <p:spPr>
          <a:xfrm>
            <a:off x="5373450" y="3135725"/>
            <a:ext cx="355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Coloca el nombre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Velocidad 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000" y="841425"/>
            <a:ext cx="6877050" cy="17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8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113" name="Google Shape;113;p18"/>
          <p:cNvSpPr/>
          <p:nvPr/>
        </p:nvSpPr>
        <p:spPr>
          <a:xfrm>
            <a:off x="711425" y="2146975"/>
            <a:ext cx="882000" cy="293100"/>
          </a:xfrm>
          <a:prstGeom prst="rect">
            <a:avLst/>
          </a:prstGeom>
          <a:noFill/>
          <a:ln cap="flat" cmpd="sng" w="3810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8"/>
          <p:cNvSpPr txBox="1"/>
          <p:nvPr/>
        </p:nvSpPr>
        <p:spPr>
          <a:xfrm>
            <a:off x="2161925" y="2093413"/>
            <a:ext cx="169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Función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" name="Google Shape;115;p18"/>
          <p:cNvSpPr txBox="1"/>
          <p:nvPr/>
        </p:nvSpPr>
        <p:spPr>
          <a:xfrm>
            <a:off x="2954325" y="2146975"/>
            <a:ext cx="5970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Para hacer una función en AB debes: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Ir a Funciones y para este caso escoge el bloque +para hacer algo y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coloca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el nombre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parar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y dentro de ese bloque va la programación que se muestra en la figura, este bloque va libre en cualquier parte del panel.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6" name="Google Shape;116;p18"/>
          <p:cNvCxnSpPr>
            <a:stCxn id="113" idx="3"/>
            <a:endCxn id="114" idx="1"/>
          </p:cNvCxnSpPr>
          <p:nvPr/>
        </p:nvCxnSpPr>
        <p:spPr>
          <a:xfrm>
            <a:off x="1593425" y="2293525"/>
            <a:ext cx="568500" cy="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17" name="Google Shape;117;p18"/>
          <p:cNvGrpSpPr/>
          <p:nvPr/>
        </p:nvGrpSpPr>
        <p:grpSpPr>
          <a:xfrm>
            <a:off x="240650" y="3123513"/>
            <a:ext cx="3676650" cy="1819275"/>
            <a:chOff x="1579000" y="2651138"/>
            <a:chExt cx="3676650" cy="1819275"/>
          </a:xfrm>
        </p:grpSpPr>
        <p:pic>
          <p:nvPicPr>
            <p:cNvPr id="118" name="Google Shape;118;p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79000" y="2651138"/>
              <a:ext cx="3676650" cy="1819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" name="Google Shape;119;p18"/>
            <p:cNvSpPr/>
            <p:nvPr/>
          </p:nvSpPr>
          <p:spPr>
            <a:xfrm>
              <a:off x="3334050" y="2671825"/>
              <a:ext cx="1697100" cy="6999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20" name="Google Shape;120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19500" y="3209238"/>
            <a:ext cx="4705350" cy="164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126" name="Google Shape;126;p19"/>
          <p:cNvSpPr txBox="1"/>
          <p:nvPr/>
        </p:nvSpPr>
        <p:spPr>
          <a:xfrm>
            <a:off x="417575" y="782375"/>
            <a:ext cx="8558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Siguiendo el procedimiento anterior realiza las funciones: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avanzar, girar derecha y girar izquierda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como se muestran en las figuras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7" name="Google Shape;12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2625" y="1357950"/>
            <a:ext cx="5657850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47813" y="3160900"/>
            <a:ext cx="6048375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134" name="Google Shape;134;p20"/>
          <p:cNvSpPr txBox="1"/>
          <p:nvPr/>
        </p:nvSpPr>
        <p:spPr>
          <a:xfrm>
            <a:off x="417575" y="782375"/>
            <a:ext cx="8558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Siguiendo el procedimiento anterior realiza las funciones: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avanzar, girar derecha y girar izquierda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como se muestran en las figuras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5" name="Google Shape;13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1163" y="2014000"/>
            <a:ext cx="5781675" cy="148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4700" y="775325"/>
            <a:ext cx="3642226" cy="3294749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1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142" name="Google Shape;142;p21"/>
          <p:cNvSpPr txBox="1"/>
          <p:nvPr/>
        </p:nvSpPr>
        <p:spPr>
          <a:xfrm>
            <a:off x="5394850" y="717350"/>
            <a:ext cx="3551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Para hacer una variable en AB debes: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Ir a Variables/Crear Variable, para este caso es una variable tipo boolean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3" name="Google Shape;143;p21"/>
          <p:cNvPicPr preferRelativeResize="0"/>
          <p:nvPr/>
        </p:nvPicPr>
        <p:blipFill rotWithShape="1">
          <a:blip r:embed="rId4">
            <a:alphaModFix/>
          </a:blip>
          <a:srcRect b="0" l="0" r="27114" t="0"/>
          <a:stretch/>
        </p:blipFill>
        <p:spPr>
          <a:xfrm>
            <a:off x="5470238" y="1487325"/>
            <a:ext cx="3400625" cy="171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1"/>
          <p:cNvSpPr/>
          <p:nvPr/>
        </p:nvSpPr>
        <p:spPr>
          <a:xfrm>
            <a:off x="7672800" y="2091025"/>
            <a:ext cx="1198200" cy="2487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1"/>
          <p:cNvSpPr txBox="1"/>
          <p:nvPr/>
        </p:nvSpPr>
        <p:spPr>
          <a:xfrm>
            <a:off x="436880" y="3971050"/>
            <a:ext cx="4848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Debes crear dos, una con el nombre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Sensor Derecho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y otra con el nombre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Sensor Izquierdo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Al ser del mismo tipo se activará un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menú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desplegable donde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podrás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escoger la variable como se muestra en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6" name="Google Shape;14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56978" y="3452875"/>
            <a:ext cx="2888625" cy="15186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7" name="Google Shape;147;p21"/>
          <p:cNvCxnSpPr/>
          <p:nvPr/>
        </p:nvCxnSpPr>
        <p:spPr>
          <a:xfrm flipH="1" rot="10800000">
            <a:off x="4969825" y="4310625"/>
            <a:ext cx="909900" cy="463500"/>
          </a:xfrm>
          <a:prstGeom prst="straightConnector1">
            <a:avLst/>
          </a:prstGeom>
          <a:noFill/>
          <a:ln cap="flat" cmpd="sng" w="38100">
            <a:solidFill>
              <a:srgbClr val="274E1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8" name="Google Shape;148;p21"/>
          <p:cNvSpPr/>
          <p:nvPr/>
        </p:nvSpPr>
        <p:spPr>
          <a:xfrm>
            <a:off x="947600" y="953750"/>
            <a:ext cx="1677900" cy="169200"/>
          </a:xfrm>
          <a:prstGeom prst="rect">
            <a:avLst/>
          </a:prstGeom>
          <a:noFill/>
          <a:ln cap="flat" cmpd="sng" w="3810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9" name="Google Shape;149;p21"/>
          <p:cNvCxnSpPr>
            <a:stCxn id="148" idx="0"/>
          </p:cNvCxnSpPr>
          <p:nvPr/>
        </p:nvCxnSpPr>
        <p:spPr>
          <a:xfrm rot="-5400000">
            <a:off x="2640800" y="-86800"/>
            <a:ext cx="186300" cy="1894800"/>
          </a:xfrm>
          <a:prstGeom prst="bentConnector2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0" name="Google Shape;150;p21"/>
          <p:cNvSpPr txBox="1"/>
          <p:nvPr/>
        </p:nvSpPr>
        <p:spPr>
          <a:xfrm>
            <a:off x="3773150" y="553550"/>
            <a:ext cx="90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Variable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pic>
        <p:nvPicPr>
          <p:cNvPr id="156" name="Google Shape;156;p22"/>
          <p:cNvPicPr preferRelativeResize="0"/>
          <p:nvPr/>
        </p:nvPicPr>
        <p:blipFill rotWithShape="1">
          <a:blip r:embed="rId3">
            <a:alphaModFix/>
          </a:blip>
          <a:srcRect b="0" l="0" r="0" t="64759"/>
          <a:stretch/>
        </p:blipFill>
        <p:spPr>
          <a:xfrm>
            <a:off x="416700" y="1832075"/>
            <a:ext cx="5795275" cy="1172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22"/>
          <p:cNvCxnSpPr/>
          <p:nvPr/>
        </p:nvCxnSpPr>
        <p:spPr>
          <a:xfrm flipH="1" rot="10800000">
            <a:off x="2319350" y="1333600"/>
            <a:ext cx="3892500" cy="6909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8" name="Google Shape;158;p22"/>
          <p:cNvSpPr txBox="1"/>
          <p:nvPr/>
        </p:nvSpPr>
        <p:spPr>
          <a:xfrm>
            <a:off x="6246975" y="1071025"/>
            <a:ext cx="2528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Este comando lo encontrarás en  Tiempo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9" name="Google Shape;15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38625" y="1870475"/>
            <a:ext cx="3257550" cy="109537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2"/>
          <p:cNvSpPr/>
          <p:nvPr/>
        </p:nvSpPr>
        <p:spPr>
          <a:xfrm>
            <a:off x="7760275" y="2050750"/>
            <a:ext cx="1224600" cy="5211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2"/>
          <p:cNvSpPr/>
          <p:nvPr/>
        </p:nvSpPr>
        <p:spPr>
          <a:xfrm>
            <a:off x="3648950" y="2138225"/>
            <a:ext cx="271200" cy="6999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2"/>
          <p:cNvSpPr txBox="1"/>
          <p:nvPr/>
        </p:nvSpPr>
        <p:spPr>
          <a:xfrm>
            <a:off x="2520500" y="3501225"/>
            <a:ext cx="2528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Este comando lo encontrarás en  Comunicaciones/Puerto Serie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3" name="Google Shape;16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31250" y="4281450"/>
            <a:ext cx="2456507" cy="699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4" name="Google Shape;164;p22"/>
          <p:cNvCxnSpPr>
            <a:stCxn id="161" idx="1"/>
          </p:cNvCxnSpPr>
          <p:nvPr/>
        </p:nvCxnSpPr>
        <p:spPr>
          <a:xfrm>
            <a:off x="3920150" y="2488175"/>
            <a:ext cx="122400" cy="936000"/>
          </a:xfrm>
          <a:prstGeom prst="bentConnector4">
            <a:avLst>
              <a:gd fmla="val 443076" name="adj1"/>
              <a:gd fmla="val 68694" name="adj2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3"/>
          <p:cNvSpPr txBox="1"/>
          <p:nvPr>
            <p:ph type="title"/>
          </p:nvPr>
        </p:nvSpPr>
        <p:spPr>
          <a:xfrm>
            <a:off x="471900" y="430300"/>
            <a:ext cx="8222100" cy="107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Felicitaciones </a:t>
            </a:r>
            <a:r>
              <a:rPr lang="es-419"/>
              <a:t>estás</a:t>
            </a:r>
            <a:r>
              <a:rPr lang="es-419"/>
              <a:t> terminando</a:t>
            </a:r>
            <a:endParaRPr/>
          </a:p>
        </p:txBody>
      </p:sp>
      <p:sp>
        <p:nvSpPr>
          <p:cNvPr id="170" name="Google Shape;170;p23"/>
          <p:cNvSpPr txBox="1"/>
          <p:nvPr>
            <p:ph idx="1" type="body"/>
          </p:nvPr>
        </p:nvSpPr>
        <p:spPr>
          <a:xfrm>
            <a:off x="198525" y="1964188"/>
            <a:ext cx="3999900" cy="271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Envía</a:t>
            </a:r>
            <a:r>
              <a:rPr lang="es-419"/>
              <a:t> el archivo de arduino blocks por la plataforma en respuesta al cuestionario y termina.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Una vez termines, quedate sentado en tu lugar de trabajo hasta que se termine el tiempo de la evaluación, de manera silenciosa.</a:t>
            </a:r>
            <a:endParaRPr/>
          </a:p>
        </p:txBody>
      </p:sp>
      <p:pic>
        <p:nvPicPr>
          <p:cNvPr id="171" name="Google Shape;17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0800" y="1728775"/>
            <a:ext cx="4365459" cy="333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