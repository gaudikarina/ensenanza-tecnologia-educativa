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Robo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D957EC1-FF57-4C0C-8552-C5C82A040E73}">
  <a:tblStyle styleId="{FD957EC1-FF57-4C0C-8552-C5C82A040E7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Roboto-bold.fntdata"/><Relationship Id="rId23" Type="http://schemas.openxmlformats.org/officeDocument/2006/relationships/font" Target="fonts/Robo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-boldItalic.fntdata"/><Relationship Id="rId25" Type="http://schemas.openxmlformats.org/officeDocument/2006/relationships/font" Target="fonts/Robo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ddf3544002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ddf3544002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de8782e90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1de8782e90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de8782e90e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1de8782e90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de8782e90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de8782e90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de8782e90e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de8782e90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de8782e90e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de8782e90e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de8782e90e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1de8782e90e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de8782e90e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1de8782e90e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de8782e90e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1de8782e90e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de8782e90e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1de8782e90e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de8782e90e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1de8782e90e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de8782e90e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1de8782e90e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de8782e90e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de8782e90e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de8782e90e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1de8782e90e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ddf3544002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1ddf3544002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Prácticas de Arduino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Hardware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SALIDA PWM</a:t>
            </a:r>
            <a:endParaRPr/>
          </a:p>
        </p:txBody>
      </p:sp>
      <p:pic>
        <p:nvPicPr>
          <p:cNvPr id="74" name="Google Shape;7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475" y="1669825"/>
            <a:ext cx="7350474" cy="347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Si los valores de PWM minimo y maximo son:</a:t>
            </a:r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313" y="2229000"/>
            <a:ext cx="8861274" cy="171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el siguiente montaje (PWM1) y complete el programa en AB para completar la tabla</a:t>
            </a:r>
            <a:endParaRPr/>
          </a:p>
        </p:txBody>
      </p:sp>
      <p:pic>
        <p:nvPicPr>
          <p:cNvPr id="86" name="Google Shape;8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1581" y="2178275"/>
            <a:ext cx="5100195" cy="2269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1625" y="1708550"/>
            <a:ext cx="3133204" cy="333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PWM2</a:t>
            </a:r>
            <a:endParaRPr/>
          </a:p>
        </p:txBody>
      </p:sp>
      <p:pic>
        <p:nvPicPr>
          <p:cNvPr id="93" name="Google Shape;9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71450"/>
            <a:ext cx="8135927" cy="421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PWM3</a:t>
            </a:r>
            <a:endParaRPr/>
          </a:p>
        </p:txBody>
      </p:sp>
      <p:pic>
        <p:nvPicPr>
          <p:cNvPr id="99" name="Google Shape;9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150" y="1210900"/>
            <a:ext cx="8162925" cy="215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PWM4</a:t>
            </a:r>
            <a:endParaRPr/>
          </a:p>
        </p:txBody>
      </p:sp>
      <p:pic>
        <p:nvPicPr>
          <p:cNvPr id="105" name="Google Shape;10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71450"/>
            <a:ext cx="3438525" cy="3648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9"/>
          <p:cNvSpPr txBox="1"/>
          <p:nvPr/>
        </p:nvSpPr>
        <p:spPr>
          <a:xfrm>
            <a:off x="3882450" y="665275"/>
            <a:ext cx="5192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/>
              <a:t>Realizar un programa con dos leds conectados a pines PWM, cuando la intensidad de uno sube la otra baja. Leds conectados a los pines 3 y 5.</a:t>
            </a:r>
            <a:endParaRPr sz="1200"/>
          </a:p>
        </p:txBody>
      </p:sp>
      <p:pic>
        <p:nvPicPr>
          <p:cNvPr id="107" name="Google Shape;10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23450" y="1434400"/>
            <a:ext cx="5248274" cy="34643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PWM5</a:t>
            </a:r>
            <a:endParaRPr/>
          </a:p>
        </p:txBody>
      </p:sp>
      <p:sp>
        <p:nvSpPr>
          <p:cNvPr id="113" name="Google Shape;113;p20"/>
          <p:cNvSpPr txBox="1"/>
          <p:nvPr/>
        </p:nvSpPr>
        <p:spPr>
          <a:xfrm>
            <a:off x="98250" y="619050"/>
            <a:ext cx="4250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/>
              <a:t>Realizar una secuencia con aumento de intensidad de los leds progresivamente, luego va decrementando la intensidad también progresivamente. 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250" y="1718800"/>
            <a:ext cx="3418650" cy="3235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9000" y="76200"/>
            <a:ext cx="3867891" cy="499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LED RGB1</a:t>
            </a:r>
            <a:endParaRPr/>
          </a:p>
        </p:txBody>
      </p:sp>
      <p:sp>
        <p:nvSpPr>
          <p:cNvPr id="121" name="Google Shape;121;p21"/>
          <p:cNvSpPr txBox="1"/>
          <p:nvPr/>
        </p:nvSpPr>
        <p:spPr>
          <a:xfrm>
            <a:off x="3970975" y="1289775"/>
            <a:ext cx="38784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900"/>
              <a:t>Con el uso de bloques para control de salidas digitales (ON/OFF) mostraremos el color verde, rojo, azul, amarillo (R+G), blanco (R+G+B) y negro (todo apagado) durante 1 segundo cada color. (Led RGB ánodo </a:t>
            </a:r>
            <a:r>
              <a:rPr lang="es-419" sz="1900"/>
              <a:t>común</a:t>
            </a:r>
            <a:r>
              <a:rPr lang="es-419" sz="1900"/>
              <a:t>)</a:t>
            </a:r>
            <a:endParaRPr sz="19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938" y="1022250"/>
            <a:ext cx="2695575" cy="404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1"/>
          <p:cNvSpPr txBox="1"/>
          <p:nvPr/>
        </p:nvSpPr>
        <p:spPr>
          <a:xfrm>
            <a:off x="711925" y="1022250"/>
            <a:ext cx="66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Rojo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4" name="Google Shape;124;p21"/>
          <p:cNvCxnSpPr>
            <a:stCxn id="123" idx="2"/>
          </p:cNvCxnSpPr>
          <p:nvPr/>
        </p:nvCxnSpPr>
        <p:spPr>
          <a:xfrm>
            <a:off x="1046275" y="1422450"/>
            <a:ext cx="389400" cy="26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5" name="Google Shape;125;p21"/>
          <p:cNvSpPr txBox="1"/>
          <p:nvPr/>
        </p:nvSpPr>
        <p:spPr>
          <a:xfrm>
            <a:off x="1905900" y="889575"/>
            <a:ext cx="66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Azul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6" name="Google Shape;126;p21"/>
          <p:cNvCxnSpPr>
            <a:stCxn id="125" idx="2"/>
          </p:cNvCxnSpPr>
          <p:nvPr/>
        </p:nvCxnSpPr>
        <p:spPr>
          <a:xfrm flipH="1">
            <a:off x="1665750" y="1289775"/>
            <a:ext cx="574500" cy="42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7" name="Google Shape;127;p21"/>
          <p:cNvSpPr txBox="1"/>
          <p:nvPr/>
        </p:nvSpPr>
        <p:spPr>
          <a:xfrm>
            <a:off x="2240250" y="1484100"/>
            <a:ext cx="66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Verde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8" name="Google Shape;128;p21"/>
          <p:cNvCxnSpPr>
            <a:stCxn id="127" idx="1"/>
          </p:cNvCxnSpPr>
          <p:nvPr/>
        </p:nvCxnSpPr>
        <p:spPr>
          <a:xfrm flipH="1">
            <a:off x="1753650" y="1684200"/>
            <a:ext cx="486600" cy="8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29" name="Google Shape;12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2550" y="3797838"/>
            <a:ext cx="2724150" cy="96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LED RGB1</a:t>
            </a:r>
            <a:endParaRPr/>
          </a:p>
        </p:txBody>
      </p:sp>
      <p:graphicFrame>
        <p:nvGraphicFramePr>
          <p:cNvPr id="135" name="Google Shape;135;p22"/>
          <p:cNvGraphicFramePr/>
          <p:nvPr/>
        </p:nvGraphicFramePr>
        <p:xfrm>
          <a:off x="98238" y="1227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{FD957EC1-FF57-4C0C-8552-C5C82A040E73}</a:tableStyleId>
              </a:tblPr>
              <a:tblGrid>
                <a:gridCol w="720750"/>
                <a:gridCol w="575350"/>
                <a:gridCol w="523600"/>
                <a:gridCol w="506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>
                          <a:solidFill>
                            <a:schemeClr val="lt1"/>
                          </a:solidFill>
                        </a:rPr>
                        <a:t>Color 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>
                          <a:solidFill>
                            <a:schemeClr val="lt1"/>
                          </a:solidFill>
                        </a:rPr>
                        <a:t>R  </a:t>
                      </a:r>
                      <a:r>
                        <a:rPr b="1" lang="es-419" sz="800">
                          <a:solidFill>
                            <a:schemeClr val="lt1"/>
                          </a:solidFill>
                        </a:rPr>
                        <a:t> (pin11)</a:t>
                      </a:r>
                      <a:endParaRPr b="1" sz="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>
                          <a:solidFill>
                            <a:schemeClr val="lt1"/>
                          </a:solidFill>
                        </a:rPr>
                        <a:t>B </a:t>
                      </a:r>
                      <a:r>
                        <a:rPr b="1" lang="es-419" sz="800">
                          <a:solidFill>
                            <a:schemeClr val="lt1"/>
                          </a:solidFill>
                        </a:rPr>
                        <a:t>(pin10)</a:t>
                      </a:r>
                      <a:r>
                        <a:rPr b="1" lang="es-419">
                          <a:solidFill>
                            <a:schemeClr val="lt1"/>
                          </a:solidFill>
                        </a:rPr>
                        <a:t> 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>
                          <a:solidFill>
                            <a:schemeClr val="lt1"/>
                          </a:solidFill>
                        </a:rPr>
                        <a:t>G  </a:t>
                      </a:r>
                      <a:r>
                        <a:rPr b="1" lang="es-419" sz="800">
                          <a:solidFill>
                            <a:schemeClr val="lt1"/>
                          </a:solidFill>
                        </a:rPr>
                        <a:t>(pin9)</a:t>
                      </a:r>
                      <a:endParaRPr b="1" sz="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dk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Verde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ON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ON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OFF</a:t>
                      </a:r>
                      <a:endParaRPr sz="1000"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Rojo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OFF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ON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ON</a:t>
                      </a:r>
                      <a:endParaRPr sz="1000"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Azul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ON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OFF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ON</a:t>
                      </a:r>
                      <a:endParaRPr sz="1000"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Amarillo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OFF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ON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OFF</a:t>
                      </a:r>
                      <a:endParaRPr sz="1000"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Blanco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OFF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OFF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OFF</a:t>
                      </a:r>
                      <a:endParaRPr sz="1000"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Negro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ON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ON</a:t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000"/>
                        <a:t>ON</a:t>
                      </a:r>
                      <a:endParaRPr sz="1000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36" name="Google Shape;136;p22"/>
          <p:cNvSpPr txBox="1"/>
          <p:nvPr/>
        </p:nvSpPr>
        <p:spPr>
          <a:xfrm>
            <a:off x="218800" y="783500"/>
            <a:ext cx="220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Tabla para ánodo común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7" name="Google Shape;13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6325" y="1227700"/>
            <a:ext cx="6577676" cy="3535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LED RGB2</a:t>
            </a:r>
            <a:endParaRPr/>
          </a:p>
        </p:txBody>
      </p:sp>
      <p:sp>
        <p:nvSpPr>
          <p:cNvPr id="143" name="Google Shape;143;p23"/>
          <p:cNvSpPr txBox="1"/>
          <p:nvPr/>
        </p:nvSpPr>
        <p:spPr>
          <a:xfrm>
            <a:off x="166475" y="796400"/>
            <a:ext cx="8826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/>
              <a:t>Aumentaremos progresivamente la intensidad de Rojo, luego la de Verde y </a:t>
            </a:r>
            <a:r>
              <a:rPr lang="es-419" sz="1200"/>
              <a:t>finalmente</a:t>
            </a:r>
            <a:r>
              <a:rPr lang="es-419" sz="1200"/>
              <a:t> la del Azul </a:t>
            </a:r>
            <a:r>
              <a:rPr lang="es-419" sz="1200"/>
              <a:t>(Led RGB ánodo común)</a:t>
            </a:r>
            <a:endParaRPr sz="1200"/>
          </a:p>
        </p:txBody>
      </p:sp>
      <p:pic>
        <p:nvPicPr>
          <p:cNvPr id="144" name="Google Shape;14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0038" y="1106300"/>
            <a:ext cx="7423024" cy="389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4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LED RGB3</a:t>
            </a:r>
            <a:endParaRPr/>
          </a:p>
        </p:txBody>
      </p:sp>
      <p:sp>
        <p:nvSpPr>
          <p:cNvPr id="150" name="Google Shape;150;p24"/>
          <p:cNvSpPr txBox="1"/>
          <p:nvPr/>
        </p:nvSpPr>
        <p:spPr>
          <a:xfrm>
            <a:off x="166475" y="796400"/>
            <a:ext cx="8826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/>
              <a:t>Realizar cambio de colores utilizando el módulo RGB de actuadores de AB </a:t>
            </a:r>
            <a:r>
              <a:rPr lang="es-419" sz="1200"/>
              <a:t>(Led RGB ánodo común)</a:t>
            </a:r>
            <a:endParaRPr sz="1200"/>
          </a:p>
        </p:txBody>
      </p:sp>
      <p:pic>
        <p:nvPicPr>
          <p:cNvPr id="151" name="Google Shape;15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6025" y="1165700"/>
            <a:ext cx="6041549" cy="388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LED RGB4</a:t>
            </a:r>
            <a:endParaRPr/>
          </a:p>
        </p:txBody>
      </p:sp>
      <p:sp>
        <p:nvSpPr>
          <p:cNvPr id="157" name="Google Shape;157;p25"/>
          <p:cNvSpPr txBox="1"/>
          <p:nvPr/>
        </p:nvSpPr>
        <p:spPr>
          <a:xfrm>
            <a:off x="166475" y="796400"/>
            <a:ext cx="8826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/>
              <a:t>Realizar cambio de colores aleatorios  (Led RGB ánodo común)</a:t>
            </a:r>
            <a:endParaRPr sz="1200"/>
          </a:p>
        </p:txBody>
      </p:sp>
      <p:pic>
        <p:nvPicPr>
          <p:cNvPr id="158" name="Google Shape;15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5300" y="1343050"/>
            <a:ext cx="5493350" cy="368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LED RGB5</a:t>
            </a:r>
            <a:endParaRPr/>
          </a:p>
        </p:txBody>
      </p:sp>
      <p:sp>
        <p:nvSpPr>
          <p:cNvPr id="164" name="Google Shape;164;p26"/>
          <p:cNvSpPr txBox="1"/>
          <p:nvPr/>
        </p:nvSpPr>
        <p:spPr>
          <a:xfrm>
            <a:off x="166475" y="796400"/>
            <a:ext cx="8826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/>
              <a:t>Genera colores RGB aleatorios y cambia del color actual al siguiente de forma suave. </a:t>
            </a:r>
            <a:r>
              <a:rPr lang="es-419" sz="1200"/>
              <a:t> (Led RGB ánodo común)</a:t>
            </a:r>
            <a:endParaRPr sz="1200"/>
          </a:p>
        </p:txBody>
      </p:sp>
      <p:pic>
        <p:nvPicPr>
          <p:cNvPr id="165" name="Google Shape;16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725" y="1183850"/>
            <a:ext cx="3600450" cy="293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21050" y="1370750"/>
            <a:ext cx="5292724" cy="322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7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LED RGB5</a:t>
            </a:r>
            <a:endParaRPr/>
          </a:p>
        </p:txBody>
      </p:sp>
      <p:sp>
        <p:nvSpPr>
          <p:cNvPr id="172" name="Google Shape;172;p27"/>
          <p:cNvSpPr txBox="1"/>
          <p:nvPr/>
        </p:nvSpPr>
        <p:spPr>
          <a:xfrm>
            <a:off x="166475" y="796400"/>
            <a:ext cx="8826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/>
              <a:t>Genera colores RGB aleatorios y cambia del color actual al siguiente de forma suave.  (Led RGB ánodo común)</a:t>
            </a:r>
            <a:endParaRPr sz="1200"/>
          </a:p>
        </p:txBody>
      </p:sp>
      <p:pic>
        <p:nvPicPr>
          <p:cNvPr id="173" name="Google Shape;17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6025" y="1343050"/>
            <a:ext cx="5988850" cy="375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8"/>
          <p:cNvSpPr txBox="1"/>
          <p:nvPr>
            <p:ph type="title"/>
          </p:nvPr>
        </p:nvSpPr>
        <p:spPr>
          <a:xfrm>
            <a:off x="490250" y="488250"/>
            <a:ext cx="8225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Desmonte todos los componentes y </a:t>
            </a:r>
            <a:r>
              <a:rPr lang="es-419"/>
              <a:t>colocarlos</a:t>
            </a:r>
            <a:r>
              <a:rPr lang="es-419"/>
              <a:t> de nuevo en la caja que queden de la misma forma que los </a:t>
            </a:r>
            <a:r>
              <a:rPr lang="es-419"/>
              <a:t>encontró</a:t>
            </a:r>
            <a:r>
              <a:rPr lang="es-419"/>
              <a:t>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