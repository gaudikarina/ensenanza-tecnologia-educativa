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Robo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e803b81d4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e803b81d4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e804025f4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e804025f4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e804025f4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e804025f4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e804025f4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e804025f4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e804025f4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e804025f4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e804025f4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e804025f4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e804025f4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e804025f4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e804025f4e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e804025f4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e804025f4e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e804025f4e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e804025f4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e804025f4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e804025f4e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e804025f4e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e804025f4e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e804025f4e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e804025f4e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e804025f4e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e804025f4e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e804025f4e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e804025f4e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e804025f4e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e804025f4e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e804025f4e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tinkercad.com/" TargetMode="Externa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png"/><Relationship Id="rId5"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2.png"/><Relationship Id="rId10" Type="http://schemas.openxmlformats.org/officeDocument/2006/relationships/image" Target="../media/image17.jpg"/><Relationship Id="rId9" Type="http://schemas.openxmlformats.org/officeDocument/2006/relationships/hyperlink" Target="http://drive.google.com/file/d/1FSSr9ZRi9FHihmqkY-EPqlwHl7iVztJs/view" TargetMode="External"/><Relationship Id="rId5" Type="http://schemas.openxmlformats.org/officeDocument/2006/relationships/image" Target="../media/image16.png"/><Relationship Id="rId6" Type="http://schemas.openxmlformats.org/officeDocument/2006/relationships/image" Target="../media/image19.png"/><Relationship Id="rId7" Type="http://schemas.openxmlformats.org/officeDocument/2006/relationships/image" Target="../media/image8.png"/><Relationship Id="rId8"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3.png"/><Relationship Id="rId5" Type="http://schemas.openxmlformats.org/officeDocument/2006/relationships/image" Target="../media/image20.png"/><Relationship Id="rId6"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Introducción a Tinkercad </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Simulación de circuitos básicos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¿Qué es Tinkercad?</a:t>
            </a:r>
            <a:endParaRPr/>
          </a:p>
        </p:txBody>
      </p:sp>
      <p:sp>
        <p:nvSpPr>
          <p:cNvPr id="74" name="Google Shape;74;p1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1200"/>
              </a:spcAft>
              <a:buNone/>
            </a:pPr>
            <a:r>
              <a:rPr lang="es-419"/>
              <a:t>E</a:t>
            </a:r>
            <a:r>
              <a:rPr lang="es-419"/>
              <a:t>s una plataforma online de la empresa Autodesk donde puedes realizar proyectos de carácter técnico. El término "Tinker" es inglés y significa algo así como juguetear o trastear. "CAD" significa "Computer-Aided Design" (diseño asistido por ordenador). Con Tinkercad, puedes trabajar en proyectos de electrónica, programar y también crear objetos en 3D. La creación de objetos 3D no forma parte del objetivo de este momento.</a:t>
            </a:r>
            <a:endParaRPr/>
          </a:p>
        </p:txBody>
      </p:sp>
      <p:pic>
        <p:nvPicPr>
          <p:cNvPr id="75" name="Google Shape;75;p14"/>
          <p:cNvPicPr preferRelativeResize="0"/>
          <p:nvPr/>
        </p:nvPicPr>
        <p:blipFill>
          <a:blip r:embed="rId3">
            <a:alphaModFix/>
          </a:blip>
          <a:stretch>
            <a:fillRect/>
          </a:stretch>
        </p:blipFill>
        <p:spPr>
          <a:xfrm>
            <a:off x="7131450" y="66050"/>
            <a:ext cx="1594700" cy="1594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¿Qué es Tinkercad?</a:t>
            </a:r>
            <a:endParaRPr/>
          </a:p>
        </p:txBody>
      </p:sp>
      <p:sp>
        <p:nvSpPr>
          <p:cNvPr id="81" name="Google Shape;81;p1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0"/>
              </a:spcAft>
              <a:buNone/>
            </a:pPr>
            <a:r>
              <a:rPr lang="es-419"/>
              <a:t>Entre sus características tenemos:</a:t>
            </a:r>
            <a:endParaRPr/>
          </a:p>
          <a:p>
            <a:pPr indent="-342900" lvl="0" marL="457200" rtl="0" algn="just">
              <a:lnSpc>
                <a:spcPct val="150000"/>
              </a:lnSpc>
              <a:spcBef>
                <a:spcPts val="1200"/>
              </a:spcBef>
              <a:spcAft>
                <a:spcPts val="0"/>
              </a:spcAft>
              <a:buSzPts val="1800"/>
              <a:buChar char="●"/>
            </a:pPr>
            <a:r>
              <a:rPr lang="es-419"/>
              <a:t>Software en línea</a:t>
            </a:r>
            <a:endParaRPr/>
          </a:p>
          <a:p>
            <a:pPr indent="-342900" lvl="0" marL="457200" rtl="0" algn="just">
              <a:lnSpc>
                <a:spcPct val="150000"/>
              </a:lnSpc>
              <a:spcBef>
                <a:spcPts val="0"/>
              </a:spcBef>
              <a:spcAft>
                <a:spcPts val="0"/>
              </a:spcAft>
              <a:buSzPts val="1800"/>
              <a:buChar char="●"/>
            </a:pPr>
            <a:r>
              <a:rPr lang="es-419"/>
              <a:t>Acceso gratuito</a:t>
            </a:r>
            <a:endParaRPr/>
          </a:p>
          <a:p>
            <a:pPr indent="-342900" lvl="0" marL="457200" rtl="0" algn="just">
              <a:lnSpc>
                <a:spcPct val="150000"/>
              </a:lnSpc>
              <a:spcBef>
                <a:spcPts val="0"/>
              </a:spcBef>
              <a:spcAft>
                <a:spcPts val="0"/>
              </a:spcAft>
              <a:buSzPts val="1800"/>
              <a:buChar char="●"/>
            </a:pPr>
            <a:r>
              <a:rPr lang="es-419"/>
              <a:t>Diseñado para niños y jóvenes.</a:t>
            </a:r>
            <a:endParaRPr/>
          </a:p>
          <a:p>
            <a:pPr indent="-342900" lvl="0" marL="457200" rtl="0" algn="just">
              <a:lnSpc>
                <a:spcPct val="150000"/>
              </a:lnSpc>
              <a:spcBef>
                <a:spcPts val="0"/>
              </a:spcBef>
              <a:spcAft>
                <a:spcPts val="0"/>
              </a:spcAft>
              <a:buSzPts val="1800"/>
              <a:buChar char="●"/>
            </a:pPr>
            <a:r>
              <a:rPr lang="es-419"/>
              <a:t>Sencillo de utilizar</a:t>
            </a:r>
            <a:endParaRPr/>
          </a:p>
          <a:p>
            <a:pPr indent="-342900" lvl="0" marL="457200" rtl="0" algn="just">
              <a:lnSpc>
                <a:spcPct val="150000"/>
              </a:lnSpc>
              <a:spcBef>
                <a:spcPts val="0"/>
              </a:spcBef>
              <a:spcAft>
                <a:spcPts val="0"/>
              </a:spcAft>
              <a:buSzPts val="1800"/>
              <a:buChar char="●"/>
            </a:pPr>
            <a:r>
              <a:rPr lang="es-419"/>
              <a:t>Los proyectos se almacenan en la nube </a:t>
            </a:r>
            <a:endParaRPr/>
          </a:p>
        </p:txBody>
      </p:sp>
      <p:pic>
        <p:nvPicPr>
          <p:cNvPr id="82" name="Google Shape;82;p15"/>
          <p:cNvPicPr preferRelativeResize="0"/>
          <p:nvPr/>
        </p:nvPicPr>
        <p:blipFill>
          <a:blip r:embed="rId3">
            <a:alphaModFix/>
          </a:blip>
          <a:stretch>
            <a:fillRect/>
          </a:stretch>
        </p:blipFill>
        <p:spPr>
          <a:xfrm>
            <a:off x="7131450" y="66050"/>
            <a:ext cx="1594700" cy="1594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Entorno de Trabajo</a:t>
            </a:r>
            <a:endParaRPr/>
          </a:p>
        </p:txBody>
      </p:sp>
      <p:pic>
        <p:nvPicPr>
          <p:cNvPr id="88" name="Google Shape;88;p16"/>
          <p:cNvPicPr preferRelativeResize="0"/>
          <p:nvPr/>
        </p:nvPicPr>
        <p:blipFill>
          <a:blip r:embed="rId3">
            <a:alphaModFix/>
          </a:blip>
          <a:stretch>
            <a:fillRect/>
          </a:stretch>
        </p:blipFill>
        <p:spPr>
          <a:xfrm>
            <a:off x="8236525" y="66050"/>
            <a:ext cx="489625" cy="489625"/>
          </a:xfrm>
          <a:prstGeom prst="rect">
            <a:avLst/>
          </a:prstGeom>
          <a:noFill/>
          <a:ln>
            <a:noFill/>
          </a:ln>
        </p:spPr>
      </p:pic>
      <p:pic>
        <p:nvPicPr>
          <p:cNvPr id="89" name="Google Shape;89;p16"/>
          <p:cNvPicPr preferRelativeResize="0"/>
          <p:nvPr/>
        </p:nvPicPr>
        <p:blipFill>
          <a:blip r:embed="rId4">
            <a:alphaModFix/>
          </a:blip>
          <a:stretch>
            <a:fillRect/>
          </a:stretch>
        </p:blipFill>
        <p:spPr>
          <a:xfrm>
            <a:off x="196575" y="705950"/>
            <a:ext cx="8826602" cy="4161719"/>
          </a:xfrm>
          <a:prstGeom prst="rect">
            <a:avLst/>
          </a:prstGeom>
          <a:noFill/>
          <a:ln>
            <a:noFill/>
          </a:ln>
        </p:spPr>
      </p:pic>
      <p:sp>
        <p:nvSpPr>
          <p:cNvPr id="90" name="Google Shape;90;p16"/>
          <p:cNvSpPr/>
          <p:nvPr/>
        </p:nvSpPr>
        <p:spPr>
          <a:xfrm>
            <a:off x="593850" y="761125"/>
            <a:ext cx="1474800" cy="2274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1" name="Google Shape;91;p16"/>
          <p:cNvCxnSpPr>
            <a:stCxn id="90" idx="3"/>
          </p:cNvCxnSpPr>
          <p:nvPr/>
        </p:nvCxnSpPr>
        <p:spPr>
          <a:xfrm flipH="1" rot="10800000">
            <a:off x="2068650" y="871225"/>
            <a:ext cx="447600" cy="3600"/>
          </a:xfrm>
          <a:prstGeom prst="straightConnector1">
            <a:avLst/>
          </a:prstGeom>
          <a:noFill/>
          <a:ln cap="flat" cmpd="sng" w="9525">
            <a:solidFill>
              <a:schemeClr val="dk2"/>
            </a:solidFill>
            <a:prstDash val="solid"/>
            <a:round/>
            <a:headEnd len="med" w="med" type="none"/>
            <a:tailEnd len="med" w="med" type="triangle"/>
          </a:ln>
        </p:spPr>
      </p:cxnSp>
      <p:sp>
        <p:nvSpPr>
          <p:cNvPr id="92" name="Google Shape;92;p16"/>
          <p:cNvSpPr txBox="1"/>
          <p:nvPr/>
        </p:nvSpPr>
        <p:spPr>
          <a:xfrm>
            <a:off x="2552925" y="672925"/>
            <a:ext cx="2612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Nombre del circuito o proyecto</a:t>
            </a:r>
            <a:endParaRPr>
              <a:latin typeface="Roboto"/>
              <a:ea typeface="Roboto"/>
              <a:cs typeface="Roboto"/>
              <a:sym typeface="Roboto"/>
            </a:endParaRPr>
          </a:p>
        </p:txBody>
      </p:sp>
      <p:sp>
        <p:nvSpPr>
          <p:cNvPr id="93" name="Google Shape;93;p16"/>
          <p:cNvSpPr txBox="1"/>
          <p:nvPr/>
        </p:nvSpPr>
        <p:spPr>
          <a:xfrm>
            <a:off x="2552925" y="2586713"/>
            <a:ext cx="206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Panel de circuitos</a:t>
            </a:r>
            <a:endParaRPr>
              <a:latin typeface="Roboto"/>
              <a:ea typeface="Roboto"/>
              <a:cs typeface="Roboto"/>
              <a:sym typeface="Roboto"/>
            </a:endParaRPr>
          </a:p>
        </p:txBody>
      </p:sp>
      <p:sp>
        <p:nvSpPr>
          <p:cNvPr id="94" name="Google Shape;94;p16"/>
          <p:cNvSpPr/>
          <p:nvPr/>
        </p:nvSpPr>
        <p:spPr>
          <a:xfrm>
            <a:off x="7298525" y="2168225"/>
            <a:ext cx="1724700" cy="27606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5" name="Google Shape;95;p16"/>
          <p:cNvSpPr txBox="1"/>
          <p:nvPr/>
        </p:nvSpPr>
        <p:spPr>
          <a:xfrm>
            <a:off x="5172362" y="3240725"/>
            <a:ext cx="1372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Listado de componentes</a:t>
            </a:r>
            <a:endParaRPr>
              <a:latin typeface="Roboto"/>
              <a:ea typeface="Roboto"/>
              <a:cs typeface="Roboto"/>
              <a:sym typeface="Roboto"/>
            </a:endParaRPr>
          </a:p>
        </p:txBody>
      </p:sp>
      <p:cxnSp>
        <p:nvCxnSpPr>
          <p:cNvPr id="96" name="Google Shape;96;p16"/>
          <p:cNvCxnSpPr>
            <a:stCxn id="95" idx="3"/>
            <a:endCxn id="94" idx="1"/>
          </p:cNvCxnSpPr>
          <p:nvPr/>
        </p:nvCxnSpPr>
        <p:spPr>
          <a:xfrm>
            <a:off x="6544562" y="3548525"/>
            <a:ext cx="753900" cy="0"/>
          </a:xfrm>
          <a:prstGeom prst="straightConnector1">
            <a:avLst/>
          </a:prstGeom>
          <a:noFill/>
          <a:ln cap="flat" cmpd="sng" w="9525">
            <a:solidFill>
              <a:schemeClr val="dk2"/>
            </a:solidFill>
            <a:prstDash val="solid"/>
            <a:round/>
            <a:headEnd len="med" w="med" type="none"/>
            <a:tailEnd len="med" w="med" type="triangle"/>
          </a:ln>
        </p:spPr>
      </p:cxnSp>
      <p:sp>
        <p:nvSpPr>
          <p:cNvPr id="97" name="Google Shape;97;p16"/>
          <p:cNvSpPr/>
          <p:nvPr/>
        </p:nvSpPr>
        <p:spPr>
          <a:xfrm>
            <a:off x="7298625" y="1419825"/>
            <a:ext cx="1557000" cy="3612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8" name="Google Shape;98;p16"/>
          <p:cNvSpPr txBox="1"/>
          <p:nvPr/>
        </p:nvSpPr>
        <p:spPr>
          <a:xfrm>
            <a:off x="5016612" y="1173675"/>
            <a:ext cx="1372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Selección tipo de listado de componentes</a:t>
            </a:r>
            <a:endParaRPr>
              <a:latin typeface="Roboto"/>
              <a:ea typeface="Roboto"/>
              <a:cs typeface="Roboto"/>
              <a:sym typeface="Roboto"/>
            </a:endParaRPr>
          </a:p>
        </p:txBody>
      </p:sp>
      <p:cxnSp>
        <p:nvCxnSpPr>
          <p:cNvPr id="99" name="Google Shape;99;p16"/>
          <p:cNvCxnSpPr>
            <a:stCxn id="98" idx="3"/>
            <a:endCxn id="97" idx="1"/>
          </p:cNvCxnSpPr>
          <p:nvPr/>
        </p:nvCxnSpPr>
        <p:spPr>
          <a:xfrm>
            <a:off x="6388812" y="1589325"/>
            <a:ext cx="909900" cy="11100"/>
          </a:xfrm>
          <a:prstGeom prst="straightConnector1">
            <a:avLst/>
          </a:prstGeom>
          <a:noFill/>
          <a:ln cap="flat" cmpd="sng" w="9525">
            <a:solidFill>
              <a:schemeClr val="dk2"/>
            </a:solidFill>
            <a:prstDash val="solid"/>
            <a:round/>
            <a:headEnd len="med" w="med" type="none"/>
            <a:tailEnd len="med" w="med" type="triangle"/>
          </a:ln>
        </p:spPr>
      </p:cxnSp>
      <p:sp>
        <p:nvSpPr>
          <p:cNvPr id="100" name="Google Shape;100;p16"/>
          <p:cNvSpPr/>
          <p:nvPr/>
        </p:nvSpPr>
        <p:spPr>
          <a:xfrm>
            <a:off x="7298450" y="1073125"/>
            <a:ext cx="1234200" cy="2274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1" name="Google Shape;101;p16"/>
          <p:cNvSpPr/>
          <p:nvPr/>
        </p:nvSpPr>
        <p:spPr>
          <a:xfrm>
            <a:off x="244025" y="1073125"/>
            <a:ext cx="4268100" cy="2943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 name="Google Shape;102;p16"/>
          <p:cNvSpPr txBox="1"/>
          <p:nvPr/>
        </p:nvSpPr>
        <p:spPr>
          <a:xfrm>
            <a:off x="1552625" y="1678225"/>
            <a:ext cx="165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Paleta de edición</a:t>
            </a:r>
            <a:endParaRPr>
              <a:latin typeface="Roboto"/>
              <a:ea typeface="Roboto"/>
              <a:cs typeface="Roboto"/>
              <a:sym typeface="Roboto"/>
            </a:endParaRPr>
          </a:p>
        </p:txBody>
      </p:sp>
      <p:cxnSp>
        <p:nvCxnSpPr>
          <p:cNvPr id="103" name="Google Shape;103;p16"/>
          <p:cNvCxnSpPr>
            <a:stCxn id="101" idx="2"/>
            <a:endCxn id="102" idx="0"/>
          </p:cNvCxnSpPr>
          <p:nvPr/>
        </p:nvCxnSpPr>
        <p:spPr>
          <a:xfrm>
            <a:off x="2378075" y="1367425"/>
            <a:ext cx="0" cy="310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idx="4294967295" type="body"/>
          </p:nvPr>
        </p:nvSpPr>
        <p:spPr>
          <a:xfrm>
            <a:off x="45875" y="675600"/>
            <a:ext cx="9023400" cy="1279800"/>
          </a:xfrm>
          <a:prstGeom prst="rect">
            <a:avLst/>
          </a:prstGeom>
        </p:spPr>
        <p:txBody>
          <a:bodyPr anchorCtr="0" anchor="t" bIns="91425" lIns="91425" spcFirstLastPara="1" rIns="91425" wrap="square" tIns="91425">
            <a:normAutofit/>
          </a:bodyPr>
          <a:lstStyle/>
          <a:p>
            <a:pPr indent="0" lvl="0" marL="0" rtl="0" algn="just">
              <a:lnSpc>
                <a:spcPct val="115000"/>
              </a:lnSpc>
              <a:spcBef>
                <a:spcPts val="0"/>
              </a:spcBef>
              <a:spcAft>
                <a:spcPts val="1200"/>
              </a:spcAft>
              <a:buNone/>
            </a:pPr>
            <a:r>
              <a:rPr lang="es-419"/>
              <a:t>En el panel de circuitos (zona gris) es donde se realizarán los diseños de circuitos. Con el ratón puedes mover los componentes desde el listado de los componentes hasta el panel de circuitos (selecciona, arrastra y suelta). </a:t>
            </a:r>
            <a:endParaRPr/>
          </a:p>
        </p:txBody>
      </p:sp>
      <p:pic>
        <p:nvPicPr>
          <p:cNvPr id="109" name="Google Shape;109;p17"/>
          <p:cNvPicPr preferRelativeResize="0"/>
          <p:nvPr/>
        </p:nvPicPr>
        <p:blipFill>
          <a:blip r:embed="rId3">
            <a:alphaModFix/>
          </a:blip>
          <a:stretch>
            <a:fillRect/>
          </a:stretch>
        </p:blipFill>
        <p:spPr>
          <a:xfrm>
            <a:off x="8236525" y="66050"/>
            <a:ext cx="489625" cy="489625"/>
          </a:xfrm>
          <a:prstGeom prst="rect">
            <a:avLst/>
          </a:prstGeom>
          <a:noFill/>
          <a:ln>
            <a:noFill/>
          </a:ln>
        </p:spPr>
      </p:pic>
      <p:sp>
        <p:nvSpPr>
          <p:cNvPr id="110" name="Google Shape;110;p1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Entorno de Trabajo</a:t>
            </a:r>
            <a:endParaRPr/>
          </a:p>
        </p:txBody>
      </p:sp>
      <p:pic>
        <p:nvPicPr>
          <p:cNvPr id="111" name="Google Shape;111;p17"/>
          <p:cNvPicPr preferRelativeResize="0"/>
          <p:nvPr/>
        </p:nvPicPr>
        <p:blipFill>
          <a:blip r:embed="rId4">
            <a:alphaModFix/>
          </a:blip>
          <a:stretch>
            <a:fillRect/>
          </a:stretch>
        </p:blipFill>
        <p:spPr>
          <a:xfrm>
            <a:off x="3248775" y="2011953"/>
            <a:ext cx="5820501" cy="2807076"/>
          </a:xfrm>
          <a:prstGeom prst="rect">
            <a:avLst/>
          </a:prstGeom>
          <a:noFill/>
          <a:ln>
            <a:noFill/>
          </a:ln>
        </p:spPr>
      </p:pic>
      <p:sp>
        <p:nvSpPr>
          <p:cNvPr id="112" name="Google Shape;112;p17"/>
          <p:cNvSpPr txBox="1"/>
          <p:nvPr/>
        </p:nvSpPr>
        <p:spPr>
          <a:xfrm>
            <a:off x="98250" y="1814100"/>
            <a:ext cx="3000000" cy="3329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200"/>
              </a:spcAft>
              <a:buNone/>
            </a:pPr>
            <a:r>
              <a:rPr lang="es-419" sz="1800">
                <a:solidFill>
                  <a:schemeClr val="lt2"/>
                </a:solidFill>
                <a:latin typeface="Roboto"/>
                <a:ea typeface="Roboto"/>
                <a:cs typeface="Roboto"/>
                <a:sym typeface="Roboto"/>
              </a:rPr>
              <a:t>Si tu ratón tiene rueda puedes utilizarla para hacer zoom.  Si te paras en la zona gris y presionas click derecho o izquierdo o la rueda podrás mover todos los componentes parecido a como lo hacías en scratch en el panel de programación.</a:t>
            </a:r>
            <a:endParaRPr sz="1800">
              <a:solidFill>
                <a:schemeClr val="lt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Entorno de Trabajo: pasos para añadir un componente al circuito</a:t>
            </a:r>
            <a:endParaRPr/>
          </a:p>
        </p:txBody>
      </p:sp>
      <p:sp>
        <p:nvSpPr>
          <p:cNvPr id="118" name="Google Shape;118;p18"/>
          <p:cNvSpPr txBox="1"/>
          <p:nvPr/>
        </p:nvSpPr>
        <p:spPr>
          <a:xfrm>
            <a:off x="4482650" y="934300"/>
            <a:ext cx="3529200" cy="3010800"/>
          </a:xfrm>
          <a:prstGeom prst="rect">
            <a:avLst/>
          </a:prstGeom>
          <a:noFill/>
          <a:ln>
            <a:noFill/>
          </a:ln>
        </p:spPr>
        <p:txBody>
          <a:bodyPr anchorCtr="0" anchor="ctr" bIns="91425" lIns="91425" spcFirstLastPara="1" rIns="91425" wrap="square" tIns="91425">
            <a:spAutoFit/>
          </a:bodyPr>
          <a:lstStyle/>
          <a:p>
            <a:pPr indent="-342900" lvl="0" marL="457200" marR="0" rtl="0" algn="just">
              <a:lnSpc>
                <a:spcPct val="115000"/>
              </a:lnSpc>
              <a:spcBef>
                <a:spcPts val="0"/>
              </a:spcBef>
              <a:spcAft>
                <a:spcPts val="0"/>
              </a:spcAft>
              <a:buClr>
                <a:schemeClr val="lt2"/>
              </a:buClr>
              <a:buSzPts val="1800"/>
              <a:buFont typeface="Roboto"/>
              <a:buAutoNum type="arabicPeriod"/>
            </a:pPr>
            <a:r>
              <a:rPr lang="es-419" sz="1800">
                <a:solidFill>
                  <a:schemeClr val="lt2"/>
                </a:solidFill>
                <a:latin typeface="Roboto"/>
                <a:ea typeface="Roboto"/>
                <a:cs typeface="Roboto"/>
                <a:sym typeface="Roboto"/>
              </a:rPr>
              <a:t>H</a:t>
            </a:r>
            <a:r>
              <a:rPr lang="es-419" sz="1800">
                <a:solidFill>
                  <a:schemeClr val="lt2"/>
                </a:solidFill>
                <a:latin typeface="Roboto"/>
                <a:ea typeface="Roboto"/>
                <a:cs typeface="Roboto"/>
                <a:sym typeface="Roboto"/>
              </a:rPr>
              <a:t>acer clic sobre él</a:t>
            </a:r>
            <a:endParaRPr sz="1800">
              <a:solidFill>
                <a:schemeClr val="lt2"/>
              </a:solidFill>
              <a:latin typeface="Roboto"/>
              <a:ea typeface="Roboto"/>
              <a:cs typeface="Roboto"/>
              <a:sym typeface="Roboto"/>
            </a:endParaRPr>
          </a:p>
          <a:p>
            <a:pPr indent="-342900" lvl="0" marL="457200" marR="0" rtl="0" algn="just">
              <a:lnSpc>
                <a:spcPct val="115000"/>
              </a:lnSpc>
              <a:spcBef>
                <a:spcPts val="0"/>
              </a:spcBef>
              <a:spcAft>
                <a:spcPts val="0"/>
              </a:spcAft>
              <a:buClr>
                <a:schemeClr val="lt2"/>
              </a:buClr>
              <a:buSzPts val="1800"/>
              <a:buFont typeface="Roboto"/>
              <a:buAutoNum type="arabicPeriod"/>
            </a:pPr>
            <a:r>
              <a:rPr lang="es-419" sz="1800">
                <a:solidFill>
                  <a:schemeClr val="lt2"/>
                </a:solidFill>
                <a:latin typeface="Roboto"/>
                <a:ea typeface="Roboto"/>
                <a:cs typeface="Roboto"/>
                <a:sym typeface="Roboto"/>
              </a:rPr>
              <a:t>Desplazarse al área de trabajo (izquierda) con el ratón del ordenador. </a:t>
            </a:r>
            <a:endParaRPr sz="1800">
              <a:solidFill>
                <a:schemeClr val="lt2"/>
              </a:solidFill>
              <a:latin typeface="Roboto"/>
              <a:ea typeface="Roboto"/>
              <a:cs typeface="Roboto"/>
              <a:sym typeface="Roboto"/>
            </a:endParaRPr>
          </a:p>
          <a:p>
            <a:pPr indent="-342900" lvl="0" marL="457200" marR="0" rtl="0" algn="just">
              <a:lnSpc>
                <a:spcPct val="115000"/>
              </a:lnSpc>
              <a:spcBef>
                <a:spcPts val="0"/>
              </a:spcBef>
              <a:spcAft>
                <a:spcPts val="0"/>
              </a:spcAft>
              <a:buClr>
                <a:schemeClr val="lt2"/>
              </a:buClr>
              <a:buSzPts val="1800"/>
              <a:buFont typeface="Roboto"/>
              <a:buAutoNum type="arabicPeriod"/>
            </a:pPr>
            <a:r>
              <a:rPr lang="es-419" sz="1800">
                <a:solidFill>
                  <a:schemeClr val="lt2"/>
                </a:solidFill>
                <a:latin typeface="Roboto"/>
                <a:ea typeface="Roboto"/>
                <a:cs typeface="Roboto"/>
                <a:sym typeface="Roboto"/>
              </a:rPr>
              <a:t>Con otro clic puedes colocar el componente en cualquier posición. Hagamos esto con una resistencia, por ejemplo.</a:t>
            </a:r>
            <a:endParaRPr sz="1800">
              <a:solidFill>
                <a:schemeClr val="lt2"/>
              </a:solidFill>
              <a:latin typeface="Roboto"/>
              <a:ea typeface="Roboto"/>
              <a:cs typeface="Roboto"/>
              <a:sym typeface="Roboto"/>
            </a:endParaRPr>
          </a:p>
        </p:txBody>
      </p:sp>
      <p:pic>
        <p:nvPicPr>
          <p:cNvPr id="119" name="Google Shape;119;p18"/>
          <p:cNvPicPr preferRelativeResize="0"/>
          <p:nvPr/>
        </p:nvPicPr>
        <p:blipFill>
          <a:blip r:embed="rId3">
            <a:alphaModFix/>
          </a:blip>
          <a:stretch>
            <a:fillRect/>
          </a:stretch>
        </p:blipFill>
        <p:spPr>
          <a:xfrm>
            <a:off x="152400" y="771450"/>
            <a:ext cx="3948700" cy="4314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nvSpPr>
        <p:spPr>
          <a:xfrm>
            <a:off x="4526675" y="934300"/>
            <a:ext cx="4177800" cy="4108200"/>
          </a:xfrm>
          <a:prstGeom prst="rect">
            <a:avLst/>
          </a:prstGeom>
          <a:noFill/>
          <a:ln>
            <a:noFill/>
          </a:ln>
        </p:spPr>
        <p:txBody>
          <a:bodyPr anchorCtr="0" anchor="ctr" bIns="91425" lIns="91425" spcFirstLastPara="1" rIns="91425" wrap="square" tIns="91425">
            <a:spAutoFit/>
          </a:bodyPr>
          <a:lstStyle/>
          <a:p>
            <a:pPr indent="0" lvl="0" marL="0" rtl="0" algn="just">
              <a:lnSpc>
                <a:spcPct val="115000"/>
              </a:lnSpc>
              <a:spcBef>
                <a:spcPts val="0"/>
              </a:spcBef>
              <a:spcAft>
                <a:spcPts val="0"/>
              </a:spcAft>
              <a:buNone/>
            </a:pPr>
            <a:r>
              <a:rPr lang="es-419" sz="1800">
                <a:solidFill>
                  <a:schemeClr val="lt2"/>
                </a:solidFill>
                <a:latin typeface="Roboto"/>
                <a:ea typeface="Roboto"/>
                <a:cs typeface="Roboto"/>
                <a:sym typeface="Roboto"/>
              </a:rPr>
              <a:t>Al </a:t>
            </a:r>
            <a:r>
              <a:rPr lang="es-419" sz="1800">
                <a:solidFill>
                  <a:schemeClr val="lt2"/>
                </a:solidFill>
                <a:latin typeface="Roboto"/>
                <a:ea typeface="Roboto"/>
                <a:cs typeface="Roboto"/>
                <a:sym typeface="Roboto"/>
              </a:rPr>
              <a:t>colocar</a:t>
            </a:r>
            <a:r>
              <a:rPr lang="es-419" sz="1800">
                <a:solidFill>
                  <a:schemeClr val="lt2"/>
                </a:solidFill>
                <a:latin typeface="Roboto"/>
                <a:ea typeface="Roboto"/>
                <a:cs typeface="Roboto"/>
                <a:sym typeface="Roboto"/>
              </a:rPr>
              <a:t> la resistencia en el panel, </a:t>
            </a:r>
            <a:r>
              <a:rPr lang="es-419" sz="1800">
                <a:solidFill>
                  <a:schemeClr val="lt2"/>
                </a:solidFill>
                <a:latin typeface="Roboto"/>
                <a:ea typeface="Roboto"/>
                <a:cs typeface="Roboto"/>
                <a:sym typeface="Roboto"/>
              </a:rPr>
              <a:t>se abrirá una pequeña ventana en la parte superior derecha en la que se pueden realizar los ajustes del componente, tales como: </a:t>
            </a:r>
            <a:endParaRPr sz="1800">
              <a:solidFill>
                <a:schemeClr val="lt2"/>
              </a:solidFill>
              <a:latin typeface="Roboto"/>
              <a:ea typeface="Roboto"/>
              <a:cs typeface="Roboto"/>
              <a:sym typeface="Roboto"/>
            </a:endParaRPr>
          </a:p>
          <a:p>
            <a:pPr indent="-342900" lvl="0" marL="457200" rtl="0" algn="just">
              <a:lnSpc>
                <a:spcPct val="115000"/>
              </a:lnSpc>
              <a:spcBef>
                <a:spcPts val="1200"/>
              </a:spcBef>
              <a:spcAft>
                <a:spcPts val="0"/>
              </a:spcAft>
              <a:buClr>
                <a:schemeClr val="lt2"/>
              </a:buClr>
              <a:buSzPts val="1800"/>
              <a:buFont typeface="Roboto"/>
              <a:buAutoNum type="arabicPeriod"/>
            </a:pPr>
            <a:r>
              <a:rPr lang="es-419" sz="1800">
                <a:solidFill>
                  <a:schemeClr val="lt2"/>
                </a:solidFill>
                <a:latin typeface="Roboto"/>
                <a:ea typeface="Roboto"/>
                <a:cs typeface="Roboto"/>
                <a:sym typeface="Roboto"/>
              </a:rPr>
              <a:t>Nombre</a:t>
            </a:r>
            <a:endParaRPr sz="1800">
              <a:solidFill>
                <a:schemeClr val="lt2"/>
              </a:solidFill>
              <a:latin typeface="Roboto"/>
              <a:ea typeface="Roboto"/>
              <a:cs typeface="Roboto"/>
              <a:sym typeface="Roboto"/>
            </a:endParaRPr>
          </a:p>
          <a:p>
            <a:pPr indent="-342900" lvl="0" marL="457200" rtl="0" algn="just">
              <a:lnSpc>
                <a:spcPct val="115000"/>
              </a:lnSpc>
              <a:spcBef>
                <a:spcPts val="0"/>
              </a:spcBef>
              <a:spcAft>
                <a:spcPts val="0"/>
              </a:spcAft>
              <a:buClr>
                <a:schemeClr val="lt2"/>
              </a:buClr>
              <a:buSzPts val="1800"/>
              <a:buFont typeface="Roboto"/>
              <a:buAutoNum type="arabicPeriod"/>
            </a:pPr>
            <a:r>
              <a:rPr lang="es-419" sz="1800">
                <a:solidFill>
                  <a:schemeClr val="lt2"/>
                </a:solidFill>
                <a:latin typeface="Roboto"/>
                <a:ea typeface="Roboto"/>
                <a:cs typeface="Roboto"/>
                <a:sym typeface="Roboto"/>
              </a:rPr>
              <a:t>Valor de la resistencia</a:t>
            </a:r>
            <a:endParaRPr sz="1800">
              <a:solidFill>
                <a:schemeClr val="lt2"/>
              </a:solidFill>
              <a:latin typeface="Roboto"/>
              <a:ea typeface="Roboto"/>
              <a:cs typeface="Roboto"/>
              <a:sym typeface="Roboto"/>
            </a:endParaRPr>
          </a:p>
          <a:p>
            <a:pPr indent="0" lvl="0" marL="0" rtl="0" algn="l">
              <a:spcBef>
                <a:spcPts val="1200"/>
              </a:spcBef>
              <a:spcAft>
                <a:spcPts val="0"/>
              </a:spcAft>
              <a:buNone/>
            </a:pPr>
            <a:r>
              <a:rPr lang="es-419" sz="1800">
                <a:solidFill>
                  <a:schemeClr val="lt2"/>
                </a:solidFill>
                <a:latin typeface="Roboto"/>
                <a:ea typeface="Roboto"/>
                <a:cs typeface="Roboto"/>
                <a:sym typeface="Roboto"/>
              </a:rPr>
              <a:t>Para abrir esta ventana de ajustes se debe hacer clic en el componente y cerrarla de nuevo haciendo clic en la capa.</a:t>
            </a:r>
            <a:endParaRPr sz="1800">
              <a:solidFill>
                <a:schemeClr val="lt2"/>
              </a:solidFill>
              <a:latin typeface="Roboto"/>
              <a:ea typeface="Roboto"/>
              <a:cs typeface="Roboto"/>
              <a:sym typeface="Roboto"/>
            </a:endParaRPr>
          </a:p>
          <a:p>
            <a:pPr indent="0" lvl="0" marL="457200" marR="0" rtl="0" algn="just">
              <a:lnSpc>
                <a:spcPct val="115000"/>
              </a:lnSpc>
              <a:spcBef>
                <a:spcPts val="0"/>
              </a:spcBef>
              <a:spcAft>
                <a:spcPts val="1200"/>
              </a:spcAft>
              <a:buNone/>
            </a:pPr>
            <a:r>
              <a:t/>
            </a:r>
            <a:endParaRPr sz="1800">
              <a:solidFill>
                <a:schemeClr val="lt2"/>
              </a:solidFill>
              <a:latin typeface="Roboto"/>
              <a:ea typeface="Roboto"/>
              <a:cs typeface="Roboto"/>
              <a:sym typeface="Roboto"/>
            </a:endParaRPr>
          </a:p>
        </p:txBody>
      </p:sp>
      <p:pic>
        <p:nvPicPr>
          <p:cNvPr id="125" name="Google Shape;125;p19"/>
          <p:cNvPicPr preferRelativeResize="0"/>
          <p:nvPr/>
        </p:nvPicPr>
        <p:blipFill>
          <a:blip r:embed="rId3">
            <a:alphaModFix/>
          </a:blip>
          <a:stretch>
            <a:fillRect/>
          </a:stretch>
        </p:blipFill>
        <p:spPr>
          <a:xfrm>
            <a:off x="196425" y="1153000"/>
            <a:ext cx="4177850" cy="3114699"/>
          </a:xfrm>
          <a:prstGeom prst="rect">
            <a:avLst/>
          </a:prstGeom>
          <a:noFill/>
          <a:ln>
            <a:noFill/>
          </a:ln>
        </p:spPr>
      </p:pic>
      <p:sp>
        <p:nvSpPr>
          <p:cNvPr id="126" name="Google Shape;126;p1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Entorno de Trabajo: pasos para añadir un componente al circuito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nvSpPr>
        <p:spPr>
          <a:xfrm>
            <a:off x="4380175" y="1154250"/>
            <a:ext cx="4177800" cy="1417500"/>
          </a:xfrm>
          <a:prstGeom prst="rect">
            <a:avLst/>
          </a:prstGeom>
          <a:noFill/>
          <a:ln>
            <a:noFill/>
          </a:ln>
        </p:spPr>
        <p:txBody>
          <a:bodyPr anchorCtr="0" anchor="ctr" bIns="91425" lIns="91425" spcFirstLastPara="1" rIns="91425" wrap="square" tIns="91425">
            <a:spAutoFit/>
          </a:bodyPr>
          <a:lstStyle/>
          <a:p>
            <a:pPr indent="0" lvl="0" marL="0" marR="0" rtl="0" algn="just">
              <a:lnSpc>
                <a:spcPct val="115000"/>
              </a:lnSpc>
              <a:spcBef>
                <a:spcPts val="0"/>
              </a:spcBef>
              <a:spcAft>
                <a:spcPts val="1200"/>
              </a:spcAft>
              <a:buNone/>
            </a:pPr>
            <a:r>
              <a:rPr lang="es-419" sz="1800">
                <a:solidFill>
                  <a:schemeClr val="lt2"/>
                </a:solidFill>
                <a:latin typeface="Roboto"/>
                <a:ea typeface="Roboto"/>
                <a:cs typeface="Roboto"/>
                <a:sym typeface="Roboto"/>
              </a:rPr>
              <a:t>El botón “Code” se utiliza para crear o mostrar el código de programación, en el caso de utilizar un elemento programable como el Arduino</a:t>
            </a:r>
            <a:endParaRPr sz="1800">
              <a:solidFill>
                <a:schemeClr val="lt2"/>
              </a:solidFill>
              <a:latin typeface="Roboto"/>
              <a:ea typeface="Roboto"/>
              <a:cs typeface="Roboto"/>
              <a:sym typeface="Roboto"/>
            </a:endParaRPr>
          </a:p>
        </p:txBody>
      </p:sp>
      <p:sp>
        <p:nvSpPr>
          <p:cNvPr id="132" name="Google Shape;132;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Entorno de Trabajo: programación</a:t>
            </a:r>
            <a:endParaRPr/>
          </a:p>
        </p:txBody>
      </p:sp>
      <p:pic>
        <p:nvPicPr>
          <p:cNvPr id="133" name="Google Shape;133;p20"/>
          <p:cNvPicPr preferRelativeResize="0"/>
          <p:nvPr/>
        </p:nvPicPr>
        <p:blipFill>
          <a:blip r:embed="rId3">
            <a:alphaModFix/>
          </a:blip>
          <a:stretch>
            <a:fillRect/>
          </a:stretch>
        </p:blipFill>
        <p:spPr>
          <a:xfrm>
            <a:off x="71775" y="719475"/>
            <a:ext cx="4010026" cy="2678899"/>
          </a:xfrm>
          <a:prstGeom prst="rect">
            <a:avLst/>
          </a:prstGeom>
          <a:noFill/>
          <a:ln>
            <a:noFill/>
          </a:ln>
        </p:spPr>
      </p:pic>
      <p:pic>
        <p:nvPicPr>
          <p:cNvPr id="134" name="Google Shape;134;p20"/>
          <p:cNvPicPr preferRelativeResize="0"/>
          <p:nvPr/>
        </p:nvPicPr>
        <p:blipFill>
          <a:blip r:embed="rId4">
            <a:alphaModFix/>
          </a:blip>
          <a:stretch>
            <a:fillRect/>
          </a:stretch>
        </p:blipFill>
        <p:spPr>
          <a:xfrm>
            <a:off x="184300" y="3498798"/>
            <a:ext cx="4010025" cy="1257300"/>
          </a:xfrm>
          <a:prstGeom prst="rect">
            <a:avLst/>
          </a:prstGeom>
          <a:noFill/>
          <a:ln>
            <a:noFill/>
          </a:ln>
        </p:spPr>
      </p:pic>
      <p:sp>
        <p:nvSpPr>
          <p:cNvPr id="135" name="Google Shape;135;p20"/>
          <p:cNvSpPr txBox="1"/>
          <p:nvPr/>
        </p:nvSpPr>
        <p:spPr>
          <a:xfrm>
            <a:off x="4492900" y="3398375"/>
            <a:ext cx="4177800" cy="1736100"/>
          </a:xfrm>
          <a:prstGeom prst="rect">
            <a:avLst/>
          </a:prstGeom>
          <a:noFill/>
          <a:ln>
            <a:noFill/>
          </a:ln>
        </p:spPr>
        <p:txBody>
          <a:bodyPr anchorCtr="0" anchor="ctr" bIns="91425" lIns="91425" spcFirstLastPara="1" rIns="91425" wrap="square" tIns="91425">
            <a:spAutoFit/>
          </a:bodyPr>
          <a:lstStyle/>
          <a:p>
            <a:pPr indent="0" lvl="0" marL="0" marR="0" rtl="0" algn="just">
              <a:lnSpc>
                <a:spcPct val="115000"/>
              </a:lnSpc>
              <a:spcBef>
                <a:spcPts val="0"/>
              </a:spcBef>
              <a:spcAft>
                <a:spcPts val="1200"/>
              </a:spcAft>
              <a:buNone/>
            </a:pPr>
            <a:r>
              <a:rPr lang="es-419" sz="1800">
                <a:solidFill>
                  <a:schemeClr val="lt2"/>
                </a:solidFill>
                <a:latin typeface="Roboto"/>
                <a:ea typeface="Roboto"/>
                <a:cs typeface="Roboto"/>
                <a:sym typeface="Roboto"/>
              </a:rPr>
              <a:t>Con “Start Simulation” se puede simular virtualmente el circuito creado, utilizando así un entorno seguro para comprobar el funcionamiento de circuitos</a:t>
            </a:r>
            <a:endParaRPr sz="1800">
              <a:solidFill>
                <a:schemeClr val="l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t>
            </a:r>
            <a:r>
              <a:rPr lang="es-419"/>
              <a:t>Cómo</a:t>
            </a:r>
            <a:r>
              <a:rPr lang="es-419"/>
              <a:t> empezamos?</a:t>
            </a:r>
            <a:endParaRPr/>
          </a:p>
        </p:txBody>
      </p:sp>
      <p:sp>
        <p:nvSpPr>
          <p:cNvPr id="141" name="Google Shape;141;p21"/>
          <p:cNvSpPr txBox="1"/>
          <p:nvPr>
            <p:ph idx="1" type="body"/>
          </p:nvPr>
        </p:nvSpPr>
        <p:spPr>
          <a:xfrm>
            <a:off x="471900" y="1919075"/>
            <a:ext cx="5202900" cy="3190500"/>
          </a:xfrm>
          <a:prstGeom prst="rect">
            <a:avLst/>
          </a:prstGeom>
        </p:spPr>
        <p:txBody>
          <a:bodyPr anchorCtr="0" anchor="t" bIns="91425" lIns="91425" spcFirstLastPara="1" rIns="91425" wrap="square" tIns="91425">
            <a:normAutofit lnSpcReduction="10000"/>
          </a:bodyPr>
          <a:lstStyle/>
          <a:p>
            <a:pPr indent="-342900" lvl="0" marL="457200" rtl="0" algn="just">
              <a:lnSpc>
                <a:spcPct val="150000"/>
              </a:lnSpc>
              <a:spcBef>
                <a:spcPts val="0"/>
              </a:spcBef>
              <a:spcAft>
                <a:spcPts val="0"/>
              </a:spcAft>
              <a:buSzPts val="1800"/>
              <a:buChar char="●"/>
            </a:pPr>
            <a:r>
              <a:rPr lang="es-419"/>
              <a:t>En primer lugar debes crearte una cuenta en el sitio web de </a:t>
            </a:r>
            <a:r>
              <a:rPr lang="es-419" u="sng">
                <a:solidFill>
                  <a:schemeClr val="hlink"/>
                </a:solidFill>
                <a:hlinkClick r:id="rId3"/>
              </a:rPr>
              <a:t>TINKERCAD</a:t>
            </a:r>
            <a:endParaRPr/>
          </a:p>
          <a:p>
            <a:pPr indent="-342900" lvl="0" marL="457200" marR="0" rtl="0" algn="just">
              <a:lnSpc>
                <a:spcPct val="150000"/>
              </a:lnSpc>
              <a:spcBef>
                <a:spcPts val="0"/>
              </a:spcBef>
              <a:spcAft>
                <a:spcPts val="0"/>
              </a:spcAft>
              <a:buSzPts val="1800"/>
              <a:buChar char="●"/>
            </a:pPr>
            <a:r>
              <a:rPr lang="es-419"/>
              <a:t>Da clic en el botón registrarse en la parte superior derecha.</a:t>
            </a:r>
            <a:endParaRPr/>
          </a:p>
          <a:p>
            <a:pPr indent="-342900" lvl="0" marL="457200" rtl="0" algn="l">
              <a:lnSpc>
                <a:spcPct val="150000"/>
              </a:lnSpc>
              <a:spcBef>
                <a:spcPts val="0"/>
              </a:spcBef>
              <a:spcAft>
                <a:spcPts val="0"/>
              </a:spcAft>
              <a:buSzPts val="1800"/>
              <a:buChar char="●"/>
            </a:pPr>
            <a:r>
              <a:rPr lang="es-419"/>
              <a:t>Da clic en estudiantes con código de clase</a:t>
            </a:r>
            <a:endParaRPr/>
          </a:p>
          <a:p>
            <a:pPr indent="457200" lvl="0" marL="0" rtl="0" algn="just">
              <a:lnSpc>
                <a:spcPct val="150000"/>
              </a:lnSpc>
              <a:spcBef>
                <a:spcPts val="0"/>
              </a:spcBef>
              <a:spcAft>
                <a:spcPts val="1200"/>
              </a:spcAft>
              <a:buNone/>
            </a:pPr>
            <a:r>
              <a:rPr lang="es-419"/>
              <a:t>Se trabajará con Actividades por Clase, definidas por un único </a:t>
            </a:r>
            <a:r>
              <a:rPr lang="es-419"/>
              <a:t>código</a:t>
            </a:r>
            <a:r>
              <a:rPr lang="es-419"/>
              <a:t> de clase para el año escolar.</a:t>
            </a:r>
            <a:endParaRPr/>
          </a:p>
        </p:txBody>
      </p:sp>
      <p:pic>
        <p:nvPicPr>
          <p:cNvPr id="142" name="Google Shape;142;p21"/>
          <p:cNvPicPr preferRelativeResize="0"/>
          <p:nvPr/>
        </p:nvPicPr>
        <p:blipFill>
          <a:blip r:embed="rId4">
            <a:alphaModFix/>
          </a:blip>
          <a:stretch>
            <a:fillRect/>
          </a:stretch>
        </p:blipFill>
        <p:spPr>
          <a:xfrm>
            <a:off x="7131450" y="66050"/>
            <a:ext cx="1594700" cy="1594700"/>
          </a:xfrm>
          <a:prstGeom prst="rect">
            <a:avLst/>
          </a:prstGeom>
          <a:noFill/>
          <a:ln>
            <a:noFill/>
          </a:ln>
        </p:spPr>
      </p:pic>
      <p:grpSp>
        <p:nvGrpSpPr>
          <p:cNvPr id="143" name="Google Shape;143;p21"/>
          <p:cNvGrpSpPr/>
          <p:nvPr/>
        </p:nvGrpSpPr>
        <p:grpSpPr>
          <a:xfrm>
            <a:off x="3253949" y="3135000"/>
            <a:ext cx="1926226" cy="323100"/>
            <a:chOff x="7044099" y="2393500"/>
            <a:chExt cx="1926226" cy="323100"/>
          </a:xfrm>
        </p:grpSpPr>
        <p:pic>
          <p:nvPicPr>
            <p:cNvPr id="144" name="Google Shape;144;p21"/>
            <p:cNvPicPr preferRelativeResize="0"/>
            <p:nvPr/>
          </p:nvPicPr>
          <p:blipFill>
            <a:blip r:embed="rId5">
              <a:alphaModFix/>
            </a:blip>
            <a:stretch>
              <a:fillRect/>
            </a:stretch>
          </p:blipFill>
          <p:spPr>
            <a:xfrm>
              <a:off x="7044099" y="2427025"/>
              <a:ext cx="1893100" cy="289425"/>
            </a:xfrm>
            <a:prstGeom prst="rect">
              <a:avLst/>
            </a:prstGeom>
            <a:noFill/>
            <a:ln>
              <a:noFill/>
            </a:ln>
          </p:spPr>
        </p:pic>
        <p:sp>
          <p:nvSpPr>
            <p:cNvPr id="145" name="Google Shape;145;p21"/>
            <p:cNvSpPr/>
            <p:nvPr/>
          </p:nvSpPr>
          <p:spPr>
            <a:xfrm>
              <a:off x="8234725" y="2393500"/>
              <a:ext cx="735600" cy="3231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pic>
        <p:nvPicPr>
          <p:cNvPr id="146" name="Google Shape;146;p21"/>
          <p:cNvPicPr preferRelativeResize="0"/>
          <p:nvPr/>
        </p:nvPicPr>
        <p:blipFill>
          <a:blip r:embed="rId6">
            <a:alphaModFix/>
          </a:blip>
          <a:stretch>
            <a:fillRect/>
          </a:stretch>
        </p:blipFill>
        <p:spPr>
          <a:xfrm>
            <a:off x="6077001" y="1949951"/>
            <a:ext cx="2649150" cy="2459500"/>
          </a:xfrm>
          <a:prstGeom prst="rect">
            <a:avLst/>
          </a:prstGeom>
          <a:noFill/>
          <a:ln>
            <a:noFill/>
          </a:ln>
        </p:spPr>
      </p:pic>
      <p:sp>
        <p:nvSpPr>
          <p:cNvPr id="147" name="Google Shape;147;p21"/>
          <p:cNvSpPr/>
          <p:nvPr/>
        </p:nvSpPr>
        <p:spPr>
          <a:xfrm>
            <a:off x="6323400" y="3485850"/>
            <a:ext cx="2149500" cy="323100"/>
          </a:xfrm>
          <a:prstGeom prst="rect">
            <a:avLst/>
          </a:prstGeom>
          <a:no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8" name="Google Shape;148;p21"/>
          <p:cNvCxnSpPr>
            <a:endCxn id="147" idx="1"/>
          </p:cNvCxnSpPr>
          <p:nvPr/>
        </p:nvCxnSpPr>
        <p:spPr>
          <a:xfrm flipH="1" rot="10800000">
            <a:off x="5370600" y="3647400"/>
            <a:ext cx="952800" cy="39900"/>
          </a:xfrm>
          <a:prstGeom prst="straightConnector1">
            <a:avLst/>
          </a:prstGeom>
          <a:noFill/>
          <a:ln cap="flat" cmpd="sng" w="28575">
            <a:solidFill>
              <a:srgbClr val="980000"/>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2"/>
          <p:cNvPicPr preferRelativeResize="0"/>
          <p:nvPr/>
        </p:nvPicPr>
        <p:blipFill>
          <a:blip r:embed="rId3">
            <a:alphaModFix/>
          </a:blip>
          <a:stretch>
            <a:fillRect/>
          </a:stretch>
        </p:blipFill>
        <p:spPr>
          <a:xfrm>
            <a:off x="7131450" y="66050"/>
            <a:ext cx="1594700" cy="1594700"/>
          </a:xfrm>
          <a:prstGeom prst="rect">
            <a:avLst/>
          </a:prstGeom>
          <a:noFill/>
          <a:ln>
            <a:noFill/>
          </a:ln>
        </p:spPr>
      </p:pic>
      <p:pic>
        <p:nvPicPr>
          <p:cNvPr id="154" name="Google Shape;154;p22"/>
          <p:cNvPicPr preferRelativeResize="0"/>
          <p:nvPr/>
        </p:nvPicPr>
        <p:blipFill>
          <a:blip r:embed="rId4">
            <a:alphaModFix/>
          </a:blip>
          <a:stretch>
            <a:fillRect/>
          </a:stretch>
        </p:blipFill>
        <p:spPr>
          <a:xfrm>
            <a:off x="760201" y="3741225"/>
            <a:ext cx="5645323" cy="1260600"/>
          </a:xfrm>
          <a:prstGeom prst="rect">
            <a:avLst/>
          </a:prstGeom>
          <a:noFill/>
          <a:ln>
            <a:noFill/>
          </a:ln>
        </p:spPr>
      </p:pic>
      <p:sp>
        <p:nvSpPr>
          <p:cNvPr id="155" name="Google Shape;155;p22"/>
          <p:cNvSpPr txBox="1"/>
          <p:nvPr>
            <p:ph type="title"/>
          </p:nvPr>
        </p:nvSpPr>
        <p:spPr>
          <a:xfrm>
            <a:off x="624300" y="8911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¿Cómo empezamos?</a:t>
            </a:r>
            <a:endParaRPr/>
          </a:p>
        </p:txBody>
      </p:sp>
      <p:sp>
        <p:nvSpPr>
          <p:cNvPr id="156" name="Google Shape;156;p22"/>
          <p:cNvSpPr txBox="1"/>
          <p:nvPr>
            <p:ph idx="1" type="body"/>
          </p:nvPr>
        </p:nvSpPr>
        <p:spPr>
          <a:xfrm>
            <a:off x="280075" y="1738325"/>
            <a:ext cx="5202900" cy="1738200"/>
          </a:xfrm>
          <a:prstGeom prst="rect">
            <a:avLst/>
          </a:prstGeom>
        </p:spPr>
        <p:txBody>
          <a:bodyPr anchorCtr="0" anchor="t" bIns="91425" lIns="91425" spcFirstLastPara="1" rIns="91425" wrap="square" tIns="91425">
            <a:normAutofit/>
          </a:bodyPr>
          <a:lstStyle/>
          <a:p>
            <a:pPr indent="-342900" lvl="0" marL="457200" rtl="0" algn="just">
              <a:lnSpc>
                <a:spcPct val="150000"/>
              </a:lnSpc>
              <a:spcBef>
                <a:spcPts val="0"/>
              </a:spcBef>
              <a:spcAft>
                <a:spcPts val="0"/>
              </a:spcAft>
              <a:buSzPts val="1800"/>
              <a:buChar char="●"/>
            </a:pPr>
            <a:r>
              <a:rPr lang="es-419"/>
              <a:t>Se abrirá la ventana: Únete a una clase.</a:t>
            </a:r>
            <a:endParaRPr/>
          </a:p>
          <a:p>
            <a:pPr indent="-342900" lvl="0" marL="457200" rtl="0" algn="just">
              <a:lnSpc>
                <a:spcPct val="150000"/>
              </a:lnSpc>
              <a:spcBef>
                <a:spcPts val="0"/>
              </a:spcBef>
              <a:spcAft>
                <a:spcPts val="0"/>
              </a:spcAft>
              <a:buSzPts val="1800"/>
              <a:buChar char="●"/>
            </a:pPr>
            <a:r>
              <a:rPr lang="es-419"/>
              <a:t>Coloca el código de clase en el espacio en blanco señalado</a:t>
            </a:r>
            <a:endParaRPr/>
          </a:p>
          <a:p>
            <a:pPr indent="-342900" lvl="0" marL="457200" rtl="0" algn="just">
              <a:lnSpc>
                <a:spcPct val="150000"/>
              </a:lnSpc>
              <a:spcBef>
                <a:spcPts val="0"/>
              </a:spcBef>
              <a:spcAft>
                <a:spcPts val="0"/>
              </a:spcAft>
              <a:buSzPts val="1800"/>
              <a:buChar char="●"/>
            </a:pPr>
            <a:r>
              <a:rPr lang="es-419"/>
              <a:t>El código de la clase es:</a:t>
            </a:r>
            <a:endParaRPr/>
          </a:p>
        </p:txBody>
      </p:sp>
      <p:pic>
        <p:nvPicPr>
          <p:cNvPr id="157" name="Google Shape;157;p22"/>
          <p:cNvPicPr preferRelativeResize="0"/>
          <p:nvPr/>
        </p:nvPicPr>
        <p:blipFill>
          <a:blip r:embed="rId5">
            <a:alphaModFix/>
          </a:blip>
          <a:stretch>
            <a:fillRect/>
          </a:stretch>
        </p:blipFill>
        <p:spPr>
          <a:xfrm>
            <a:off x="5520985" y="1738325"/>
            <a:ext cx="2717390" cy="1777500"/>
          </a:xfrm>
          <a:prstGeom prst="rect">
            <a:avLst/>
          </a:prstGeom>
          <a:noFill/>
          <a:ln>
            <a:noFill/>
          </a:ln>
        </p:spPr>
      </p:pic>
      <p:sp>
        <p:nvSpPr>
          <p:cNvPr id="158" name="Google Shape;158;p22"/>
          <p:cNvSpPr/>
          <p:nvPr/>
        </p:nvSpPr>
        <p:spPr>
          <a:xfrm>
            <a:off x="5780700" y="2643175"/>
            <a:ext cx="2010900" cy="337500"/>
          </a:xfrm>
          <a:prstGeom prst="rect">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9" name="Google Shape;159;p22"/>
          <p:cNvCxnSpPr>
            <a:endCxn id="158" idx="1"/>
          </p:cNvCxnSpPr>
          <p:nvPr/>
        </p:nvCxnSpPr>
        <p:spPr>
          <a:xfrm>
            <a:off x="2738100" y="2802025"/>
            <a:ext cx="3042600" cy="9900"/>
          </a:xfrm>
          <a:prstGeom prst="straightConnector1">
            <a:avLst/>
          </a:prstGeom>
          <a:noFill/>
          <a:ln cap="flat" cmpd="sng" w="28575">
            <a:solidFill>
              <a:schemeClr val="accent3"/>
            </a:solidFill>
            <a:prstDash val="solid"/>
            <a:round/>
            <a:headEnd len="med" w="med" type="none"/>
            <a:tailEnd len="med" w="med" type="triangle"/>
          </a:ln>
        </p:spPr>
      </p:cxnSp>
      <p:cxnSp>
        <p:nvCxnSpPr>
          <p:cNvPr id="160" name="Google Shape;160;p22"/>
          <p:cNvCxnSpPr/>
          <p:nvPr/>
        </p:nvCxnSpPr>
        <p:spPr>
          <a:xfrm>
            <a:off x="3359775" y="3205425"/>
            <a:ext cx="13200" cy="5358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3"/>
          <p:cNvPicPr preferRelativeResize="0"/>
          <p:nvPr/>
        </p:nvPicPr>
        <p:blipFill>
          <a:blip r:embed="rId3">
            <a:alphaModFix/>
          </a:blip>
          <a:stretch>
            <a:fillRect/>
          </a:stretch>
        </p:blipFill>
        <p:spPr>
          <a:xfrm>
            <a:off x="7131450" y="66050"/>
            <a:ext cx="1594700" cy="1594700"/>
          </a:xfrm>
          <a:prstGeom prst="rect">
            <a:avLst/>
          </a:prstGeom>
          <a:noFill/>
          <a:ln>
            <a:noFill/>
          </a:ln>
        </p:spPr>
      </p:pic>
      <p:sp>
        <p:nvSpPr>
          <p:cNvPr id="166" name="Google Shape;166;p23"/>
          <p:cNvSpPr txBox="1"/>
          <p:nvPr>
            <p:ph type="title"/>
          </p:nvPr>
        </p:nvSpPr>
        <p:spPr>
          <a:xfrm>
            <a:off x="624300" y="8911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¿Cómo empezamos?</a:t>
            </a:r>
            <a:endParaRPr/>
          </a:p>
        </p:txBody>
      </p:sp>
      <p:sp>
        <p:nvSpPr>
          <p:cNvPr id="167" name="Google Shape;167;p23"/>
          <p:cNvSpPr txBox="1"/>
          <p:nvPr>
            <p:ph idx="1" type="body"/>
          </p:nvPr>
        </p:nvSpPr>
        <p:spPr>
          <a:xfrm>
            <a:off x="280075" y="1738325"/>
            <a:ext cx="5202900" cy="1738200"/>
          </a:xfrm>
          <a:prstGeom prst="rect">
            <a:avLst/>
          </a:prstGeom>
        </p:spPr>
        <p:txBody>
          <a:bodyPr anchorCtr="0" anchor="t" bIns="91425" lIns="91425" spcFirstLastPara="1" rIns="91425" wrap="square" tIns="91425">
            <a:normAutofit/>
          </a:bodyPr>
          <a:lstStyle/>
          <a:p>
            <a:pPr indent="-342900" lvl="0" marL="457200" rtl="0" algn="just">
              <a:lnSpc>
                <a:spcPct val="150000"/>
              </a:lnSpc>
              <a:spcBef>
                <a:spcPts val="0"/>
              </a:spcBef>
              <a:spcAft>
                <a:spcPts val="0"/>
              </a:spcAft>
              <a:buSzPts val="1800"/>
              <a:buChar char="●"/>
            </a:pPr>
            <a:r>
              <a:rPr lang="es-419"/>
              <a:t>Se abrirá la sesión de tinkercad: </a:t>
            </a:r>
            <a:endParaRPr/>
          </a:p>
        </p:txBody>
      </p:sp>
      <p:pic>
        <p:nvPicPr>
          <p:cNvPr id="168" name="Google Shape;168;p23"/>
          <p:cNvPicPr preferRelativeResize="0"/>
          <p:nvPr/>
        </p:nvPicPr>
        <p:blipFill>
          <a:blip r:embed="rId4">
            <a:alphaModFix/>
          </a:blip>
          <a:stretch>
            <a:fillRect/>
          </a:stretch>
        </p:blipFill>
        <p:spPr>
          <a:xfrm>
            <a:off x="158750" y="2215750"/>
            <a:ext cx="7041726" cy="1340500"/>
          </a:xfrm>
          <a:prstGeom prst="rect">
            <a:avLst/>
          </a:prstGeom>
          <a:noFill/>
          <a:ln>
            <a:noFill/>
          </a:ln>
        </p:spPr>
      </p:pic>
      <p:cxnSp>
        <p:nvCxnSpPr>
          <p:cNvPr id="169" name="Google Shape;169;p23"/>
          <p:cNvCxnSpPr/>
          <p:nvPr/>
        </p:nvCxnSpPr>
        <p:spPr>
          <a:xfrm>
            <a:off x="2554825" y="3312150"/>
            <a:ext cx="6300" cy="800100"/>
          </a:xfrm>
          <a:prstGeom prst="straightConnector1">
            <a:avLst/>
          </a:prstGeom>
          <a:noFill/>
          <a:ln cap="flat" cmpd="sng" w="9525">
            <a:solidFill>
              <a:schemeClr val="accent3"/>
            </a:solidFill>
            <a:prstDash val="solid"/>
            <a:round/>
            <a:headEnd len="med" w="med" type="none"/>
            <a:tailEnd len="med" w="med" type="triangle"/>
          </a:ln>
        </p:spPr>
      </p:cxnSp>
      <p:sp>
        <p:nvSpPr>
          <p:cNvPr id="170" name="Google Shape;170;p23"/>
          <p:cNvSpPr txBox="1"/>
          <p:nvPr/>
        </p:nvSpPr>
        <p:spPr>
          <a:xfrm>
            <a:off x="2180175" y="4142475"/>
            <a:ext cx="8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Da clic</a:t>
            </a:r>
            <a:endParaRPr>
              <a:latin typeface="Roboto"/>
              <a:ea typeface="Roboto"/>
              <a:cs typeface="Roboto"/>
              <a:sym typeface="Roboto"/>
            </a:endParaRPr>
          </a:p>
        </p:txBody>
      </p:sp>
      <p:cxnSp>
        <p:nvCxnSpPr>
          <p:cNvPr id="171" name="Google Shape;171;p23"/>
          <p:cNvCxnSpPr/>
          <p:nvPr/>
        </p:nvCxnSpPr>
        <p:spPr>
          <a:xfrm flipH="1" rot="10800000">
            <a:off x="2891525" y="4341675"/>
            <a:ext cx="552300" cy="1800"/>
          </a:xfrm>
          <a:prstGeom prst="straightConnector1">
            <a:avLst/>
          </a:prstGeom>
          <a:noFill/>
          <a:ln cap="flat" cmpd="sng" w="9525">
            <a:solidFill>
              <a:schemeClr val="accent3"/>
            </a:solidFill>
            <a:prstDash val="solid"/>
            <a:round/>
            <a:headEnd len="med" w="med" type="none"/>
            <a:tailEnd len="med" w="med" type="triangle"/>
          </a:ln>
        </p:spPr>
      </p:cxnSp>
      <p:pic>
        <p:nvPicPr>
          <p:cNvPr id="172" name="Google Shape;172;p23"/>
          <p:cNvPicPr preferRelativeResize="0"/>
          <p:nvPr/>
        </p:nvPicPr>
        <p:blipFill>
          <a:blip r:embed="rId5">
            <a:alphaModFix/>
          </a:blip>
          <a:stretch>
            <a:fillRect/>
          </a:stretch>
        </p:blipFill>
        <p:spPr>
          <a:xfrm>
            <a:off x="3623445" y="3606150"/>
            <a:ext cx="2986904" cy="1340500"/>
          </a:xfrm>
          <a:prstGeom prst="rect">
            <a:avLst/>
          </a:prstGeom>
          <a:noFill/>
          <a:ln>
            <a:noFill/>
          </a:ln>
        </p:spPr>
      </p:pic>
      <p:sp>
        <p:nvSpPr>
          <p:cNvPr id="173" name="Google Shape;173;p23"/>
          <p:cNvSpPr/>
          <p:nvPr/>
        </p:nvSpPr>
        <p:spPr>
          <a:xfrm>
            <a:off x="4489025" y="4067800"/>
            <a:ext cx="895500" cy="952500"/>
          </a:xfrm>
          <a:prstGeom prst="rect">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4" name="Google Shape;174;p23"/>
          <p:cNvSpPr txBox="1"/>
          <p:nvPr/>
        </p:nvSpPr>
        <p:spPr>
          <a:xfrm>
            <a:off x="7336375" y="4225025"/>
            <a:ext cx="8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Da clic</a:t>
            </a:r>
            <a:endParaRPr>
              <a:latin typeface="Roboto"/>
              <a:ea typeface="Roboto"/>
              <a:cs typeface="Roboto"/>
              <a:sym typeface="Roboto"/>
            </a:endParaRPr>
          </a:p>
        </p:txBody>
      </p:sp>
      <p:cxnSp>
        <p:nvCxnSpPr>
          <p:cNvPr id="175" name="Google Shape;175;p23"/>
          <p:cNvCxnSpPr>
            <a:endCxn id="174" idx="1"/>
          </p:cNvCxnSpPr>
          <p:nvPr/>
        </p:nvCxnSpPr>
        <p:spPr>
          <a:xfrm flipH="1" rot="10800000">
            <a:off x="5609275" y="4425125"/>
            <a:ext cx="1727100" cy="900"/>
          </a:xfrm>
          <a:prstGeom prst="straightConnector1">
            <a:avLst/>
          </a:prstGeom>
          <a:noFill/>
          <a:ln cap="flat" cmpd="sng" w="9525">
            <a:solidFill>
              <a:schemeClr val="accent3"/>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24"/>
          <p:cNvPicPr preferRelativeResize="0"/>
          <p:nvPr/>
        </p:nvPicPr>
        <p:blipFill>
          <a:blip r:embed="rId3">
            <a:alphaModFix/>
          </a:blip>
          <a:stretch>
            <a:fillRect/>
          </a:stretch>
        </p:blipFill>
        <p:spPr>
          <a:xfrm>
            <a:off x="5612050" y="1738325"/>
            <a:ext cx="2477149" cy="2353550"/>
          </a:xfrm>
          <a:prstGeom prst="rect">
            <a:avLst/>
          </a:prstGeom>
          <a:noFill/>
          <a:ln>
            <a:noFill/>
          </a:ln>
        </p:spPr>
      </p:pic>
      <p:pic>
        <p:nvPicPr>
          <p:cNvPr id="181" name="Google Shape;181;p24"/>
          <p:cNvPicPr preferRelativeResize="0"/>
          <p:nvPr/>
        </p:nvPicPr>
        <p:blipFill>
          <a:blip r:embed="rId4">
            <a:alphaModFix/>
          </a:blip>
          <a:stretch>
            <a:fillRect/>
          </a:stretch>
        </p:blipFill>
        <p:spPr>
          <a:xfrm>
            <a:off x="7131450" y="66050"/>
            <a:ext cx="1594700" cy="1594700"/>
          </a:xfrm>
          <a:prstGeom prst="rect">
            <a:avLst/>
          </a:prstGeom>
          <a:noFill/>
          <a:ln>
            <a:noFill/>
          </a:ln>
        </p:spPr>
      </p:pic>
      <p:sp>
        <p:nvSpPr>
          <p:cNvPr id="182" name="Google Shape;182;p24"/>
          <p:cNvSpPr txBox="1"/>
          <p:nvPr>
            <p:ph type="title"/>
          </p:nvPr>
        </p:nvSpPr>
        <p:spPr>
          <a:xfrm>
            <a:off x="624300" y="8911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¿Cómo empezamos?</a:t>
            </a:r>
            <a:endParaRPr/>
          </a:p>
        </p:txBody>
      </p:sp>
      <p:sp>
        <p:nvSpPr>
          <p:cNvPr id="183" name="Google Shape;183;p24"/>
          <p:cNvSpPr txBox="1"/>
          <p:nvPr>
            <p:ph idx="1" type="body"/>
          </p:nvPr>
        </p:nvSpPr>
        <p:spPr>
          <a:xfrm>
            <a:off x="280075" y="1738325"/>
            <a:ext cx="5202900" cy="1738200"/>
          </a:xfrm>
          <a:prstGeom prst="rect">
            <a:avLst/>
          </a:prstGeom>
        </p:spPr>
        <p:txBody>
          <a:bodyPr anchorCtr="0" anchor="t" bIns="91425" lIns="91425" spcFirstLastPara="1" rIns="91425" wrap="square" tIns="91425">
            <a:normAutofit/>
          </a:bodyPr>
          <a:lstStyle/>
          <a:p>
            <a:pPr indent="-342900" lvl="0" marL="457200" rtl="0" algn="just">
              <a:lnSpc>
                <a:spcPct val="150000"/>
              </a:lnSpc>
              <a:spcBef>
                <a:spcPts val="0"/>
              </a:spcBef>
              <a:spcAft>
                <a:spcPts val="0"/>
              </a:spcAft>
              <a:buSzPts val="1800"/>
              <a:buChar char="●"/>
            </a:pPr>
            <a:r>
              <a:rPr lang="es-419"/>
              <a:t>Se abrirá la ventana: </a:t>
            </a:r>
            <a:endParaRPr/>
          </a:p>
          <a:p>
            <a:pPr indent="-342900" lvl="0" marL="457200" rtl="0" algn="just">
              <a:lnSpc>
                <a:spcPct val="150000"/>
              </a:lnSpc>
              <a:spcBef>
                <a:spcPts val="0"/>
              </a:spcBef>
              <a:spcAft>
                <a:spcPts val="0"/>
              </a:spcAft>
              <a:buSzPts val="1800"/>
              <a:buChar char="●"/>
            </a:pPr>
            <a:r>
              <a:rPr lang="es-419"/>
              <a:t>Clic en Unirse con apodo</a:t>
            </a:r>
            <a:endParaRPr/>
          </a:p>
          <a:p>
            <a:pPr indent="-342900" lvl="0" marL="457200" rtl="0" algn="just">
              <a:lnSpc>
                <a:spcPct val="150000"/>
              </a:lnSpc>
              <a:spcBef>
                <a:spcPts val="0"/>
              </a:spcBef>
              <a:spcAft>
                <a:spcPts val="0"/>
              </a:spcAft>
              <a:buSzPts val="1800"/>
              <a:buChar char="●"/>
            </a:pPr>
            <a:r>
              <a:rPr lang="es-419"/>
              <a:t>Se abrirá la ventana: </a:t>
            </a:r>
            <a:endParaRPr/>
          </a:p>
        </p:txBody>
      </p:sp>
      <p:sp>
        <p:nvSpPr>
          <p:cNvPr id="184" name="Google Shape;184;p24"/>
          <p:cNvSpPr/>
          <p:nvPr/>
        </p:nvSpPr>
        <p:spPr>
          <a:xfrm>
            <a:off x="5845175" y="2531275"/>
            <a:ext cx="2010900" cy="337500"/>
          </a:xfrm>
          <a:prstGeom prst="rect">
            <a:avLst/>
          </a:prstGeom>
          <a:noFill/>
          <a:ln cap="flat" cmpd="sng" w="28575">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5" name="Google Shape;185;p24"/>
          <p:cNvCxnSpPr/>
          <p:nvPr/>
        </p:nvCxnSpPr>
        <p:spPr>
          <a:xfrm flipH="1" rot="10800000">
            <a:off x="2903450" y="2001675"/>
            <a:ext cx="2692200" cy="6600"/>
          </a:xfrm>
          <a:prstGeom prst="straightConnector1">
            <a:avLst/>
          </a:prstGeom>
          <a:noFill/>
          <a:ln cap="flat" cmpd="sng" w="28575">
            <a:solidFill>
              <a:schemeClr val="accent3"/>
            </a:solidFill>
            <a:prstDash val="solid"/>
            <a:round/>
            <a:headEnd len="med" w="med" type="none"/>
            <a:tailEnd len="med" w="med" type="triangle"/>
          </a:ln>
        </p:spPr>
      </p:cxnSp>
      <p:cxnSp>
        <p:nvCxnSpPr>
          <p:cNvPr id="186" name="Google Shape;186;p24"/>
          <p:cNvCxnSpPr>
            <a:endCxn id="184" idx="1"/>
          </p:cNvCxnSpPr>
          <p:nvPr/>
        </p:nvCxnSpPr>
        <p:spPr>
          <a:xfrm>
            <a:off x="3399575" y="2424925"/>
            <a:ext cx="2445600" cy="275100"/>
          </a:xfrm>
          <a:prstGeom prst="straightConnector1">
            <a:avLst/>
          </a:prstGeom>
          <a:noFill/>
          <a:ln cap="flat" cmpd="sng" w="28575">
            <a:solidFill>
              <a:srgbClr val="FFD966"/>
            </a:solidFill>
            <a:prstDash val="solid"/>
            <a:round/>
            <a:headEnd len="med" w="med" type="none"/>
            <a:tailEnd len="med" w="med" type="triangle"/>
          </a:ln>
        </p:spPr>
      </p:cxnSp>
      <p:pic>
        <p:nvPicPr>
          <p:cNvPr id="187" name="Google Shape;187;p24"/>
          <p:cNvPicPr preferRelativeResize="0"/>
          <p:nvPr/>
        </p:nvPicPr>
        <p:blipFill>
          <a:blip r:embed="rId5">
            <a:alphaModFix/>
          </a:blip>
          <a:stretch>
            <a:fillRect/>
          </a:stretch>
        </p:blipFill>
        <p:spPr>
          <a:xfrm>
            <a:off x="846196" y="2985550"/>
            <a:ext cx="3000575" cy="1858975"/>
          </a:xfrm>
          <a:prstGeom prst="rect">
            <a:avLst/>
          </a:prstGeom>
          <a:noFill/>
          <a:ln>
            <a:noFill/>
          </a:ln>
        </p:spPr>
      </p:pic>
      <p:cxnSp>
        <p:nvCxnSpPr>
          <p:cNvPr id="188" name="Google Shape;188;p24"/>
          <p:cNvCxnSpPr/>
          <p:nvPr/>
        </p:nvCxnSpPr>
        <p:spPr>
          <a:xfrm flipH="1" rot="-5400000">
            <a:off x="2873700" y="2858075"/>
            <a:ext cx="198300" cy="112500"/>
          </a:xfrm>
          <a:prstGeom prst="bentConnector3">
            <a:avLst>
              <a:gd fmla="val -6682" name="adj1"/>
            </a:avLst>
          </a:prstGeom>
          <a:noFill/>
          <a:ln cap="flat" cmpd="sng" w="28575">
            <a:solidFill>
              <a:srgbClr val="00FF00"/>
            </a:solidFill>
            <a:prstDash val="solid"/>
            <a:round/>
            <a:headEnd len="med" w="med" type="none"/>
            <a:tailEnd len="med" w="med" type="stealth"/>
          </a:ln>
        </p:spPr>
      </p:cxnSp>
      <p:sp>
        <p:nvSpPr>
          <p:cNvPr id="189" name="Google Shape;189;p24"/>
          <p:cNvSpPr/>
          <p:nvPr/>
        </p:nvSpPr>
        <p:spPr>
          <a:xfrm>
            <a:off x="3928625" y="4614325"/>
            <a:ext cx="643500" cy="211500"/>
          </a:xfrm>
          <a:prstGeom prst="rightArrow">
            <a:avLst>
              <a:gd fmla="val 50000" name="adj1"/>
              <a:gd fmla="val 50000" name="adj2"/>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0" name="Google Shape;190;p24"/>
          <p:cNvSpPr txBox="1"/>
          <p:nvPr/>
        </p:nvSpPr>
        <p:spPr>
          <a:xfrm>
            <a:off x="4653975" y="4425625"/>
            <a:ext cx="381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Tu apodo será entregado por la profesora</a:t>
            </a:r>
            <a:endParaRPr>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25"/>
          <p:cNvPicPr preferRelativeResize="0"/>
          <p:nvPr/>
        </p:nvPicPr>
        <p:blipFill>
          <a:blip r:embed="rId3">
            <a:alphaModFix/>
          </a:blip>
          <a:stretch>
            <a:fillRect/>
          </a:stretch>
        </p:blipFill>
        <p:spPr>
          <a:xfrm>
            <a:off x="7131450" y="66050"/>
            <a:ext cx="1594700" cy="1594700"/>
          </a:xfrm>
          <a:prstGeom prst="rect">
            <a:avLst/>
          </a:prstGeom>
          <a:noFill/>
          <a:ln>
            <a:noFill/>
          </a:ln>
        </p:spPr>
      </p:pic>
      <p:sp>
        <p:nvSpPr>
          <p:cNvPr id="196" name="Google Shape;196;p25"/>
          <p:cNvSpPr txBox="1"/>
          <p:nvPr>
            <p:ph type="title"/>
          </p:nvPr>
        </p:nvSpPr>
        <p:spPr>
          <a:xfrm>
            <a:off x="624300" y="8911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¿Cómo empezamos?</a:t>
            </a:r>
            <a:endParaRPr/>
          </a:p>
        </p:txBody>
      </p:sp>
      <p:sp>
        <p:nvSpPr>
          <p:cNvPr id="197" name="Google Shape;197;p25"/>
          <p:cNvSpPr txBox="1"/>
          <p:nvPr>
            <p:ph idx="1" type="body"/>
          </p:nvPr>
        </p:nvSpPr>
        <p:spPr>
          <a:xfrm>
            <a:off x="280075" y="1738325"/>
            <a:ext cx="5202900" cy="1738200"/>
          </a:xfrm>
          <a:prstGeom prst="rect">
            <a:avLst/>
          </a:prstGeom>
        </p:spPr>
        <p:txBody>
          <a:bodyPr anchorCtr="0" anchor="t" bIns="91425" lIns="91425" spcFirstLastPara="1" rIns="91425" wrap="square" tIns="91425">
            <a:normAutofit/>
          </a:bodyPr>
          <a:lstStyle/>
          <a:p>
            <a:pPr indent="-342900" lvl="0" marL="457200" rtl="0" algn="just">
              <a:lnSpc>
                <a:spcPct val="150000"/>
              </a:lnSpc>
              <a:spcBef>
                <a:spcPts val="0"/>
              </a:spcBef>
              <a:spcAft>
                <a:spcPts val="0"/>
              </a:spcAft>
              <a:buSzPts val="1800"/>
              <a:buChar char="●"/>
            </a:pPr>
            <a:r>
              <a:rPr lang="es-419"/>
              <a:t>Se abrirá la ventana:</a:t>
            </a:r>
            <a:endParaRPr/>
          </a:p>
        </p:txBody>
      </p:sp>
      <p:pic>
        <p:nvPicPr>
          <p:cNvPr id="198" name="Google Shape;198;p25"/>
          <p:cNvPicPr preferRelativeResize="0"/>
          <p:nvPr/>
        </p:nvPicPr>
        <p:blipFill>
          <a:blip r:embed="rId4">
            <a:alphaModFix/>
          </a:blip>
          <a:stretch>
            <a:fillRect/>
          </a:stretch>
        </p:blipFill>
        <p:spPr>
          <a:xfrm>
            <a:off x="221400" y="2181745"/>
            <a:ext cx="4267625" cy="1565525"/>
          </a:xfrm>
          <a:prstGeom prst="rect">
            <a:avLst/>
          </a:prstGeom>
          <a:noFill/>
          <a:ln>
            <a:noFill/>
          </a:ln>
        </p:spPr>
      </p:pic>
      <p:sp>
        <p:nvSpPr>
          <p:cNvPr id="199" name="Google Shape;199;p25"/>
          <p:cNvSpPr txBox="1"/>
          <p:nvPr/>
        </p:nvSpPr>
        <p:spPr>
          <a:xfrm>
            <a:off x="4634175" y="1795600"/>
            <a:ext cx="4177800" cy="2846100"/>
          </a:xfrm>
          <a:prstGeom prst="rect">
            <a:avLst/>
          </a:prstGeom>
          <a:noFill/>
          <a:ln>
            <a:noFill/>
          </a:ln>
        </p:spPr>
        <p:txBody>
          <a:bodyPr anchorCtr="0" anchor="ctr" bIns="91425" lIns="91425" spcFirstLastPara="1" rIns="91425" wrap="square" tIns="91425">
            <a:spAutoFit/>
          </a:bodyPr>
          <a:lstStyle/>
          <a:p>
            <a:pPr indent="0" lvl="0" marL="0" marR="0" rtl="0" algn="just">
              <a:lnSpc>
                <a:spcPct val="115000"/>
              </a:lnSpc>
              <a:spcBef>
                <a:spcPts val="0"/>
              </a:spcBef>
              <a:spcAft>
                <a:spcPts val="0"/>
              </a:spcAft>
              <a:buNone/>
            </a:pPr>
            <a:r>
              <a:rPr b="1" lang="es-419" sz="1800">
                <a:solidFill>
                  <a:schemeClr val="lt2"/>
                </a:solidFill>
                <a:latin typeface="Roboto"/>
                <a:ea typeface="Roboto"/>
                <a:cs typeface="Roboto"/>
                <a:sym typeface="Roboto"/>
              </a:rPr>
              <a:t>Crear un diseño:</a:t>
            </a:r>
            <a:r>
              <a:rPr lang="es-419" sz="1800">
                <a:solidFill>
                  <a:schemeClr val="lt2"/>
                </a:solidFill>
                <a:latin typeface="Roboto"/>
                <a:ea typeface="Roboto"/>
                <a:cs typeface="Roboto"/>
                <a:sym typeface="Roboto"/>
              </a:rPr>
              <a:t> te saldrán tres opciones </a:t>
            </a:r>
            <a:r>
              <a:rPr i="1" lang="es-419" sz="1800">
                <a:solidFill>
                  <a:schemeClr val="lt2"/>
                </a:solidFill>
                <a:latin typeface="Roboto"/>
                <a:ea typeface="Roboto"/>
                <a:cs typeface="Roboto"/>
                <a:sym typeface="Roboto"/>
              </a:rPr>
              <a:t>Diseño 3D, </a:t>
            </a:r>
            <a:r>
              <a:rPr i="1" lang="es-419" sz="1800">
                <a:solidFill>
                  <a:schemeClr val="lt2"/>
                </a:solidFill>
                <a:latin typeface="Roboto"/>
                <a:ea typeface="Roboto"/>
                <a:cs typeface="Roboto"/>
                <a:sym typeface="Roboto"/>
              </a:rPr>
              <a:t>Circuito</a:t>
            </a:r>
            <a:r>
              <a:rPr i="1" lang="es-419" sz="1800">
                <a:solidFill>
                  <a:schemeClr val="lt2"/>
                </a:solidFill>
                <a:latin typeface="Roboto"/>
                <a:ea typeface="Roboto"/>
                <a:cs typeface="Roboto"/>
                <a:sym typeface="Roboto"/>
              </a:rPr>
              <a:t> y Bloques de código</a:t>
            </a:r>
            <a:r>
              <a:rPr lang="es-419" sz="1800">
                <a:solidFill>
                  <a:schemeClr val="lt2"/>
                </a:solidFill>
                <a:latin typeface="Roboto"/>
                <a:ea typeface="Roboto"/>
                <a:cs typeface="Roboto"/>
                <a:sym typeface="Roboto"/>
              </a:rPr>
              <a:t>, escoge </a:t>
            </a:r>
            <a:r>
              <a:rPr b="1" i="1" lang="es-419" sz="1800">
                <a:solidFill>
                  <a:schemeClr val="accent3"/>
                </a:solidFill>
                <a:latin typeface="Roboto"/>
                <a:ea typeface="Roboto"/>
                <a:cs typeface="Roboto"/>
                <a:sym typeface="Roboto"/>
              </a:rPr>
              <a:t>Circuito.</a:t>
            </a:r>
            <a:endParaRPr b="1" i="1" sz="1800">
              <a:solidFill>
                <a:schemeClr val="accent3"/>
              </a:solidFill>
              <a:latin typeface="Roboto"/>
              <a:ea typeface="Roboto"/>
              <a:cs typeface="Roboto"/>
              <a:sym typeface="Roboto"/>
            </a:endParaRPr>
          </a:p>
          <a:p>
            <a:pPr indent="0" lvl="0" marL="0" rtl="0" algn="just">
              <a:lnSpc>
                <a:spcPct val="115000"/>
              </a:lnSpc>
              <a:spcBef>
                <a:spcPts val="1200"/>
              </a:spcBef>
              <a:spcAft>
                <a:spcPts val="1200"/>
              </a:spcAft>
              <a:buNone/>
            </a:pPr>
            <a:r>
              <a:rPr b="1" lang="es-419" sz="1800">
                <a:solidFill>
                  <a:schemeClr val="lt2"/>
                </a:solidFill>
                <a:latin typeface="Roboto"/>
                <a:ea typeface="Roboto"/>
                <a:cs typeface="Roboto"/>
                <a:sym typeface="Roboto"/>
              </a:rPr>
              <a:t>Mostrar</a:t>
            </a:r>
            <a:r>
              <a:rPr b="1" lang="es-419" sz="1800">
                <a:solidFill>
                  <a:schemeClr val="lt2"/>
                </a:solidFill>
                <a:latin typeface="Roboto"/>
                <a:ea typeface="Roboto"/>
                <a:cs typeface="Roboto"/>
                <a:sym typeface="Roboto"/>
              </a:rPr>
              <a:t>: </a:t>
            </a:r>
            <a:r>
              <a:rPr lang="es-419" sz="1800">
                <a:solidFill>
                  <a:schemeClr val="lt2"/>
                </a:solidFill>
                <a:latin typeface="Roboto"/>
                <a:ea typeface="Roboto"/>
                <a:cs typeface="Roboto"/>
                <a:sym typeface="Roboto"/>
              </a:rPr>
              <a:t>En el espacio gris debajo se mostrará cada diseño que realices en la plataforma para verlos por tipos, solo deberás dar clic en la pestaña que corresponda al tipo de tu diseño.</a:t>
            </a:r>
            <a:endParaRPr i="1" sz="1800">
              <a:solidFill>
                <a:schemeClr val="accent3"/>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Mi primer circuito</a:t>
            </a:r>
            <a:endParaRPr/>
          </a:p>
        </p:txBody>
      </p:sp>
      <p:sp>
        <p:nvSpPr>
          <p:cNvPr id="205" name="Google Shape;205;p26"/>
          <p:cNvSpPr txBox="1"/>
          <p:nvPr>
            <p:ph idx="4294967295" type="body"/>
          </p:nvPr>
        </p:nvSpPr>
        <p:spPr>
          <a:xfrm>
            <a:off x="235625" y="792175"/>
            <a:ext cx="4227900" cy="2970300"/>
          </a:xfrm>
          <a:prstGeom prst="rect">
            <a:avLst/>
          </a:prstGeom>
        </p:spPr>
        <p:txBody>
          <a:bodyPr anchorCtr="0" anchor="t" bIns="91425" lIns="91425" spcFirstLastPara="1" rIns="91425" wrap="square" tIns="91425">
            <a:normAutofit/>
          </a:bodyPr>
          <a:lstStyle/>
          <a:p>
            <a:pPr indent="-342900" lvl="0" marL="457200" rtl="0" algn="just">
              <a:lnSpc>
                <a:spcPct val="150000"/>
              </a:lnSpc>
              <a:spcBef>
                <a:spcPts val="0"/>
              </a:spcBef>
              <a:spcAft>
                <a:spcPts val="0"/>
              </a:spcAft>
              <a:buSzPts val="1800"/>
              <a:buChar char="●"/>
            </a:pPr>
            <a:r>
              <a:rPr lang="es-419"/>
              <a:t>Da clic en el botón</a:t>
            </a:r>
            <a:endParaRPr/>
          </a:p>
          <a:p>
            <a:pPr indent="-342900" lvl="0" marL="457200" rtl="0" algn="just">
              <a:lnSpc>
                <a:spcPct val="150000"/>
              </a:lnSpc>
              <a:spcBef>
                <a:spcPts val="0"/>
              </a:spcBef>
              <a:spcAft>
                <a:spcPts val="0"/>
              </a:spcAft>
              <a:buSzPts val="1800"/>
              <a:buChar char="●"/>
            </a:pPr>
            <a:r>
              <a:rPr lang="es-419"/>
              <a:t>Escoge circuito</a:t>
            </a:r>
            <a:endParaRPr/>
          </a:p>
          <a:p>
            <a:pPr indent="-342900" lvl="0" marL="457200" rtl="0" algn="just">
              <a:lnSpc>
                <a:spcPct val="150000"/>
              </a:lnSpc>
              <a:spcBef>
                <a:spcPts val="0"/>
              </a:spcBef>
              <a:spcAft>
                <a:spcPts val="0"/>
              </a:spcAft>
              <a:buSzPts val="1800"/>
              <a:buChar char="●"/>
            </a:pPr>
            <a:r>
              <a:rPr lang="es-419"/>
              <a:t>Y busca en la barra de herramientas los siguientes componentes:</a:t>
            </a:r>
            <a:endParaRPr/>
          </a:p>
        </p:txBody>
      </p:sp>
      <p:pic>
        <p:nvPicPr>
          <p:cNvPr id="206" name="Google Shape;206;p26"/>
          <p:cNvPicPr preferRelativeResize="0"/>
          <p:nvPr/>
        </p:nvPicPr>
        <p:blipFill>
          <a:blip r:embed="rId3">
            <a:alphaModFix/>
          </a:blip>
          <a:stretch>
            <a:fillRect/>
          </a:stretch>
        </p:blipFill>
        <p:spPr>
          <a:xfrm>
            <a:off x="8236525" y="66050"/>
            <a:ext cx="489625" cy="489625"/>
          </a:xfrm>
          <a:prstGeom prst="rect">
            <a:avLst/>
          </a:prstGeom>
          <a:noFill/>
          <a:ln>
            <a:noFill/>
          </a:ln>
        </p:spPr>
      </p:pic>
      <p:pic>
        <p:nvPicPr>
          <p:cNvPr id="207" name="Google Shape;207;p26"/>
          <p:cNvPicPr preferRelativeResize="0"/>
          <p:nvPr/>
        </p:nvPicPr>
        <p:blipFill>
          <a:blip r:embed="rId4">
            <a:alphaModFix/>
          </a:blip>
          <a:stretch>
            <a:fillRect/>
          </a:stretch>
        </p:blipFill>
        <p:spPr>
          <a:xfrm>
            <a:off x="2730500" y="792175"/>
            <a:ext cx="1409700" cy="419100"/>
          </a:xfrm>
          <a:prstGeom prst="rect">
            <a:avLst/>
          </a:prstGeom>
          <a:noFill/>
          <a:ln>
            <a:noFill/>
          </a:ln>
        </p:spPr>
      </p:pic>
      <p:pic>
        <p:nvPicPr>
          <p:cNvPr id="208" name="Google Shape;208;p26"/>
          <p:cNvPicPr preferRelativeResize="0"/>
          <p:nvPr/>
        </p:nvPicPr>
        <p:blipFill>
          <a:blip r:embed="rId5">
            <a:alphaModFix/>
          </a:blip>
          <a:stretch>
            <a:fillRect/>
          </a:stretch>
        </p:blipFill>
        <p:spPr>
          <a:xfrm>
            <a:off x="812800" y="2921000"/>
            <a:ext cx="771525" cy="1066800"/>
          </a:xfrm>
          <a:prstGeom prst="rect">
            <a:avLst/>
          </a:prstGeom>
          <a:noFill/>
          <a:ln>
            <a:noFill/>
          </a:ln>
        </p:spPr>
      </p:pic>
      <p:pic>
        <p:nvPicPr>
          <p:cNvPr id="209" name="Google Shape;209;p26"/>
          <p:cNvPicPr preferRelativeResize="0"/>
          <p:nvPr/>
        </p:nvPicPr>
        <p:blipFill>
          <a:blip r:embed="rId6">
            <a:alphaModFix/>
          </a:blip>
          <a:stretch>
            <a:fillRect/>
          </a:stretch>
        </p:blipFill>
        <p:spPr>
          <a:xfrm>
            <a:off x="1800225" y="2925775"/>
            <a:ext cx="800350" cy="1057253"/>
          </a:xfrm>
          <a:prstGeom prst="rect">
            <a:avLst/>
          </a:prstGeom>
          <a:noFill/>
          <a:ln>
            <a:noFill/>
          </a:ln>
        </p:spPr>
      </p:pic>
      <p:pic>
        <p:nvPicPr>
          <p:cNvPr id="210" name="Google Shape;210;p26"/>
          <p:cNvPicPr preferRelativeResize="0"/>
          <p:nvPr/>
        </p:nvPicPr>
        <p:blipFill>
          <a:blip r:embed="rId7">
            <a:alphaModFix/>
          </a:blip>
          <a:stretch>
            <a:fillRect/>
          </a:stretch>
        </p:blipFill>
        <p:spPr>
          <a:xfrm>
            <a:off x="2730500" y="2962175"/>
            <a:ext cx="800349" cy="1108175"/>
          </a:xfrm>
          <a:prstGeom prst="rect">
            <a:avLst/>
          </a:prstGeom>
          <a:noFill/>
          <a:ln>
            <a:noFill/>
          </a:ln>
        </p:spPr>
      </p:pic>
      <p:pic>
        <p:nvPicPr>
          <p:cNvPr id="211" name="Google Shape;211;p26"/>
          <p:cNvPicPr preferRelativeResize="0"/>
          <p:nvPr/>
        </p:nvPicPr>
        <p:blipFill>
          <a:blip r:embed="rId8">
            <a:alphaModFix/>
          </a:blip>
          <a:stretch>
            <a:fillRect/>
          </a:stretch>
        </p:blipFill>
        <p:spPr>
          <a:xfrm>
            <a:off x="5200225" y="1286500"/>
            <a:ext cx="3914074" cy="1933700"/>
          </a:xfrm>
          <a:prstGeom prst="rect">
            <a:avLst/>
          </a:prstGeom>
          <a:noFill/>
          <a:ln>
            <a:noFill/>
          </a:ln>
        </p:spPr>
      </p:pic>
      <p:sp>
        <p:nvSpPr>
          <p:cNvPr id="212" name="Google Shape;212;p26"/>
          <p:cNvSpPr txBox="1"/>
          <p:nvPr/>
        </p:nvSpPr>
        <p:spPr>
          <a:xfrm>
            <a:off x="4838700" y="869950"/>
            <a:ext cx="4038300" cy="2739900"/>
          </a:xfrm>
          <a:prstGeom prst="rect">
            <a:avLst/>
          </a:prstGeom>
          <a:noFill/>
          <a:ln>
            <a:noFill/>
          </a:ln>
        </p:spPr>
        <p:txBody>
          <a:bodyPr anchorCtr="0" anchor="t" bIns="91425" lIns="91425" spcFirstLastPara="1" rIns="91425" wrap="square" tIns="91425">
            <a:spAutoFit/>
          </a:bodyPr>
          <a:lstStyle/>
          <a:p>
            <a:pPr indent="-342900" lvl="0" marL="457200" rtl="0" algn="just">
              <a:lnSpc>
                <a:spcPct val="150000"/>
              </a:lnSpc>
              <a:spcBef>
                <a:spcPts val="0"/>
              </a:spcBef>
              <a:spcAft>
                <a:spcPts val="0"/>
              </a:spcAft>
              <a:buClr>
                <a:schemeClr val="lt2"/>
              </a:buClr>
              <a:buSzPts val="1800"/>
              <a:buFont typeface="Roboto"/>
              <a:buChar char="●"/>
            </a:pPr>
            <a:r>
              <a:rPr lang="es-419" sz="1800">
                <a:solidFill>
                  <a:schemeClr val="lt2"/>
                </a:solidFill>
                <a:latin typeface="Roboto"/>
                <a:ea typeface="Roboto"/>
                <a:cs typeface="Roboto"/>
                <a:sym typeface="Roboto"/>
              </a:rPr>
              <a:t>Realiza el siguiente circuito:</a:t>
            </a:r>
            <a:endParaRPr sz="1800">
              <a:solidFill>
                <a:schemeClr val="lt2"/>
              </a:solidFill>
              <a:latin typeface="Roboto"/>
              <a:ea typeface="Roboto"/>
              <a:cs typeface="Roboto"/>
              <a:sym typeface="Roboto"/>
            </a:endParaRPr>
          </a:p>
          <a:p>
            <a:pPr indent="0" lvl="0" marL="0" rtl="0" algn="just">
              <a:lnSpc>
                <a:spcPct val="150000"/>
              </a:lnSpc>
              <a:spcBef>
                <a:spcPts val="1200"/>
              </a:spcBef>
              <a:spcAft>
                <a:spcPts val="0"/>
              </a:spcAft>
              <a:buNone/>
            </a:pPr>
            <a:r>
              <a:t/>
            </a:r>
            <a:endParaRPr sz="1800">
              <a:solidFill>
                <a:schemeClr val="lt2"/>
              </a:solidFill>
              <a:latin typeface="Roboto"/>
              <a:ea typeface="Roboto"/>
              <a:cs typeface="Roboto"/>
              <a:sym typeface="Roboto"/>
            </a:endParaRPr>
          </a:p>
          <a:p>
            <a:pPr indent="0" lvl="0" marL="0" rtl="0" algn="just">
              <a:lnSpc>
                <a:spcPct val="150000"/>
              </a:lnSpc>
              <a:spcBef>
                <a:spcPts val="1200"/>
              </a:spcBef>
              <a:spcAft>
                <a:spcPts val="0"/>
              </a:spcAft>
              <a:buNone/>
            </a:pPr>
            <a:r>
              <a:t/>
            </a:r>
            <a:endParaRPr sz="1800">
              <a:solidFill>
                <a:schemeClr val="lt2"/>
              </a:solidFill>
              <a:latin typeface="Roboto"/>
              <a:ea typeface="Roboto"/>
              <a:cs typeface="Roboto"/>
              <a:sym typeface="Roboto"/>
            </a:endParaRPr>
          </a:p>
          <a:p>
            <a:pPr indent="0" lvl="0" marL="0" rtl="0" algn="just">
              <a:lnSpc>
                <a:spcPct val="150000"/>
              </a:lnSpc>
              <a:spcBef>
                <a:spcPts val="1200"/>
              </a:spcBef>
              <a:spcAft>
                <a:spcPts val="0"/>
              </a:spcAft>
              <a:buNone/>
            </a:pPr>
            <a:r>
              <a:t/>
            </a:r>
            <a:endParaRPr sz="1800">
              <a:solidFill>
                <a:schemeClr val="lt2"/>
              </a:solidFill>
              <a:latin typeface="Roboto"/>
              <a:ea typeface="Roboto"/>
              <a:cs typeface="Roboto"/>
              <a:sym typeface="Roboto"/>
            </a:endParaRPr>
          </a:p>
          <a:p>
            <a:pPr indent="-342900" lvl="0" marL="457200" rtl="0" algn="just">
              <a:lnSpc>
                <a:spcPct val="150000"/>
              </a:lnSpc>
              <a:spcBef>
                <a:spcPts val="1200"/>
              </a:spcBef>
              <a:spcAft>
                <a:spcPts val="0"/>
              </a:spcAft>
              <a:buClr>
                <a:schemeClr val="lt2"/>
              </a:buClr>
              <a:buSzPts val="1800"/>
              <a:buFont typeface="Roboto"/>
              <a:buChar char="●"/>
            </a:pPr>
            <a:r>
              <a:rPr lang="es-419" sz="1800">
                <a:solidFill>
                  <a:schemeClr val="lt2"/>
                </a:solidFill>
                <a:latin typeface="Roboto"/>
                <a:ea typeface="Roboto"/>
                <a:cs typeface="Roboto"/>
                <a:sym typeface="Roboto"/>
              </a:rPr>
              <a:t>Observa el video</a:t>
            </a:r>
            <a:endParaRPr/>
          </a:p>
        </p:txBody>
      </p:sp>
      <p:pic>
        <p:nvPicPr>
          <p:cNvPr id="213" name="Google Shape;213;p26" title="miprimercircuitotinkercad.mp4">
            <a:hlinkClick r:id="rId9"/>
          </p:cNvPr>
          <p:cNvPicPr preferRelativeResize="0"/>
          <p:nvPr/>
        </p:nvPicPr>
        <p:blipFill>
          <a:blip r:embed="rId10">
            <a:alphaModFix/>
          </a:blip>
          <a:stretch>
            <a:fillRect/>
          </a:stretch>
        </p:blipFill>
        <p:spPr>
          <a:xfrm>
            <a:off x="5717741" y="3530550"/>
            <a:ext cx="2588059" cy="1428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Ejercicios</a:t>
            </a:r>
            <a:endParaRPr/>
          </a:p>
        </p:txBody>
      </p:sp>
      <p:sp>
        <p:nvSpPr>
          <p:cNvPr id="219" name="Google Shape;219;p27"/>
          <p:cNvSpPr txBox="1"/>
          <p:nvPr>
            <p:ph idx="4294967295" type="body"/>
          </p:nvPr>
        </p:nvSpPr>
        <p:spPr>
          <a:xfrm>
            <a:off x="235625" y="792175"/>
            <a:ext cx="8826600" cy="602700"/>
          </a:xfrm>
          <a:prstGeom prst="rect">
            <a:avLst/>
          </a:prstGeom>
        </p:spPr>
        <p:txBody>
          <a:bodyPr anchorCtr="0" anchor="t" bIns="91425" lIns="91425" spcFirstLastPara="1" rIns="91425" wrap="square" tIns="91425">
            <a:normAutofit/>
          </a:bodyPr>
          <a:lstStyle/>
          <a:p>
            <a:pPr indent="-342900" lvl="0" marL="457200" rtl="0" algn="just">
              <a:lnSpc>
                <a:spcPct val="150000"/>
              </a:lnSpc>
              <a:spcBef>
                <a:spcPts val="0"/>
              </a:spcBef>
              <a:spcAft>
                <a:spcPts val="0"/>
              </a:spcAft>
              <a:buSzPts val="1800"/>
              <a:buChar char="●"/>
            </a:pPr>
            <a:r>
              <a:rPr lang="es-419"/>
              <a:t>Realiza los siguientes circuitos de entrenamiento en la misma actividad</a:t>
            </a:r>
            <a:endParaRPr/>
          </a:p>
        </p:txBody>
      </p:sp>
      <p:pic>
        <p:nvPicPr>
          <p:cNvPr id="220" name="Google Shape;220;p27"/>
          <p:cNvPicPr preferRelativeResize="0"/>
          <p:nvPr/>
        </p:nvPicPr>
        <p:blipFill>
          <a:blip r:embed="rId3">
            <a:alphaModFix/>
          </a:blip>
          <a:stretch>
            <a:fillRect/>
          </a:stretch>
        </p:blipFill>
        <p:spPr>
          <a:xfrm>
            <a:off x="8236525" y="66050"/>
            <a:ext cx="489625" cy="489625"/>
          </a:xfrm>
          <a:prstGeom prst="rect">
            <a:avLst/>
          </a:prstGeom>
          <a:noFill/>
          <a:ln>
            <a:noFill/>
          </a:ln>
        </p:spPr>
      </p:pic>
      <p:pic>
        <p:nvPicPr>
          <p:cNvPr id="221" name="Google Shape;221;p27"/>
          <p:cNvPicPr preferRelativeResize="0"/>
          <p:nvPr/>
        </p:nvPicPr>
        <p:blipFill>
          <a:blip r:embed="rId4">
            <a:alphaModFix/>
          </a:blip>
          <a:stretch>
            <a:fillRect/>
          </a:stretch>
        </p:blipFill>
        <p:spPr>
          <a:xfrm>
            <a:off x="235625" y="1394875"/>
            <a:ext cx="2507848" cy="3443825"/>
          </a:xfrm>
          <a:prstGeom prst="rect">
            <a:avLst/>
          </a:prstGeom>
          <a:noFill/>
          <a:ln>
            <a:noFill/>
          </a:ln>
        </p:spPr>
      </p:pic>
      <p:sp>
        <p:nvSpPr>
          <p:cNvPr id="222" name="Google Shape;222;p27"/>
          <p:cNvSpPr txBox="1"/>
          <p:nvPr/>
        </p:nvSpPr>
        <p:spPr>
          <a:xfrm>
            <a:off x="525075" y="4743300"/>
            <a:ext cx="171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Led con pulsador</a:t>
            </a:r>
            <a:endParaRPr>
              <a:latin typeface="Roboto"/>
              <a:ea typeface="Roboto"/>
              <a:cs typeface="Roboto"/>
              <a:sym typeface="Roboto"/>
            </a:endParaRPr>
          </a:p>
        </p:txBody>
      </p:sp>
      <p:pic>
        <p:nvPicPr>
          <p:cNvPr id="223" name="Google Shape;223;p27"/>
          <p:cNvPicPr preferRelativeResize="0"/>
          <p:nvPr/>
        </p:nvPicPr>
        <p:blipFill>
          <a:blip r:embed="rId5">
            <a:alphaModFix/>
          </a:blip>
          <a:stretch>
            <a:fillRect/>
          </a:stretch>
        </p:blipFill>
        <p:spPr>
          <a:xfrm>
            <a:off x="2951800" y="1497300"/>
            <a:ext cx="3411630" cy="3246000"/>
          </a:xfrm>
          <a:prstGeom prst="rect">
            <a:avLst/>
          </a:prstGeom>
          <a:noFill/>
          <a:ln>
            <a:noFill/>
          </a:ln>
        </p:spPr>
      </p:pic>
      <p:sp>
        <p:nvSpPr>
          <p:cNvPr id="224" name="Google Shape;224;p27"/>
          <p:cNvSpPr txBox="1"/>
          <p:nvPr/>
        </p:nvSpPr>
        <p:spPr>
          <a:xfrm>
            <a:off x="6431250" y="4584400"/>
            <a:ext cx="263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Bombillo con celda solar e interruptor</a:t>
            </a:r>
            <a:endParaRPr>
              <a:latin typeface="Roboto"/>
              <a:ea typeface="Roboto"/>
              <a:cs typeface="Roboto"/>
              <a:sym typeface="Roboto"/>
            </a:endParaRPr>
          </a:p>
        </p:txBody>
      </p:sp>
      <p:pic>
        <p:nvPicPr>
          <p:cNvPr id="225" name="Google Shape;225;p27"/>
          <p:cNvPicPr preferRelativeResize="0"/>
          <p:nvPr/>
        </p:nvPicPr>
        <p:blipFill>
          <a:blip r:embed="rId6">
            <a:alphaModFix/>
          </a:blip>
          <a:stretch>
            <a:fillRect/>
          </a:stretch>
        </p:blipFill>
        <p:spPr>
          <a:xfrm>
            <a:off x="6431243" y="1191775"/>
            <a:ext cx="2428071" cy="3443825"/>
          </a:xfrm>
          <a:prstGeom prst="rect">
            <a:avLst/>
          </a:prstGeom>
          <a:noFill/>
          <a:ln>
            <a:noFill/>
          </a:ln>
        </p:spPr>
      </p:pic>
      <p:sp>
        <p:nvSpPr>
          <p:cNvPr id="226" name="Google Shape;226;p27"/>
          <p:cNvSpPr txBox="1"/>
          <p:nvPr/>
        </p:nvSpPr>
        <p:spPr>
          <a:xfrm>
            <a:off x="3086400" y="4895700"/>
            <a:ext cx="327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a:latin typeface="Roboto"/>
                <a:ea typeface="Roboto"/>
                <a:cs typeface="Roboto"/>
                <a:sym typeface="Roboto"/>
              </a:rPr>
              <a:t>Motor de Corriente Continua</a:t>
            </a:r>
            <a:endParaRPr>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Ejercicios</a:t>
            </a:r>
            <a:endParaRPr/>
          </a:p>
        </p:txBody>
      </p:sp>
      <p:sp>
        <p:nvSpPr>
          <p:cNvPr id="232" name="Google Shape;232;p28"/>
          <p:cNvSpPr txBox="1"/>
          <p:nvPr>
            <p:ph idx="4294967295" type="body"/>
          </p:nvPr>
        </p:nvSpPr>
        <p:spPr>
          <a:xfrm>
            <a:off x="98250" y="792050"/>
            <a:ext cx="8826600" cy="4107000"/>
          </a:xfrm>
          <a:prstGeom prst="rect">
            <a:avLst/>
          </a:prstGeom>
        </p:spPr>
        <p:txBody>
          <a:bodyPr anchorCtr="0" anchor="t" bIns="91425" lIns="91425" spcFirstLastPara="1" rIns="91425" wrap="square" tIns="91425">
            <a:noAutofit/>
          </a:bodyPr>
          <a:lstStyle/>
          <a:p>
            <a:pPr indent="-361950" lvl="0" marL="457200" rtl="0" algn="just">
              <a:lnSpc>
                <a:spcPct val="150000"/>
              </a:lnSpc>
              <a:spcBef>
                <a:spcPts val="0"/>
              </a:spcBef>
              <a:spcAft>
                <a:spcPts val="0"/>
              </a:spcAft>
              <a:buSzPts val="2100"/>
              <a:buChar char="●"/>
            </a:pPr>
            <a:r>
              <a:rPr lang="es-419" sz="2100"/>
              <a:t>Observa </a:t>
            </a:r>
            <a:r>
              <a:rPr lang="es-419" sz="2100"/>
              <a:t>cómo</a:t>
            </a:r>
            <a:r>
              <a:rPr lang="es-419" sz="2100"/>
              <a:t> están distribuidos los bombillos en el laboratorio, realiza un circuito en Tinkercad que </a:t>
            </a:r>
            <a:r>
              <a:rPr lang="es-419" sz="2100"/>
              <a:t>simule</a:t>
            </a:r>
            <a:r>
              <a:rPr lang="es-419" sz="2100"/>
              <a:t> la iluminación del laboratorio de manera tal que:</a:t>
            </a:r>
            <a:endParaRPr sz="2100"/>
          </a:p>
          <a:p>
            <a:pPr indent="-336550" lvl="1" marL="914400" rtl="0" algn="just">
              <a:lnSpc>
                <a:spcPct val="150000"/>
              </a:lnSpc>
              <a:spcBef>
                <a:spcPts val="0"/>
              </a:spcBef>
              <a:spcAft>
                <a:spcPts val="0"/>
              </a:spcAft>
              <a:buSzPts val="1700"/>
              <a:buChar char="○"/>
            </a:pPr>
            <a:r>
              <a:rPr lang="es-419" sz="1700"/>
              <a:t>Utiliza una </a:t>
            </a:r>
            <a:r>
              <a:rPr lang="es-419" sz="1700"/>
              <a:t>batería</a:t>
            </a:r>
            <a:r>
              <a:rPr lang="es-419" sz="1700"/>
              <a:t> de 9v como fuente de alimentación</a:t>
            </a:r>
            <a:endParaRPr sz="1700"/>
          </a:p>
          <a:p>
            <a:pPr indent="-336550" lvl="1" marL="914400" rtl="0" algn="just">
              <a:lnSpc>
                <a:spcPct val="150000"/>
              </a:lnSpc>
              <a:spcBef>
                <a:spcPts val="0"/>
              </a:spcBef>
              <a:spcAft>
                <a:spcPts val="0"/>
              </a:spcAft>
              <a:buSzPts val="1700"/>
              <a:buChar char="○"/>
            </a:pPr>
            <a:r>
              <a:rPr lang="es-419" sz="1700"/>
              <a:t>Utiliza un DPST conmutador como interruptor</a:t>
            </a:r>
            <a:endParaRPr sz="1700"/>
          </a:p>
          <a:p>
            <a:pPr indent="-336550" lvl="1" marL="914400" rtl="0" algn="just">
              <a:lnSpc>
                <a:spcPct val="150000"/>
              </a:lnSpc>
              <a:spcBef>
                <a:spcPts val="0"/>
              </a:spcBef>
              <a:spcAft>
                <a:spcPts val="0"/>
              </a:spcAft>
              <a:buSzPts val="1700"/>
              <a:buChar char="○"/>
            </a:pPr>
            <a:r>
              <a:rPr lang="es-419" sz="1700"/>
              <a:t> Utiliza bombillas para emular todas las luminarias</a:t>
            </a:r>
            <a:endParaRPr sz="1700"/>
          </a:p>
          <a:p>
            <a:pPr indent="-336550" lvl="1" marL="914400" rtl="0" algn="just">
              <a:lnSpc>
                <a:spcPct val="150000"/>
              </a:lnSpc>
              <a:spcBef>
                <a:spcPts val="0"/>
              </a:spcBef>
              <a:spcAft>
                <a:spcPts val="0"/>
              </a:spcAft>
              <a:buSzPts val="1700"/>
              <a:buChar char="○"/>
            </a:pPr>
            <a:r>
              <a:rPr lang="es-419" sz="1700"/>
              <a:t>Conecta de tal manera que al encender se enciendan todas con la misma intensidad y al desconectar una las demás no se apaguen.</a:t>
            </a:r>
            <a:endParaRPr sz="1700"/>
          </a:p>
        </p:txBody>
      </p:sp>
      <p:pic>
        <p:nvPicPr>
          <p:cNvPr id="233" name="Google Shape;233;p28"/>
          <p:cNvPicPr preferRelativeResize="0"/>
          <p:nvPr/>
        </p:nvPicPr>
        <p:blipFill>
          <a:blip r:embed="rId3">
            <a:alphaModFix/>
          </a:blip>
          <a:stretch>
            <a:fillRect/>
          </a:stretch>
        </p:blipFill>
        <p:spPr>
          <a:xfrm>
            <a:off x="8236525" y="66050"/>
            <a:ext cx="489625" cy="489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9"/>
          <p:cNvSpPr txBox="1"/>
          <p:nvPr>
            <p:ph type="title"/>
          </p:nvPr>
        </p:nvSpPr>
        <p:spPr>
          <a:xfrm>
            <a:off x="460950" y="637725"/>
            <a:ext cx="8222100" cy="4178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Felicidades has realizado todos los ejercicios en Tinkercad de esta clase. Recuerda que la próxima clase es evaluación así que estudia los contenidos.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