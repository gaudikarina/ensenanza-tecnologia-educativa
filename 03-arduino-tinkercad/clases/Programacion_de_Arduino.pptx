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6.xml"/><Relationship Id="rId22" Type="http://schemas.openxmlformats.org/officeDocument/2006/relationships/font" Target="fonts/Roboto-italic.fntdata"/><Relationship Id="rId10" Type="http://schemas.openxmlformats.org/officeDocument/2006/relationships/slide" Target="slides/slide5.xml"/><Relationship Id="rId21"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e0fb19f37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e0fb19f37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e1d661486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e1d661486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532378fa644d481f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532378fa644d481f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532378fa644d481f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532378fa644d481f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532378fa644d481f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532378fa644d481f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532378fa644d481f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532378fa644d481f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532378fa644d481f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532378fa644d481f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532378fa644d481f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532378fa644d481f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532378fa644d481f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532378fa644d481f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532378fa644d481f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532378fa644d481f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532378fa644d481f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532378fa644d481f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532378fa644d481f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532378fa644d481f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532378fa644d481f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532378fa644d481f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hyperlink" Target="http://drive.google.com/file/d/1soJ7A7iBJvFxJvSlpXjaAnIRXLxGEaGf/view" TargetMode="External"/><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hyperlink" Target="http://drive.google.com/file/d/1soJ7A7iBJvFxJvSlpXjaAnIRXLxGEaGf/view" TargetMode="External"/><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tinkercad.com/joinclass/ZJGVTC5MD" TargetMode="External"/><Relationship Id="rId4" Type="http://schemas.openxmlformats.org/officeDocument/2006/relationships/image" Target="../media/image4.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Programación Arduino </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Tinkercad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Variables </a:t>
            </a:r>
            <a:endParaRPr/>
          </a:p>
        </p:txBody>
      </p:sp>
      <p:sp>
        <p:nvSpPr>
          <p:cNvPr id="74" name="Google Shape;74;p14"/>
          <p:cNvSpPr txBox="1"/>
          <p:nvPr/>
        </p:nvSpPr>
        <p:spPr>
          <a:xfrm>
            <a:off x="816600" y="1107525"/>
            <a:ext cx="3755400" cy="3601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s-419" sz="1500">
                <a:solidFill>
                  <a:srgbClr val="2E2F30"/>
                </a:solidFill>
                <a:latin typeface="Roboto"/>
                <a:ea typeface="Roboto"/>
                <a:cs typeface="Roboto"/>
                <a:sym typeface="Roboto"/>
              </a:rPr>
              <a:t>Una variable en programación es un espacio de memoria reservado para almacenar un valor. Es como una cajita donde puedes guardar cualquier cosa, como un número, una palabra, una lista, etc.</a:t>
            </a:r>
            <a:endParaRPr sz="1500">
              <a:solidFill>
                <a:srgbClr val="2E2F30"/>
              </a:solidFill>
              <a:latin typeface="Roboto"/>
              <a:ea typeface="Roboto"/>
              <a:cs typeface="Roboto"/>
              <a:sym typeface="Roboto"/>
            </a:endParaRPr>
          </a:p>
          <a:p>
            <a:pPr indent="0" lvl="0" marL="0" rtl="0" algn="just">
              <a:lnSpc>
                <a:spcPct val="115000"/>
              </a:lnSpc>
              <a:spcBef>
                <a:spcPts val="0"/>
              </a:spcBef>
              <a:spcAft>
                <a:spcPts val="0"/>
              </a:spcAft>
              <a:buNone/>
            </a:pPr>
            <a:r>
              <a:t/>
            </a:r>
            <a:endParaRPr sz="1500">
              <a:solidFill>
                <a:srgbClr val="2E2F30"/>
              </a:solidFill>
              <a:latin typeface="Roboto"/>
              <a:ea typeface="Roboto"/>
              <a:cs typeface="Roboto"/>
              <a:sym typeface="Roboto"/>
            </a:endParaRPr>
          </a:p>
          <a:p>
            <a:pPr indent="0" lvl="0" marL="0" rtl="0" algn="just">
              <a:lnSpc>
                <a:spcPct val="115000"/>
              </a:lnSpc>
              <a:spcBef>
                <a:spcPts val="0"/>
              </a:spcBef>
              <a:spcAft>
                <a:spcPts val="0"/>
              </a:spcAft>
              <a:buNone/>
            </a:pPr>
            <a:r>
              <a:rPr lang="es-419" sz="1500">
                <a:solidFill>
                  <a:srgbClr val="2E2F30"/>
                </a:solidFill>
                <a:latin typeface="Roboto"/>
                <a:ea typeface="Roboto"/>
                <a:cs typeface="Roboto"/>
                <a:sym typeface="Roboto"/>
              </a:rPr>
              <a:t>En el caso de la programación en bloques de Arduino en Tinkercad, una variable podría ser utilizada para guardar un número que represente la cantidad de veces que se desea que un LED se encienda y apague.</a:t>
            </a:r>
            <a:endParaRPr sz="1500">
              <a:solidFill>
                <a:srgbClr val="2E2F30"/>
              </a:solidFill>
              <a:latin typeface="Roboto"/>
              <a:ea typeface="Roboto"/>
              <a:cs typeface="Roboto"/>
              <a:sym typeface="Roboto"/>
            </a:endParaRPr>
          </a:p>
        </p:txBody>
      </p:sp>
      <p:pic>
        <p:nvPicPr>
          <p:cNvPr id="75" name="Google Shape;75;p14"/>
          <p:cNvPicPr preferRelativeResize="0"/>
          <p:nvPr/>
        </p:nvPicPr>
        <p:blipFill>
          <a:blip r:embed="rId3">
            <a:alphaModFix/>
          </a:blip>
          <a:stretch>
            <a:fillRect/>
          </a:stretch>
        </p:blipFill>
        <p:spPr>
          <a:xfrm>
            <a:off x="4994700" y="1577625"/>
            <a:ext cx="3807275" cy="2488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Ejemplos de </a:t>
            </a:r>
            <a:r>
              <a:rPr lang="es-419"/>
              <a:t>Variables </a:t>
            </a:r>
            <a:endParaRPr/>
          </a:p>
        </p:txBody>
      </p:sp>
      <p:sp>
        <p:nvSpPr>
          <p:cNvPr id="81" name="Google Shape;81;p15"/>
          <p:cNvSpPr txBox="1"/>
          <p:nvPr/>
        </p:nvSpPr>
        <p:spPr>
          <a:xfrm>
            <a:off x="478700" y="872900"/>
            <a:ext cx="7894800" cy="4355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sz="1500">
                <a:solidFill>
                  <a:schemeClr val="accent3"/>
                </a:solidFill>
                <a:latin typeface="Roboto"/>
                <a:ea typeface="Roboto"/>
                <a:cs typeface="Roboto"/>
                <a:sym typeface="Roboto"/>
              </a:rPr>
              <a:t>Planteamiento </a:t>
            </a:r>
            <a:endParaRPr b="1" sz="1500">
              <a:solidFill>
                <a:schemeClr val="accent3"/>
              </a:solidFill>
              <a:latin typeface="Roboto"/>
              <a:ea typeface="Roboto"/>
              <a:cs typeface="Roboto"/>
              <a:sym typeface="Roboto"/>
            </a:endParaRPr>
          </a:p>
          <a:p>
            <a:pPr indent="0" lvl="0" marL="0" rtl="0" algn="just">
              <a:lnSpc>
                <a:spcPct val="115000"/>
              </a:lnSpc>
              <a:spcBef>
                <a:spcPts val="0"/>
              </a:spcBef>
              <a:spcAft>
                <a:spcPts val="0"/>
              </a:spcAft>
              <a:buNone/>
            </a:pPr>
            <a:r>
              <a:rPr lang="es-419" sz="1500">
                <a:solidFill>
                  <a:srgbClr val="2E2F30"/>
                </a:solidFill>
                <a:latin typeface="Roboto"/>
                <a:ea typeface="Roboto"/>
                <a:cs typeface="Roboto"/>
                <a:sym typeface="Roboto"/>
              </a:rPr>
              <a:t>Utiliza una variable para realizar un contador en arduino.</a:t>
            </a:r>
            <a:endParaRPr sz="1500">
              <a:solidFill>
                <a:srgbClr val="2E2F30"/>
              </a:solidFill>
              <a:latin typeface="Roboto"/>
              <a:ea typeface="Roboto"/>
              <a:cs typeface="Roboto"/>
              <a:sym typeface="Roboto"/>
            </a:endParaRPr>
          </a:p>
          <a:p>
            <a:pPr indent="0" lvl="0" marL="0" rtl="0" algn="just">
              <a:lnSpc>
                <a:spcPct val="115000"/>
              </a:lnSpc>
              <a:spcBef>
                <a:spcPts val="0"/>
              </a:spcBef>
              <a:spcAft>
                <a:spcPts val="0"/>
              </a:spcAft>
              <a:buNone/>
            </a:pPr>
            <a:r>
              <a:rPr b="1" lang="es-419" sz="1500">
                <a:solidFill>
                  <a:schemeClr val="accent3"/>
                </a:solidFill>
                <a:latin typeface="Roboto"/>
                <a:ea typeface="Roboto"/>
                <a:cs typeface="Roboto"/>
                <a:sym typeface="Roboto"/>
              </a:rPr>
              <a:t>Solución</a:t>
            </a:r>
            <a:endParaRPr b="1" sz="1500">
              <a:solidFill>
                <a:schemeClr val="accent3"/>
              </a:solidFill>
              <a:latin typeface="Roboto"/>
              <a:ea typeface="Roboto"/>
              <a:cs typeface="Roboto"/>
              <a:sym typeface="Roboto"/>
            </a:endParaRPr>
          </a:p>
          <a:p>
            <a:pPr indent="-304800" lvl="0" marL="914400" rtl="0" algn="l">
              <a:lnSpc>
                <a:spcPct val="115000"/>
              </a:lnSpc>
              <a:spcBef>
                <a:spcPts val="0"/>
              </a:spcBef>
              <a:spcAft>
                <a:spcPts val="0"/>
              </a:spcAft>
              <a:buClr>
                <a:srgbClr val="2E2F30"/>
              </a:buClr>
              <a:buSzPts val="1200"/>
              <a:buFont typeface="Roboto"/>
              <a:buAutoNum type="arabicPeriod"/>
            </a:pPr>
            <a:r>
              <a:rPr lang="es-419" sz="1200">
                <a:solidFill>
                  <a:srgbClr val="2E2F30"/>
                </a:solidFill>
                <a:latin typeface="Roboto"/>
                <a:ea typeface="Roboto"/>
                <a:cs typeface="Roboto"/>
                <a:sym typeface="Roboto"/>
              </a:rPr>
              <a:t>En el panel de código&gt; bloques&gt; variables&gt; Dar click en crear variable</a:t>
            </a:r>
            <a:endParaRPr sz="1200">
              <a:solidFill>
                <a:srgbClr val="2E2F30"/>
              </a:solidFill>
              <a:latin typeface="Roboto"/>
              <a:ea typeface="Roboto"/>
              <a:cs typeface="Roboto"/>
              <a:sym typeface="Roboto"/>
            </a:endParaRPr>
          </a:p>
          <a:p>
            <a:pPr indent="-304800" lvl="0" marL="914400" rtl="0" algn="l">
              <a:lnSpc>
                <a:spcPct val="115000"/>
              </a:lnSpc>
              <a:spcBef>
                <a:spcPts val="0"/>
              </a:spcBef>
              <a:spcAft>
                <a:spcPts val="0"/>
              </a:spcAft>
              <a:buClr>
                <a:srgbClr val="2E2F30"/>
              </a:buClr>
              <a:buSzPts val="1200"/>
              <a:buFont typeface="Roboto"/>
              <a:buAutoNum type="arabicPeriod"/>
            </a:pPr>
            <a:r>
              <a:rPr lang="es-419" sz="1200">
                <a:solidFill>
                  <a:srgbClr val="2E2F30"/>
                </a:solidFill>
                <a:latin typeface="Roboto"/>
                <a:ea typeface="Roboto"/>
                <a:cs typeface="Roboto"/>
                <a:sym typeface="Roboto"/>
              </a:rPr>
              <a:t>En la caja de diálogo colocar el nombre</a:t>
            </a:r>
            <a:r>
              <a:rPr b="1" lang="es-419" sz="1200">
                <a:solidFill>
                  <a:srgbClr val="FF0000"/>
                </a:solidFill>
                <a:latin typeface="Roboto"/>
                <a:ea typeface="Roboto"/>
                <a:cs typeface="Roboto"/>
                <a:sym typeface="Roboto"/>
              </a:rPr>
              <a:t> contador:</a:t>
            </a:r>
            <a:endParaRPr b="1" sz="1200">
              <a:solidFill>
                <a:srgbClr val="FF0000"/>
              </a:solidFill>
              <a:latin typeface="Roboto"/>
              <a:ea typeface="Roboto"/>
              <a:cs typeface="Roboto"/>
              <a:sym typeface="Roboto"/>
            </a:endParaRPr>
          </a:p>
          <a:p>
            <a:pPr indent="0" lvl="0" marL="0" rtl="0" algn="l">
              <a:lnSpc>
                <a:spcPct val="115000"/>
              </a:lnSpc>
              <a:spcBef>
                <a:spcPts val="1200"/>
              </a:spcBef>
              <a:spcAft>
                <a:spcPts val="0"/>
              </a:spcAft>
              <a:buNone/>
            </a:pPr>
            <a:r>
              <a:t/>
            </a:r>
            <a:endParaRPr b="1" sz="1200">
              <a:solidFill>
                <a:srgbClr val="FF0000"/>
              </a:solidFill>
              <a:latin typeface="Roboto"/>
              <a:ea typeface="Roboto"/>
              <a:cs typeface="Roboto"/>
              <a:sym typeface="Roboto"/>
            </a:endParaRPr>
          </a:p>
          <a:p>
            <a:pPr indent="0" lvl="0" marL="914400" rtl="0" algn="l">
              <a:lnSpc>
                <a:spcPct val="115000"/>
              </a:lnSpc>
              <a:spcBef>
                <a:spcPts val="1200"/>
              </a:spcBef>
              <a:spcAft>
                <a:spcPts val="0"/>
              </a:spcAft>
              <a:buNone/>
            </a:pPr>
            <a:r>
              <a:t/>
            </a:r>
            <a:endParaRPr b="1" sz="1200">
              <a:solidFill>
                <a:srgbClr val="FF0000"/>
              </a:solidFill>
              <a:latin typeface="Roboto"/>
              <a:ea typeface="Roboto"/>
              <a:cs typeface="Roboto"/>
              <a:sym typeface="Roboto"/>
            </a:endParaRPr>
          </a:p>
          <a:p>
            <a:pPr indent="-304800" lvl="0" marL="914400" rtl="0" algn="l">
              <a:lnSpc>
                <a:spcPct val="115000"/>
              </a:lnSpc>
              <a:spcBef>
                <a:spcPts val="1200"/>
              </a:spcBef>
              <a:spcAft>
                <a:spcPts val="0"/>
              </a:spcAft>
              <a:buClr>
                <a:srgbClr val="2E2F30"/>
              </a:buClr>
              <a:buSzPts val="1200"/>
              <a:buFont typeface="Roboto"/>
              <a:buAutoNum type="arabicPeriod"/>
            </a:pPr>
            <a:r>
              <a:rPr lang="es-419" sz="1200">
                <a:solidFill>
                  <a:srgbClr val="2E2F30"/>
                </a:solidFill>
                <a:latin typeface="Roboto"/>
                <a:ea typeface="Roboto"/>
                <a:cs typeface="Roboto"/>
                <a:sym typeface="Roboto"/>
              </a:rPr>
              <a:t>Se visualizará en la ventana de bloques lo siguiente:</a:t>
            </a:r>
            <a:endParaRPr sz="1200">
              <a:solidFill>
                <a:srgbClr val="2E2F30"/>
              </a:solidFill>
              <a:latin typeface="Roboto"/>
              <a:ea typeface="Roboto"/>
              <a:cs typeface="Roboto"/>
              <a:sym typeface="Roboto"/>
            </a:endParaRPr>
          </a:p>
          <a:p>
            <a:pPr indent="0" lvl="0" marL="0" rtl="0" algn="l">
              <a:lnSpc>
                <a:spcPct val="115000"/>
              </a:lnSpc>
              <a:spcBef>
                <a:spcPts val="1200"/>
              </a:spcBef>
              <a:spcAft>
                <a:spcPts val="0"/>
              </a:spcAft>
              <a:buNone/>
            </a:pPr>
            <a:r>
              <a:t/>
            </a:r>
            <a:endParaRPr sz="1200">
              <a:solidFill>
                <a:srgbClr val="2E2F30"/>
              </a:solidFill>
              <a:latin typeface="Roboto"/>
              <a:ea typeface="Roboto"/>
              <a:cs typeface="Roboto"/>
              <a:sym typeface="Roboto"/>
            </a:endParaRPr>
          </a:p>
          <a:p>
            <a:pPr indent="0" lvl="0" marL="0" rtl="0" algn="l">
              <a:lnSpc>
                <a:spcPct val="115000"/>
              </a:lnSpc>
              <a:spcBef>
                <a:spcPts val="1200"/>
              </a:spcBef>
              <a:spcAft>
                <a:spcPts val="0"/>
              </a:spcAft>
              <a:buNone/>
            </a:pPr>
            <a:r>
              <a:t/>
            </a:r>
            <a:endParaRPr sz="1200">
              <a:solidFill>
                <a:srgbClr val="2E2F30"/>
              </a:solidFill>
              <a:latin typeface="Roboto"/>
              <a:ea typeface="Roboto"/>
              <a:cs typeface="Roboto"/>
              <a:sym typeface="Roboto"/>
            </a:endParaRPr>
          </a:p>
          <a:p>
            <a:pPr indent="0" lvl="0" marL="914400" rtl="0" algn="l">
              <a:lnSpc>
                <a:spcPct val="115000"/>
              </a:lnSpc>
              <a:spcBef>
                <a:spcPts val="1200"/>
              </a:spcBef>
              <a:spcAft>
                <a:spcPts val="0"/>
              </a:spcAft>
              <a:buNone/>
            </a:pPr>
            <a:r>
              <a:t/>
            </a:r>
            <a:endParaRPr sz="1200">
              <a:solidFill>
                <a:srgbClr val="2E2F30"/>
              </a:solidFill>
              <a:latin typeface="Roboto"/>
              <a:ea typeface="Roboto"/>
              <a:cs typeface="Roboto"/>
              <a:sym typeface="Roboto"/>
            </a:endParaRPr>
          </a:p>
          <a:p>
            <a:pPr indent="0" lvl="0" marL="914400" rtl="0" algn="l">
              <a:lnSpc>
                <a:spcPct val="115000"/>
              </a:lnSpc>
              <a:spcBef>
                <a:spcPts val="1200"/>
              </a:spcBef>
              <a:spcAft>
                <a:spcPts val="0"/>
              </a:spcAft>
              <a:buNone/>
            </a:pPr>
            <a:r>
              <a:t/>
            </a:r>
            <a:endParaRPr sz="1200">
              <a:solidFill>
                <a:srgbClr val="2E2F30"/>
              </a:solidFill>
              <a:latin typeface="Roboto"/>
              <a:ea typeface="Roboto"/>
              <a:cs typeface="Roboto"/>
              <a:sym typeface="Roboto"/>
            </a:endParaRPr>
          </a:p>
          <a:p>
            <a:pPr indent="0" lvl="0" marL="914400" rtl="0" algn="l">
              <a:lnSpc>
                <a:spcPct val="115000"/>
              </a:lnSpc>
              <a:spcBef>
                <a:spcPts val="1200"/>
              </a:spcBef>
              <a:spcAft>
                <a:spcPts val="1200"/>
              </a:spcAft>
              <a:buNone/>
            </a:pPr>
            <a:r>
              <a:t/>
            </a:r>
            <a:endParaRPr sz="1500">
              <a:solidFill>
                <a:srgbClr val="2E2F30"/>
              </a:solidFill>
              <a:latin typeface="Roboto"/>
              <a:ea typeface="Roboto"/>
              <a:cs typeface="Roboto"/>
              <a:sym typeface="Roboto"/>
            </a:endParaRPr>
          </a:p>
        </p:txBody>
      </p:sp>
      <p:pic>
        <p:nvPicPr>
          <p:cNvPr id="82" name="Google Shape;82;p15"/>
          <p:cNvPicPr preferRelativeResize="0"/>
          <p:nvPr/>
        </p:nvPicPr>
        <p:blipFill>
          <a:blip r:embed="rId3">
            <a:alphaModFix/>
          </a:blip>
          <a:stretch>
            <a:fillRect/>
          </a:stretch>
        </p:blipFill>
        <p:spPr>
          <a:xfrm>
            <a:off x="6524600" y="567075"/>
            <a:ext cx="2064925" cy="1349650"/>
          </a:xfrm>
          <a:prstGeom prst="rect">
            <a:avLst/>
          </a:prstGeom>
          <a:noFill/>
          <a:ln>
            <a:noFill/>
          </a:ln>
        </p:spPr>
      </p:pic>
      <p:cxnSp>
        <p:nvCxnSpPr>
          <p:cNvPr id="83" name="Google Shape;83;p15"/>
          <p:cNvCxnSpPr/>
          <p:nvPr/>
        </p:nvCxnSpPr>
        <p:spPr>
          <a:xfrm>
            <a:off x="6252425" y="1833025"/>
            <a:ext cx="234600" cy="0"/>
          </a:xfrm>
          <a:prstGeom prst="straightConnector1">
            <a:avLst/>
          </a:prstGeom>
          <a:noFill/>
          <a:ln cap="flat" cmpd="sng" w="9525">
            <a:solidFill>
              <a:schemeClr val="accent3"/>
            </a:solidFill>
            <a:prstDash val="solid"/>
            <a:round/>
            <a:headEnd len="med" w="med" type="none"/>
            <a:tailEnd len="med" w="med" type="triangle"/>
          </a:ln>
        </p:spPr>
      </p:cxnSp>
      <p:pic>
        <p:nvPicPr>
          <p:cNvPr id="84" name="Google Shape;84;p15"/>
          <p:cNvPicPr preferRelativeResize="0"/>
          <p:nvPr/>
        </p:nvPicPr>
        <p:blipFill>
          <a:blip r:embed="rId4">
            <a:alphaModFix/>
          </a:blip>
          <a:stretch>
            <a:fillRect/>
          </a:stretch>
        </p:blipFill>
        <p:spPr>
          <a:xfrm>
            <a:off x="4957175" y="1916725"/>
            <a:ext cx="2707975" cy="1074584"/>
          </a:xfrm>
          <a:prstGeom prst="rect">
            <a:avLst/>
          </a:prstGeom>
          <a:noFill/>
          <a:ln>
            <a:noFill/>
          </a:ln>
        </p:spPr>
      </p:pic>
      <p:pic>
        <p:nvPicPr>
          <p:cNvPr id="85" name="Google Shape;85;p15"/>
          <p:cNvPicPr preferRelativeResize="0"/>
          <p:nvPr/>
        </p:nvPicPr>
        <p:blipFill>
          <a:blip r:embed="rId5">
            <a:alphaModFix/>
          </a:blip>
          <a:stretch>
            <a:fillRect/>
          </a:stretch>
        </p:blipFill>
        <p:spPr>
          <a:xfrm>
            <a:off x="5070850" y="3164879"/>
            <a:ext cx="2707975" cy="1927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Ejemplos de Variables </a:t>
            </a:r>
            <a:endParaRPr/>
          </a:p>
        </p:txBody>
      </p:sp>
      <p:sp>
        <p:nvSpPr>
          <p:cNvPr id="91" name="Google Shape;91;p16"/>
          <p:cNvSpPr txBox="1"/>
          <p:nvPr/>
        </p:nvSpPr>
        <p:spPr>
          <a:xfrm>
            <a:off x="478700" y="872900"/>
            <a:ext cx="5274900" cy="2683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sz="1700">
                <a:solidFill>
                  <a:schemeClr val="accent3"/>
                </a:solidFill>
                <a:latin typeface="Roboto"/>
                <a:ea typeface="Roboto"/>
                <a:cs typeface="Roboto"/>
                <a:sym typeface="Roboto"/>
              </a:rPr>
              <a:t>Solución</a:t>
            </a:r>
            <a:endParaRPr b="1" sz="1700">
              <a:solidFill>
                <a:schemeClr val="accent3"/>
              </a:solidFill>
              <a:latin typeface="Roboto"/>
              <a:ea typeface="Roboto"/>
              <a:cs typeface="Roboto"/>
              <a:sym typeface="Roboto"/>
            </a:endParaRPr>
          </a:p>
          <a:p>
            <a:pPr indent="-317500" lvl="0" marL="914400" rtl="0" algn="l">
              <a:lnSpc>
                <a:spcPct val="115000"/>
              </a:lnSpc>
              <a:spcBef>
                <a:spcPts val="0"/>
              </a:spcBef>
              <a:spcAft>
                <a:spcPts val="0"/>
              </a:spcAft>
              <a:buClr>
                <a:srgbClr val="2E2F30"/>
              </a:buClr>
              <a:buSzPts val="1400"/>
              <a:buFont typeface="Roboto"/>
              <a:buAutoNum type="arabicPeriod" startAt="4"/>
            </a:pPr>
            <a:r>
              <a:rPr lang="es-419">
                <a:solidFill>
                  <a:srgbClr val="2E2F30"/>
                </a:solidFill>
                <a:latin typeface="Roboto"/>
                <a:ea typeface="Roboto"/>
                <a:cs typeface="Roboto"/>
                <a:sym typeface="Roboto"/>
              </a:rPr>
              <a:t>En el bloque iniciar, inicializar contador en 0.</a:t>
            </a:r>
            <a:endParaRPr>
              <a:solidFill>
                <a:srgbClr val="2E2F30"/>
              </a:solidFill>
              <a:latin typeface="Roboto"/>
              <a:ea typeface="Roboto"/>
              <a:cs typeface="Roboto"/>
              <a:sym typeface="Roboto"/>
            </a:endParaRPr>
          </a:p>
          <a:p>
            <a:pPr indent="-317500" lvl="0" marL="914400" rtl="0" algn="l">
              <a:lnSpc>
                <a:spcPct val="115000"/>
              </a:lnSpc>
              <a:spcBef>
                <a:spcPts val="0"/>
              </a:spcBef>
              <a:spcAft>
                <a:spcPts val="0"/>
              </a:spcAft>
              <a:buClr>
                <a:srgbClr val="2E2F30"/>
              </a:buClr>
              <a:buSzPts val="1400"/>
              <a:buFont typeface="Roboto"/>
              <a:buAutoNum type="arabicPeriod" startAt="4"/>
            </a:pPr>
            <a:r>
              <a:rPr lang="es-419">
                <a:solidFill>
                  <a:srgbClr val="2E2F30"/>
                </a:solidFill>
                <a:latin typeface="Roboto"/>
                <a:ea typeface="Roboto"/>
                <a:cs typeface="Roboto"/>
                <a:sym typeface="Roboto"/>
              </a:rPr>
              <a:t>En el bloque siempre:</a:t>
            </a:r>
            <a:endParaRPr>
              <a:solidFill>
                <a:srgbClr val="2E2F30"/>
              </a:solidFill>
              <a:latin typeface="Roboto"/>
              <a:ea typeface="Roboto"/>
              <a:cs typeface="Roboto"/>
              <a:sym typeface="Roboto"/>
            </a:endParaRPr>
          </a:p>
          <a:p>
            <a:pPr indent="-317500" lvl="1" marL="1371600" rtl="0" algn="l">
              <a:lnSpc>
                <a:spcPct val="115000"/>
              </a:lnSpc>
              <a:spcBef>
                <a:spcPts val="0"/>
              </a:spcBef>
              <a:spcAft>
                <a:spcPts val="0"/>
              </a:spcAft>
              <a:buClr>
                <a:srgbClr val="2E2F30"/>
              </a:buClr>
              <a:buSzPts val="1400"/>
              <a:buFont typeface="Roboto"/>
              <a:buAutoNum type="alphaLcPeriod"/>
            </a:pPr>
            <a:r>
              <a:rPr lang="es-419">
                <a:solidFill>
                  <a:srgbClr val="2E2F30"/>
                </a:solidFill>
                <a:latin typeface="Roboto"/>
                <a:ea typeface="Roboto"/>
                <a:cs typeface="Roboto"/>
                <a:sym typeface="Roboto"/>
              </a:rPr>
              <a:t>Del bloque salida escoger “imprimir en monitor en serie”,nueva linea con.</a:t>
            </a:r>
            <a:endParaRPr>
              <a:solidFill>
                <a:srgbClr val="2E2F30"/>
              </a:solidFill>
              <a:latin typeface="Roboto"/>
              <a:ea typeface="Roboto"/>
              <a:cs typeface="Roboto"/>
              <a:sym typeface="Roboto"/>
            </a:endParaRPr>
          </a:p>
          <a:p>
            <a:pPr indent="-317500" lvl="1" marL="1371600" rtl="0" algn="l">
              <a:lnSpc>
                <a:spcPct val="115000"/>
              </a:lnSpc>
              <a:spcBef>
                <a:spcPts val="0"/>
              </a:spcBef>
              <a:spcAft>
                <a:spcPts val="0"/>
              </a:spcAft>
              <a:buClr>
                <a:srgbClr val="2E2F30"/>
              </a:buClr>
              <a:buSzPts val="1400"/>
              <a:buFont typeface="Roboto"/>
              <a:buAutoNum type="alphaLcPeriod"/>
            </a:pPr>
            <a:r>
              <a:rPr lang="es-419">
                <a:solidFill>
                  <a:srgbClr val="2E2F30"/>
                </a:solidFill>
                <a:latin typeface="Roboto"/>
                <a:ea typeface="Roboto"/>
                <a:cs typeface="Roboto"/>
                <a:sym typeface="Roboto"/>
              </a:rPr>
              <a:t>Del bloque variable escoger “Cambiar contador por 1”</a:t>
            </a:r>
            <a:endParaRPr>
              <a:solidFill>
                <a:srgbClr val="2E2F30"/>
              </a:solidFill>
              <a:latin typeface="Roboto"/>
              <a:ea typeface="Roboto"/>
              <a:cs typeface="Roboto"/>
              <a:sym typeface="Roboto"/>
            </a:endParaRPr>
          </a:p>
          <a:p>
            <a:pPr indent="-317500" lvl="1" marL="1371600" rtl="0" algn="l">
              <a:lnSpc>
                <a:spcPct val="115000"/>
              </a:lnSpc>
              <a:spcBef>
                <a:spcPts val="0"/>
              </a:spcBef>
              <a:spcAft>
                <a:spcPts val="0"/>
              </a:spcAft>
              <a:buClr>
                <a:srgbClr val="2E2F30"/>
              </a:buClr>
              <a:buSzPts val="1400"/>
              <a:buFont typeface="Roboto"/>
              <a:buAutoNum type="alphaLcPeriod"/>
            </a:pPr>
            <a:r>
              <a:rPr lang="es-419">
                <a:solidFill>
                  <a:srgbClr val="2E2F30"/>
                </a:solidFill>
                <a:latin typeface="Roboto"/>
                <a:ea typeface="Roboto"/>
                <a:cs typeface="Roboto"/>
                <a:sym typeface="Roboto"/>
              </a:rPr>
              <a:t>Del bloque control “esperar 1 segundo”</a:t>
            </a:r>
            <a:endParaRPr>
              <a:solidFill>
                <a:srgbClr val="2E2F30"/>
              </a:solidFill>
              <a:latin typeface="Roboto"/>
              <a:ea typeface="Roboto"/>
              <a:cs typeface="Roboto"/>
              <a:sym typeface="Roboto"/>
            </a:endParaRPr>
          </a:p>
          <a:p>
            <a:pPr indent="-317500" lvl="0" marL="914400" rtl="0" algn="l">
              <a:lnSpc>
                <a:spcPct val="115000"/>
              </a:lnSpc>
              <a:spcBef>
                <a:spcPts val="0"/>
              </a:spcBef>
              <a:spcAft>
                <a:spcPts val="0"/>
              </a:spcAft>
              <a:buClr>
                <a:srgbClr val="2E2F30"/>
              </a:buClr>
              <a:buSzPts val="1400"/>
              <a:buFont typeface="Roboto"/>
              <a:buAutoNum type="arabicPeriod" startAt="4"/>
            </a:pPr>
            <a:r>
              <a:rPr lang="es-419">
                <a:solidFill>
                  <a:srgbClr val="2E2F30"/>
                </a:solidFill>
                <a:latin typeface="Roboto"/>
                <a:ea typeface="Roboto"/>
                <a:cs typeface="Roboto"/>
                <a:sym typeface="Roboto"/>
              </a:rPr>
              <a:t>En la imagen el programa</a:t>
            </a:r>
            <a:endParaRPr>
              <a:solidFill>
                <a:srgbClr val="2E2F30"/>
              </a:solidFill>
              <a:latin typeface="Roboto"/>
              <a:ea typeface="Roboto"/>
              <a:cs typeface="Roboto"/>
              <a:sym typeface="Roboto"/>
            </a:endParaRPr>
          </a:p>
          <a:p>
            <a:pPr indent="-317500" lvl="0" marL="914400" rtl="0" algn="l">
              <a:lnSpc>
                <a:spcPct val="115000"/>
              </a:lnSpc>
              <a:spcBef>
                <a:spcPts val="0"/>
              </a:spcBef>
              <a:spcAft>
                <a:spcPts val="0"/>
              </a:spcAft>
              <a:buClr>
                <a:srgbClr val="2E2F30"/>
              </a:buClr>
              <a:buSzPts val="1400"/>
              <a:buFont typeface="Roboto"/>
              <a:buAutoNum type="arabicPeriod" startAt="4"/>
            </a:pPr>
            <a:r>
              <a:rPr lang="es-419">
                <a:solidFill>
                  <a:srgbClr val="2E2F30"/>
                </a:solidFill>
                <a:latin typeface="Roboto"/>
                <a:ea typeface="Roboto"/>
                <a:cs typeface="Roboto"/>
                <a:sym typeface="Roboto"/>
              </a:rPr>
              <a:t>En el video como funciona.</a:t>
            </a:r>
            <a:endParaRPr sz="1600">
              <a:solidFill>
                <a:srgbClr val="2E2F30"/>
              </a:solidFill>
              <a:latin typeface="Roboto"/>
              <a:ea typeface="Roboto"/>
              <a:cs typeface="Roboto"/>
              <a:sym typeface="Roboto"/>
            </a:endParaRPr>
          </a:p>
        </p:txBody>
      </p:sp>
      <p:pic>
        <p:nvPicPr>
          <p:cNvPr id="92" name="Google Shape;92;p16"/>
          <p:cNvPicPr preferRelativeResize="0"/>
          <p:nvPr/>
        </p:nvPicPr>
        <p:blipFill>
          <a:blip r:embed="rId3">
            <a:alphaModFix/>
          </a:blip>
          <a:stretch>
            <a:fillRect/>
          </a:stretch>
        </p:blipFill>
        <p:spPr>
          <a:xfrm>
            <a:off x="5753600" y="712000"/>
            <a:ext cx="2971800" cy="2447925"/>
          </a:xfrm>
          <a:prstGeom prst="rect">
            <a:avLst/>
          </a:prstGeom>
          <a:noFill/>
          <a:ln>
            <a:noFill/>
          </a:ln>
        </p:spPr>
      </p:pic>
      <p:pic>
        <p:nvPicPr>
          <p:cNvPr id="93" name="Google Shape;93;p16" title="usodevariablesarduinotinkercad.mp4">
            <a:hlinkClick r:id="rId4"/>
          </p:cNvPr>
          <p:cNvPicPr preferRelativeResize="0"/>
          <p:nvPr/>
        </p:nvPicPr>
        <p:blipFill>
          <a:blip r:embed="rId5">
            <a:alphaModFix/>
          </a:blip>
          <a:stretch>
            <a:fillRect/>
          </a:stretch>
        </p:blipFill>
        <p:spPr>
          <a:xfrm>
            <a:off x="4170075" y="3159925"/>
            <a:ext cx="2238367" cy="167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1000"/>
                                        <p:tgtEl>
                                          <p:spTgt spid="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 Bloque Matemáticas</a:t>
            </a:r>
            <a:endParaRPr/>
          </a:p>
        </p:txBody>
      </p:sp>
      <p:sp>
        <p:nvSpPr>
          <p:cNvPr id="99" name="Google Shape;99;p17"/>
          <p:cNvSpPr txBox="1"/>
          <p:nvPr/>
        </p:nvSpPr>
        <p:spPr>
          <a:xfrm>
            <a:off x="334375" y="850350"/>
            <a:ext cx="4604700" cy="4356000"/>
          </a:xfrm>
          <a:prstGeom prst="rect">
            <a:avLst/>
          </a:prstGeom>
          <a:noFill/>
          <a:ln>
            <a:noFill/>
          </a:ln>
        </p:spPr>
        <p:txBody>
          <a:bodyPr anchorCtr="0" anchor="t" bIns="91425" lIns="91425" spcFirstLastPara="1" rIns="91425" wrap="square" tIns="91425">
            <a:spAutoFit/>
          </a:bodyPr>
          <a:lstStyle/>
          <a:p>
            <a:pPr indent="-368300" lvl="0" marL="457200" rtl="0" algn="just">
              <a:lnSpc>
                <a:spcPct val="115000"/>
              </a:lnSpc>
              <a:spcBef>
                <a:spcPts val="0"/>
              </a:spcBef>
              <a:spcAft>
                <a:spcPts val="0"/>
              </a:spcAft>
              <a:buClr>
                <a:srgbClr val="2E2F30"/>
              </a:buClr>
              <a:buSzPts val="2200"/>
              <a:buFont typeface="Roboto"/>
              <a:buAutoNum type="arabicPeriod"/>
            </a:pPr>
            <a:r>
              <a:rPr lang="es-419" sz="1800">
                <a:solidFill>
                  <a:srgbClr val="2E2F30"/>
                </a:solidFill>
                <a:highlight>
                  <a:srgbClr val="F5F5F7"/>
                </a:highlight>
                <a:latin typeface="Roboto"/>
                <a:ea typeface="Roboto"/>
                <a:cs typeface="Roboto"/>
                <a:sym typeface="Roboto"/>
              </a:rPr>
              <a:t>En Tinkercad, el bloque de matemáticas te permite realizar operaciones matemáticas en tu código de Arduino. Para acceder al bloque de matemáticas, puedes hacer clic en el botón "Matemáticas" en la barra de herramientas de bloques a la izquierda.</a:t>
            </a:r>
            <a:endParaRPr sz="1800">
              <a:solidFill>
                <a:srgbClr val="2E2F30"/>
              </a:solidFill>
              <a:highlight>
                <a:srgbClr val="F5F5F7"/>
              </a:highlight>
              <a:latin typeface="Roboto"/>
              <a:ea typeface="Roboto"/>
              <a:cs typeface="Roboto"/>
              <a:sym typeface="Roboto"/>
            </a:endParaRPr>
          </a:p>
          <a:p>
            <a:pPr indent="-342900" lvl="0" marL="457200" rtl="0" algn="just">
              <a:lnSpc>
                <a:spcPct val="115000"/>
              </a:lnSpc>
              <a:spcBef>
                <a:spcPts val="0"/>
              </a:spcBef>
              <a:spcAft>
                <a:spcPts val="0"/>
              </a:spcAft>
              <a:buClr>
                <a:srgbClr val="2E2F30"/>
              </a:buClr>
              <a:buSzPts val="1800"/>
              <a:buFont typeface="Roboto"/>
              <a:buAutoNum type="arabicPeriod"/>
            </a:pPr>
            <a:r>
              <a:rPr lang="es-419" sz="1800">
                <a:solidFill>
                  <a:srgbClr val="2E2F30"/>
                </a:solidFill>
                <a:highlight>
                  <a:srgbClr val="F5F5F7"/>
                </a:highlight>
                <a:latin typeface="Roboto"/>
                <a:ea typeface="Roboto"/>
                <a:cs typeface="Roboto"/>
                <a:sym typeface="Roboto"/>
              </a:rPr>
              <a:t>Contiene operaciones </a:t>
            </a:r>
            <a:r>
              <a:rPr lang="es-419" sz="1800">
                <a:solidFill>
                  <a:srgbClr val="2E2F30"/>
                </a:solidFill>
                <a:highlight>
                  <a:srgbClr val="F5F5F7"/>
                </a:highlight>
                <a:latin typeface="Roboto"/>
                <a:ea typeface="Roboto"/>
                <a:cs typeface="Roboto"/>
                <a:sym typeface="Roboto"/>
              </a:rPr>
              <a:t>aritméticas</a:t>
            </a:r>
            <a:r>
              <a:rPr lang="es-419" sz="1800">
                <a:solidFill>
                  <a:srgbClr val="2E2F30"/>
                </a:solidFill>
                <a:highlight>
                  <a:srgbClr val="F5F5F7"/>
                </a:highlight>
                <a:latin typeface="Roboto"/>
                <a:ea typeface="Roboto"/>
                <a:cs typeface="Roboto"/>
                <a:sym typeface="Roboto"/>
              </a:rPr>
              <a:t>, relacionales, aleatorias, lógica, valor absoluto, asignación de rango, restricción de rango y constante lógicas</a:t>
            </a:r>
            <a:endParaRPr sz="1800">
              <a:solidFill>
                <a:srgbClr val="2E2F30"/>
              </a:solidFill>
              <a:highlight>
                <a:srgbClr val="F5F5F7"/>
              </a:highlight>
              <a:latin typeface="Roboto"/>
              <a:ea typeface="Roboto"/>
              <a:cs typeface="Roboto"/>
              <a:sym typeface="Roboto"/>
            </a:endParaRPr>
          </a:p>
        </p:txBody>
      </p:sp>
      <p:pic>
        <p:nvPicPr>
          <p:cNvPr id="100" name="Google Shape;100;p17"/>
          <p:cNvPicPr preferRelativeResize="0"/>
          <p:nvPr/>
        </p:nvPicPr>
        <p:blipFill>
          <a:blip r:embed="rId3">
            <a:alphaModFix/>
          </a:blip>
          <a:stretch>
            <a:fillRect/>
          </a:stretch>
        </p:blipFill>
        <p:spPr>
          <a:xfrm>
            <a:off x="5348725" y="739300"/>
            <a:ext cx="2499972" cy="4219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 Ejemplo de bloque Matemáticas</a:t>
            </a:r>
            <a:endParaRPr/>
          </a:p>
        </p:txBody>
      </p:sp>
      <p:sp>
        <p:nvSpPr>
          <p:cNvPr id="106" name="Google Shape;106;p18"/>
          <p:cNvSpPr txBox="1"/>
          <p:nvPr/>
        </p:nvSpPr>
        <p:spPr>
          <a:xfrm>
            <a:off x="478700" y="872900"/>
            <a:ext cx="7894800" cy="4143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a:solidFill>
                  <a:schemeClr val="accent3"/>
                </a:solidFill>
                <a:latin typeface="Roboto"/>
                <a:ea typeface="Roboto"/>
                <a:cs typeface="Roboto"/>
                <a:sym typeface="Roboto"/>
              </a:rPr>
              <a:t>Planteamiento </a:t>
            </a:r>
            <a:endParaRPr b="1">
              <a:solidFill>
                <a:schemeClr val="accent3"/>
              </a:solidFill>
              <a:latin typeface="Roboto"/>
              <a:ea typeface="Roboto"/>
              <a:cs typeface="Roboto"/>
              <a:sym typeface="Roboto"/>
            </a:endParaRPr>
          </a:p>
          <a:p>
            <a:pPr indent="0" lvl="0" marL="0" rtl="0" algn="just">
              <a:lnSpc>
                <a:spcPct val="115000"/>
              </a:lnSpc>
              <a:spcBef>
                <a:spcPts val="0"/>
              </a:spcBef>
              <a:spcAft>
                <a:spcPts val="0"/>
              </a:spcAft>
              <a:buNone/>
            </a:pPr>
            <a:r>
              <a:rPr lang="es-419">
                <a:solidFill>
                  <a:srgbClr val="2E2F30"/>
                </a:solidFill>
                <a:highlight>
                  <a:srgbClr val="F5F5F7"/>
                </a:highlight>
                <a:latin typeface="Roboto"/>
                <a:ea typeface="Roboto"/>
                <a:cs typeface="Roboto"/>
                <a:sym typeface="Roboto"/>
              </a:rPr>
              <a:t>Sumar dos valores y mostrar el resultado en el Monitor Serie</a:t>
            </a:r>
            <a:endParaRPr>
              <a:solidFill>
                <a:srgbClr val="2E2F30"/>
              </a:solidFill>
              <a:latin typeface="Roboto"/>
              <a:ea typeface="Roboto"/>
              <a:cs typeface="Roboto"/>
              <a:sym typeface="Roboto"/>
            </a:endParaRPr>
          </a:p>
          <a:p>
            <a:pPr indent="0" lvl="0" marL="0" rtl="0" algn="just">
              <a:lnSpc>
                <a:spcPct val="115000"/>
              </a:lnSpc>
              <a:spcBef>
                <a:spcPts val="0"/>
              </a:spcBef>
              <a:spcAft>
                <a:spcPts val="0"/>
              </a:spcAft>
              <a:buNone/>
            </a:pPr>
            <a:r>
              <a:rPr b="1" lang="es-419">
                <a:solidFill>
                  <a:schemeClr val="accent3"/>
                </a:solidFill>
                <a:latin typeface="Roboto"/>
                <a:ea typeface="Roboto"/>
                <a:cs typeface="Roboto"/>
                <a:sym typeface="Roboto"/>
              </a:rPr>
              <a:t>Solución</a:t>
            </a:r>
            <a:endParaRPr b="1">
              <a:solidFill>
                <a:schemeClr val="accent3"/>
              </a:solidFill>
              <a:latin typeface="Roboto"/>
              <a:ea typeface="Roboto"/>
              <a:cs typeface="Roboto"/>
              <a:sym typeface="Roboto"/>
            </a:endParaRPr>
          </a:p>
          <a:p>
            <a:pPr indent="-317500" lvl="0" marL="914400" rtl="0" algn="l">
              <a:lnSpc>
                <a:spcPct val="115000"/>
              </a:lnSpc>
              <a:spcBef>
                <a:spcPts val="0"/>
              </a:spcBef>
              <a:spcAft>
                <a:spcPts val="0"/>
              </a:spcAft>
              <a:buClr>
                <a:srgbClr val="2E2F30"/>
              </a:buClr>
              <a:buSzPts val="1400"/>
              <a:buFont typeface="Roboto"/>
              <a:buAutoNum type="arabicPeriod"/>
            </a:pPr>
            <a:r>
              <a:rPr lang="es-419">
                <a:solidFill>
                  <a:srgbClr val="2E2F30"/>
                </a:solidFill>
                <a:latin typeface="Roboto"/>
                <a:ea typeface="Roboto"/>
                <a:cs typeface="Roboto"/>
                <a:sym typeface="Roboto"/>
              </a:rPr>
              <a:t>En bloque siempre:</a:t>
            </a:r>
            <a:endParaRPr>
              <a:solidFill>
                <a:srgbClr val="2E2F30"/>
              </a:solidFill>
              <a:latin typeface="Roboto"/>
              <a:ea typeface="Roboto"/>
              <a:cs typeface="Roboto"/>
              <a:sym typeface="Roboto"/>
            </a:endParaRPr>
          </a:p>
          <a:p>
            <a:pPr indent="-317500" lvl="1" marL="1371600" rtl="0" algn="l">
              <a:lnSpc>
                <a:spcPct val="115000"/>
              </a:lnSpc>
              <a:spcBef>
                <a:spcPts val="0"/>
              </a:spcBef>
              <a:spcAft>
                <a:spcPts val="0"/>
              </a:spcAft>
              <a:buClr>
                <a:srgbClr val="2E2F30"/>
              </a:buClr>
              <a:buSzPts val="1400"/>
              <a:buFont typeface="Roboto"/>
              <a:buAutoNum type="alphaLcPeriod"/>
            </a:pPr>
            <a:r>
              <a:rPr lang="es-419">
                <a:solidFill>
                  <a:srgbClr val="2E2F30"/>
                </a:solidFill>
                <a:latin typeface="Roboto"/>
                <a:ea typeface="Roboto"/>
                <a:cs typeface="Roboto"/>
                <a:sym typeface="Roboto"/>
              </a:rPr>
              <a:t>Del bloque salida escoger “imprimir en monitor en serie” y colocar el texto:</a:t>
            </a:r>
            <a:r>
              <a:rPr b="1" lang="es-419">
                <a:solidFill>
                  <a:schemeClr val="accent1"/>
                </a:solidFill>
                <a:latin typeface="Roboto"/>
                <a:ea typeface="Roboto"/>
                <a:cs typeface="Roboto"/>
                <a:sym typeface="Roboto"/>
              </a:rPr>
              <a:t> La suma es:, </a:t>
            </a:r>
            <a:r>
              <a:rPr lang="es-419">
                <a:solidFill>
                  <a:schemeClr val="dk2"/>
                </a:solidFill>
                <a:latin typeface="Roboto"/>
                <a:ea typeface="Roboto"/>
                <a:cs typeface="Roboto"/>
                <a:sym typeface="Roboto"/>
              </a:rPr>
              <a:t>nueva línea sin.</a:t>
            </a:r>
            <a:endParaRPr>
              <a:solidFill>
                <a:schemeClr val="dk2"/>
              </a:solidFill>
              <a:latin typeface="Roboto"/>
              <a:ea typeface="Roboto"/>
              <a:cs typeface="Roboto"/>
              <a:sym typeface="Roboto"/>
            </a:endParaRPr>
          </a:p>
          <a:p>
            <a:pPr indent="-317500" lvl="1" marL="1371600" rtl="0" algn="l">
              <a:lnSpc>
                <a:spcPct val="115000"/>
              </a:lnSpc>
              <a:spcBef>
                <a:spcPts val="0"/>
              </a:spcBef>
              <a:spcAft>
                <a:spcPts val="0"/>
              </a:spcAft>
              <a:buClr>
                <a:srgbClr val="2E2F30"/>
              </a:buClr>
              <a:buSzPts val="1400"/>
              <a:buFont typeface="Roboto"/>
              <a:buAutoNum type="alphaLcPeriod"/>
            </a:pPr>
            <a:r>
              <a:rPr lang="es-419">
                <a:solidFill>
                  <a:srgbClr val="2E2F30"/>
                </a:solidFill>
                <a:latin typeface="Roboto"/>
                <a:ea typeface="Roboto"/>
                <a:cs typeface="Roboto"/>
                <a:sym typeface="Roboto"/>
              </a:rPr>
              <a:t>Del bloque salida escoger “imprimir en monitor en serie” y colocar el operador matemático + y sumar 5 y 3, nueva línea con.</a:t>
            </a:r>
            <a:endParaRPr>
              <a:solidFill>
                <a:srgbClr val="2E2F30"/>
              </a:solidFill>
              <a:latin typeface="Roboto"/>
              <a:ea typeface="Roboto"/>
              <a:cs typeface="Roboto"/>
              <a:sym typeface="Roboto"/>
            </a:endParaRPr>
          </a:p>
          <a:p>
            <a:pPr indent="0" lvl="0" marL="0" rtl="0" algn="l">
              <a:lnSpc>
                <a:spcPct val="115000"/>
              </a:lnSpc>
              <a:spcBef>
                <a:spcPts val="1200"/>
              </a:spcBef>
              <a:spcAft>
                <a:spcPts val="0"/>
              </a:spcAft>
              <a:buNone/>
            </a:pPr>
            <a:r>
              <a:t/>
            </a:r>
            <a:endParaRPr>
              <a:solidFill>
                <a:srgbClr val="2E2F30"/>
              </a:solidFill>
              <a:latin typeface="Roboto"/>
              <a:ea typeface="Roboto"/>
              <a:cs typeface="Roboto"/>
              <a:sym typeface="Roboto"/>
            </a:endParaRPr>
          </a:p>
          <a:p>
            <a:pPr indent="0" lvl="0" marL="0" rtl="0" algn="l">
              <a:lnSpc>
                <a:spcPct val="115000"/>
              </a:lnSpc>
              <a:spcBef>
                <a:spcPts val="1200"/>
              </a:spcBef>
              <a:spcAft>
                <a:spcPts val="0"/>
              </a:spcAft>
              <a:buNone/>
            </a:pPr>
            <a:r>
              <a:t/>
            </a:r>
            <a:endParaRPr>
              <a:solidFill>
                <a:srgbClr val="2E2F30"/>
              </a:solidFill>
              <a:latin typeface="Roboto"/>
              <a:ea typeface="Roboto"/>
              <a:cs typeface="Roboto"/>
              <a:sym typeface="Roboto"/>
            </a:endParaRPr>
          </a:p>
          <a:p>
            <a:pPr indent="0" lvl="0" marL="914400" rtl="0" algn="l">
              <a:lnSpc>
                <a:spcPct val="115000"/>
              </a:lnSpc>
              <a:spcBef>
                <a:spcPts val="1200"/>
              </a:spcBef>
              <a:spcAft>
                <a:spcPts val="0"/>
              </a:spcAft>
              <a:buNone/>
            </a:pPr>
            <a:r>
              <a:t/>
            </a:r>
            <a:endParaRPr>
              <a:solidFill>
                <a:srgbClr val="2E2F30"/>
              </a:solidFill>
              <a:latin typeface="Roboto"/>
              <a:ea typeface="Roboto"/>
              <a:cs typeface="Roboto"/>
              <a:sym typeface="Roboto"/>
            </a:endParaRPr>
          </a:p>
          <a:p>
            <a:pPr indent="0" lvl="0" marL="914400" rtl="0" algn="l">
              <a:lnSpc>
                <a:spcPct val="115000"/>
              </a:lnSpc>
              <a:spcBef>
                <a:spcPts val="1200"/>
              </a:spcBef>
              <a:spcAft>
                <a:spcPts val="0"/>
              </a:spcAft>
              <a:buNone/>
            </a:pPr>
            <a:r>
              <a:t/>
            </a:r>
            <a:endParaRPr>
              <a:solidFill>
                <a:srgbClr val="2E2F30"/>
              </a:solidFill>
              <a:latin typeface="Roboto"/>
              <a:ea typeface="Roboto"/>
              <a:cs typeface="Roboto"/>
              <a:sym typeface="Roboto"/>
            </a:endParaRPr>
          </a:p>
          <a:p>
            <a:pPr indent="0" lvl="0" marL="914400" rtl="0" algn="l">
              <a:lnSpc>
                <a:spcPct val="115000"/>
              </a:lnSpc>
              <a:spcBef>
                <a:spcPts val="1200"/>
              </a:spcBef>
              <a:spcAft>
                <a:spcPts val="1200"/>
              </a:spcAft>
              <a:buNone/>
            </a:pPr>
            <a:r>
              <a:t/>
            </a:r>
            <a:endParaRPr>
              <a:solidFill>
                <a:srgbClr val="2E2F30"/>
              </a:solidFill>
              <a:latin typeface="Roboto"/>
              <a:ea typeface="Roboto"/>
              <a:cs typeface="Roboto"/>
              <a:sym typeface="Roboto"/>
            </a:endParaRPr>
          </a:p>
        </p:txBody>
      </p:sp>
      <p:pic>
        <p:nvPicPr>
          <p:cNvPr id="107" name="Google Shape;107;p18"/>
          <p:cNvPicPr preferRelativeResize="0"/>
          <p:nvPr/>
        </p:nvPicPr>
        <p:blipFill>
          <a:blip r:embed="rId3">
            <a:alphaModFix/>
          </a:blip>
          <a:stretch>
            <a:fillRect/>
          </a:stretch>
        </p:blipFill>
        <p:spPr>
          <a:xfrm>
            <a:off x="478688" y="3270625"/>
            <a:ext cx="3876675" cy="1371600"/>
          </a:xfrm>
          <a:prstGeom prst="rect">
            <a:avLst/>
          </a:prstGeom>
          <a:noFill/>
          <a:ln>
            <a:noFill/>
          </a:ln>
        </p:spPr>
      </p:pic>
      <p:pic>
        <p:nvPicPr>
          <p:cNvPr id="108" name="Google Shape;108;p18"/>
          <p:cNvPicPr preferRelativeResize="0"/>
          <p:nvPr/>
        </p:nvPicPr>
        <p:blipFill rotWithShape="1">
          <a:blip r:embed="rId4">
            <a:alphaModFix/>
          </a:blip>
          <a:srcRect b="34297" l="0" r="0" t="0"/>
          <a:stretch/>
        </p:blipFill>
        <p:spPr>
          <a:xfrm>
            <a:off x="6137500" y="3389400"/>
            <a:ext cx="1914525" cy="1627100"/>
          </a:xfrm>
          <a:prstGeom prst="rect">
            <a:avLst/>
          </a:prstGeom>
          <a:noFill/>
          <a:ln>
            <a:noFill/>
          </a:ln>
        </p:spPr>
      </p:pic>
      <p:sp>
        <p:nvSpPr>
          <p:cNvPr id="109" name="Google Shape;109;p18"/>
          <p:cNvSpPr txBox="1"/>
          <p:nvPr/>
        </p:nvSpPr>
        <p:spPr>
          <a:xfrm>
            <a:off x="1735225" y="3131325"/>
            <a:ext cx="118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solidFill>
                  <a:schemeClr val="accent3"/>
                </a:solidFill>
                <a:latin typeface="Roboto"/>
                <a:ea typeface="Roboto"/>
                <a:cs typeface="Roboto"/>
                <a:sym typeface="Roboto"/>
              </a:rPr>
              <a:t>PROGRAMA</a:t>
            </a:r>
            <a:endParaRPr b="1">
              <a:solidFill>
                <a:schemeClr val="accent3"/>
              </a:solidFill>
              <a:latin typeface="Roboto"/>
              <a:ea typeface="Roboto"/>
              <a:cs typeface="Roboto"/>
              <a:sym typeface="Roboto"/>
            </a:endParaRPr>
          </a:p>
        </p:txBody>
      </p:sp>
      <p:sp>
        <p:nvSpPr>
          <p:cNvPr id="110" name="Google Shape;110;p18"/>
          <p:cNvSpPr txBox="1"/>
          <p:nvPr/>
        </p:nvSpPr>
        <p:spPr>
          <a:xfrm>
            <a:off x="6500013" y="2989200"/>
            <a:ext cx="118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solidFill>
                  <a:schemeClr val="accent3"/>
                </a:solidFill>
                <a:latin typeface="Roboto"/>
                <a:ea typeface="Roboto"/>
                <a:cs typeface="Roboto"/>
                <a:sym typeface="Roboto"/>
              </a:rPr>
              <a:t>SALIDA</a:t>
            </a:r>
            <a:endParaRPr b="1">
              <a:solidFill>
                <a:schemeClr val="accent3"/>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Ejemplos de Variables </a:t>
            </a:r>
            <a:endParaRPr/>
          </a:p>
        </p:txBody>
      </p:sp>
      <p:sp>
        <p:nvSpPr>
          <p:cNvPr id="116" name="Google Shape;116;p19"/>
          <p:cNvSpPr txBox="1"/>
          <p:nvPr/>
        </p:nvSpPr>
        <p:spPr>
          <a:xfrm>
            <a:off x="478700" y="872900"/>
            <a:ext cx="5274900" cy="2683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sz="1700">
                <a:solidFill>
                  <a:schemeClr val="accent3"/>
                </a:solidFill>
                <a:latin typeface="Roboto"/>
                <a:ea typeface="Roboto"/>
                <a:cs typeface="Roboto"/>
                <a:sym typeface="Roboto"/>
              </a:rPr>
              <a:t>Solución</a:t>
            </a:r>
            <a:endParaRPr b="1" sz="1700">
              <a:solidFill>
                <a:schemeClr val="accent3"/>
              </a:solidFill>
              <a:latin typeface="Roboto"/>
              <a:ea typeface="Roboto"/>
              <a:cs typeface="Roboto"/>
              <a:sym typeface="Roboto"/>
            </a:endParaRPr>
          </a:p>
          <a:p>
            <a:pPr indent="-317500" lvl="0" marL="914400" rtl="0" algn="l">
              <a:lnSpc>
                <a:spcPct val="115000"/>
              </a:lnSpc>
              <a:spcBef>
                <a:spcPts val="0"/>
              </a:spcBef>
              <a:spcAft>
                <a:spcPts val="0"/>
              </a:spcAft>
              <a:buClr>
                <a:srgbClr val="2E2F30"/>
              </a:buClr>
              <a:buSzPts val="1400"/>
              <a:buFont typeface="Roboto"/>
              <a:buAutoNum type="arabicPeriod" startAt="4"/>
            </a:pPr>
            <a:r>
              <a:rPr lang="es-419">
                <a:solidFill>
                  <a:srgbClr val="2E2F30"/>
                </a:solidFill>
                <a:latin typeface="Roboto"/>
                <a:ea typeface="Roboto"/>
                <a:cs typeface="Roboto"/>
                <a:sym typeface="Roboto"/>
              </a:rPr>
              <a:t>En el bloque iniciar, inicializar contador en 0.</a:t>
            </a:r>
            <a:endParaRPr>
              <a:solidFill>
                <a:srgbClr val="2E2F30"/>
              </a:solidFill>
              <a:latin typeface="Roboto"/>
              <a:ea typeface="Roboto"/>
              <a:cs typeface="Roboto"/>
              <a:sym typeface="Roboto"/>
            </a:endParaRPr>
          </a:p>
          <a:p>
            <a:pPr indent="-317500" lvl="0" marL="914400" rtl="0" algn="l">
              <a:lnSpc>
                <a:spcPct val="115000"/>
              </a:lnSpc>
              <a:spcBef>
                <a:spcPts val="0"/>
              </a:spcBef>
              <a:spcAft>
                <a:spcPts val="0"/>
              </a:spcAft>
              <a:buClr>
                <a:srgbClr val="2E2F30"/>
              </a:buClr>
              <a:buSzPts val="1400"/>
              <a:buFont typeface="Roboto"/>
              <a:buAutoNum type="arabicPeriod" startAt="4"/>
            </a:pPr>
            <a:r>
              <a:rPr lang="es-419">
                <a:solidFill>
                  <a:srgbClr val="2E2F30"/>
                </a:solidFill>
                <a:latin typeface="Roboto"/>
                <a:ea typeface="Roboto"/>
                <a:cs typeface="Roboto"/>
                <a:sym typeface="Roboto"/>
              </a:rPr>
              <a:t>En el bloque siempre:</a:t>
            </a:r>
            <a:endParaRPr>
              <a:solidFill>
                <a:srgbClr val="2E2F30"/>
              </a:solidFill>
              <a:latin typeface="Roboto"/>
              <a:ea typeface="Roboto"/>
              <a:cs typeface="Roboto"/>
              <a:sym typeface="Roboto"/>
            </a:endParaRPr>
          </a:p>
          <a:p>
            <a:pPr indent="-317500" lvl="1" marL="1371600" rtl="0" algn="l">
              <a:lnSpc>
                <a:spcPct val="115000"/>
              </a:lnSpc>
              <a:spcBef>
                <a:spcPts val="0"/>
              </a:spcBef>
              <a:spcAft>
                <a:spcPts val="0"/>
              </a:spcAft>
              <a:buClr>
                <a:srgbClr val="2E2F30"/>
              </a:buClr>
              <a:buSzPts val="1400"/>
              <a:buFont typeface="Roboto"/>
              <a:buAutoNum type="alphaLcPeriod"/>
            </a:pPr>
            <a:r>
              <a:rPr lang="es-419">
                <a:solidFill>
                  <a:srgbClr val="2E2F30"/>
                </a:solidFill>
                <a:latin typeface="Roboto"/>
                <a:ea typeface="Roboto"/>
                <a:cs typeface="Roboto"/>
                <a:sym typeface="Roboto"/>
              </a:rPr>
              <a:t>Del bloque salida escoger “imprimir en monitor en serie”</a:t>
            </a:r>
            <a:endParaRPr>
              <a:solidFill>
                <a:srgbClr val="2E2F30"/>
              </a:solidFill>
              <a:latin typeface="Roboto"/>
              <a:ea typeface="Roboto"/>
              <a:cs typeface="Roboto"/>
              <a:sym typeface="Roboto"/>
            </a:endParaRPr>
          </a:p>
          <a:p>
            <a:pPr indent="-317500" lvl="1" marL="1371600" rtl="0" algn="l">
              <a:lnSpc>
                <a:spcPct val="115000"/>
              </a:lnSpc>
              <a:spcBef>
                <a:spcPts val="0"/>
              </a:spcBef>
              <a:spcAft>
                <a:spcPts val="0"/>
              </a:spcAft>
              <a:buClr>
                <a:srgbClr val="2E2F30"/>
              </a:buClr>
              <a:buSzPts val="1400"/>
              <a:buFont typeface="Roboto"/>
              <a:buAutoNum type="alphaLcPeriod"/>
            </a:pPr>
            <a:r>
              <a:rPr lang="es-419">
                <a:solidFill>
                  <a:srgbClr val="2E2F30"/>
                </a:solidFill>
                <a:latin typeface="Roboto"/>
                <a:ea typeface="Roboto"/>
                <a:cs typeface="Roboto"/>
                <a:sym typeface="Roboto"/>
              </a:rPr>
              <a:t>Del bloque variable escoger “Cambiar contador por 1, nueva linea con”.</a:t>
            </a:r>
            <a:endParaRPr>
              <a:solidFill>
                <a:srgbClr val="2E2F30"/>
              </a:solidFill>
              <a:latin typeface="Roboto"/>
              <a:ea typeface="Roboto"/>
              <a:cs typeface="Roboto"/>
              <a:sym typeface="Roboto"/>
            </a:endParaRPr>
          </a:p>
          <a:p>
            <a:pPr indent="-317500" lvl="1" marL="1371600" rtl="0" algn="l">
              <a:lnSpc>
                <a:spcPct val="115000"/>
              </a:lnSpc>
              <a:spcBef>
                <a:spcPts val="0"/>
              </a:spcBef>
              <a:spcAft>
                <a:spcPts val="0"/>
              </a:spcAft>
              <a:buClr>
                <a:srgbClr val="2E2F30"/>
              </a:buClr>
              <a:buSzPts val="1400"/>
              <a:buFont typeface="Roboto"/>
              <a:buAutoNum type="alphaLcPeriod"/>
            </a:pPr>
            <a:r>
              <a:rPr lang="es-419">
                <a:solidFill>
                  <a:srgbClr val="2E2F30"/>
                </a:solidFill>
                <a:latin typeface="Roboto"/>
                <a:ea typeface="Roboto"/>
                <a:cs typeface="Roboto"/>
                <a:sym typeface="Roboto"/>
              </a:rPr>
              <a:t>Del bloque control “esperar 1 segundo”</a:t>
            </a:r>
            <a:endParaRPr>
              <a:solidFill>
                <a:srgbClr val="2E2F30"/>
              </a:solidFill>
              <a:latin typeface="Roboto"/>
              <a:ea typeface="Roboto"/>
              <a:cs typeface="Roboto"/>
              <a:sym typeface="Roboto"/>
            </a:endParaRPr>
          </a:p>
          <a:p>
            <a:pPr indent="-317500" lvl="0" marL="914400" rtl="0" algn="l">
              <a:lnSpc>
                <a:spcPct val="115000"/>
              </a:lnSpc>
              <a:spcBef>
                <a:spcPts val="0"/>
              </a:spcBef>
              <a:spcAft>
                <a:spcPts val="0"/>
              </a:spcAft>
              <a:buClr>
                <a:srgbClr val="2E2F30"/>
              </a:buClr>
              <a:buSzPts val="1400"/>
              <a:buFont typeface="Roboto"/>
              <a:buAutoNum type="arabicPeriod" startAt="4"/>
            </a:pPr>
            <a:r>
              <a:rPr lang="es-419">
                <a:solidFill>
                  <a:srgbClr val="2E2F30"/>
                </a:solidFill>
                <a:latin typeface="Roboto"/>
                <a:ea typeface="Roboto"/>
                <a:cs typeface="Roboto"/>
                <a:sym typeface="Roboto"/>
              </a:rPr>
              <a:t>En la imagen el programa</a:t>
            </a:r>
            <a:endParaRPr>
              <a:solidFill>
                <a:srgbClr val="2E2F30"/>
              </a:solidFill>
              <a:latin typeface="Roboto"/>
              <a:ea typeface="Roboto"/>
              <a:cs typeface="Roboto"/>
              <a:sym typeface="Roboto"/>
            </a:endParaRPr>
          </a:p>
          <a:p>
            <a:pPr indent="-317500" lvl="0" marL="914400" rtl="0" algn="l">
              <a:lnSpc>
                <a:spcPct val="115000"/>
              </a:lnSpc>
              <a:spcBef>
                <a:spcPts val="0"/>
              </a:spcBef>
              <a:spcAft>
                <a:spcPts val="0"/>
              </a:spcAft>
              <a:buClr>
                <a:srgbClr val="2E2F30"/>
              </a:buClr>
              <a:buSzPts val="1400"/>
              <a:buFont typeface="Roboto"/>
              <a:buAutoNum type="arabicPeriod" startAt="4"/>
            </a:pPr>
            <a:r>
              <a:rPr lang="es-419">
                <a:solidFill>
                  <a:srgbClr val="2E2F30"/>
                </a:solidFill>
                <a:latin typeface="Roboto"/>
                <a:ea typeface="Roboto"/>
                <a:cs typeface="Roboto"/>
                <a:sym typeface="Roboto"/>
              </a:rPr>
              <a:t>En el video como funciona.</a:t>
            </a:r>
            <a:endParaRPr sz="1600">
              <a:solidFill>
                <a:srgbClr val="2E2F30"/>
              </a:solidFill>
              <a:latin typeface="Roboto"/>
              <a:ea typeface="Roboto"/>
              <a:cs typeface="Roboto"/>
              <a:sym typeface="Roboto"/>
            </a:endParaRPr>
          </a:p>
        </p:txBody>
      </p:sp>
      <p:pic>
        <p:nvPicPr>
          <p:cNvPr id="117" name="Google Shape;117;p19"/>
          <p:cNvPicPr preferRelativeResize="0"/>
          <p:nvPr/>
        </p:nvPicPr>
        <p:blipFill>
          <a:blip r:embed="rId3">
            <a:alphaModFix/>
          </a:blip>
          <a:stretch>
            <a:fillRect/>
          </a:stretch>
        </p:blipFill>
        <p:spPr>
          <a:xfrm>
            <a:off x="5753600" y="712000"/>
            <a:ext cx="2971800" cy="2447925"/>
          </a:xfrm>
          <a:prstGeom prst="rect">
            <a:avLst/>
          </a:prstGeom>
          <a:noFill/>
          <a:ln>
            <a:noFill/>
          </a:ln>
        </p:spPr>
      </p:pic>
      <p:pic>
        <p:nvPicPr>
          <p:cNvPr id="118" name="Google Shape;118;p19" title="usodevariablesarduinotinkercad.mp4">
            <a:hlinkClick r:id="rId4"/>
          </p:cNvPr>
          <p:cNvPicPr preferRelativeResize="0"/>
          <p:nvPr/>
        </p:nvPicPr>
        <p:blipFill>
          <a:blip r:embed="rId5">
            <a:alphaModFix/>
          </a:blip>
          <a:stretch>
            <a:fillRect/>
          </a:stretch>
        </p:blipFill>
        <p:spPr>
          <a:xfrm>
            <a:off x="4170075" y="3159925"/>
            <a:ext cx="2238367" cy="167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10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 Bloque Control</a:t>
            </a:r>
            <a:endParaRPr/>
          </a:p>
        </p:txBody>
      </p:sp>
      <p:sp>
        <p:nvSpPr>
          <p:cNvPr id="124" name="Google Shape;124;p20"/>
          <p:cNvSpPr txBox="1"/>
          <p:nvPr/>
        </p:nvSpPr>
        <p:spPr>
          <a:xfrm>
            <a:off x="334375" y="850350"/>
            <a:ext cx="4604700" cy="4021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s-419" sz="1500">
                <a:solidFill>
                  <a:srgbClr val="2E2F30"/>
                </a:solidFill>
                <a:latin typeface="Roboto"/>
                <a:ea typeface="Roboto"/>
                <a:cs typeface="Roboto"/>
                <a:sym typeface="Roboto"/>
              </a:rPr>
              <a:t>En Tinkercad, el bloque Control en Arduino te permite controlar el flujo del programa con estructuras de control de flujo como condicionales y bucles. Aquí te muestro algunos de los bloques más comunes del bloque Control:</a:t>
            </a:r>
            <a:endParaRPr sz="1500">
              <a:solidFill>
                <a:srgbClr val="2E2F30"/>
              </a:solidFill>
              <a:latin typeface="Roboto"/>
              <a:ea typeface="Roboto"/>
              <a:cs typeface="Roboto"/>
              <a:sym typeface="Roboto"/>
            </a:endParaRPr>
          </a:p>
          <a:p>
            <a:pPr indent="-323850" lvl="0" marL="457200" rtl="0" algn="l">
              <a:lnSpc>
                <a:spcPct val="115000"/>
              </a:lnSpc>
              <a:spcBef>
                <a:spcPts val="1200"/>
              </a:spcBef>
              <a:spcAft>
                <a:spcPts val="0"/>
              </a:spcAft>
              <a:buClr>
                <a:srgbClr val="2E2F30"/>
              </a:buClr>
              <a:buSzPts val="1500"/>
              <a:buFont typeface="Roboto"/>
              <a:buAutoNum type="arabicPeriod"/>
            </a:pPr>
            <a:r>
              <a:rPr b="1" lang="es-419" sz="1500">
                <a:solidFill>
                  <a:schemeClr val="accent1"/>
                </a:solidFill>
                <a:latin typeface="Roboto"/>
                <a:ea typeface="Roboto"/>
                <a:cs typeface="Roboto"/>
                <a:sym typeface="Roboto"/>
              </a:rPr>
              <a:t>Si-entonces:</a:t>
            </a:r>
            <a:r>
              <a:rPr lang="es-419" sz="1500">
                <a:solidFill>
                  <a:srgbClr val="2E2F30"/>
                </a:solidFill>
                <a:latin typeface="Roboto"/>
                <a:ea typeface="Roboto"/>
                <a:cs typeface="Roboto"/>
                <a:sym typeface="Roboto"/>
              </a:rPr>
              <a:t> se usa para realizar una acción si se cumple una condición.</a:t>
            </a:r>
            <a:endParaRPr sz="1500">
              <a:solidFill>
                <a:srgbClr val="2E2F30"/>
              </a:solidFill>
              <a:latin typeface="Roboto"/>
              <a:ea typeface="Roboto"/>
              <a:cs typeface="Roboto"/>
              <a:sym typeface="Roboto"/>
            </a:endParaRPr>
          </a:p>
          <a:p>
            <a:pPr indent="-323850" lvl="0" marL="457200" rtl="0" algn="l">
              <a:lnSpc>
                <a:spcPct val="115000"/>
              </a:lnSpc>
              <a:spcBef>
                <a:spcPts val="0"/>
              </a:spcBef>
              <a:spcAft>
                <a:spcPts val="0"/>
              </a:spcAft>
              <a:buClr>
                <a:srgbClr val="2E2F30"/>
              </a:buClr>
              <a:buSzPts val="1500"/>
              <a:buFont typeface="Roboto"/>
              <a:buAutoNum type="arabicPeriod"/>
            </a:pPr>
            <a:r>
              <a:rPr b="1" lang="es-419" sz="1500">
                <a:solidFill>
                  <a:schemeClr val="accent1"/>
                </a:solidFill>
                <a:latin typeface="Roboto"/>
                <a:ea typeface="Roboto"/>
                <a:cs typeface="Roboto"/>
                <a:sym typeface="Roboto"/>
              </a:rPr>
              <a:t>Si-entonces-sino:</a:t>
            </a:r>
            <a:r>
              <a:rPr lang="es-419" sz="1500">
                <a:solidFill>
                  <a:srgbClr val="2E2F30"/>
                </a:solidFill>
                <a:latin typeface="Roboto"/>
                <a:ea typeface="Roboto"/>
                <a:cs typeface="Roboto"/>
                <a:sym typeface="Roboto"/>
              </a:rPr>
              <a:t> se usa para realizar una acción si se cumple una condición, de lo contrario, se realiza otra acción.</a:t>
            </a:r>
            <a:endParaRPr sz="1500">
              <a:solidFill>
                <a:srgbClr val="2E2F30"/>
              </a:solidFill>
              <a:latin typeface="Roboto"/>
              <a:ea typeface="Roboto"/>
              <a:cs typeface="Roboto"/>
              <a:sym typeface="Roboto"/>
            </a:endParaRPr>
          </a:p>
          <a:p>
            <a:pPr indent="-323850" lvl="0" marL="457200" rtl="0" algn="l">
              <a:lnSpc>
                <a:spcPct val="115000"/>
              </a:lnSpc>
              <a:spcBef>
                <a:spcPts val="0"/>
              </a:spcBef>
              <a:spcAft>
                <a:spcPts val="0"/>
              </a:spcAft>
              <a:buClr>
                <a:srgbClr val="2E2F30"/>
              </a:buClr>
              <a:buSzPts val="1500"/>
              <a:buFont typeface="Roboto"/>
              <a:buAutoNum type="arabicPeriod"/>
            </a:pPr>
            <a:r>
              <a:rPr b="1" lang="es-419" sz="1500">
                <a:solidFill>
                  <a:schemeClr val="accent1"/>
                </a:solidFill>
                <a:latin typeface="Roboto"/>
                <a:ea typeface="Roboto"/>
                <a:cs typeface="Roboto"/>
                <a:sym typeface="Roboto"/>
              </a:rPr>
              <a:t>Repetir </a:t>
            </a:r>
            <a:r>
              <a:rPr b="1" lang="es-419" sz="1500">
                <a:solidFill>
                  <a:schemeClr val="accent1"/>
                </a:solidFill>
                <a:latin typeface="Roboto"/>
                <a:ea typeface="Roboto"/>
                <a:cs typeface="Roboto"/>
                <a:sym typeface="Roboto"/>
              </a:rPr>
              <a:t>Mientras:</a:t>
            </a:r>
            <a:r>
              <a:rPr lang="es-419" sz="1500">
                <a:solidFill>
                  <a:srgbClr val="2E2F30"/>
                </a:solidFill>
                <a:latin typeface="Roboto"/>
                <a:ea typeface="Roboto"/>
                <a:cs typeface="Roboto"/>
                <a:sym typeface="Roboto"/>
              </a:rPr>
              <a:t> se usa para repetir una acción mientras se cumpla una condición.</a:t>
            </a:r>
            <a:endParaRPr sz="1500">
              <a:solidFill>
                <a:srgbClr val="2E2F30"/>
              </a:solidFill>
              <a:latin typeface="Roboto"/>
              <a:ea typeface="Roboto"/>
              <a:cs typeface="Roboto"/>
              <a:sym typeface="Roboto"/>
            </a:endParaRPr>
          </a:p>
          <a:p>
            <a:pPr indent="-323850" lvl="0" marL="457200" rtl="0" algn="l">
              <a:lnSpc>
                <a:spcPct val="115000"/>
              </a:lnSpc>
              <a:spcBef>
                <a:spcPts val="0"/>
              </a:spcBef>
              <a:spcAft>
                <a:spcPts val="0"/>
              </a:spcAft>
              <a:buClr>
                <a:srgbClr val="2E2F30"/>
              </a:buClr>
              <a:buSzPts val="1500"/>
              <a:buFont typeface="Roboto"/>
              <a:buAutoNum type="arabicPeriod"/>
            </a:pPr>
            <a:r>
              <a:rPr b="1" lang="es-419" sz="1500">
                <a:solidFill>
                  <a:schemeClr val="accent1"/>
                </a:solidFill>
                <a:latin typeface="Roboto"/>
                <a:ea typeface="Roboto"/>
                <a:cs typeface="Roboto"/>
                <a:sym typeface="Roboto"/>
              </a:rPr>
              <a:t>Repetir n veces:</a:t>
            </a:r>
            <a:r>
              <a:rPr lang="es-419" sz="1500">
                <a:solidFill>
                  <a:srgbClr val="2E2F30"/>
                </a:solidFill>
                <a:latin typeface="Roboto"/>
                <a:ea typeface="Roboto"/>
                <a:cs typeface="Roboto"/>
                <a:sym typeface="Roboto"/>
              </a:rPr>
              <a:t> se usa para repetir una acción un número específico de veces.</a:t>
            </a:r>
            <a:endParaRPr sz="1500">
              <a:solidFill>
                <a:srgbClr val="2E2F30"/>
              </a:solidFill>
              <a:highlight>
                <a:srgbClr val="F5F5F7"/>
              </a:highlight>
              <a:latin typeface="Roboto"/>
              <a:ea typeface="Roboto"/>
              <a:cs typeface="Roboto"/>
              <a:sym typeface="Roboto"/>
            </a:endParaRPr>
          </a:p>
        </p:txBody>
      </p:sp>
      <p:pic>
        <p:nvPicPr>
          <p:cNvPr id="125" name="Google Shape;125;p20"/>
          <p:cNvPicPr preferRelativeResize="0"/>
          <p:nvPr/>
        </p:nvPicPr>
        <p:blipFill>
          <a:blip r:embed="rId3">
            <a:alphaModFix/>
          </a:blip>
          <a:stretch>
            <a:fillRect/>
          </a:stretch>
        </p:blipFill>
        <p:spPr>
          <a:xfrm>
            <a:off x="6171125" y="0"/>
            <a:ext cx="209525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Ejemplo Control</a:t>
            </a:r>
            <a:endParaRPr/>
          </a:p>
        </p:txBody>
      </p:sp>
      <p:sp>
        <p:nvSpPr>
          <p:cNvPr id="131" name="Google Shape;131;p21"/>
          <p:cNvSpPr txBox="1"/>
          <p:nvPr/>
        </p:nvSpPr>
        <p:spPr>
          <a:xfrm>
            <a:off x="478700" y="872900"/>
            <a:ext cx="4321200" cy="3869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a:solidFill>
                  <a:schemeClr val="accent3"/>
                </a:solidFill>
                <a:latin typeface="Roboto"/>
                <a:ea typeface="Roboto"/>
                <a:cs typeface="Roboto"/>
                <a:sym typeface="Roboto"/>
              </a:rPr>
              <a:t>Planteamiento </a:t>
            </a:r>
            <a:endParaRPr b="1">
              <a:solidFill>
                <a:schemeClr val="accent3"/>
              </a:solidFill>
              <a:latin typeface="Roboto"/>
              <a:ea typeface="Roboto"/>
              <a:cs typeface="Roboto"/>
              <a:sym typeface="Roboto"/>
            </a:endParaRPr>
          </a:p>
          <a:p>
            <a:pPr indent="0" lvl="0" marL="0" rtl="0" algn="just">
              <a:lnSpc>
                <a:spcPct val="115000"/>
              </a:lnSpc>
              <a:spcBef>
                <a:spcPts val="0"/>
              </a:spcBef>
              <a:spcAft>
                <a:spcPts val="0"/>
              </a:spcAft>
              <a:buNone/>
            </a:pPr>
            <a:r>
              <a:rPr lang="es-419">
                <a:solidFill>
                  <a:srgbClr val="2E2F30"/>
                </a:solidFill>
                <a:latin typeface="Roboto"/>
                <a:ea typeface="Roboto"/>
                <a:cs typeface="Roboto"/>
                <a:sym typeface="Roboto"/>
              </a:rPr>
              <a:t>Dado el siguiente circuito, se tiene una señal de entrada con interruptor en el pin 13.</a:t>
            </a:r>
            <a:endParaRPr>
              <a:solidFill>
                <a:srgbClr val="2E2F30"/>
              </a:solidFill>
              <a:latin typeface="Roboto"/>
              <a:ea typeface="Roboto"/>
              <a:cs typeface="Roboto"/>
              <a:sym typeface="Roboto"/>
            </a:endParaRPr>
          </a:p>
          <a:p>
            <a:pPr indent="-317500" lvl="0" marL="457200" rtl="0" algn="just">
              <a:lnSpc>
                <a:spcPct val="115000"/>
              </a:lnSpc>
              <a:spcBef>
                <a:spcPts val="0"/>
              </a:spcBef>
              <a:spcAft>
                <a:spcPts val="0"/>
              </a:spcAft>
              <a:buClr>
                <a:srgbClr val="2E2F30"/>
              </a:buClr>
              <a:buSzPts val="1400"/>
              <a:buFont typeface="Roboto"/>
              <a:buChar char="●"/>
            </a:pPr>
            <a:r>
              <a:rPr lang="es-419">
                <a:solidFill>
                  <a:srgbClr val="2E2F30"/>
                </a:solidFill>
                <a:latin typeface="Roboto"/>
                <a:ea typeface="Roboto"/>
                <a:cs typeface="Roboto"/>
                <a:sym typeface="Roboto"/>
              </a:rPr>
              <a:t>Si el valor de la entrada es Alto los led rojo, amarillo y azul deben parpadear 5 veces, y luego apagarse y los led verde, naranja y blanco parpadear 3 veces.</a:t>
            </a:r>
            <a:endParaRPr>
              <a:solidFill>
                <a:srgbClr val="2E2F30"/>
              </a:solidFill>
              <a:latin typeface="Roboto"/>
              <a:ea typeface="Roboto"/>
              <a:cs typeface="Roboto"/>
              <a:sym typeface="Roboto"/>
            </a:endParaRPr>
          </a:p>
          <a:p>
            <a:pPr indent="-317500" lvl="0" marL="457200" rtl="0" algn="just">
              <a:lnSpc>
                <a:spcPct val="115000"/>
              </a:lnSpc>
              <a:spcBef>
                <a:spcPts val="0"/>
              </a:spcBef>
              <a:spcAft>
                <a:spcPts val="0"/>
              </a:spcAft>
              <a:buClr>
                <a:srgbClr val="2E2F30"/>
              </a:buClr>
              <a:buSzPts val="1400"/>
              <a:buFont typeface="Roboto"/>
              <a:buChar char="●"/>
            </a:pPr>
            <a:r>
              <a:rPr lang="es-419">
                <a:solidFill>
                  <a:srgbClr val="2E2F30"/>
                </a:solidFill>
                <a:latin typeface="Roboto"/>
                <a:ea typeface="Roboto"/>
                <a:cs typeface="Roboto"/>
                <a:sym typeface="Roboto"/>
              </a:rPr>
              <a:t>En caso contrario, los led rojo, verde y amarillo parpadean 6 veces y luego los led naranja, azul y blanco, parpadean 4 veces.</a:t>
            </a:r>
            <a:endParaRPr>
              <a:solidFill>
                <a:srgbClr val="2E2F30"/>
              </a:solidFill>
              <a:latin typeface="Roboto"/>
              <a:ea typeface="Roboto"/>
              <a:cs typeface="Roboto"/>
              <a:sym typeface="Roboto"/>
            </a:endParaRPr>
          </a:p>
          <a:p>
            <a:pPr indent="0" lvl="0" marL="0" rtl="0" algn="just">
              <a:lnSpc>
                <a:spcPct val="115000"/>
              </a:lnSpc>
              <a:spcBef>
                <a:spcPts val="0"/>
              </a:spcBef>
              <a:spcAft>
                <a:spcPts val="0"/>
              </a:spcAft>
              <a:buNone/>
            </a:pPr>
            <a:r>
              <a:rPr b="1" lang="es-419">
                <a:solidFill>
                  <a:schemeClr val="accent3"/>
                </a:solidFill>
                <a:latin typeface="Roboto"/>
                <a:ea typeface="Roboto"/>
                <a:cs typeface="Roboto"/>
                <a:sym typeface="Roboto"/>
              </a:rPr>
              <a:t>Solución</a:t>
            </a:r>
            <a:endParaRPr b="1">
              <a:solidFill>
                <a:schemeClr val="accent3"/>
              </a:solidFill>
              <a:latin typeface="Roboto"/>
              <a:ea typeface="Roboto"/>
              <a:cs typeface="Roboto"/>
              <a:sym typeface="Roboto"/>
            </a:endParaRPr>
          </a:p>
          <a:p>
            <a:pPr indent="0" lvl="0" marL="0" rtl="0" algn="just">
              <a:lnSpc>
                <a:spcPct val="115000"/>
              </a:lnSpc>
              <a:spcBef>
                <a:spcPts val="0"/>
              </a:spcBef>
              <a:spcAft>
                <a:spcPts val="0"/>
              </a:spcAft>
              <a:buNone/>
            </a:pPr>
            <a:r>
              <a:t/>
            </a:r>
            <a:endParaRPr b="1">
              <a:solidFill>
                <a:schemeClr val="accent3"/>
              </a:solidFill>
              <a:latin typeface="Roboto"/>
              <a:ea typeface="Roboto"/>
              <a:cs typeface="Roboto"/>
              <a:sym typeface="Roboto"/>
            </a:endParaRPr>
          </a:p>
          <a:p>
            <a:pPr indent="-317500" lvl="0" marL="457200" rtl="0" algn="just">
              <a:lnSpc>
                <a:spcPct val="115000"/>
              </a:lnSpc>
              <a:spcBef>
                <a:spcPts val="0"/>
              </a:spcBef>
              <a:spcAft>
                <a:spcPts val="0"/>
              </a:spcAft>
              <a:buClr>
                <a:schemeClr val="dk2"/>
              </a:buClr>
              <a:buSzPts val="1400"/>
              <a:buFont typeface="Roboto"/>
              <a:buChar char="●"/>
            </a:pPr>
            <a:r>
              <a:rPr lang="es-419">
                <a:solidFill>
                  <a:schemeClr val="dk2"/>
                </a:solidFill>
                <a:latin typeface="Roboto"/>
                <a:ea typeface="Roboto"/>
                <a:cs typeface="Roboto"/>
                <a:sym typeface="Roboto"/>
              </a:rPr>
              <a:t>En tinkercad en la actividad programación puedes ver la solución como programa 03</a:t>
            </a:r>
            <a:endParaRPr>
              <a:solidFill>
                <a:schemeClr val="dk2"/>
              </a:solidFill>
              <a:latin typeface="Roboto"/>
              <a:ea typeface="Roboto"/>
              <a:cs typeface="Roboto"/>
              <a:sym typeface="Roboto"/>
            </a:endParaRPr>
          </a:p>
          <a:p>
            <a:pPr indent="0" lvl="0" marL="914400" rtl="0" algn="l">
              <a:lnSpc>
                <a:spcPct val="115000"/>
              </a:lnSpc>
              <a:spcBef>
                <a:spcPts val="0"/>
              </a:spcBef>
              <a:spcAft>
                <a:spcPts val="1200"/>
              </a:spcAft>
              <a:buNone/>
            </a:pPr>
            <a:r>
              <a:t/>
            </a:r>
            <a:endParaRPr>
              <a:solidFill>
                <a:srgbClr val="2E2F30"/>
              </a:solidFill>
              <a:latin typeface="Roboto"/>
              <a:ea typeface="Roboto"/>
              <a:cs typeface="Roboto"/>
              <a:sym typeface="Roboto"/>
            </a:endParaRPr>
          </a:p>
        </p:txBody>
      </p:sp>
      <p:pic>
        <p:nvPicPr>
          <p:cNvPr id="132" name="Google Shape;132;p21"/>
          <p:cNvPicPr preferRelativeResize="0"/>
          <p:nvPr/>
        </p:nvPicPr>
        <p:blipFill>
          <a:blip r:embed="rId3">
            <a:alphaModFix/>
          </a:blip>
          <a:stretch>
            <a:fillRect/>
          </a:stretch>
        </p:blipFill>
        <p:spPr>
          <a:xfrm>
            <a:off x="4885550" y="1017388"/>
            <a:ext cx="4039300" cy="310871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Arduino + Tinkercad</a:t>
            </a:r>
            <a:endParaRPr/>
          </a:p>
        </p:txBody>
      </p:sp>
      <p:sp>
        <p:nvSpPr>
          <p:cNvPr id="138" name="Google Shape;138;p22"/>
          <p:cNvSpPr txBox="1"/>
          <p:nvPr/>
        </p:nvSpPr>
        <p:spPr>
          <a:xfrm>
            <a:off x="357650" y="2128750"/>
            <a:ext cx="3713700" cy="2670600"/>
          </a:xfrm>
          <a:prstGeom prst="rect">
            <a:avLst/>
          </a:prstGeom>
          <a:noFill/>
          <a:ln>
            <a:noFill/>
          </a:ln>
        </p:spPr>
        <p:txBody>
          <a:bodyPr anchorCtr="0" anchor="t" bIns="91425" lIns="91425" spcFirstLastPara="1" rIns="91425" wrap="square" tIns="91425">
            <a:spAutoFit/>
          </a:bodyPr>
          <a:lstStyle/>
          <a:p>
            <a:pPr indent="-349250" lvl="0" marL="457200" rtl="0" algn="l">
              <a:lnSpc>
                <a:spcPct val="150000"/>
              </a:lnSpc>
              <a:spcBef>
                <a:spcPts val="0"/>
              </a:spcBef>
              <a:spcAft>
                <a:spcPts val="0"/>
              </a:spcAft>
              <a:buSzPts val="1900"/>
              <a:buFont typeface="Roboto"/>
              <a:buChar char="●"/>
            </a:pPr>
            <a:r>
              <a:rPr lang="es-419" sz="1900">
                <a:latin typeface="Roboto"/>
                <a:ea typeface="Roboto"/>
                <a:cs typeface="Roboto"/>
                <a:sym typeface="Roboto"/>
              </a:rPr>
              <a:t>Únete a la Clase en Tinkercad: </a:t>
            </a:r>
            <a:endParaRPr sz="1900">
              <a:latin typeface="Roboto"/>
              <a:ea typeface="Roboto"/>
              <a:cs typeface="Roboto"/>
              <a:sym typeface="Roboto"/>
            </a:endParaRPr>
          </a:p>
          <a:p>
            <a:pPr indent="-349250" lvl="0" marL="457200" rtl="0" algn="l">
              <a:lnSpc>
                <a:spcPct val="150000"/>
              </a:lnSpc>
              <a:spcBef>
                <a:spcPts val="0"/>
              </a:spcBef>
              <a:spcAft>
                <a:spcPts val="0"/>
              </a:spcAft>
              <a:buSzPts val="1900"/>
              <a:buFont typeface="Roboto"/>
              <a:buChar char="●"/>
            </a:pPr>
            <a:r>
              <a:rPr lang="es-419" sz="1900" u="sng">
                <a:solidFill>
                  <a:schemeClr val="hlink"/>
                </a:solidFill>
                <a:latin typeface="Roboto"/>
                <a:ea typeface="Roboto"/>
                <a:cs typeface="Roboto"/>
                <a:sym typeface="Roboto"/>
                <a:hlinkClick r:id="rId3"/>
              </a:rPr>
              <a:t>Clase Arduino</a:t>
            </a:r>
            <a:endParaRPr sz="1900">
              <a:latin typeface="Roboto"/>
              <a:ea typeface="Roboto"/>
              <a:cs typeface="Roboto"/>
              <a:sym typeface="Roboto"/>
            </a:endParaRPr>
          </a:p>
          <a:p>
            <a:pPr indent="-349250" lvl="0" marL="457200" rtl="0" algn="l">
              <a:lnSpc>
                <a:spcPct val="150000"/>
              </a:lnSpc>
              <a:spcBef>
                <a:spcPts val="0"/>
              </a:spcBef>
              <a:spcAft>
                <a:spcPts val="0"/>
              </a:spcAft>
              <a:buSzPts val="1900"/>
              <a:buFont typeface="Roboto"/>
              <a:buChar char="●"/>
            </a:pPr>
            <a:r>
              <a:rPr lang="es-419" sz="1900">
                <a:latin typeface="Roboto"/>
                <a:ea typeface="Roboto"/>
                <a:cs typeface="Roboto"/>
                <a:sym typeface="Roboto"/>
              </a:rPr>
              <a:t>Conectate con tu APODO</a:t>
            </a:r>
            <a:endParaRPr sz="1900">
              <a:latin typeface="Roboto"/>
              <a:ea typeface="Roboto"/>
              <a:cs typeface="Roboto"/>
              <a:sym typeface="Roboto"/>
            </a:endParaRPr>
          </a:p>
          <a:p>
            <a:pPr indent="-349250" lvl="0" marL="457200" rtl="0" algn="l">
              <a:lnSpc>
                <a:spcPct val="150000"/>
              </a:lnSpc>
              <a:spcBef>
                <a:spcPts val="0"/>
              </a:spcBef>
              <a:spcAft>
                <a:spcPts val="0"/>
              </a:spcAft>
              <a:buSzPts val="1900"/>
              <a:buFont typeface="Roboto"/>
              <a:buChar char="●"/>
            </a:pPr>
            <a:r>
              <a:rPr lang="es-419" sz="1900">
                <a:latin typeface="Roboto"/>
                <a:ea typeface="Roboto"/>
                <a:cs typeface="Roboto"/>
                <a:sym typeface="Roboto"/>
              </a:rPr>
              <a:t>Entra a la actividad Programación de Arduino</a:t>
            </a:r>
            <a:endParaRPr sz="1900">
              <a:latin typeface="Roboto"/>
              <a:ea typeface="Roboto"/>
              <a:cs typeface="Roboto"/>
              <a:sym typeface="Roboto"/>
            </a:endParaRPr>
          </a:p>
        </p:txBody>
      </p:sp>
      <p:pic>
        <p:nvPicPr>
          <p:cNvPr id="139" name="Google Shape;139;p22"/>
          <p:cNvPicPr preferRelativeResize="0"/>
          <p:nvPr/>
        </p:nvPicPr>
        <p:blipFill>
          <a:blip r:embed="rId4">
            <a:alphaModFix/>
          </a:blip>
          <a:stretch>
            <a:fillRect/>
          </a:stretch>
        </p:blipFill>
        <p:spPr>
          <a:xfrm>
            <a:off x="4071350" y="1843388"/>
            <a:ext cx="2381250" cy="2867025"/>
          </a:xfrm>
          <a:prstGeom prst="rect">
            <a:avLst/>
          </a:prstGeom>
          <a:noFill/>
          <a:ln>
            <a:noFill/>
          </a:ln>
        </p:spPr>
      </p:pic>
      <p:pic>
        <p:nvPicPr>
          <p:cNvPr id="140" name="Google Shape;140;p22"/>
          <p:cNvPicPr preferRelativeResize="0"/>
          <p:nvPr/>
        </p:nvPicPr>
        <p:blipFill>
          <a:blip r:embed="rId5">
            <a:alphaModFix/>
          </a:blip>
          <a:stretch>
            <a:fillRect/>
          </a:stretch>
        </p:blipFill>
        <p:spPr>
          <a:xfrm>
            <a:off x="6594275" y="2200875"/>
            <a:ext cx="2386600" cy="2152079"/>
          </a:xfrm>
          <a:prstGeom prst="rect">
            <a:avLst/>
          </a:prstGeom>
          <a:noFill/>
          <a:ln>
            <a:noFill/>
          </a:ln>
        </p:spPr>
      </p:pic>
      <p:sp>
        <p:nvSpPr>
          <p:cNvPr id="141" name="Google Shape;141;p22"/>
          <p:cNvSpPr txBox="1"/>
          <p:nvPr/>
        </p:nvSpPr>
        <p:spPr>
          <a:xfrm>
            <a:off x="4953600" y="4743300"/>
            <a:ext cx="419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Continua</a:t>
            </a:r>
            <a:endParaRPr>
              <a:latin typeface="Roboto"/>
              <a:ea typeface="Roboto"/>
              <a:cs typeface="Roboto"/>
              <a:sym typeface="Roboto"/>
            </a:endParaRPr>
          </a:p>
        </p:txBody>
      </p:sp>
      <p:cxnSp>
        <p:nvCxnSpPr>
          <p:cNvPr id="142" name="Google Shape;142;p22"/>
          <p:cNvCxnSpPr/>
          <p:nvPr/>
        </p:nvCxnSpPr>
        <p:spPr>
          <a:xfrm>
            <a:off x="5925025" y="4969200"/>
            <a:ext cx="1317900" cy="10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Arduino + Tinkercad</a:t>
            </a:r>
            <a:endParaRPr/>
          </a:p>
        </p:txBody>
      </p:sp>
      <p:sp>
        <p:nvSpPr>
          <p:cNvPr id="148" name="Google Shape;148;p23"/>
          <p:cNvSpPr txBox="1"/>
          <p:nvPr/>
        </p:nvSpPr>
        <p:spPr>
          <a:xfrm>
            <a:off x="357650" y="2128750"/>
            <a:ext cx="7849800" cy="2232000"/>
          </a:xfrm>
          <a:prstGeom prst="rect">
            <a:avLst/>
          </a:prstGeom>
          <a:noFill/>
          <a:ln>
            <a:noFill/>
          </a:ln>
        </p:spPr>
        <p:txBody>
          <a:bodyPr anchorCtr="0" anchor="t" bIns="91425" lIns="91425" spcFirstLastPara="1" rIns="91425" wrap="square" tIns="91425">
            <a:spAutoFit/>
          </a:bodyPr>
          <a:lstStyle/>
          <a:p>
            <a:pPr indent="-349250" lvl="0" marL="457200" rtl="0" algn="l">
              <a:lnSpc>
                <a:spcPct val="200000"/>
              </a:lnSpc>
              <a:spcBef>
                <a:spcPts val="0"/>
              </a:spcBef>
              <a:spcAft>
                <a:spcPts val="0"/>
              </a:spcAft>
              <a:buSzPts val="1900"/>
              <a:buFont typeface="Roboto"/>
              <a:buChar char="●"/>
            </a:pPr>
            <a:r>
              <a:rPr lang="es-419" sz="1900">
                <a:latin typeface="Roboto"/>
                <a:ea typeface="Roboto"/>
                <a:cs typeface="Roboto"/>
                <a:sym typeface="Roboto"/>
              </a:rPr>
              <a:t>Observa y analiza los circuitos:</a:t>
            </a:r>
            <a:endParaRPr sz="1900">
              <a:latin typeface="Roboto"/>
              <a:ea typeface="Roboto"/>
              <a:cs typeface="Roboto"/>
              <a:sym typeface="Roboto"/>
            </a:endParaRPr>
          </a:p>
          <a:p>
            <a:pPr indent="-349250" lvl="1" marL="914400" rtl="0" algn="l">
              <a:lnSpc>
                <a:spcPct val="200000"/>
              </a:lnSpc>
              <a:spcBef>
                <a:spcPts val="0"/>
              </a:spcBef>
              <a:spcAft>
                <a:spcPts val="0"/>
              </a:spcAft>
              <a:buSzPts val="1900"/>
              <a:buFont typeface="Roboto"/>
              <a:buChar char="○"/>
            </a:pPr>
            <a:r>
              <a:rPr lang="es-419" sz="1900">
                <a:latin typeface="Roboto"/>
                <a:ea typeface="Roboto"/>
                <a:cs typeface="Roboto"/>
                <a:sym typeface="Roboto"/>
              </a:rPr>
              <a:t>Programa 01: Ejemplo de uso de variables</a:t>
            </a:r>
            <a:endParaRPr sz="1900">
              <a:latin typeface="Roboto"/>
              <a:ea typeface="Roboto"/>
              <a:cs typeface="Roboto"/>
              <a:sym typeface="Roboto"/>
            </a:endParaRPr>
          </a:p>
          <a:p>
            <a:pPr indent="-349250" lvl="1" marL="914400" rtl="0" algn="l">
              <a:lnSpc>
                <a:spcPct val="200000"/>
              </a:lnSpc>
              <a:spcBef>
                <a:spcPts val="0"/>
              </a:spcBef>
              <a:spcAft>
                <a:spcPts val="0"/>
              </a:spcAft>
              <a:buSzPts val="1900"/>
              <a:buFont typeface="Roboto"/>
              <a:buChar char="○"/>
            </a:pPr>
            <a:r>
              <a:rPr lang="es-419" sz="1900">
                <a:latin typeface="Roboto"/>
                <a:ea typeface="Roboto"/>
                <a:cs typeface="Roboto"/>
                <a:sym typeface="Roboto"/>
              </a:rPr>
              <a:t>Programa 02: Ejemplo de uso de matemáticas</a:t>
            </a:r>
            <a:endParaRPr sz="1900">
              <a:latin typeface="Roboto"/>
              <a:ea typeface="Roboto"/>
              <a:cs typeface="Roboto"/>
              <a:sym typeface="Roboto"/>
            </a:endParaRPr>
          </a:p>
          <a:p>
            <a:pPr indent="-349250" lvl="1" marL="914400" rtl="0" algn="l">
              <a:lnSpc>
                <a:spcPct val="200000"/>
              </a:lnSpc>
              <a:spcBef>
                <a:spcPts val="0"/>
              </a:spcBef>
              <a:spcAft>
                <a:spcPts val="0"/>
              </a:spcAft>
              <a:buSzPts val="1900"/>
              <a:buFont typeface="Roboto"/>
              <a:buChar char="○"/>
            </a:pPr>
            <a:r>
              <a:rPr lang="es-419" sz="1900">
                <a:latin typeface="Roboto"/>
                <a:ea typeface="Roboto"/>
                <a:cs typeface="Roboto"/>
                <a:sym typeface="Roboto"/>
              </a:rPr>
              <a:t>Programa 03: Ejemplo de uso de control</a:t>
            </a:r>
            <a:endParaRPr sz="1900">
              <a:latin typeface="Roboto"/>
              <a:ea typeface="Roboto"/>
              <a:cs typeface="Roboto"/>
              <a:sym typeface="Roboto"/>
            </a:endParaRPr>
          </a:p>
        </p:txBody>
      </p:sp>
      <p:sp>
        <p:nvSpPr>
          <p:cNvPr id="149" name="Google Shape;149;p23"/>
          <p:cNvSpPr txBox="1"/>
          <p:nvPr/>
        </p:nvSpPr>
        <p:spPr>
          <a:xfrm>
            <a:off x="4953600" y="4743300"/>
            <a:ext cx="419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Continua</a:t>
            </a:r>
            <a:endParaRPr>
              <a:latin typeface="Roboto"/>
              <a:ea typeface="Roboto"/>
              <a:cs typeface="Roboto"/>
              <a:sym typeface="Roboto"/>
            </a:endParaRPr>
          </a:p>
        </p:txBody>
      </p:sp>
      <p:cxnSp>
        <p:nvCxnSpPr>
          <p:cNvPr id="150" name="Google Shape;150;p23"/>
          <p:cNvCxnSpPr/>
          <p:nvPr/>
        </p:nvCxnSpPr>
        <p:spPr>
          <a:xfrm>
            <a:off x="5925025" y="4969200"/>
            <a:ext cx="1317900" cy="10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Ejercicios</a:t>
            </a:r>
            <a:endParaRPr/>
          </a:p>
        </p:txBody>
      </p:sp>
      <p:sp>
        <p:nvSpPr>
          <p:cNvPr id="156" name="Google Shape;156;p24"/>
          <p:cNvSpPr txBox="1"/>
          <p:nvPr/>
        </p:nvSpPr>
        <p:spPr>
          <a:xfrm>
            <a:off x="411225" y="821425"/>
            <a:ext cx="7849800" cy="3401700"/>
          </a:xfrm>
          <a:prstGeom prst="rect">
            <a:avLst/>
          </a:prstGeom>
          <a:noFill/>
          <a:ln>
            <a:noFill/>
          </a:ln>
        </p:spPr>
        <p:txBody>
          <a:bodyPr anchorCtr="0" anchor="t" bIns="91425" lIns="91425" spcFirstLastPara="1" rIns="91425" wrap="square" tIns="91425">
            <a:spAutoFit/>
          </a:bodyPr>
          <a:lstStyle/>
          <a:p>
            <a:pPr indent="-349250" lvl="0" marL="457200" rtl="0" algn="l">
              <a:lnSpc>
                <a:spcPct val="200000"/>
              </a:lnSpc>
              <a:spcBef>
                <a:spcPts val="0"/>
              </a:spcBef>
              <a:spcAft>
                <a:spcPts val="0"/>
              </a:spcAft>
              <a:buSzPts val="1900"/>
              <a:buFont typeface="Roboto"/>
              <a:buChar char="●"/>
            </a:pPr>
            <a:r>
              <a:rPr lang="es-419" sz="1900">
                <a:latin typeface="Roboto"/>
                <a:ea typeface="Roboto"/>
                <a:cs typeface="Roboto"/>
                <a:sym typeface="Roboto"/>
              </a:rPr>
              <a:t>Programa 01: Modifica el programa para tener dos variables contador1 y contador2. </a:t>
            </a:r>
            <a:endParaRPr sz="1900">
              <a:latin typeface="Roboto"/>
              <a:ea typeface="Roboto"/>
              <a:cs typeface="Roboto"/>
              <a:sym typeface="Roboto"/>
            </a:endParaRPr>
          </a:p>
          <a:p>
            <a:pPr indent="-349250" lvl="0" marL="457200" rtl="0" algn="l">
              <a:lnSpc>
                <a:spcPct val="200000"/>
              </a:lnSpc>
              <a:spcBef>
                <a:spcPts val="0"/>
              </a:spcBef>
              <a:spcAft>
                <a:spcPts val="0"/>
              </a:spcAft>
              <a:buSzPts val="1900"/>
              <a:buFont typeface="Roboto"/>
              <a:buChar char="●"/>
            </a:pPr>
            <a:r>
              <a:rPr lang="es-419" sz="1900">
                <a:latin typeface="Roboto"/>
                <a:ea typeface="Roboto"/>
                <a:cs typeface="Roboto"/>
                <a:sym typeface="Roboto"/>
              </a:rPr>
              <a:t>Contador1 debe contar de 0 a 10, de uno en uno.</a:t>
            </a:r>
            <a:endParaRPr sz="1900">
              <a:latin typeface="Roboto"/>
              <a:ea typeface="Roboto"/>
              <a:cs typeface="Roboto"/>
              <a:sym typeface="Roboto"/>
            </a:endParaRPr>
          </a:p>
          <a:p>
            <a:pPr indent="-349250" lvl="0" marL="457200" rtl="0" algn="l">
              <a:lnSpc>
                <a:spcPct val="200000"/>
              </a:lnSpc>
              <a:spcBef>
                <a:spcPts val="0"/>
              </a:spcBef>
              <a:spcAft>
                <a:spcPts val="0"/>
              </a:spcAft>
              <a:buSzPts val="1900"/>
              <a:buFont typeface="Roboto"/>
              <a:buChar char="●"/>
            </a:pPr>
            <a:r>
              <a:rPr lang="es-419" sz="1900">
                <a:latin typeface="Roboto"/>
                <a:ea typeface="Roboto"/>
                <a:cs typeface="Roboto"/>
                <a:sym typeface="Roboto"/>
              </a:rPr>
              <a:t>Contador2 </a:t>
            </a:r>
            <a:r>
              <a:rPr lang="es-419" sz="1900">
                <a:latin typeface="Roboto"/>
                <a:ea typeface="Roboto"/>
                <a:cs typeface="Roboto"/>
                <a:sym typeface="Roboto"/>
              </a:rPr>
              <a:t>debe contar de 10 a 0, de uno en uno.</a:t>
            </a:r>
            <a:endParaRPr sz="1900">
              <a:latin typeface="Roboto"/>
              <a:ea typeface="Roboto"/>
              <a:cs typeface="Roboto"/>
              <a:sym typeface="Roboto"/>
            </a:endParaRPr>
          </a:p>
          <a:p>
            <a:pPr indent="-349250" lvl="0" marL="457200" rtl="0" algn="l">
              <a:lnSpc>
                <a:spcPct val="200000"/>
              </a:lnSpc>
              <a:spcBef>
                <a:spcPts val="0"/>
              </a:spcBef>
              <a:spcAft>
                <a:spcPts val="0"/>
              </a:spcAft>
              <a:buSzPts val="1900"/>
              <a:buFont typeface="Roboto"/>
              <a:buChar char="●"/>
            </a:pPr>
            <a:r>
              <a:rPr lang="es-419" sz="1900">
                <a:latin typeface="Roboto"/>
                <a:ea typeface="Roboto"/>
                <a:cs typeface="Roboto"/>
                <a:sym typeface="Roboto"/>
              </a:rPr>
              <a:t>Imprimelos en el monitor serie.</a:t>
            </a:r>
            <a:endParaRPr sz="1900">
              <a:latin typeface="Roboto"/>
              <a:ea typeface="Roboto"/>
              <a:cs typeface="Roboto"/>
              <a:sym typeface="Roboto"/>
            </a:endParaRPr>
          </a:p>
          <a:p>
            <a:pPr indent="-349250" lvl="1" marL="914400" rtl="0" algn="l">
              <a:lnSpc>
                <a:spcPct val="200000"/>
              </a:lnSpc>
              <a:spcBef>
                <a:spcPts val="0"/>
              </a:spcBef>
              <a:spcAft>
                <a:spcPts val="0"/>
              </a:spcAft>
              <a:buSzPts val="1900"/>
              <a:buFont typeface="Roboto"/>
              <a:buChar char="○"/>
            </a:pPr>
            <a:r>
              <a:t/>
            </a:r>
            <a:endParaRPr sz="1900">
              <a:latin typeface="Roboto"/>
              <a:ea typeface="Roboto"/>
              <a:cs typeface="Roboto"/>
              <a:sym typeface="Roboto"/>
            </a:endParaRPr>
          </a:p>
        </p:txBody>
      </p:sp>
      <p:sp>
        <p:nvSpPr>
          <p:cNvPr id="157" name="Google Shape;157;p24"/>
          <p:cNvSpPr txBox="1"/>
          <p:nvPr/>
        </p:nvSpPr>
        <p:spPr>
          <a:xfrm>
            <a:off x="4953600" y="4743300"/>
            <a:ext cx="419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Continua</a:t>
            </a:r>
            <a:endParaRPr>
              <a:latin typeface="Roboto"/>
              <a:ea typeface="Roboto"/>
              <a:cs typeface="Roboto"/>
              <a:sym typeface="Roboto"/>
            </a:endParaRPr>
          </a:p>
        </p:txBody>
      </p:sp>
      <p:cxnSp>
        <p:nvCxnSpPr>
          <p:cNvPr id="158" name="Google Shape;158;p24"/>
          <p:cNvCxnSpPr/>
          <p:nvPr/>
        </p:nvCxnSpPr>
        <p:spPr>
          <a:xfrm>
            <a:off x="5925025" y="4969200"/>
            <a:ext cx="1317900" cy="10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Ejercicios</a:t>
            </a:r>
            <a:endParaRPr/>
          </a:p>
        </p:txBody>
      </p:sp>
      <p:sp>
        <p:nvSpPr>
          <p:cNvPr id="164" name="Google Shape;164;p25"/>
          <p:cNvSpPr txBox="1"/>
          <p:nvPr/>
        </p:nvSpPr>
        <p:spPr>
          <a:xfrm>
            <a:off x="411225" y="821425"/>
            <a:ext cx="7849800" cy="2816700"/>
          </a:xfrm>
          <a:prstGeom prst="rect">
            <a:avLst/>
          </a:prstGeom>
          <a:noFill/>
          <a:ln>
            <a:noFill/>
          </a:ln>
        </p:spPr>
        <p:txBody>
          <a:bodyPr anchorCtr="0" anchor="t" bIns="91425" lIns="91425" spcFirstLastPara="1" rIns="91425" wrap="square" tIns="91425">
            <a:spAutoFit/>
          </a:bodyPr>
          <a:lstStyle/>
          <a:p>
            <a:pPr indent="-349250" lvl="0" marL="457200" rtl="0" algn="l">
              <a:lnSpc>
                <a:spcPct val="200000"/>
              </a:lnSpc>
              <a:spcBef>
                <a:spcPts val="0"/>
              </a:spcBef>
              <a:spcAft>
                <a:spcPts val="0"/>
              </a:spcAft>
              <a:buSzPts val="1900"/>
              <a:buFont typeface="Roboto"/>
              <a:buChar char="●"/>
            </a:pPr>
            <a:r>
              <a:rPr lang="es-419" sz="1900">
                <a:latin typeface="Roboto"/>
                <a:ea typeface="Roboto"/>
                <a:cs typeface="Roboto"/>
                <a:sym typeface="Roboto"/>
              </a:rPr>
              <a:t>Programa 02: Modifica el programa para que muestre por monitor:</a:t>
            </a:r>
            <a:endParaRPr sz="1900">
              <a:latin typeface="Roboto"/>
              <a:ea typeface="Roboto"/>
              <a:cs typeface="Roboto"/>
              <a:sym typeface="Roboto"/>
            </a:endParaRPr>
          </a:p>
          <a:p>
            <a:pPr indent="-349250" lvl="1" marL="914400" rtl="0" algn="l">
              <a:lnSpc>
                <a:spcPct val="200000"/>
              </a:lnSpc>
              <a:spcBef>
                <a:spcPts val="0"/>
              </a:spcBef>
              <a:spcAft>
                <a:spcPts val="0"/>
              </a:spcAft>
              <a:buSzPts val="1900"/>
              <a:buFont typeface="Roboto"/>
              <a:buChar char="○"/>
            </a:pPr>
            <a:r>
              <a:rPr lang="es-419" sz="1900">
                <a:latin typeface="Roboto"/>
                <a:ea typeface="Roboto"/>
                <a:cs typeface="Roboto"/>
                <a:sym typeface="Roboto"/>
              </a:rPr>
              <a:t>Suma de 5 y 8.</a:t>
            </a:r>
            <a:endParaRPr sz="1900">
              <a:latin typeface="Roboto"/>
              <a:ea typeface="Roboto"/>
              <a:cs typeface="Roboto"/>
              <a:sym typeface="Roboto"/>
            </a:endParaRPr>
          </a:p>
          <a:p>
            <a:pPr indent="-349250" lvl="1" marL="914400" rtl="0" algn="l">
              <a:lnSpc>
                <a:spcPct val="200000"/>
              </a:lnSpc>
              <a:spcBef>
                <a:spcPts val="0"/>
              </a:spcBef>
              <a:spcAft>
                <a:spcPts val="0"/>
              </a:spcAft>
              <a:buSzPts val="1900"/>
              <a:buFont typeface="Roboto"/>
              <a:buChar char="○"/>
            </a:pPr>
            <a:r>
              <a:rPr lang="es-419" sz="1900">
                <a:latin typeface="Roboto"/>
                <a:ea typeface="Roboto"/>
                <a:cs typeface="Roboto"/>
                <a:sym typeface="Roboto"/>
              </a:rPr>
              <a:t>Resta de 5 y 8</a:t>
            </a:r>
            <a:endParaRPr sz="1900">
              <a:latin typeface="Roboto"/>
              <a:ea typeface="Roboto"/>
              <a:cs typeface="Roboto"/>
              <a:sym typeface="Roboto"/>
            </a:endParaRPr>
          </a:p>
          <a:p>
            <a:pPr indent="-349250" lvl="1" marL="914400" rtl="0" algn="l">
              <a:lnSpc>
                <a:spcPct val="200000"/>
              </a:lnSpc>
              <a:spcBef>
                <a:spcPts val="0"/>
              </a:spcBef>
              <a:spcAft>
                <a:spcPts val="0"/>
              </a:spcAft>
              <a:buSzPts val="1900"/>
              <a:buFont typeface="Roboto"/>
              <a:buChar char="○"/>
            </a:pPr>
            <a:r>
              <a:rPr lang="es-419" sz="1900">
                <a:latin typeface="Roboto"/>
                <a:ea typeface="Roboto"/>
                <a:cs typeface="Roboto"/>
                <a:sym typeface="Roboto"/>
              </a:rPr>
              <a:t>Multiplicación</a:t>
            </a:r>
            <a:r>
              <a:rPr lang="es-419" sz="1900">
                <a:latin typeface="Roboto"/>
                <a:ea typeface="Roboto"/>
                <a:cs typeface="Roboto"/>
                <a:sym typeface="Roboto"/>
              </a:rPr>
              <a:t> de 5 y 8</a:t>
            </a:r>
            <a:endParaRPr sz="1900">
              <a:latin typeface="Roboto"/>
              <a:ea typeface="Roboto"/>
              <a:cs typeface="Roboto"/>
              <a:sym typeface="Roboto"/>
            </a:endParaRPr>
          </a:p>
          <a:p>
            <a:pPr indent="-349250" lvl="1" marL="914400" rtl="0" algn="l">
              <a:lnSpc>
                <a:spcPct val="200000"/>
              </a:lnSpc>
              <a:spcBef>
                <a:spcPts val="0"/>
              </a:spcBef>
              <a:spcAft>
                <a:spcPts val="0"/>
              </a:spcAft>
              <a:buSzPts val="1900"/>
              <a:buFont typeface="Roboto"/>
              <a:buChar char="○"/>
            </a:pPr>
            <a:r>
              <a:rPr lang="es-419" sz="1900">
                <a:latin typeface="Roboto"/>
                <a:ea typeface="Roboto"/>
                <a:cs typeface="Roboto"/>
                <a:sym typeface="Roboto"/>
              </a:rPr>
              <a:t>Division de 5 y 8</a:t>
            </a:r>
            <a:endParaRPr sz="1900">
              <a:latin typeface="Roboto"/>
              <a:ea typeface="Roboto"/>
              <a:cs typeface="Roboto"/>
              <a:sym typeface="Roboto"/>
            </a:endParaRPr>
          </a:p>
        </p:txBody>
      </p:sp>
      <p:sp>
        <p:nvSpPr>
          <p:cNvPr id="165" name="Google Shape;165;p25"/>
          <p:cNvSpPr txBox="1"/>
          <p:nvPr/>
        </p:nvSpPr>
        <p:spPr>
          <a:xfrm>
            <a:off x="4953600" y="4743300"/>
            <a:ext cx="419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Continua</a:t>
            </a:r>
            <a:endParaRPr>
              <a:latin typeface="Roboto"/>
              <a:ea typeface="Roboto"/>
              <a:cs typeface="Roboto"/>
              <a:sym typeface="Roboto"/>
            </a:endParaRPr>
          </a:p>
        </p:txBody>
      </p:sp>
      <p:cxnSp>
        <p:nvCxnSpPr>
          <p:cNvPr id="166" name="Google Shape;166;p25"/>
          <p:cNvCxnSpPr/>
          <p:nvPr/>
        </p:nvCxnSpPr>
        <p:spPr>
          <a:xfrm>
            <a:off x="5925025" y="4969200"/>
            <a:ext cx="1317900" cy="10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Ejercicios</a:t>
            </a:r>
            <a:endParaRPr/>
          </a:p>
        </p:txBody>
      </p:sp>
      <p:sp>
        <p:nvSpPr>
          <p:cNvPr id="172" name="Google Shape;172;p26"/>
          <p:cNvSpPr txBox="1"/>
          <p:nvPr/>
        </p:nvSpPr>
        <p:spPr>
          <a:xfrm>
            <a:off x="411225" y="821425"/>
            <a:ext cx="7849800" cy="2816700"/>
          </a:xfrm>
          <a:prstGeom prst="rect">
            <a:avLst/>
          </a:prstGeom>
          <a:noFill/>
          <a:ln>
            <a:noFill/>
          </a:ln>
        </p:spPr>
        <p:txBody>
          <a:bodyPr anchorCtr="0" anchor="t" bIns="91425" lIns="91425" spcFirstLastPara="1" rIns="91425" wrap="square" tIns="91425">
            <a:spAutoFit/>
          </a:bodyPr>
          <a:lstStyle/>
          <a:p>
            <a:pPr indent="-349250" lvl="0" marL="457200" rtl="0" algn="l">
              <a:lnSpc>
                <a:spcPct val="200000"/>
              </a:lnSpc>
              <a:spcBef>
                <a:spcPts val="0"/>
              </a:spcBef>
              <a:spcAft>
                <a:spcPts val="0"/>
              </a:spcAft>
              <a:buSzPts val="1900"/>
              <a:buFont typeface="Roboto"/>
              <a:buChar char="●"/>
            </a:pPr>
            <a:r>
              <a:rPr lang="es-419" sz="1900">
                <a:latin typeface="Roboto"/>
                <a:ea typeface="Roboto"/>
                <a:cs typeface="Roboto"/>
                <a:sym typeface="Roboto"/>
              </a:rPr>
              <a:t>Programa 03: Modifica el programa para que:</a:t>
            </a:r>
            <a:endParaRPr sz="1900">
              <a:latin typeface="Roboto"/>
              <a:ea typeface="Roboto"/>
              <a:cs typeface="Roboto"/>
              <a:sym typeface="Roboto"/>
            </a:endParaRPr>
          </a:p>
          <a:p>
            <a:pPr indent="-349250" lvl="1" marL="914400" rtl="0" algn="l">
              <a:lnSpc>
                <a:spcPct val="200000"/>
              </a:lnSpc>
              <a:spcBef>
                <a:spcPts val="0"/>
              </a:spcBef>
              <a:spcAft>
                <a:spcPts val="0"/>
              </a:spcAft>
              <a:buSzPts val="1900"/>
              <a:buFont typeface="Roboto"/>
              <a:buChar char="○"/>
            </a:pPr>
            <a:r>
              <a:rPr lang="es-419" sz="1900">
                <a:latin typeface="Roboto"/>
                <a:ea typeface="Roboto"/>
                <a:cs typeface="Roboto"/>
                <a:sym typeface="Roboto"/>
              </a:rPr>
              <a:t>Si la entrada es alta </a:t>
            </a:r>
            <a:r>
              <a:rPr lang="es-419" sz="1900">
                <a:latin typeface="Roboto"/>
                <a:ea typeface="Roboto"/>
                <a:cs typeface="Roboto"/>
                <a:sym typeface="Roboto"/>
              </a:rPr>
              <a:t>parpadee</a:t>
            </a:r>
            <a:r>
              <a:rPr lang="es-419" sz="1900">
                <a:latin typeface="Roboto"/>
                <a:ea typeface="Roboto"/>
                <a:cs typeface="Roboto"/>
                <a:sym typeface="Roboto"/>
              </a:rPr>
              <a:t> dos veces el led rojo y blanco, los </a:t>
            </a:r>
            <a:r>
              <a:rPr lang="es-419" sz="1900">
                <a:latin typeface="Roboto"/>
                <a:ea typeface="Roboto"/>
                <a:cs typeface="Roboto"/>
                <a:sym typeface="Roboto"/>
              </a:rPr>
              <a:t>demás</a:t>
            </a:r>
            <a:r>
              <a:rPr lang="es-419" sz="1900">
                <a:latin typeface="Roboto"/>
                <a:ea typeface="Roboto"/>
                <a:cs typeface="Roboto"/>
                <a:sym typeface="Roboto"/>
              </a:rPr>
              <a:t> apagados.</a:t>
            </a:r>
            <a:endParaRPr sz="1900">
              <a:latin typeface="Roboto"/>
              <a:ea typeface="Roboto"/>
              <a:cs typeface="Roboto"/>
              <a:sym typeface="Roboto"/>
            </a:endParaRPr>
          </a:p>
          <a:p>
            <a:pPr indent="-349250" lvl="1" marL="914400" rtl="0" algn="l">
              <a:lnSpc>
                <a:spcPct val="200000"/>
              </a:lnSpc>
              <a:spcBef>
                <a:spcPts val="0"/>
              </a:spcBef>
              <a:spcAft>
                <a:spcPts val="0"/>
              </a:spcAft>
              <a:buSzPts val="1900"/>
              <a:buFont typeface="Roboto"/>
              <a:buChar char="○"/>
            </a:pPr>
            <a:r>
              <a:rPr lang="es-419" sz="1900">
                <a:latin typeface="Roboto"/>
                <a:ea typeface="Roboto"/>
                <a:cs typeface="Roboto"/>
                <a:sym typeface="Roboto"/>
              </a:rPr>
              <a:t>En caso contrario, parapadee 3 veces el led naranja y amarillo los demas apagados.</a:t>
            </a:r>
            <a:endParaRPr sz="1900">
              <a:latin typeface="Roboto"/>
              <a:ea typeface="Roboto"/>
              <a:cs typeface="Roboto"/>
              <a:sym typeface="Roboto"/>
            </a:endParaRPr>
          </a:p>
        </p:txBody>
      </p:sp>
      <p:sp>
        <p:nvSpPr>
          <p:cNvPr id="173" name="Google Shape;173;p26"/>
          <p:cNvSpPr txBox="1"/>
          <p:nvPr/>
        </p:nvSpPr>
        <p:spPr>
          <a:xfrm>
            <a:off x="6085750" y="4540575"/>
            <a:ext cx="30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solidFill>
                  <a:srgbClr val="FF0000"/>
                </a:solidFill>
                <a:latin typeface="Roboto"/>
                <a:ea typeface="Roboto"/>
                <a:cs typeface="Roboto"/>
                <a:sym typeface="Roboto"/>
              </a:rPr>
              <a:t>FIN DE CLASE</a:t>
            </a:r>
            <a:endParaRPr b="1">
              <a:solidFill>
                <a:srgbClr val="FF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