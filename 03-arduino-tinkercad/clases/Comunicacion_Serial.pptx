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e0f5fe2ee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e0f5fe2ee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e0f5fe2ee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e0f5fe2ee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e0f5fe2ee9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1e0f5fe2ee9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e0f5fe2ee9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e0f5fe2ee9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e0f5fe2ee9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e0f5fe2ee9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e0f5fe2ee9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e0f5fe2ee9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e0f5fe2ee9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e0f5fe2ee9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e0f5fe2ee9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e0f5fe2ee9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e0f5fe2ee9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e0f5fe2ee9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e0f5fe2ee9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e0f5fe2ee9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e0f5fe2ee9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e0f5fe2ee9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e0f5fe2ee9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e0f5fe2ee9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e0f5fe2ee9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e0f5fe2ee9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hyperlink" Target="https://www.tinkercad.com/joinclass/WS4QT53GZ"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drive.google.com/file/d/1lbiPuTrPGsOIxpN6KkUzMiMASts42A4m/view" TargetMode="Externa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Comunicación Serial</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600">
                <a:latin typeface="Arial"/>
                <a:ea typeface="Arial"/>
                <a:cs typeface="Arial"/>
                <a:sym typeface="Arial"/>
              </a:rPr>
              <a:t>Arduino Blocks y Tinkercad</a:t>
            </a:r>
            <a:endParaRPr sz="1600">
              <a:latin typeface="Arial"/>
              <a:ea typeface="Arial"/>
              <a:cs typeface="Arial"/>
              <a:sym typeface="Arial"/>
            </a:endParaRPr>
          </a:p>
          <a:p>
            <a:pPr indent="0" lvl="0" marL="0" rtl="0" algn="l">
              <a:spcBef>
                <a:spcPts val="1700"/>
              </a:spcBef>
              <a:spcAft>
                <a:spcPts val="0"/>
              </a:spcAft>
              <a:buNone/>
            </a:pPr>
            <a:r>
              <a:t/>
            </a:r>
            <a:endParaRPr sz="2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Comunicación Serial</a:t>
            </a:r>
            <a:endParaRPr/>
          </a:p>
        </p:txBody>
      </p:sp>
      <p:sp>
        <p:nvSpPr>
          <p:cNvPr id="74" name="Google Shape;74;p14"/>
          <p:cNvSpPr txBox="1"/>
          <p:nvPr>
            <p:ph idx="1" type="body"/>
          </p:nvPr>
        </p:nvSpPr>
        <p:spPr>
          <a:xfrm>
            <a:off x="408300" y="1909975"/>
            <a:ext cx="3534000" cy="2710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600">
                <a:solidFill>
                  <a:srgbClr val="000000"/>
                </a:solidFill>
                <a:latin typeface="Arial"/>
                <a:ea typeface="Arial"/>
                <a:cs typeface="Arial"/>
                <a:sym typeface="Arial"/>
              </a:rPr>
              <a:t>Arduino incorpora una conexión serie que permite conexión con el PC (o con otros muchos dispositivos). Esta es la misma conexión se utiliza para subir el programa al Arduino. Utilizando esta conexión podemos enviar información desde Arduino al PC y al revés.  </a:t>
            </a:r>
            <a:endParaRPr sz="1600">
              <a:solidFill>
                <a:srgbClr val="000000"/>
              </a:solidFill>
              <a:latin typeface="Arial"/>
              <a:ea typeface="Arial"/>
              <a:cs typeface="Arial"/>
              <a:sym typeface="Arial"/>
            </a:endParaRPr>
          </a:p>
          <a:p>
            <a:pPr indent="0" lvl="0" marL="0" rtl="0" algn="l">
              <a:spcBef>
                <a:spcPts val="1700"/>
              </a:spcBef>
              <a:spcAft>
                <a:spcPts val="1200"/>
              </a:spcAft>
              <a:buNone/>
            </a:pPr>
            <a:r>
              <a:t/>
            </a:r>
            <a:endParaRPr sz="2200"/>
          </a:p>
        </p:txBody>
      </p:sp>
      <p:pic>
        <p:nvPicPr>
          <p:cNvPr id="75" name="Google Shape;75;p14"/>
          <p:cNvPicPr preferRelativeResize="0"/>
          <p:nvPr/>
        </p:nvPicPr>
        <p:blipFill>
          <a:blip r:embed="rId3">
            <a:alphaModFix/>
          </a:blip>
          <a:stretch>
            <a:fillRect/>
          </a:stretch>
        </p:blipFill>
        <p:spPr>
          <a:xfrm>
            <a:off x="3991575" y="2083350"/>
            <a:ext cx="5116075" cy="2426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Comunicación Serial</a:t>
            </a:r>
            <a:endParaRPr/>
          </a:p>
        </p:txBody>
      </p:sp>
      <p:sp>
        <p:nvSpPr>
          <p:cNvPr id="81" name="Google Shape;81;p15"/>
          <p:cNvSpPr txBox="1"/>
          <p:nvPr>
            <p:ph idx="4294967295" type="body"/>
          </p:nvPr>
        </p:nvSpPr>
        <p:spPr>
          <a:xfrm>
            <a:off x="308350" y="1028500"/>
            <a:ext cx="3097800" cy="2672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600">
                <a:solidFill>
                  <a:srgbClr val="000000"/>
                </a:solidFill>
                <a:latin typeface="Arial"/>
                <a:ea typeface="Arial"/>
                <a:cs typeface="Arial"/>
                <a:sym typeface="Arial"/>
              </a:rPr>
              <a:t>En Arduino Blocks, en la barra de herramientas:</a:t>
            </a:r>
            <a:endParaRPr sz="1600">
              <a:solidFill>
                <a:srgbClr val="000000"/>
              </a:solidFill>
              <a:latin typeface="Arial"/>
              <a:ea typeface="Arial"/>
              <a:cs typeface="Arial"/>
              <a:sym typeface="Arial"/>
            </a:endParaRPr>
          </a:p>
          <a:p>
            <a:pPr indent="0" lvl="0" marL="0" rtl="0" algn="just">
              <a:spcBef>
                <a:spcPts val="1700"/>
              </a:spcBef>
              <a:spcAft>
                <a:spcPts val="0"/>
              </a:spcAft>
              <a:buNone/>
            </a:pPr>
            <a:r>
              <a:rPr lang="es-419" sz="1600">
                <a:solidFill>
                  <a:srgbClr val="000000"/>
                </a:solidFill>
                <a:latin typeface="Arial"/>
                <a:ea typeface="Arial"/>
                <a:cs typeface="Arial"/>
                <a:sym typeface="Arial"/>
              </a:rPr>
              <a:t>Comunicaciones&gt;Puerto Serie&gt;</a:t>
            </a:r>
            <a:endParaRPr sz="1600">
              <a:solidFill>
                <a:srgbClr val="000000"/>
              </a:solidFill>
              <a:latin typeface="Arial"/>
              <a:ea typeface="Arial"/>
              <a:cs typeface="Arial"/>
              <a:sym typeface="Arial"/>
            </a:endParaRPr>
          </a:p>
          <a:p>
            <a:pPr indent="0" lvl="0" marL="0" rtl="0" algn="just">
              <a:spcBef>
                <a:spcPts val="1700"/>
              </a:spcBef>
              <a:spcAft>
                <a:spcPts val="0"/>
              </a:spcAft>
              <a:buNone/>
            </a:pPr>
            <a:r>
              <a:rPr lang="es-419" sz="1600">
                <a:solidFill>
                  <a:srgbClr val="000000"/>
                </a:solidFill>
                <a:latin typeface="Arial"/>
                <a:ea typeface="Arial"/>
                <a:cs typeface="Arial"/>
                <a:sym typeface="Arial"/>
              </a:rPr>
              <a:t>Encontrarás</a:t>
            </a:r>
            <a:r>
              <a:rPr lang="es-419" sz="1600">
                <a:solidFill>
                  <a:srgbClr val="000000"/>
                </a:solidFill>
                <a:latin typeface="Arial"/>
                <a:ea typeface="Arial"/>
                <a:cs typeface="Arial"/>
                <a:sym typeface="Arial"/>
              </a:rPr>
              <a:t> todos los bloques que involucran la </a:t>
            </a:r>
            <a:r>
              <a:rPr lang="es-419" sz="1600">
                <a:solidFill>
                  <a:srgbClr val="000000"/>
                </a:solidFill>
                <a:latin typeface="Arial"/>
                <a:ea typeface="Arial"/>
                <a:cs typeface="Arial"/>
                <a:sym typeface="Arial"/>
              </a:rPr>
              <a:t>transmisión</a:t>
            </a:r>
            <a:r>
              <a:rPr lang="es-419" sz="1600">
                <a:solidFill>
                  <a:srgbClr val="000000"/>
                </a:solidFill>
                <a:latin typeface="Arial"/>
                <a:ea typeface="Arial"/>
                <a:cs typeface="Arial"/>
                <a:sym typeface="Arial"/>
              </a:rPr>
              <a:t> y </a:t>
            </a:r>
            <a:r>
              <a:rPr lang="es-419" sz="1600">
                <a:solidFill>
                  <a:srgbClr val="000000"/>
                </a:solidFill>
                <a:latin typeface="Arial"/>
                <a:ea typeface="Arial"/>
                <a:cs typeface="Arial"/>
                <a:sym typeface="Arial"/>
              </a:rPr>
              <a:t>recepción</a:t>
            </a:r>
            <a:r>
              <a:rPr lang="es-419" sz="1600">
                <a:solidFill>
                  <a:srgbClr val="000000"/>
                </a:solidFill>
                <a:latin typeface="Arial"/>
                <a:ea typeface="Arial"/>
                <a:cs typeface="Arial"/>
                <a:sym typeface="Arial"/>
              </a:rPr>
              <a:t> serial</a:t>
            </a:r>
            <a:endParaRPr sz="1600">
              <a:solidFill>
                <a:srgbClr val="000000"/>
              </a:solidFill>
              <a:latin typeface="Arial"/>
              <a:ea typeface="Arial"/>
              <a:cs typeface="Arial"/>
              <a:sym typeface="Arial"/>
            </a:endParaRPr>
          </a:p>
          <a:p>
            <a:pPr indent="0" lvl="0" marL="0" rtl="0" algn="just">
              <a:spcBef>
                <a:spcPts val="1700"/>
              </a:spcBef>
              <a:spcAft>
                <a:spcPts val="0"/>
              </a:spcAft>
              <a:buNone/>
            </a:pPr>
            <a:r>
              <a:t/>
            </a:r>
            <a:endParaRPr sz="1600">
              <a:solidFill>
                <a:srgbClr val="000000"/>
              </a:solidFill>
              <a:latin typeface="Arial"/>
              <a:ea typeface="Arial"/>
              <a:cs typeface="Arial"/>
              <a:sym typeface="Arial"/>
            </a:endParaRPr>
          </a:p>
          <a:p>
            <a:pPr indent="0" lvl="0" marL="0" rtl="0" algn="l">
              <a:spcBef>
                <a:spcPts val="1700"/>
              </a:spcBef>
              <a:spcAft>
                <a:spcPts val="1200"/>
              </a:spcAft>
              <a:buNone/>
            </a:pPr>
            <a:r>
              <a:t/>
            </a:r>
            <a:endParaRPr sz="2200"/>
          </a:p>
        </p:txBody>
      </p:sp>
      <p:pic>
        <p:nvPicPr>
          <p:cNvPr id="82" name="Google Shape;82;p15"/>
          <p:cNvPicPr preferRelativeResize="0"/>
          <p:nvPr/>
        </p:nvPicPr>
        <p:blipFill>
          <a:blip r:embed="rId3">
            <a:alphaModFix/>
          </a:blip>
          <a:stretch>
            <a:fillRect/>
          </a:stretch>
        </p:blipFill>
        <p:spPr>
          <a:xfrm>
            <a:off x="4276450" y="710450"/>
            <a:ext cx="4568702" cy="4219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Comunicación Serial</a:t>
            </a:r>
            <a:endParaRPr/>
          </a:p>
        </p:txBody>
      </p:sp>
      <p:sp>
        <p:nvSpPr>
          <p:cNvPr id="88" name="Google Shape;88;p16"/>
          <p:cNvSpPr txBox="1"/>
          <p:nvPr>
            <p:ph idx="4294967295" type="body"/>
          </p:nvPr>
        </p:nvSpPr>
        <p:spPr>
          <a:xfrm>
            <a:off x="308350" y="1028500"/>
            <a:ext cx="3579300" cy="3735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600">
                <a:solidFill>
                  <a:srgbClr val="000000"/>
                </a:solidFill>
                <a:latin typeface="Arial"/>
                <a:ea typeface="Arial"/>
                <a:cs typeface="Arial"/>
                <a:sym typeface="Arial"/>
              </a:rPr>
              <a:t>El primer paso para iniciar la </a:t>
            </a:r>
            <a:r>
              <a:rPr lang="es-419" sz="1600">
                <a:solidFill>
                  <a:srgbClr val="000000"/>
                </a:solidFill>
                <a:latin typeface="Arial"/>
                <a:ea typeface="Arial"/>
                <a:cs typeface="Arial"/>
                <a:sym typeface="Arial"/>
              </a:rPr>
              <a:t>transmisión y/o recepción</a:t>
            </a:r>
            <a:r>
              <a:rPr lang="es-419" sz="1600">
                <a:solidFill>
                  <a:srgbClr val="000000"/>
                </a:solidFill>
                <a:latin typeface="Arial"/>
                <a:ea typeface="Arial"/>
                <a:cs typeface="Arial"/>
                <a:sym typeface="Arial"/>
              </a:rPr>
              <a:t> serial es establecer la velocidad de </a:t>
            </a:r>
            <a:r>
              <a:rPr lang="es-419" sz="1600">
                <a:solidFill>
                  <a:srgbClr val="000000"/>
                </a:solidFill>
                <a:latin typeface="Arial"/>
                <a:ea typeface="Arial"/>
                <a:cs typeface="Arial"/>
                <a:sym typeface="Arial"/>
              </a:rPr>
              <a:t>transmisión</a:t>
            </a:r>
            <a:r>
              <a:rPr lang="es-419" sz="1600">
                <a:solidFill>
                  <a:srgbClr val="000000"/>
                </a:solidFill>
                <a:latin typeface="Arial"/>
                <a:ea typeface="Arial"/>
                <a:cs typeface="Arial"/>
                <a:sym typeface="Arial"/>
              </a:rPr>
              <a:t>/</a:t>
            </a:r>
            <a:r>
              <a:rPr lang="es-419" sz="1600">
                <a:solidFill>
                  <a:srgbClr val="000000"/>
                </a:solidFill>
                <a:latin typeface="Arial"/>
                <a:ea typeface="Arial"/>
                <a:cs typeface="Arial"/>
                <a:sym typeface="Arial"/>
              </a:rPr>
              <a:t>recepción</a:t>
            </a:r>
            <a:r>
              <a:rPr lang="es-419" sz="1600">
                <a:solidFill>
                  <a:srgbClr val="000000"/>
                </a:solidFill>
                <a:latin typeface="Arial"/>
                <a:ea typeface="Arial"/>
                <a:cs typeface="Arial"/>
                <a:sym typeface="Arial"/>
              </a:rPr>
              <a:t> en baudios (</a:t>
            </a:r>
            <a:r>
              <a:rPr lang="es-419" sz="1650">
                <a:solidFill>
                  <a:srgbClr val="040C28"/>
                </a:solidFill>
                <a:latin typeface="Arial"/>
                <a:ea typeface="Arial"/>
                <a:cs typeface="Arial"/>
                <a:sym typeface="Arial"/>
              </a:rPr>
              <a:t>número de veces por segundo que una señal de comunicaciones serie cambia de estado).</a:t>
            </a:r>
            <a:endParaRPr sz="1650">
              <a:solidFill>
                <a:srgbClr val="040C28"/>
              </a:solidFill>
              <a:latin typeface="Arial"/>
              <a:ea typeface="Arial"/>
              <a:cs typeface="Arial"/>
              <a:sym typeface="Arial"/>
            </a:endParaRPr>
          </a:p>
          <a:p>
            <a:pPr indent="0" lvl="0" marL="0" rtl="0" algn="just">
              <a:spcBef>
                <a:spcPts val="1700"/>
              </a:spcBef>
              <a:spcAft>
                <a:spcPts val="0"/>
              </a:spcAft>
              <a:buNone/>
            </a:pPr>
            <a:r>
              <a:rPr lang="es-419" sz="1650">
                <a:solidFill>
                  <a:srgbClr val="040C28"/>
                </a:solidFill>
                <a:latin typeface="Arial"/>
                <a:ea typeface="Arial"/>
                <a:cs typeface="Arial"/>
                <a:sym typeface="Arial"/>
              </a:rPr>
              <a:t>Esto debe realizarlo en el bloque inicializar, utilizando el comando Iniciar xxxx baudios.</a:t>
            </a:r>
            <a:endParaRPr sz="1650">
              <a:solidFill>
                <a:srgbClr val="040C28"/>
              </a:solidFill>
              <a:latin typeface="Arial"/>
              <a:ea typeface="Arial"/>
              <a:cs typeface="Arial"/>
              <a:sym typeface="Arial"/>
            </a:endParaRPr>
          </a:p>
          <a:p>
            <a:pPr indent="0" lvl="0" marL="0" rtl="0" algn="just">
              <a:spcBef>
                <a:spcPts val="1700"/>
              </a:spcBef>
              <a:spcAft>
                <a:spcPts val="0"/>
              </a:spcAft>
              <a:buNone/>
            </a:pPr>
            <a:r>
              <a:t/>
            </a:r>
            <a:endParaRPr sz="1650">
              <a:solidFill>
                <a:srgbClr val="040C28"/>
              </a:solidFill>
              <a:latin typeface="Arial"/>
              <a:ea typeface="Arial"/>
              <a:cs typeface="Arial"/>
              <a:sym typeface="Arial"/>
            </a:endParaRPr>
          </a:p>
          <a:p>
            <a:pPr indent="0" lvl="0" marL="0" rtl="0" algn="just">
              <a:spcBef>
                <a:spcPts val="1700"/>
              </a:spcBef>
              <a:spcAft>
                <a:spcPts val="0"/>
              </a:spcAft>
              <a:buNone/>
            </a:pPr>
            <a:r>
              <a:t/>
            </a:r>
            <a:endParaRPr sz="1600">
              <a:solidFill>
                <a:srgbClr val="000000"/>
              </a:solidFill>
              <a:latin typeface="Arial"/>
              <a:ea typeface="Arial"/>
              <a:cs typeface="Arial"/>
              <a:sym typeface="Arial"/>
            </a:endParaRPr>
          </a:p>
          <a:p>
            <a:pPr indent="0" lvl="0" marL="0" rtl="0" algn="l">
              <a:spcBef>
                <a:spcPts val="1700"/>
              </a:spcBef>
              <a:spcAft>
                <a:spcPts val="1200"/>
              </a:spcAft>
              <a:buNone/>
            </a:pPr>
            <a:r>
              <a:t/>
            </a:r>
            <a:endParaRPr sz="2200"/>
          </a:p>
        </p:txBody>
      </p:sp>
      <p:pic>
        <p:nvPicPr>
          <p:cNvPr id="89" name="Google Shape;89;p16"/>
          <p:cNvPicPr preferRelativeResize="0"/>
          <p:nvPr/>
        </p:nvPicPr>
        <p:blipFill>
          <a:blip r:embed="rId3">
            <a:alphaModFix/>
          </a:blip>
          <a:stretch>
            <a:fillRect/>
          </a:stretch>
        </p:blipFill>
        <p:spPr>
          <a:xfrm>
            <a:off x="4092150" y="1610800"/>
            <a:ext cx="4491525" cy="1481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Comunicación Serial </a:t>
            </a:r>
            <a:endParaRPr/>
          </a:p>
        </p:txBody>
      </p:sp>
      <p:sp>
        <p:nvSpPr>
          <p:cNvPr id="95" name="Google Shape;95;p17"/>
          <p:cNvSpPr txBox="1"/>
          <p:nvPr>
            <p:ph idx="4294967295" type="body"/>
          </p:nvPr>
        </p:nvSpPr>
        <p:spPr>
          <a:xfrm>
            <a:off x="308350" y="1028500"/>
            <a:ext cx="3579300" cy="745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sz="1600">
                <a:solidFill>
                  <a:srgbClr val="000000"/>
                </a:solidFill>
                <a:latin typeface="Arial"/>
                <a:ea typeface="Arial"/>
                <a:cs typeface="Arial"/>
                <a:sym typeface="Arial"/>
              </a:rPr>
              <a:t>Para enviar un dato tipo texto por transmisión serial se utiliza el bloque:</a:t>
            </a:r>
            <a:endParaRPr sz="1600">
              <a:solidFill>
                <a:srgbClr val="000000"/>
              </a:solidFill>
              <a:latin typeface="Arial"/>
              <a:ea typeface="Arial"/>
              <a:cs typeface="Arial"/>
              <a:sym typeface="Arial"/>
            </a:endParaRPr>
          </a:p>
          <a:p>
            <a:pPr indent="0" lvl="0" marL="0" rtl="0" algn="just">
              <a:spcBef>
                <a:spcPts val="1700"/>
              </a:spcBef>
              <a:spcAft>
                <a:spcPts val="0"/>
              </a:spcAft>
              <a:buNone/>
            </a:pPr>
            <a:r>
              <a:t/>
            </a:r>
            <a:endParaRPr sz="1600">
              <a:solidFill>
                <a:srgbClr val="000000"/>
              </a:solidFill>
              <a:latin typeface="Arial"/>
              <a:ea typeface="Arial"/>
              <a:cs typeface="Arial"/>
              <a:sym typeface="Arial"/>
            </a:endParaRPr>
          </a:p>
          <a:p>
            <a:pPr indent="0" lvl="0" marL="0" rtl="0" algn="just">
              <a:spcBef>
                <a:spcPts val="1700"/>
              </a:spcBef>
              <a:spcAft>
                <a:spcPts val="0"/>
              </a:spcAft>
              <a:buNone/>
            </a:pPr>
            <a:r>
              <a:t/>
            </a:r>
            <a:endParaRPr sz="1650">
              <a:solidFill>
                <a:srgbClr val="040C28"/>
              </a:solidFill>
              <a:latin typeface="Arial"/>
              <a:ea typeface="Arial"/>
              <a:cs typeface="Arial"/>
              <a:sym typeface="Arial"/>
            </a:endParaRPr>
          </a:p>
          <a:p>
            <a:pPr indent="0" lvl="0" marL="0" rtl="0" algn="just">
              <a:spcBef>
                <a:spcPts val="1700"/>
              </a:spcBef>
              <a:spcAft>
                <a:spcPts val="0"/>
              </a:spcAft>
              <a:buNone/>
            </a:pPr>
            <a:r>
              <a:rPr lang="es-419" sz="1600">
                <a:solidFill>
                  <a:srgbClr val="000000"/>
                </a:solidFill>
                <a:latin typeface="Arial"/>
                <a:ea typeface="Arial"/>
                <a:cs typeface="Arial"/>
                <a:sym typeface="Arial"/>
              </a:rPr>
              <a:t>Si el salto de línea está seleccionado, una vez escriba el texto el cursor se ubicará en la línea siguiente.</a:t>
            </a:r>
            <a:endParaRPr sz="1600">
              <a:solidFill>
                <a:srgbClr val="000000"/>
              </a:solidFill>
              <a:latin typeface="Arial"/>
              <a:ea typeface="Arial"/>
              <a:cs typeface="Arial"/>
              <a:sym typeface="Arial"/>
            </a:endParaRPr>
          </a:p>
          <a:p>
            <a:pPr indent="0" lvl="0" marL="0" rtl="0" algn="just">
              <a:spcBef>
                <a:spcPts val="1700"/>
              </a:spcBef>
              <a:spcAft>
                <a:spcPts val="0"/>
              </a:spcAft>
              <a:buNone/>
            </a:pPr>
            <a:r>
              <a:rPr lang="es-419" sz="1600">
                <a:solidFill>
                  <a:srgbClr val="000000"/>
                </a:solidFill>
                <a:latin typeface="Arial"/>
                <a:ea typeface="Arial"/>
                <a:cs typeface="Arial"/>
                <a:sym typeface="Arial"/>
              </a:rPr>
              <a:t>Realice el siguiente código en Arduino Blocks guardelo y cópielo en el portapapeles.</a:t>
            </a:r>
            <a:endParaRPr sz="1600">
              <a:solidFill>
                <a:srgbClr val="000000"/>
              </a:solidFill>
              <a:latin typeface="Arial"/>
              <a:ea typeface="Arial"/>
              <a:cs typeface="Arial"/>
              <a:sym typeface="Arial"/>
            </a:endParaRPr>
          </a:p>
          <a:p>
            <a:pPr indent="0" lvl="0" marL="0" rtl="0" algn="l">
              <a:spcBef>
                <a:spcPts val="1700"/>
              </a:spcBef>
              <a:spcAft>
                <a:spcPts val="1200"/>
              </a:spcAft>
              <a:buNone/>
            </a:pPr>
            <a:r>
              <a:t/>
            </a:r>
            <a:endParaRPr sz="2200"/>
          </a:p>
        </p:txBody>
      </p:sp>
      <p:pic>
        <p:nvPicPr>
          <p:cNvPr id="96" name="Google Shape;96;p17"/>
          <p:cNvPicPr preferRelativeResize="0"/>
          <p:nvPr/>
        </p:nvPicPr>
        <p:blipFill>
          <a:blip r:embed="rId3">
            <a:alphaModFix/>
          </a:blip>
          <a:stretch>
            <a:fillRect/>
          </a:stretch>
        </p:blipFill>
        <p:spPr>
          <a:xfrm>
            <a:off x="292000" y="1825950"/>
            <a:ext cx="3612012" cy="745800"/>
          </a:xfrm>
          <a:prstGeom prst="rect">
            <a:avLst/>
          </a:prstGeom>
          <a:noFill/>
          <a:ln>
            <a:noFill/>
          </a:ln>
        </p:spPr>
      </p:pic>
      <p:pic>
        <p:nvPicPr>
          <p:cNvPr id="97" name="Google Shape;97;p17"/>
          <p:cNvPicPr preferRelativeResize="0"/>
          <p:nvPr/>
        </p:nvPicPr>
        <p:blipFill>
          <a:blip r:embed="rId4">
            <a:alphaModFix/>
          </a:blip>
          <a:stretch>
            <a:fillRect/>
          </a:stretch>
        </p:blipFill>
        <p:spPr>
          <a:xfrm>
            <a:off x="4528962" y="744175"/>
            <a:ext cx="4179386" cy="4219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18"/>
          <p:cNvPicPr preferRelativeResize="0"/>
          <p:nvPr/>
        </p:nvPicPr>
        <p:blipFill>
          <a:blip r:embed="rId3">
            <a:alphaModFix/>
          </a:blip>
          <a:stretch>
            <a:fillRect/>
          </a:stretch>
        </p:blipFill>
        <p:spPr>
          <a:xfrm>
            <a:off x="408927" y="2571741"/>
            <a:ext cx="2407525" cy="2498259"/>
          </a:xfrm>
          <a:prstGeom prst="rect">
            <a:avLst/>
          </a:prstGeom>
          <a:noFill/>
          <a:ln>
            <a:noFill/>
          </a:ln>
        </p:spPr>
      </p:pic>
      <p:sp>
        <p:nvSpPr>
          <p:cNvPr id="103" name="Google Shape;103;p1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Comunicación Serial en Tinkercad</a:t>
            </a:r>
            <a:endParaRPr/>
          </a:p>
        </p:txBody>
      </p:sp>
      <p:sp>
        <p:nvSpPr>
          <p:cNvPr id="104" name="Google Shape;104;p18"/>
          <p:cNvSpPr txBox="1"/>
          <p:nvPr>
            <p:ph idx="4294967295" type="body"/>
          </p:nvPr>
        </p:nvSpPr>
        <p:spPr>
          <a:xfrm>
            <a:off x="208375" y="646750"/>
            <a:ext cx="3097800" cy="2672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a:t>Unete a la clase a </a:t>
            </a:r>
            <a:r>
              <a:rPr lang="es-419"/>
              <a:t>través</a:t>
            </a:r>
            <a:r>
              <a:rPr lang="es-419"/>
              <a:t> del link:</a:t>
            </a:r>
            <a:endParaRPr/>
          </a:p>
          <a:p>
            <a:pPr indent="0" lvl="0" marL="0" rtl="0" algn="just">
              <a:spcBef>
                <a:spcPts val="1700"/>
              </a:spcBef>
              <a:spcAft>
                <a:spcPts val="0"/>
              </a:spcAft>
              <a:buNone/>
            </a:pPr>
            <a:r>
              <a:rPr lang="es-419" sz="1600" u="sng">
                <a:solidFill>
                  <a:schemeClr val="hlink"/>
                </a:solidFill>
                <a:latin typeface="Arial"/>
                <a:ea typeface="Arial"/>
                <a:cs typeface="Arial"/>
                <a:sym typeface="Arial"/>
                <a:hlinkClick r:id="rId4"/>
              </a:rPr>
              <a:t>https://www.tinkercad.com/joinclass/WS4QT53GZ</a:t>
            </a:r>
            <a:endParaRPr sz="1600">
              <a:solidFill>
                <a:srgbClr val="000000"/>
              </a:solidFill>
              <a:latin typeface="Arial"/>
              <a:ea typeface="Arial"/>
              <a:cs typeface="Arial"/>
              <a:sym typeface="Arial"/>
            </a:endParaRPr>
          </a:p>
          <a:p>
            <a:pPr indent="0" lvl="0" marL="0" rtl="0" algn="just">
              <a:spcBef>
                <a:spcPts val="1700"/>
              </a:spcBef>
              <a:spcAft>
                <a:spcPts val="0"/>
              </a:spcAft>
              <a:buNone/>
            </a:pPr>
            <a:r>
              <a:t/>
            </a:r>
            <a:endParaRPr sz="1600">
              <a:solidFill>
                <a:srgbClr val="000000"/>
              </a:solidFill>
              <a:latin typeface="Arial"/>
              <a:ea typeface="Arial"/>
              <a:cs typeface="Arial"/>
              <a:sym typeface="Arial"/>
            </a:endParaRPr>
          </a:p>
          <a:p>
            <a:pPr indent="0" lvl="0" marL="0" rtl="0" algn="l">
              <a:spcBef>
                <a:spcPts val="1700"/>
              </a:spcBef>
              <a:spcAft>
                <a:spcPts val="1200"/>
              </a:spcAft>
              <a:buNone/>
            </a:pPr>
            <a:r>
              <a:t/>
            </a:r>
            <a:endParaRPr sz="2200"/>
          </a:p>
        </p:txBody>
      </p:sp>
      <p:cxnSp>
        <p:nvCxnSpPr>
          <p:cNvPr id="105" name="Google Shape;105;p18"/>
          <p:cNvCxnSpPr/>
          <p:nvPr/>
        </p:nvCxnSpPr>
        <p:spPr>
          <a:xfrm>
            <a:off x="1693685" y="2241025"/>
            <a:ext cx="0" cy="264600"/>
          </a:xfrm>
          <a:prstGeom prst="straightConnector1">
            <a:avLst/>
          </a:prstGeom>
          <a:noFill/>
          <a:ln cap="flat" cmpd="sng" w="19050">
            <a:solidFill>
              <a:srgbClr val="FF0000"/>
            </a:solidFill>
            <a:prstDash val="solid"/>
            <a:round/>
            <a:headEnd len="med" w="med" type="none"/>
            <a:tailEnd len="med" w="med" type="triangle"/>
          </a:ln>
        </p:spPr>
      </p:cxnSp>
      <p:sp>
        <p:nvSpPr>
          <p:cNvPr id="106" name="Google Shape;106;p18"/>
          <p:cNvSpPr/>
          <p:nvPr/>
        </p:nvSpPr>
        <p:spPr>
          <a:xfrm>
            <a:off x="500575" y="2978500"/>
            <a:ext cx="2224200" cy="417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 name="Google Shape;107;p18"/>
          <p:cNvCxnSpPr/>
          <p:nvPr/>
        </p:nvCxnSpPr>
        <p:spPr>
          <a:xfrm flipH="1" rot="10800000">
            <a:off x="2724775" y="3192175"/>
            <a:ext cx="1181100" cy="3900"/>
          </a:xfrm>
          <a:prstGeom prst="straightConnector1">
            <a:avLst/>
          </a:prstGeom>
          <a:noFill/>
          <a:ln cap="flat" cmpd="sng" w="9525">
            <a:solidFill>
              <a:srgbClr val="424242"/>
            </a:solidFill>
            <a:prstDash val="solid"/>
            <a:round/>
            <a:headEnd len="med" w="med" type="none"/>
            <a:tailEnd len="med" w="med" type="triangle"/>
          </a:ln>
        </p:spPr>
      </p:cxnSp>
      <p:sp>
        <p:nvSpPr>
          <p:cNvPr id="108" name="Google Shape;108;p18"/>
          <p:cNvSpPr txBox="1"/>
          <p:nvPr/>
        </p:nvSpPr>
        <p:spPr>
          <a:xfrm>
            <a:off x="3991650" y="2656000"/>
            <a:ext cx="44388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1900">
                <a:latin typeface="Roboto"/>
                <a:ea typeface="Roboto"/>
                <a:cs typeface="Roboto"/>
                <a:sym typeface="Roboto"/>
              </a:rPr>
              <a:t>Tu apodo </a:t>
            </a:r>
            <a:r>
              <a:rPr b="1" lang="es-419" sz="1900">
                <a:latin typeface="Roboto"/>
                <a:ea typeface="Roboto"/>
                <a:cs typeface="Roboto"/>
                <a:sym typeface="Roboto"/>
              </a:rPr>
              <a:t>será</a:t>
            </a:r>
            <a:r>
              <a:rPr b="1" lang="es-419" sz="1900">
                <a:latin typeface="Roboto"/>
                <a:ea typeface="Roboto"/>
                <a:cs typeface="Roboto"/>
                <a:sym typeface="Roboto"/>
              </a:rPr>
              <a:t> entregado por la profesora</a:t>
            </a:r>
            <a:endParaRPr sz="1900">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Comunicación Serial en Tinkercad</a:t>
            </a:r>
            <a:endParaRPr/>
          </a:p>
        </p:txBody>
      </p:sp>
      <p:sp>
        <p:nvSpPr>
          <p:cNvPr id="114" name="Google Shape;114;p19"/>
          <p:cNvSpPr txBox="1"/>
          <p:nvPr>
            <p:ph idx="4294967295" type="body"/>
          </p:nvPr>
        </p:nvSpPr>
        <p:spPr>
          <a:xfrm>
            <a:off x="208375" y="646750"/>
            <a:ext cx="3097800" cy="464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a:t>Abre la Actividad:</a:t>
            </a:r>
            <a:endParaRPr sz="1600">
              <a:solidFill>
                <a:srgbClr val="000000"/>
              </a:solidFill>
              <a:latin typeface="Arial"/>
              <a:ea typeface="Arial"/>
              <a:cs typeface="Arial"/>
              <a:sym typeface="Arial"/>
            </a:endParaRPr>
          </a:p>
          <a:p>
            <a:pPr indent="0" lvl="0" marL="0" rtl="0" algn="l">
              <a:spcBef>
                <a:spcPts val="1700"/>
              </a:spcBef>
              <a:spcAft>
                <a:spcPts val="1200"/>
              </a:spcAft>
              <a:buNone/>
            </a:pPr>
            <a:r>
              <a:t/>
            </a:r>
            <a:endParaRPr sz="2200"/>
          </a:p>
        </p:txBody>
      </p:sp>
      <p:pic>
        <p:nvPicPr>
          <p:cNvPr id="115" name="Google Shape;115;p19"/>
          <p:cNvPicPr preferRelativeResize="0"/>
          <p:nvPr/>
        </p:nvPicPr>
        <p:blipFill>
          <a:blip r:embed="rId3">
            <a:alphaModFix/>
          </a:blip>
          <a:stretch>
            <a:fillRect/>
          </a:stretch>
        </p:blipFill>
        <p:spPr>
          <a:xfrm>
            <a:off x="152400" y="1263550"/>
            <a:ext cx="3324225" cy="2524125"/>
          </a:xfrm>
          <a:prstGeom prst="rect">
            <a:avLst/>
          </a:prstGeom>
          <a:noFill/>
          <a:ln>
            <a:noFill/>
          </a:ln>
        </p:spPr>
      </p:pic>
      <p:pic>
        <p:nvPicPr>
          <p:cNvPr id="116" name="Google Shape;116;p19"/>
          <p:cNvPicPr preferRelativeResize="0"/>
          <p:nvPr/>
        </p:nvPicPr>
        <p:blipFill>
          <a:blip r:embed="rId4">
            <a:alphaModFix/>
          </a:blip>
          <a:stretch>
            <a:fillRect/>
          </a:stretch>
        </p:blipFill>
        <p:spPr>
          <a:xfrm>
            <a:off x="4655900" y="695325"/>
            <a:ext cx="3886200" cy="3752850"/>
          </a:xfrm>
          <a:prstGeom prst="rect">
            <a:avLst/>
          </a:prstGeom>
          <a:noFill/>
          <a:ln>
            <a:noFill/>
          </a:ln>
        </p:spPr>
      </p:pic>
      <p:sp>
        <p:nvSpPr>
          <p:cNvPr id="117" name="Google Shape;117;p19"/>
          <p:cNvSpPr/>
          <p:nvPr/>
        </p:nvSpPr>
        <p:spPr>
          <a:xfrm>
            <a:off x="3715125" y="2637700"/>
            <a:ext cx="817800" cy="417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9"/>
          <p:cNvSpPr/>
          <p:nvPr/>
        </p:nvSpPr>
        <p:spPr>
          <a:xfrm>
            <a:off x="5596225" y="3819050"/>
            <a:ext cx="1290300" cy="629100"/>
          </a:xfrm>
          <a:prstGeom prst="rect">
            <a:avLst/>
          </a:prstGeom>
          <a:no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Comunicación Serial en Tinkercad</a:t>
            </a:r>
            <a:endParaRPr/>
          </a:p>
        </p:txBody>
      </p:sp>
      <p:sp>
        <p:nvSpPr>
          <p:cNvPr id="124" name="Google Shape;124;p20"/>
          <p:cNvSpPr txBox="1"/>
          <p:nvPr>
            <p:ph idx="4294967295" type="body"/>
          </p:nvPr>
        </p:nvSpPr>
        <p:spPr>
          <a:xfrm>
            <a:off x="208375" y="646750"/>
            <a:ext cx="8716500" cy="19818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s-419"/>
              <a:t>Copia el código de Arduino Blocks e inicia la simulación, sigue los pasos del video:</a:t>
            </a:r>
            <a:endParaRPr sz="1600">
              <a:solidFill>
                <a:srgbClr val="000000"/>
              </a:solidFill>
              <a:latin typeface="Arial"/>
              <a:ea typeface="Arial"/>
              <a:cs typeface="Arial"/>
              <a:sym typeface="Arial"/>
            </a:endParaRPr>
          </a:p>
          <a:p>
            <a:pPr indent="0" lvl="0" marL="0" rtl="0" algn="l">
              <a:spcBef>
                <a:spcPts val="1700"/>
              </a:spcBef>
              <a:spcAft>
                <a:spcPts val="1200"/>
              </a:spcAft>
              <a:buNone/>
            </a:pPr>
            <a:r>
              <a:t/>
            </a:r>
            <a:endParaRPr sz="2200"/>
          </a:p>
        </p:txBody>
      </p:sp>
      <p:pic>
        <p:nvPicPr>
          <p:cNvPr id="125" name="Google Shape;125;p20" title="serial.mp4">
            <a:hlinkClick r:id="rId3"/>
          </p:cNvPr>
          <p:cNvPicPr preferRelativeResize="0"/>
          <p:nvPr/>
        </p:nvPicPr>
        <p:blipFill>
          <a:blip r:embed="rId4">
            <a:alphaModFix/>
          </a:blip>
          <a:stretch>
            <a:fillRect/>
          </a:stretch>
        </p:blipFill>
        <p:spPr>
          <a:xfrm>
            <a:off x="884175" y="1144050"/>
            <a:ext cx="7030349" cy="39545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Realiza los siguientes ejercicios de práctica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Ejercicio 01</a:t>
            </a:r>
            <a:r>
              <a:rPr lang="es-419"/>
              <a:t>: Visualizar el valor de una variable</a:t>
            </a:r>
            <a:endParaRPr/>
          </a:p>
        </p:txBody>
      </p:sp>
      <p:sp>
        <p:nvSpPr>
          <p:cNvPr id="136" name="Google Shape;136;p22"/>
          <p:cNvSpPr txBox="1"/>
          <p:nvPr/>
        </p:nvSpPr>
        <p:spPr>
          <a:xfrm>
            <a:off x="304800" y="683900"/>
            <a:ext cx="8699100" cy="5544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100"/>
              </a:spcAft>
              <a:buNone/>
            </a:pPr>
            <a:br>
              <a:rPr lang="es-419"/>
            </a:br>
            <a:r>
              <a:rPr lang="es-419" sz="1800"/>
              <a:t> </a:t>
            </a:r>
            <a:r>
              <a:rPr lang="es-419" sz="1200"/>
              <a:t>Vamos a ver como enviar el valor de una variable, en este caso una variable que va incrementándose y mostramos en la consola serie su valor. Simulelo en el Arduino de Tinkercad.</a:t>
            </a:r>
            <a:endParaRPr sz="1200"/>
          </a:p>
        </p:txBody>
      </p:sp>
      <p:pic>
        <p:nvPicPr>
          <p:cNvPr id="137" name="Google Shape;137;p22"/>
          <p:cNvPicPr preferRelativeResize="0"/>
          <p:nvPr/>
        </p:nvPicPr>
        <p:blipFill>
          <a:blip r:embed="rId3">
            <a:alphaModFix/>
          </a:blip>
          <a:stretch>
            <a:fillRect/>
          </a:stretch>
        </p:blipFill>
        <p:spPr>
          <a:xfrm>
            <a:off x="1460975" y="1499750"/>
            <a:ext cx="5338925" cy="3482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Ejercicio 02: Visualizar el valor de una variable</a:t>
            </a:r>
            <a:endParaRPr/>
          </a:p>
        </p:txBody>
      </p:sp>
      <p:sp>
        <p:nvSpPr>
          <p:cNvPr id="143" name="Google Shape;143;p23"/>
          <p:cNvSpPr txBox="1"/>
          <p:nvPr/>
        </p:nvSpPr>
        <p:spPr>
          <a:xfrm>
            <a:off x="304800" y="683900"/>
            <a:ext cx="8699100" cy="720900"/>
          </a:xfrm>
          <a:prstGeom prst="rect">
            <a:avLst/>
          </a:prstGeom>
          <a:noFill/>
          <a:ln>
            <a:noFill/>
          </a:ln>
        </p:spPr>
        <p:txBody>
          <a:bodyPr anchorCtr="0" anchor="ctr" bIns="91425" lIns="91425" spcFirstLastPara="1" rIns="91425" wrap="square" tIns="91425">
            <a:noAutofit/>
          </a:bodyPr>
          <a:lstStyle/>
          <a:p>
            <a:pPr indent="457200" lvl="0" marL="0" rtl="0" algn="just">
              <a:lnSpc>
                <a:spcPct val="115000"/>
              </a:lnSpc>
              <a:spcBef>
                <a:spcPts val="0"/>
              </a:spcBef>
              <a:spcAft>
                <a:spcPts val="100"/>
              </a:spcAft>
              <a:buNone/>
            </a:pPr>
            <a:r>
              <a:rPr lang="es-419" sz="1200"/>
              <a:t>Al recibir el valor 1 desde la consola apagaremos el led, al recibir el 2 lo encenderemos. </a:t>
            </a:r>
            <a:r>
              <a:rPr lang="es-419" sz="1200"/>
              <a:t>Simulelo en el Arduino de Tinkercad. Circuito Arduino+LED. Observa el video de funcionamiento.</a:t>
            </a:r>
            <a:endParaRPr sz="1200"/>
          </a:p>
        </p:txBody>
      </p:sp>
      <p:pic>
        <p:nvPicPr>
          <p:cNvPr id="144" name="Google Shape;144;p23"/>
          <p:cNvPicPr preferRelativeResize="0"/>
          <p:nvPr/>
        </p:nvPicPr>
        <p:blipFill>
          <a:blip r:embed="rId3">
            <a:alphaModFix/>
          </a:blip>
          <a:stretch>
            <a:fillRect/>
          </a:stretch>
        </p:blipFill>
        <p:spPr>
          <a:xfrm>
            <a:off x="598050" y="1339075"/>
            <a:ext cx="2462775" cy="1941725"/>
          </a:xfrm>
          <a:prstGeom prst="rect">
            <a:avLst/>
          </a:prstGeom>
          <a:noFill/>
          <a:ln>
            <a:noFill/>
          </a:ln>
        </p:spPr>
      </p:pic>
      <p:pic>
        <p:nvPicPr>
          <p:cNvPr id="145" name="Google Shape;145;p23"/>
          <p:cNvPicPr preferRelativeResize="0"/>
          <p:nvPr/>
        </p:nvPicPr>
        <p:blipFill>
          <a:blip r:embed="rId4">
            <a:alphaModFix/>
          </a:blip>
          <a:stretch>
            <a:fillRect/>
          </a:stretch>
        </p:blipFill>
        <p:spPr>
          <a:xfrm>
            <a:off x="4017038" y="1339075"/>
            <a:ext cx="4986862" cy="3533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a:t>
            </a:r>
            <a:r>
              <a:rPr lang="es-419"/>
              <a:t>cio 03: Regulación de intensidad de led desde PC</a:t>
            </a:r>
            <a:endParaRPr/>
          </a:p>
        </p:txBody>
      </p:sp>
      <p:sp>
        <p:nvSpPr>
          <p:cNvPr id="151" name="Google Shape;151;p24"/>
          <p:cNvSpPr txBox="1"/>
          <p:nvPr/>
        </p:nvSpPr>
        <p:spPr>
          <a:xfrm>
            <a:off x="304800" y="683900"/>
            <a:ext cx="8699100" cy="720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100"/>
              </a:spcAft>
              <a:buNone/>
            </a:pPr>
            <a:r>
              <a:rPr lang="es-419" sz="1200"/>
              <a:t>Conectar un led al pin 3. Recibir un número desde el ordenador a través del puerto serie. El número recibido debe estar entre 0 y 255 y se escribirá en la salida analógica (PWM) del pin 3. </a:t>
            </a:r>
            <a:r>
              <a:rPr lang="es-419" sz="1200"/>
              <a:t>Simulelo en el Arduino de Tinkercad. Circuito Arduino+LED. Modifiquelo para que el circuito funcione con el pin3. </a:t>
            </a:r>
            <a:endParaRPr sz="1200"/>
          </a:p>
        </p:txBody>
      </p:sp>
      <p:pic>
        <p:nvPicPr>
          <p:cNvPr id="152" name="Google Shape;152;p24"/>
          <p:cNvPicPr preferRelativeResize="0"/>
          <p:nvPr/>
        </p:nvPicPr>
        <p:blipFill>
          <a:blip r:embed="rId3">
            <a:alphaModFix/>
          </a:blip>
          <a:stretch>
            <a:fillRect/>
          </a:stretch>
        </p:blipFill>
        <p:spPr>
          <a:xfrm>
            <a:off x="888475" y="1404800"/>
            <a:ext cx="6770601" cy="3495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Ejercicio 04: </a:t>
            </a:r>
            <a:r>
              <a:rPr lang="es-419"/>
              <a:t>Juego: Adivina el número</a:t>
            </a:r>
            <a:endParaRPr/>
          </a:p>
        </p:txBody>
      </p:sp>
      <p:sp>
        <p:nvSpPr>
          <p:cNvPr id="158" name="Google Shape;158;p25"/>
          <p:cNvSpPr txBox="1"/>
          <p:nvPr/>
        </p:nvSpPr>
        <p:spPr>
          <a:xfrm>
            <a:off x="304800" y="683900"/>
            <a:ext cx="8699100" cy="7209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lang="es-419" sz="1200"/>
              <a:t>Realizaremos un juego donde la placa Arduino “pensará” un número al azar entre 1 y 100.</a:t>
            </a:r>
            <a:endParaRPr sz="1200"/>
          </a:p>
          <a:p>
            <a:pPr indent="0" lvl="0" marL="0" rtl="0" algn="just">
              <a:lnSpc>
                <a:spcPct val="115000"/>
              </a:lnSpc>
              <a:spcBef>
                <a:spcPts val="100"/>
              </a:spcBef>
              <a:spcAft>
                <a:spcPts val="0"/>
              </a:spcAft>
              <a:buNone/>
            </a:pPr>
            <a:r>
              <a:rPr lang="es-419" sz="1200"/>
              <a:t>Desde la consola iremos diciendo números y nos dirá si el número secreto es mayor o menor hasta que lo adivinemos y nos muestre el número total de intentos que hemos usado.</a:t>
            </a:r>
            <a:endParaRPr sz="1200"/>
          </a:p>
        </p:txBody>
      </p:sp>
      <p:pic>
        <p:nvPicPr>
          <p:cNvPr id="159" name="Google Shape;159;p25"/>
          <p:cNvPicPr preferRelativeResize="0"/>
          <p:nvPr/>
        </p:nvPicPr>
        <p:blipFill>
          <a:blip r:embed="rId3">
            <a:alphaModFix/>
          </a:blip>
          <a:stretch>
            <a:fillRect/>
          </a:stretch>
        </p:blipFill>
        <p:spPr>
          <a:xfrm>
            <a:off x="897575" y="1702600"/>
            <a:ext cx="6419850" cy="2390775"/>
          </a:xfrm>
          <a:prstGeom prst="rect">
            <a:avLst/>
          </a:prstGeom>
          <a:noFill/>
          <a:ln>
            <a:noFill/>
          </a:ln>
        </p:spPr>
      </p:pic>
      <p:sp>
        <p:nvSpPr>
          <p:cNvPr id="160" name="Google Shape;160;p25"/>
          <p:cNvSpPr txBox="1"/>
          <p:nvPr/>
        </p:nvSpPr>
        <p:spPr>
          <a:xfrm>
            <a:off x="6853050" y="4464275"/>
            <a:ext cx="2071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419" sz="2100">
                <a:solidFill>
                  <a:schemeClr val="accent3"/>
                </a:solidFill>
                <a:latin typeface="Roboto"/>
                <a:ea typeface="Roboto"/>
                <a:cs typeface="Roboto"/>
                <a:sym typeface="Roboto"/>
              </a:rPr>
              <a:t>CONTINUA -&gt;</a:t>
            </a:r>
            <a:endParaRPr b="1" sz="2100">
              <a:solidFill>
                <a:schemeClr val="accent3"/>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Ejercicio 04: Juego: Adivina el número</a:t>
            </a:r>
            <a:endParaRPr/>
          </a:p>
        </p:txBody>
      </p:sp>
      <p:pic>
        <p:nvPicPr>
          <p:cNvPr id="166" name="Google Shape;166;p26"/>
          <p:cNvPicPr preferRelativeResize="0"/>
          <p:nvPr/>
        </p:nvPicPr>
        <p:blipFill>
          <a:blip r:embed="rId3">
            <a:alphaModFix/>
          </a:blip>
          <a:stretch>
            <a:fillRect/>
          </a:stretch>
        </p:blipFill>
        <p:spPr>
          <a:xfrm>
            <a:off x="1033900" y="753275"/>
            <a:ext cx="6487409" cy="42196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