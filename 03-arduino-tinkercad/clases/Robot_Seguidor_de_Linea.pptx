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6E9B57-4B1A-4FDC-A7E0-AD94A1BF6DA2}">
  <a:tblStyle styleId="{946E9B57-4B1A-4FDC-A7E0-AD94A1BF6D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a630740f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a630740f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a630740f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a630740f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da630740f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da630740f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da630740f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da630740f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da630740fc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da630740f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da630740f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da630740f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da630740f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da630740f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da630740f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da630740f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da630740f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da630740f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dad0d633b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dad0d633b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db0455555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db0455555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dad0d633b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dad0d633b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dad0d633b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dad0d633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da630740f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da630740f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dad0d633b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dad0d633b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dad0d633b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dad0d633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dad0d633b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dad0d633b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dad0d633b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dad0d633b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dad0d633b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dad0d633b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dad0d633b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dad0d633b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dad0d633b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dad0d633b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dad0d633b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dad0d633b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dad0d633ba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dad0d633b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dad0d633b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dad0d633b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dad0d633b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dad0d633b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db0455555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db0455555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dbfa8325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dbfa8325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db0455555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db0455555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udLAb3bmZzY" TargetMode="External"/><Relationship Id="rId4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Hardware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Observa con detalle el siguiente video:</a:t>
            </a:r>
            <a:endParaRPr/>
          </a:p>
        </p:txBody>
      </p:sp>
      <p:pic>
        <p:nvPicPr>
          <p:cNvPr descr="EL programa se puede exportar de ArduinoBlocks en: &#10;http://www.arduinoblocks.com/web/project/35139&#10;&#10;Podéis encontrar una segunda versión mas avanzada del sigue línea, aquí:&#10;https://www.youtube.com/watch?v=LpEkd0YGevU&#10;&#10;El programa en el IDE por texto estructurado lo podéis descargar en: &#10;https://www.dropbox.com/s/k59r1cxfh90y10a/siguelinea1.rar?dl=0&#10;Primer vídeo sobre conexión y programación de un robot sigue líneas por bloques y por código con Arduino y ArduinoBlocks. Se trata de un primer programa, totalmente funcional, en el que se explica la programación, conexión y calibración desde cero de este tipo de dispositivos.&#10;&#10;En vídeos sucesivos iremos profundizando en la programación, incluyendo mas alternativas y mejoras que logren, por ejemplo, que  cuando se pierda intente volver a localizar el camino, que vaya mas deprisa, etc." id="74" name="Google Shape;74;p14" title="Robot sigue linea versión 1. Con Arduino por bloques y en código. Proceso completo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625" y="763000"/>
            <a:ext cx="5606200" cy="420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667725" y="793600"/>
            <a:ext cx="8080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El objetivo de la clase de hoy es emular paso a paso en Tinkercad el hardware del robot seguidor de línea, con los componentes que este software nos aporta, para ello sigue las siguientes instrucciones: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rabicPeriod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Abre tu sesión en Tinkercad.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rabicPeriod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 el botón +Nuevo, escoge Circuito: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8738" y="2079938"/>
            <a:ext cx="2204282" cy="27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5358225" y="3407525"/>
            <a:ext cx="683100" cy="21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667725" y="793600"/>
            <a:ext cx="80805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rabicPeriod" startAt="3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Cambiale el nombre: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rabicPeriod" startAt="3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 la paleta izquierda en componentes seleccionar TODOS: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rabicPeriod" startAt="3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 la paleta derecha buscar los siguientes componentes y añadirlos al panel de simulación: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 sensores de luz ambiental: 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957" y="1203500"/>
            <a:ext cx="3125781" cy="549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6925" y="1203500"/>
            <a:ext cx="31718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4471575" y="1419325"/>
            <a:ext cx="397800" cy="19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8963" y="2185988"/>
            <a:ext cx="330517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2125" y="3526500"/>
            <a:ext cx="666725" cy="9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2013" y="3503925"/>
            <a:ext cx="666725" cy="9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667725" y="793600"/>
            <a:ext cx="80805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2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 motor de aficionado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2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 controlador de motores L293D, el punto indica pata nro 01 del circuito integrado.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850" y="745750"/>
            <a:ext cx="2546100" cy="23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0950" y="3710925"/>
            <a:ext cx="19812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667725" y="793600"/>
            <a:ext cx="80805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4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 arduino UNO con placa de pruebas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4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4 </a:t>
            </a: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batería</a:t>
            </a: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de 1.5 V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4150" y="3428750"/>
            <a:ext cx="16002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875" y="1173752"/>
            <a:ext cx="6971325" cy="218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667725" y="793600"/>
            <a:ext cx="80805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6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 las </a:t>
            </a: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características</a:t>
            </a: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de las pilas coloque: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6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Coloca en el tablero de prueba los sensores de luz 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6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Y el driver L293D como indica la figura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6225" y="891750"/>
            <a:ext cx="327660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75" y="2482700"/>
            <a:ext cx="3640025" cy="23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667725" y="793600"/>
            <a:ext cx="8080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9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 conexión entre el driver L293D y los motores es: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348" y="1211902"/>
            <a:ext cx="4396075" cy="347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2173" y="793600"/>
            <a:ext cx="2880025" cy="40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667725" y="793600"/>
            <a:ext cx="8080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9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 conexión entre el driver L293D y la </a:t>
            </a: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batería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23" y="1211902"/>
            <a:ext cx="4396075" cy="347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 rotWithShape="1">
          <a:blip r:embed="rId4">
            <a:alphaModFix/>
          </a:blip>
          <a:srcRect b="0" l="0" r="0" t="13681"/>
          <a:stretch/>
        </p:blipFill>
        <p:spPr>
          <a:xfrm>
            <a:off x="4572000" y="2571751"/>
            <a:ext cx="41756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/>
          <p:nvPr/>
        </p:nvSpPr>
        <p:spPr>
          <a:xfrm>
            <a:off x="5771625" y="2764250"/>
            <a:ext cx="2587200" cy="1278300"/>
          </a:xfrm>
          <a:prstGeom prst="rect">
            <a:avLst/>
          </a:prstGeom>
          <a:noFill/>
          <a:ln cap="flat" cmpd="sng" w="1143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5519050" y="1049750"/>
            <a:ext cx="348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Pata 8 del driver L293D al positivo de la bateria y el negativo de la bateria al negativo de a placa de pruebas o protoboard.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667725" y="793600"/>
            <a:ext cx="8080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10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 conexión entre el driver L293D y arduino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 rotWithShape="1">
          <a:blip r:embed="rId3">
            <a:alphaModFix/>
          </a:blip>
          <a:srcRect b="0" l="0" r="21105" t="0"/>
          <a:stretch/>
        </p:blipFill>
        <p:spPr>
          <a:xfrm>
            <a:off x="873425" y="1446575"/>
            <a:ext cx="4869225" cy="3309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22"/>
          <p:cNvGraphicFramePr/>
          <p:nvPr/>
        </p:nvGraphicFramePr>
        <p:xfrm>
          <a:off x="6165875" y="1646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{946E9B57-4B1A-4FDC-A7E0-AD94A1BF6DA2}</a:tableStyleId>
              </a:tblPr>
              <a:tblGrid>
                <a:gridCol w="1104650"/>
                <a:gridCol w="1104650"/>
              </a:tblGrid>
              <a:tr h="32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Arduino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L293D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1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4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" name="Google Shape;145;p22"/>
          <p:cNvSpPr txBox="1"/>
          <p:nvPr/>
        </p:nvSpPr>
        <p:spPr>
          <a:xfrm>
            <a:off x="4394050" y="2883575"/>
            <a:ext cx="934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1 2 3 4 5 6 7 8               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4343300" y="2834788"/>
            <a:ext cx="1324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16 15 14 13 12 11 10 9 </a:t>
            </a:r>
            <a:r>
              <a:rPr lang="es-419" sz="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        </a:t>
            </a:r>
            <a:endParaRPr sz="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/>
        </p:nvSpPr>
        <p:spPr>
          <a:xfrm>
            <a:off x="667725" y="793600"/>
            <a:ext cx="8080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10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 relación a los sensores de luz, los mismos tienen un emisor y un colector: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11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El circuito de polarización es: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4847" y="1429750"/>
            <a:ext cx="1247159" cy="10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525" y="1257300"/>
            <a:ext cx="9906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9800" y="2843225"/>
            <a:ext cx="1351500" cy="213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/>
        </p:nvSpPr>
        <p:spPr>
          <a:xfrm>
            <a:off x="2512750" y="3199125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Tierra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5184450" y="3210000"/>
            <a:ext cx="1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Alimentación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2512750" y="4277450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Emisor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972950" y="4469975"/>
            <a:ext cx="9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Colector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" name="Google Shape;160;p23"/>
          <p:cNvCxnSpPr/>
          <p:nvPr/>
        </p:nvCxnSpPr>
        <p:spPr>
          <a:xfrm>
            <a:off x="3155950" y="3404925"/>
            <a:ext cx="666300" cy="4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3"/>
          <p:cNvCxnSpPr>
            <a:stCxn id="158" idx="3"/>
          </p:cNvCxnSpPr>
          <p:nvPr/>
        </p:nvCxnSpPr>
        <p:spPr>
          <a:xfrm>
            <a:off x="3324850" y="4477550"/>
            <a:ext cx="497400" cy="57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3"/>
          <p:cNvCxnSpPr>
            <a:stCxn id="159" idx="1"/>
          </p:cNvCxnSpPr>
          <p:nvPr/>
        </p:nvCxnSpPr>
        <p:spPr>
          <a:xfrm rot="10800000">
            <a:off x="4059150" y="4551575"/>
            <a:ext cx="913800" cy="118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3"/>
          <p:cNvCxnSpPr>
            <a:stCxn id="157" idx="1"/>
          </p:cNvCxnSpPr>
          <p:nvPr/>
        </p:nvCxnSpPr>
        <p:spPr>
          <a:xfrm flipH="1">
            <a:off x="4625850" y="3410100"/>
            <a:ext cx="558600" cy="177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3128" y="1234050"/>
            <a:ext cx="3741022" cy="282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667725" y="793600"/>
            <a:ext cx="8080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AutoNum type="alphaLcPeriod" startAt="10"/>
            </a:pPr>
            <a:r>
              <a:rPr lang="es-419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 conexión de los sensores de luz al Arduino: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graphicFrame>
        <p:nvGraphicFramePr>
          <p:cNvPr id="171" name="Google Shape;171;p24"/>
          <p:cNvGraphicFramePr/>
          <p:nvPr/>
        </p:nvGraphicFramePr>
        <p:xfrm>
          <a:off x="6165875" y="1646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{946E9B57-4B1A-4FDC-A7E0-AD94A1BF6DA2}</a:tableStyleId>
              </a:tblPr>
              <a:tblGrid>
                <a:gridCol w="1104650"/>
                <a:gridCol w="1104650"/>
              </a:tblGrid>
              <a:tr h="32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Arduino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Sensor 1 Izquierdo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Pin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Sensor 2 Derecho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2" name="Google Shape;172;p24"/>
          <p:cNvSpPr txBox="1"/>
          <p:nvPr/>
        </p:nvSpPr>
        <p:spPr>
          <a:xfrm>
            <a:off x="3770175" y="4220100"/>
            <a:ext cx="114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Sensor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Izquierdo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5575600" y="4210975"/>
            <a:ext cx="114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Sensor 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4"/>
          <p:cNvCxnSpPr>
            <a:stCxn id="173" idx="0"/>
          </p:cNvCxnSpPr>
          <p:nvPr/>
        </p:nvCxnSpPr>
        <p:spPr>
          <a:xfrm rot="10800000">
            <a:off x="5734150" y="3798475"/>
            <a:ext cx="415500" cy="4125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4"/>
          <p:cNvCxnSpPr>
            <a:stCxn id="172" idx="0"/>
          </p:cNvCxnSpPr>
          <p:nvPr/>
        </p:nvCxnSpPr>
        <p:spPr>
          <a:xfrm flipH="1" rot="10800000">
            <a:off x="4344225" y="3790200"/>
            <a:ext cx="332400" cy="4299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460950" y="820125"/>
            <a:ext cx="8222100" cy="33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Este montaje emulará (imitar) el comportamiento de los motores y su respuesta a la señal de los sensores de acuerdo a la programación que se le de en Arduino Blocks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460950" y="697675"/>
            <a:ext cx="8222100" cy="38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Una vez realizado el montaje en Tinkercad, es necesario realizar un programa para </a:t>
            </a:r>
            <a:r>
              <a:rPr lang="es-419"/>
              <a:t>verificar</a:t>
            </a:r>
            <a:r>
              <a:rPr lang="es-419"/>
              <a:t> que todas las conexiones quedaron correctas, por lo tanto, a continuación vamos a realizar lo siguiente: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sensores infrarrojos realice lo siguiente: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717575" y="834500"/>
            <a:ext cx="752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Tinkercad: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Añada dos led conectados a los pines 11 y 12 del arduino como se muestra en la figura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700" y="1758975"/>
            <a:ext cx="511492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425" y="1143950"/>
            <a:ext cx="4700750" cy="31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sensores infrarrojos realice lo siguiente:</a:t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269825" y="940200"/>
            <a:ext cx="35118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En Arduino Blocks: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Inicie un nuevo Proyecto del tipo UNO.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Colocar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 el nombre: </a:t>
            </a:r>
            <a:r>
              <a:rPr lang="es-419" sz="16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Prueba de sensores luz</a:t>
            </a:r>
            <a:endParaRPr sz="16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Diríjase a la pestaña de los bloques: Lógica.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Seleccione:  </a:t>
            </a:r>
            <a:r>
              <a:rPr lang="es-419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si, hacer, sino</a:t>
            </a:r>
            <a:endParaRPr sz="16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Coloque en el panel de programación de Arduino Blocks dentro de Bucle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4432175" y="1143950"/>
            <a:ext cx="1370400" cy="3138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6108750" y="1985900"/>
            <a:ext cx="1370400" cy="10182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8"/>
          <p:cNvCxnSpPr>
            <a:stCxn id="201" idx="3"/>
          </p:cNvCxnSpPr>
          <p:nvPr/>
        </p:nvCxnSpPr>
        <p:spPr>
          <a:xfrm>
            <a:off x="7479150" y="2495000"/>
            <a:ext cx="420300" cy="46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7400" y="1086225"/>
            <a:ext cx="4949100" cy="316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sensores infrarrojos realice lo siguiente: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200950" y="1147175"/>
            <a:ext cx="39558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latin typeface="Roboto"/>
                <a:ea typeface="Roboto"/>
                <a:cs typeface="Roboto"/>
                <a:sym typeface="Roboto"/>
              </a:rPr>
              <a:t>En Arduino Blocks: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AutoNum type="arabicPeriod" startAt="6"/>
            </a:pPr>
            <a:r>
              <a:rPr lang="es-419" sz="2100">
                <a:latin typeface="Roboto"/>
                <a:ea typeface="Roboto"/>
                <a:cs typeface="Roboto"/>
                <a:sym typeface="Roboto"/>
              </a:rPr>
              <a:t>Diríjase a la pestaña de los bloques: Lógica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AutoNum type="arabicPeriod" startAt="6"/>
            </a:pPr>
            <a:r>
              <a:rPr lang="es-419" sz="2100">
                <a:latin typeface="Roboto"/>
                <a:ea typeface="Roboto"/>
                <a:cs typeface="Roboto"/>
                <a:sym typeface="Roboto"/>
              </a:rPr>
              <a:t>Seleccione el bloque de comparación lógico       (color azul).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AutoNum type="arabicPeriod" startAt="6"/>
            </a:pPr>
            <a:r>
              <a:rPr lang="es-419" sz="2100">
                <a:latin typeface="Roboto"/>
                <a:ea typeface="Roboto"/>
                <a:cs typeface="Roboto"/>
                <a:sym typeface="Roboto"/>
              </a:rPr>
              <a:t>Colóquelo en la parte del </a:t>
            </a:r>
            <a:r>
              <a:rPr lang="es-419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lang="es-419" sz="2100">
                <a:latin typeface="Roboto"/>
                <a:ea typeface="Roboto"/>
                <a:cs typeface="Roboto"/>
                <a:sym typeface="Roboto"/>
              </a:rPr>
              <a:t> de la estructura lógica </a:t>
            </a:r>
            <a:r>
              <a:rPr lang="es-419" sz="2100">
                <a:solidFill>
                  <a:srgbClr val="351C75"/>
                </a:solidFill>
                <a:latin typeface="Roboto"/>
                <a:ea typeface="Roboto"/>
                <a:cs typeface="Roboto"/>
                <a:sym typeface="Roboto"/>
              </a:rPr>
              <a:t>si, hacer, sino</a:t>
            </a:r>
            <a:endParaRPr sz="2100">
              <a:solidFill>
                <a:srgbClr val="351C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4324425" y="1355050"/>
            <a:ext cx="1370400" cy="2382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5611200" y="3386600"/>
            <a:ext cx="1124700" cy="3138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29"/>
          <p:cNvCxnSpPr>
            <a:stCxn id="211" idx="3"/>
          </p:cNvCxnSpPr>
          <p:nvPr/>
        </p:nvCxnSpPr>
        <p:spPr>
          <a:xfrm flipH="1" rot="10800000">
            <a:off x="6735900" y="3376700"/>
            <a:ext cx="1064100" cy="166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141" y="2325825"/>
            <a:ext cx="4615334" cy="28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619050"/>
            <a:ext cx="3338700" cy="170094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sensores infrarrojos realice lo siguiente:</a:t>
            </a:r>
            <a:endParaRPr/>
          </a:p>
        </p:txBody>
      </p:sp>
      <p:sp>
        <p:nvSpPr>
          <p:cNvPr id="220" name="Google Shape;220;p30"/>
          <p:cNvSpPr txBox="1"/>
          <p:nvPr/>
        </p:nvSpPr>
        <p:spPr>
          <a:xfrm>
            <a:off x="177975" y="619050"/>
            <a:ext cx="36267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En Arduino Blocks: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 startAt="9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Diríjase a la pestaña de los bloques: Entrada/Salida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 startAt="9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Seleccione Leer digital Pin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 startAt="9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Colóquelo</a:t>
            </a: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 dentro del bloque de comparación colocado en el SI.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 startAt="9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Diríjase a la pestaña de los bloques: Lógica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 startAt="9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Escoja la constante ON/OFF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4285575" y="2325825"/>
            <a:ext cx="812400" cy="183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5664475" y="4959900"/>
            <a:ext cx="406500" cy="183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0"/>
          <p:cNvSpPr/>
          <p:nvPr/>
        </p:nvSpPr>
        <p:spPr>
          <a:xfrm>
            <a:off x="4347750" y="2090025"/>
            <a:ext cx="1370400" cy="183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5608350" y="734575"/>
            <a:ext cx="1370400" cy="183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5" name="Google Shape;225;p30"/>
          <p:cNvCxnSpPr/>
          <p:nvPr/>
        </p:nvCxnSpPr>
        <p:spPr>
          <a:xfrm>
            <a:off x="6293550" y="918175"/>
            <a:ext cx="771600" cy="27645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30"/>
          <p:cNvCxnSpPr>
            <a:stCxn id="222" idx="3"/>
          </p:cNvCxnSpPr>
          <p:nvPr/>
        </p:nvCxnSpPr>
        <p:spPr>
          <a:xfrm flipH="1" rot="10800000">
            <a:off x="6070975" y="4386900"/>
            <a:ext cx="2379600" cy="6648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75" y="1924350"/>
            <a:ext cx="7491849" cy="310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sensores infrarrojos realice lo siguiente:</a:t>
            </a:r>
            <a:endParaRPr/>
          </a:p>
        </p:txBody>
      </p:sp>
      <p:sp>
        <p:nvSpPr>
          <p:cNvPr id="233" name="Google Shape;233;p31"/>
          <p:cNvSpPr txBox="1"/>
          <p:nvPr/>
        </p:nvSpPr>
        <p:spPr>
          <a:xfrm>
            <a:off x="177975" y="619050"/>
            <a:ext cx="46206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14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Diríjase a la pestaña de los bloques: Actuadores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14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Seleccione Led (Pin 11)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14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Colóquelo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 dentro del bloque de comparación colocado en HACER.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14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Estado 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1278500" y="1924350"/>
            <a:ext cx="1797600" cy="3888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"/>
          <p:cNvSpPr/>
          <p:nvPr/>
        </p:nvSpPr>
        <p:spPr>
          <a:xfrm>
            <a:off x="144700" y="4079375"/>
            <a:ext cx="981000" cy="183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1"/>
          <p:cNvSpPr txBox="1"/>
          <p:nvPr/>
        </p:nvSpPr>
        <p:spPr>
          <a:xfrm>
            <a:off x="5297125" y="673350"/>
            <a:ext cx="32670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18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Seleccione Led (Pin 11)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18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Colóquelo dentro del bloque de comparación colocado en SINO.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18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Estado OFF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18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Inicialice las entradas (realice Ud. este paso)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18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Duplique el procedimiento para leer el pin2 y 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encender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 y apagar el led conectado en el pin 12.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" name="Google Shape;237;p31"/>
          <p:cNvCxnSpPr/>
          <p:nvPr/>
        </p:nvCxnSpPr>
        <p:spPr>
          <a:xfrm flipH="1">
            <a:off x="5395625" y="1861350"/>
            <a:ext cx="397800" cy="1260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sensores infrarrojos realice lo siguiente:</a:t>
            </a:r>
            <a:endParaRPr/>
          </a:p>
        </p:txBody>
      </p:sp>
      <p:sp>
        <p:nvSpPr>
          <p:cNvPr id="243" name="Google Shape;243;p32"/>
          <p:cNvSpPr txBox="1"/>
          <p:nvPr/>
        </p:nvSpPr>
        <p:spPr>
          <a:xfrm>
            <a:off x="177975" y="619050"/>
            <a:ext cx="46206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Simule en Tinkercad el 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código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 para ello recuerde que: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En Arduino Blocks en el botón BLOQUES, en la flecha, seleccione Ver código: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Copie el código que le muestra: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4" name="Google Shape;24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750" y="1391425"/>
            <a:ext cx="1647825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1500" y="2477653"/>
            <a:ext cx="4620600" cy="256632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2"/>
          <p:cNvSpPr/>
          <p:nvPr/>
        </p:nvSpPr>
        <p:spPr>
          <a:xfrm>
            <a:off x="1929100" y="1744725"/>
            <a:ext cx="903300" cy="2541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/>
          <p:nvPr/>
        </p:nvSpPr>
        <p:spPr>
          <a:xfrm>
            <a:off x="4645600" y="2486800"/>
            <a:ext cx="460200" cy="3888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/>
        </p:nvSpPr>
        <p:spPr>
          <a:xfrm>
            <a:off x="269825" y="557825"/>
            <a:ext cx="8172900" cy="4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En tinkercad: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En el botón 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Código, seleccione Texto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: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Pegue el código copiado.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Inicie la simulación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Sobre el sensor de luz 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aparecerá una barra que indica luz y oscuridad: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Deslicela en ambos hacia la derecha e izquierda.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 sucede con los leds cuando esto pasa?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¿Puedes describir el comportamiento del led cuando hay luz y cuando no hay luz?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 startAt="2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Si en lugar de definir el comportamiento por ausencia o presencia de luz, se hiciese con colores, siendo blanco para presencia de  luz y negro para ausencia de luz, como se describiria el comportamiento del programa. </a:t>
            </a:r>
            <a:r>
              <a:rPr lang="es-419" sz="13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Contesta estas preguntas en el espacio: Preguntas Seguidor de </a:t>
            </a:r>
            <a:r>
              <a:rPr lang="es-419" sz="13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línea</a:t>
            </a:r>
            <a:r>
              <a:rPr lang="es-419" sz="13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Hardware de la sala de evaluación en el Momento 2 &gt; Avance 2 de tu aula virtual.</a:t>
            </a:r>
            <a:endParaRPr sz="13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450" y="1112375"/>
            <a:ext cx="3150200" cy="13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sensores infrarrojos realice lo siguiente:</a:t>
            </a:r>
            <a:endParaRPr/>
          </a:p>
        </p:txBody>
      </p:sp>
      <p:sp>
        <p:nvSpPr>
          <p:cNvPr id="255" name="Google Shape;255;p33"/>
          <p:cNvSpPr/>
          <p:nvPr/>
        </p:nvSpPr>
        <p:spPr>
          <a:xfrm>
            <a:off x="1873875" y="2207625"/>
            <a:ext cx="903300" cy="2541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0900" y="2461725"/>
            <a:ext cx="1677609" cy="10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879" y="1369725"/>
            <a:ext cx="7744374" cy="37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Motores realice lo siguiente:</a:t>
            </a:r>
            <a:endParaRPr/>
          </a:p>
        </p:txBody>
      </p:sp>
      <p:sp>
        <p:nvSpPr>
          <p:cNvPr id="263" name="Google Shape;263;p34"/>
          <p:cNvSpPr txBox="1"/>
          <p:nvPr/>
        </p:nvSpPr>
        <p:spPr>
          <a:xfrm>
            <a:off x="269825" y="557825"/>
            <a:ext cx="81729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rabicPeriod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En Arduino Blocks, se utilizará un bloque predefinido para el control de motores de nombre  L298N, el mismo tiene dos comandos, para verlos: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lphaLcPeriod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Diríjase a Motor&gt; Motor DC&gt;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928100" y="4148075"/>
            <a:ext cx="903300" cy="2163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4"/>
          <p:cNvSpPr/>
          <p:nvPr/>
        </p:nvSpPr>
        <p:spPr>
          <a:xfrm>
            <a:off x="866875" y="4783250"/>
            <a:ext cx="1445100" cy="292500"/>
          </a:xfrm>
          <a:prstGeom prst="rect">
            <a:avLst/>
          </a:prstGeom>
          <a:noFill/>
          <a:ln cap="flat" cmpd="sng" w="381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4"/>
          <p:cNvSpPr/>
          <p:nvPr/>
        </p:nvSpPr>
        <p:spPr>
          <a:xfrm>
            <a:off x="2503475" y="1932000"/>
            <a:ext cx="5939100" cy="602700"/>
          </a:xfrm>
          <a:prstGeom prst="rect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4"/>
          <p:cNvSpPr/>
          <p:nvPr/>
        </p:nvSpPr>
        <p:spPr>
          <a:xfrm>
            <a:off x="2503475" y="2617675"/>
            <a:ext cx="5939100" cy="602700"/>
          </a:xfrm>
          <a:prstGeom prst="rect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Motores realice lo siguiente:</a:t>
            </a:r>
            <a:endParaRPr/>
          </a:p>
        </p:txBody>
      </p:sp>
      <p:sp>
        <p:nvSpPr>
          <p:cNvPr id="273" name="Google Shape;273;p35"/>
          <p:cNvSpPr txBox="1"/>
          <p:nvPr/>
        </p:nvSpPr>
        <p:spPr>
          <a:xfrm>
            <a:off x="269825" y="557825"/>
            <a:ext cx="81729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lphaLcPeriod" startAt="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Seleccione Iniciar y 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colóquelo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 en el bloque INICIALIZAR del panel de programación: 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AutoNum type="alphaLcPeriod" startAt="2"/>
            </a:pP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Este bloque L298N Iniciar es donde se le indica al programa los pines de conexión del driver L293 con el arduino si 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seguimos</a:t>
            </a:r>
            <a:r>
              <a:rPr lang="es-419" sz="1300">
                <a:latin typeface="Roboto"/>
                <a:ea typeface="Roboto"/>
                <a:cs typeface="Roboto"/>
                <a:sym typeface="Roboto"/>
              </a:rPr>
              <a:t> la tabla de configuración realizada para tinkercad tenemos: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74" name="Google Shape;274;p35"/>
          <p:cNvGraphicFramePr/>
          <p:nvPr/>
        </p:nvGraphicFramePr>
        <p:xfrm>
          <a:off x="2219475" y="2487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{946E9B57-4B1A-4FDC-A7E0-AD94A1BF6DA2}</a:tableStyleId>
              </a:tblPr>
              <a:tblGrid>
                <a:gridCol w="1399775"/>
                <a:gridCol w="1399775"/>
                <a:gridCol w="1399775"/>
              </a:tblGrid>
              <a:tr h="34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Arduino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L293D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Función L293D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1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Enable Motor 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4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Input 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Input 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15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Input 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Input 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Pin 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Enable Motor B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75" name="Google Shape;2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725" y="938038"/>
            <a:ext cx="614362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probar el funcionamiento de los Motores realice lo siguiente:</a:t>
            </a:r>
            <a:endParaRPr/>
          </a:p>
        </p:txBody>
      </p:sp>
      <p:sp>
        <p:nvSpPr>
          <p:cNvPr id="281" name="Google Shape;281;p36"/>
          <p:cNvSpPr txBox="1"/>
          <p:nvPr/>
        </p:nvSpPr>
        <p:spPr>
          <a:xfrm>
            <a:off x="269825" y="965550"/>
            <a:ext cx="81729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lphaLcPeriod" startAt="4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Para probar los motores se 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utilizará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 el bloque Mover, configurando el motor A hacia adelante y el motor B hacia 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atrás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: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lphaLcPeriod" startAt="4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Simule en Tinkercad, de observar un motor girando al sentido contrario del otro, uno con valor positivo en la velocidad y el otro negativo. Una vez comprobado que los motores y sensores funcionan correctamente por separado, realice el siguiente programa para probar el funcionamiento de ambos en conjunto: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2" name="Google Shape;28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350" y="1717500"/>
            <a:ext cx="532447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Vamos a probar el Montaje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698450" y="881225"/>
            <a:ext cx="7411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Recordemos que: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El sensor de luz</a:t>
            </a: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 envía un ALTO ó ON ó 1, cuando no hay luz.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El sensor infrarrojo </a:t>
            </a: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envía un BAJO ó OFF ó 0, cuando hay luz.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Realizar en Arduino Blocks un programa que: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 el sensor de luz derecho recibe luz enciende el motor A hacia adelante.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 el sensor de luz izquierdo recibe luz enciende el motor B hacia adelante.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En cualquier otro caso </a:t>
            </a: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están</a:t>
            </a: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 apagados.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Vamos a probar el Montaje</a:t>
            </a:r>
            <a:endParaRPr/>
          </a:p>
        </p:txBody>
      </p:sp>
      <p:sp>
        <p:nvSpPr>
          <p:cNvPr id="294" name="Google Shape;294;p38"/>
          <p:cNvSpPr txBox="1"/>
          <p:nvPr/>
        </p:nvSpPr>
        <p:spPr>
          <a:xfrm>
            <a:off x="698450" y="751125"/>
            <a:ext cx="7411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En Arduino Blocks: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Complete y Simule en Tinkercad: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5" name="Google Shape;2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75" y="1371751"/>
            <a:ext cx="4930399" cy="355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1275" y="2119151"/>
            <a:ext cx="3924001" cy="21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 Adicional</a:t>
            </a:r>
            <a:endParaRPr/>
          </a:p>
        </p:txBody>
      </p:sp>
      <p:sp>
        <p:nvSpPr>
          <p:cNvPr id="302" name="Google Shape;302;p39"/>
          <p:cNvSpPr txBox="1"/>
          <p:nvPr/>
        </p:nvSpPr>
        <p:spPr>
          <a:xfrm>
            <a:off x="732300" y="1174125"/>
            <a:ext cx="7411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Modifique el programa para que realice: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 el sensor izquierdo recibe luz mueva el motor B hacia adelante y en caso contrario lo mueva hacia atrás.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 el sensor derecho recibe luz mueva el motor A hacia atrás y en caso contrario lo mueva hacia adelante.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 Adicional 02</a:t>
            </a:r>
            <a:endParaRPr/>
          </a:p>
        </p:txBody>
      </p:sp>
      <p:sp>
        <p:nvSpPr>
          <p:cNvPr id="308" name="Google Shape;308;p40"/>
          <p:cNvSpPr txBox="1"/>
          <p:nvPr/>
        </p:nvSpPr>
        <p:spPr>
          <a:xfrm>
            <a:off x="650650" y="765925"/>
            <a:ext cx="74118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Modifique el programa para que realice: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 el sensor izquierdo recibe luz y el sensor derecho recibe luz, </a:t>
            </a: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mover los motores</a:t>
            </a: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 A y B hacia adelante.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 el sensor izquierdo no recibe luz y el sensor derecho no recibe luz, mover los motores A y B hacia atrás.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 el sensor derecho recibe luz y el sensor izquierdo no recibe luz mueva el motor A hacia adelante y el motor B se detiene.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 el sensor derecho no recibe luz y el sensor izquierdo recibe luz mueva el motor B hacia adelante y el motor A se detiene.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Entregas por Plataforma</a:t>
            </a:r>
            <a:endParaRPr/>
          </a:p>
        </p:txBody>
      </p:sp>
      <p:sp>
        <p:nvSpPr>
          <p:cNvPr id="314" name="Google Shape;314;p41"/>
          <p:cNvSpPr txBox="1"/>
          <p:nvPr/>
        </p:nvSpPr>
        <p:spPr>
          <a:xfrm>
            <a:off x="866100" y="727175"/>
            <a:ext cx="74118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Envíe el enlace de tinkercad y los programas de Arduino Blocks que desarrolló durante la clase identificados como: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Prueba de Sensores </a:t>
            </a:r>
            <a:r>
              <a:rPr lang="es-419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láminas 15 a la 21.</a:t>
            </a:r>
            <a:endParaRPr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Prueba de Motores  </a:t>
            </a:r>
            <a:r>
              <a:rPr lang="es-419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láminas 22 a la 24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Prueba de Motores y Sensores </a:t>
            </a:r>
            <a:r>
              <a:rPr lang="es-419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láminas 25 a 26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Adicional o extra: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Prueba de Motores y Sensores 02 </a:t>
            </a:r>
            <a:r>
              <a:rPr lang="es-419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lámina 27</a:t>
            </a:r>
            <a:endParaRPr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Prueba de Motores y Sensores 03 </a:t>
            </a:r>
            <a:r>
              <a:rPr lang="es-419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lámina 28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En Momento 02&gt; Avance 02 &gt; Evaluación</a:t>
            </a:r>
            <a:r>
              <a:rPr lang="es-419" sz="2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&gt; Entrega Práctica M2A2C2</a:t>
            </a:r>
            <a:endParaRPr sz="2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