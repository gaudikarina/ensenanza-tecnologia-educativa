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7750A1-F948-4B67-8F42-50D92C200CD6}">
  <a:tblStyle styleId="{E87750A1-F948-4B67-8F42-50D92C200C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07e4a41af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07e4a41af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07e4a41af1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07e4a41af1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07e4a41af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07e4a41af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07e4a41af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07e4a41af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07e4a41af1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07e4a41af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07e4a41af1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07e4a41af1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07e4a41af1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07e4a41af1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07e4a41af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07e4a41af1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07e4a41af1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07e4a41af1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07e4a41af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07e4a41af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07e4a41af1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07e4a41af1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07e4a41af1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07e4a41af1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07e4a41af1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07e4a41af1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07e4a41af1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07e4a41af1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07e4a41af1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07e4a41af1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07e4a41af1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07e4a41af1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dccd15ca1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dccd15ca1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07e4a41af1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07e4a41af1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07e4a41af1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07e4a41af1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07e4a41af1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07e4a41af1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www.youtube.com/watch?v=c0L4gNKwjRw" TargetMode="External"/><Relationship Id="rId4"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Robot seguidor de línea</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Programación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Robot seguidor de línea</a:t>
            </a:r>
            <a:endParaRPr/>
          </a:p>
        </p:txBody>
      </p:sp>
      <p:sp>
        <p:nvSpPr>
          <p:cNvPr id="74" name="Google Shape;74;p14"/>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935"/>
              <a:buNone/>
            </a:pPr>
            <a:r>
              <a:rPr b="1" lang="es-419" sz="1290"/>
              <a:t>Sensor Infrarrojo:</a:t>
            </a:r>
            <a:r>
              <a:rPr lang="es-419" sz="1290"/>
              <a:t> Módulo TCRT5000</a:t>
            </a:r>
            <a:endParaRPr sz="1290"/>
          </a:p>
          <a:p>
            <a:pPr indent="0" lvl="0" marL="0" rtl="0" algn="just">
              <a:lnSpc>
                <a:spcPct val="95000"/>
              </a:lnSpc>
              <a:spcBef>
                <a:spcPts val="1200"/>
              </a:spcBef>
              <a:spcAft>
                <a:spcPts val="0"/>
              </a:spcAft>
              <a:buSzPts val="935"/>
              <a:buNone/>
            </a:pPr>
            <a:r>
              <a:rPr lang="es-419" sz="1290"/>
              <a:t>Detecta color y distancia. Su funcionamiento se basa en la emisión de un haz infrarrojo ( diodo infrarrojo emisor) y la recepción del reflejo del mismo en un fotodiodo, el cual emite una señal dependiendo de la intensidad de luz roja recibida.</a:t>
            </a:r>
            <a:endParaRPr sz="1290"/>
          </a:p>
          <a:p>
            <a:pPr indent="0" lvl="0" marL="0" rtl="0" algn="just">
              <a:lnSpc>
                <a:spcPct val="95000"/>
              </a:lnSpc>
              <a:spcBef>
                <a:spcPts val="1200"/>
              </a:spcBef>
              <a:spcAft>
                <a:spcPts val="0"/>
              </a:spcAft>
              <a:buSzPts val="935"/>
              <a:buNone/>
            </a:pPr>
            <a:r>
              <a:rPr lang="es-419" sz="1290"/>
              <a:t>El diodo infrarrojo emite continuamente cuando el </a:t>
            </a:r>
            <a:r>
              <a:rPr lang="es-419" sz="1290"/>
              <a:t>módulo</a:t>
            </a:r>
            <a:r>
              <a:rPr lang="es-419" sz="1290"/>
              <a:t> </a:t>
            </a:r>
            <a:r>
              <a:rPr lang="es-419" sz="1290"/>
              <a:t>está</a:t>
            </a:r>
            <a:r>
              <a:rPr lang="es-419" sz="1290"/>
              <a:t> conectado a la alimentación, cuando el rayo infrarrojo emitido no ha sido reflejado o la fuerza del haz reflejado no es suficientemente grande, el triodo estará apagado. </a:t>
            </a:r>
            <a:endParaRPr sz="1290"/>
          </a:p>
          <a:p>
            <a:pPr indent="0" lvl="0" marL="0" rtl="0" algn="just">
              <a:lnSpc>
                <a:spcPct val="95000"/>
              </a:lnSpc>
              <a:spcBef>
                <a:spcPts val="1200"/>
              </a:spcBef>
              <a:spcAft>
                <a:spcPts val="1200"/>
              </a:spcAft>
              <a:buSzPts val="935"/>
              <a:buNone/>
            </a:pPr>
            <a:r>
              <a:t/>
            </a:r>
            <a:endParaRPr b="1" sz="1290"/>
          </a:p>
        </p:txBody>
      </p:sp>
      <p:pic>
        <p:nvPicPr>
          <p:cNvPr id="75" name="Google Shape;75;p14"/>
          <p:cNvPicPr preferRelativeResize="0"/>
          <p:nvPr/>
        </p:nvPicPr>
        <p:blipFill>
          <a:blip r:embed="rId3">
            <a:alphaModFix/>
          </a:blip>
          <a:stretch>
            <a:fillRect/>
          </a:stretch>
        </p:blipFill>
        <p:spPr>
          <a:xfrm>
            <a:off x="4694249" y="1925138"/>
            <a:ext cx="3043150" cy="1293225"/>
          </a:xfrm>
          <a:prstGeom prst="rect">
            <a:avLst/>
          </a:prstGeom>
          <a:noFill/>
          <a:ln>
            <a:noFill/>
          </a:ln>
        </p:spPr>
      </p:pic>
      <p:pic>
        <p:nvPicPr>
          <p:cNvPr id="76" name="Google Shape;76;p14"/>
          <p:cNvPicPr preferRelativeResize="0"/>
          <p:nvPr/>
        </p:nvPicPr>
        <p:blipFill>
          <a:blip r:embed="rId4">
            <a:alphaModFix/>
          </a:blip>
          <a:stretch>
            <a:fillRect/>
          </a:stretch>
        </p:blipFill>
        <p:spPr>
          <a:xfrm>
            <a:off x="5387950" y="3312675"/>
            <a:ext cx="3043150" cy="16699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Funcionamiento Diodo Infrarrojo y Fotodiodo</a:t>
            </a:r>
            <a:endParaRPr/>
          </a:p>
        </p:txBody>
      </p:sp>
      <p:sp>
        <p:nvSpPr>
          <p:cNvPr id="82" name="Google Shape;82;p15"/>
          <p:cNvSpPr/>
          <p:nvPr/>
        </p:nvSpPr>
        <p:spPr>
          <a:xfrm>
            <a:off x="3175425" y="2134875"/>
            <a:ext cx="756000" cy="2610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 name="Google Shape;83;p15"/>
          <p:cNvPicPr preferRelativeResize="0"/>
          <p:nvPr/>
        </p:nvPicPr>
        <p:blipFill rotWithShape="1">
          <a:blip r:embed="rId3">
            <a:alphaModFix/>
          </a:blip>
          <a:srcRect b="0" l="0" r="0" t="0"/>
          <a:stretch/>
        </p:blipFill>
        <p:spPr>
          <a:xfrm rot="5400000">
            <a:off x="322150" y="1952100"/>
            <a:ext cx="2943225" cy="2838450"/>
          </a:xfrm>
          <a:prstGeom prst="rect">
            <a:avLst/>
          </a:prstGeom>
          <a:noFill/>
          <a:ln>
            <a:noFill/>
          </a:ln>
        </p:spPr>
      </p:pic>
      <p:sp>
        <p:nvSpPr>
          <p:cNvPr id="84" name="Google Shape;84;p15"/>
          <p:cNvSpPr txBox="1"/>
          <p:nvPr/>
        </p:nvSpPr>
        <p:spPr>
          <a:xfrm>
            <a:off x="727425" y="701738"/>
            <a:ext cx="30510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a:latin typeface="Roboto"/>
                <a:ea typeface="Roboto"/>
                <a:cs typeface="Roboto"/>
                <a:sym typeface="Roboto"/>
              </a:rPr>
              <a:t>La superficie</a:t>
            </a:r>
            <a:r>
              <a:rPr lang="es-419">
                <a:latin typeface="Roboto"/>
                <a:ea typeface="Roboto"/>
                <a:cs typeface="Roboto"/>
                <a:sym typeface="Roboto"/>
              </a:rPr>
              <a:t> clara refleja casi toda la luz, el sensor recibe gran parte de la luz emitida, la distancia </a:t>
            </a:r>
            <a:r>
              <a:rPr lang="es-419">
                <a:latin typeface="Roboto"/>
                <a:ea typeface="Roboto"/>
                <a:cs typeface="Roboto"/>
                <a:sym typeface="Roboto"/>
              </a:rPr>
              <a:t>influye, es importante</a:t>
            </a:r>
            <a:r>
              <a:rPr lang="es-419">
                <a:latin typeface="Roboto"/>
                <a:ea typeface="Roboto"/>
                <a:cs typeface="Roboto"/>
                <a:sym typeface="Roboto"/>
              </a:rPr>
              <a:t> que el sensor </a:t>
            </a:r>
            <a:r>
              <a:rPr lang="es-419">
                <a:latin typeface="Roboto"/>
                <a:ea typeface="Roboto"/>
                <a:cs typeface="Roboto"/>
                <a:sym typeface="Roboto"/>
              </a:rPr>
              <a:t>esté</a:t>
            </a:r>
            <a:r>
              <a:rPr lang="es-419">
                <a:latin typeface="Roboto"/>
                <a:ea typeface="Roboto"/>
                <a:cs typeface="Roboto"/>
                <a:sym typeface="Roboto"/>
              </a:rPr>
              <a:t> cerca de la superficie a detectar.</a:t>
            </a:r>
            <a:endParaRPr>
              <a:latin typeface="Roboto"/>
              <a:ea typeface="Roboto"/>
              <a:cs typeface="Roboto"/>
              <a:sym typeface="Roboto"/>
            </a:endParaRPr>
          </a:p>
          <a:p>
            <a:pPr indent="0" lvl="0" marL="0" rtl="0" algn="l">
              <a:lnSpc>
                <a:spcPct val="115000"/>
              </a:lnSpc>
              <a:spcBef>
                <a:spcPts val="0"/>
              </a:spcBef>
              <a:spcAft>
                <a:spcPts val="0"/>
              </a:spcAft>
              <a:buNone/>
            </a:pPr>
            <a:r>
              <a:rPr b="1" lang="es-419">
                <a:solidFill>
                  <a:srgbClr val="FF0000"/>
                </a:solidFill>
                <a:latin typeface="Roboto"/>
                <a:ea typeface="Roboto"/>
                <a:cs typeface="Roboto"/>
                <a:sym typeface="Roboto"/>
              </a:rPr>
              <a:t>El módulo </a:t>
            </a:r>
            <a:r>
              <a:rPr b="1" lang="es-419">
                <a:solidFill>
                  <a:srgbClr val="FF0000"/>
                </a:solidFill>
                <a:latin typeface="Roboto"/>
                <a:ea typeface="Roboto"/>
                <a:cs typeface="Roboto"/>
                <a:sym typeface="Roboto"/>
              </a:rPr>
              <a:t>envía</a:t>
            </a:r>
            <a:r>
              <a:rPr b="1" lang="es-419">
                <a:solidFill>
                  <a:srgbClr val="FF0000"/>
                </a:solidFill>
                <a:latin typeface="Roboto"/>
                <a:ea typeface="Roboto"/>
                <a:cs typeface="Roboto"/>
                <a:sym typeface="Roboto"/>
              </a:rPr>
              <a:t> un 0</a:t>
            </a:r>
            <a:endParaRPr b="1">
              <a:solidFill>
                <a:srgbClr val="FF0000"/>
              </a:solidFill>
              <a:latin typeface="Roboto"/>
              <a:ea typeface="Roboto"/>
              <a:cs typeface="Roboto"/>
              <a:sym typeface="Roboto"/>
            </a:endParaRPr>
          </a:p>
        </p:txBody>
      </p:sp>
      <p:sp>
        <p:nvSpPr>
          <p:cNvPr id="85" name="Google Shape;85;p15"/>
          <p:cNvSpPr/>
          <p:nvPr/>
        </p:nvSpPr>
        <p:spPr>
          <a:xfrm>
            <a:off x="7460025" y="2175075"/>
            <a:ext cx="756000" cy="2610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 name="Google Shape;86;p15"/>
          <p:cNvPicPr preferRelativeResize="0"/>
          <p:nvPr/>
        </p:nvPicPr>
        <p:blipFill rotWithShape="1">
          <a:blip r:embed="rId3">
            <a:alphaModFix/>
          </a:blip>
          <a:srcRect b="0" l="0" r="0" t="0"/>
          <a:stretch/>
        </p:blipFill>
        <p:spPr>
          <a:xfrm rot="5400000">
            <a:off x="4606750" y="1992300"/>
            <a:ext cx="2943225" cy="2838450"/>
          </a:xfrm>
          <a:prstGeom prst="rect">
            <a:avLst/>
          </a:prstGeom>
          <a:noFill/>
          <a:ln>
            <a:noFill/>
          </a:ln>
        </p:spPr>
      </p:pic>
      <p:sp>
        <p:nvSpPr>
          <p:cNvPr id="87" name="Google Shape;87;p15"/>
          <p:cNvSpPr txBox="1"/>
          <p:nvPr/>
        </p:nvSpPr>
        <p:spPr>
          <a:xfrm>
            <a:off x="5012025" y="741938"/>
            <a:ext cx="30510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a:latin typeface="Roboto"/>
                <a:ea typeface="Roboto"/>
                <a:cs typeface="Roboto"/>
                <a:sym typeface="Roboto"/>
              </a:rPr>
              <a:t>La superficie </a:t>
            </a:r>
            <a:r>
              <a:rPr lang="es-419">
                <a:latin typeface="Roboto"/>
                <a:ea typeface="Roboto"/>
                <a:cs typeface="Roboto"/>
                <a:sym typeface="Roboto"/>
              </a:rPr>
              <a:t>oscura</a:t>
            </a:r>
            <a:r>
              <a:rPr lang="es-419">
                <a:latin typeface="Roboto"/>
                <a:ea typeface="Roboto"/>
                <a:cs typeface="Roboto"/>
                <a:sym typeface="Roboto"/>
              </a:rPr>
              <a:t> </a:t>
            </a:r>
            <a:r>
              <a:rPr lang="es-419">
                <a:latin typeface="Roboto"/>
                <a:ea typeface="Roboto"/>
                <a:cs typeface="Roboto"/>
                <a:sym typeface="Roboto"/>
              </a:rPr>
              <a:t>absorbe</a:t>
            </a:r>
            <a:r>
              <a:rPr lang="es-419">
                <a:latin typeface="Roboto"/>
                <a:ea typeface="Roboto"/>
                <a:cs typeface="Roboto"/>
                <a:sym typeface="Roboto"/>
              </a:rPr>
              <a:t> casi toda la luz, el sensor no recibe nada, la distancia influye, es importante que el sensor esté cerca de la superficie a detectar.</a:t>
            </a:r>
            <a:endParaRPr>
              <a:latin typeface="Roboto"/>
              <a:ea typeface="Roboto"/>
              <a:cs typeface="Roboto"/>
              <a:sym typeface="Roboto"/>
            </a:endParaRPr>
          </a:p>
          <a:p>
            <a:pPr indent="0" lvl="0" marL="0" rtl="0" algn="l">
              <a:lnSpc>
                <a:spcPct val="115000"/>
              </a:lnSpc>
              <a:spcBef>
                <a:spcPts val="0"/>
              </a:spcBef>
              <a:spcAft>
                <a:spcPts val="0"/>
              </a:spcAft>
              <a:buNone/>
            </a:pPr>
            <a:r>
              <a:rPr b="1" lang="es-419">
                <a:solidFill>
                  <a:srgbClr val="FF0000"/>
                </a:solidFill>
                <a:latin typeface="Roboto"/>
                <a:ea typeface="Roboto"/>
                <a:cs typeface="Roboto"/>
                <a:sym typeface="Roboto"/>
              </a:rPr>
              <a:t>El módulo envía un 1</a:t>
            </a:r>
            <a:endParaRPr b="1">
              <a:solidFill>
                <a:srgbClr val="FF0000"/>
              </a:solidFill>
              <a:latin typeface="Roboto"/>
              <a:ea typeface="Roboto"/>
              <a:cs typeface="Roboto"/>
              <a:sym typeface="Roboto"/>
            </a:endParaRPr>
          </a:p>
        </p:txBody>
      </p:sp>
      <p:sp>
        <p:nvSpPr>
          <p:cNvPr id="88" name="Google Shape;88;p15"/>
          <p:cNvSpPr/>
          <p:nvPr/>
        </p:nvSpPr>
        <p:spPr>
          <a:xfrm>
            <a:off x="6815150" y="3435125"/>
            <a:ext cx="645000" cy="734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94" name="Google Shape;94;p16"/>
          <p:cNvSpPr txBox="1"/>
          <p:nvPr/>
        </p:nvSpPr>
        <p:spPr>
          <a:xfrm>
            <a:off x="727425" y="701738"/>
            <a:ext cx="30510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a:latin typeface="Roboto"/>
                <a:ea typeface="Roboto"/>
                <a:cs typeface="Roboto"/>
                <a:sym typeface="Roboto"/>
              </a:rPr>
              <a:t>En el robot se utilizarán dos sensores juntos. Y se tendrá una pista con una línea negra</a:t>
            </a:r>
            <a:endParaRPr b="1">
              <a:solidFill>
                <a:srgbClr val="FF0000"/>
              </a:solidFill>
              <a:latin typeface="Roboto"/>
              <a:ea typeface="Roboto"/>
              <a:cs typeface="Roboto"/>
              <a:sym typeface="Roboto"/>
            </a:endParaRPr>
          </a:p>
        </p:txBody>
      </p:sp>
      <p:pic>
        <p:nvPicPr>
          <p:cNvPr id="95" name="Google Shape;95;p16"/>
          <p:cNvPicPr preferRelativeResize="0"/>
          <p:nvPr/>
        </p:nvPicPr>
        <p:blipFill>
          <a:blip r:embed="rId3">
            <a:alphaModFix/>
          </a:blip>
          <a:stretch>
            <a:fillRect/>
          </a:stretch>
        </p:blipFill>
        <p:spPr>
          <a:xfrm rot="5400000">
            <a:off x="1249250" y="2542000"/>
            <a:ext cx="3043150" cy="1669924"/>
          </a:xfrm>
          <a:prstGeom prst="rect">
            <a:avLst/>
          </a:prstGeom>
          <a:noFill/>
          <a:ln>
            <a:noFill/>
          </a:ln>
        </p:spPr>
      </p:pic>
      <p:pic>
        <p:nvPicPr>
          <p:cNvPr id="96" name="Google Shape;96;p16"/>
          <p:cNvPicPr preferRelativeResize="0"/>
          <p:nvPr/>
        </p:nvPicPr>
        <p:blipFill>
          <a:blip r:embed="rId3">
            <a:alphaModFix/>
          </a:blip>
          <a:stretch>
            <a:fillRect/>
          </a:stretch>
        </p:blipFill>
        <p:spPr>
          <a:xfrm rot="5400000">
            <a:off x="-420650" y="2542000"/>
            <a:ext cx="3043150" cy="1669924"/>
          </a:xfrm>
          <a:prstGeom prst="rect">
            <a:avLst/>
          </a:prstGeom>
          <a:noFill/>
          <a:ln>
            <a:noFill/>
          </a:ln>
        </p:spPr>
      </p:pic>
      <p:grpSp>
        <p:nvGrpSpPr>
          <p:cNvPr id="97" name="Google Shape;97;p16"/>
          <p:cNvGrpSpPr/>
          <p:nvPr/>
        </p:nvGrpSpPr>
        <p:grpSpPr>
          <a:xfrm>
            <a:off x="5740325" y="890963"/>
            <a:ext cx="1629000" cy="909000"/>
            <a:chOff x="5560325" y="890975"/>
            <a:chExt cx="1629000" cy="909000"/>
          </a:xfrm>
        </p:grpSpPr>
        <p:sp>
          <p:nvSpPr>
            <p:cNvPr id="98" name="Google Shape;98;p16"/>
            <p:cNvSpPr/>
            <p:nvPr/>
          </p:nvSpPr>
          <p:spPr>
            <a:xfrm>
              <a:off x="5560325" y="890975"/>
              <a:ext cx="1629000" cy="90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16"/>
            <p:cNvGrpSpPr/>
            <p:nvPr/>
          </p:nvGrpSpPr>
          <p:grpSpPr>
            <a:xfrm>
              <a:off x="5677325" y="1145350"/>
              <a:ext cx="675000" cy="370200"/>
              <a:chOff x="5677325" y="1145350"/>
              <a:chExt cx="675000" cy="370200"/>
            </a:xfrm>
          </p:grpSpPr>
          <p:sp>
            <p:nvSpPr>
              <p:cNvPr id="100" name="Google Shape;100;p16"/>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16"/>
            <p:cNvGrpSpPr/>
            <p:nvPr/>
          </p:nvGrpSpPr>
          <p:grpSpPr>
            <a:xfrm>
              <a:off x="6450725" y="1160363"/>
              <a:ext cx="675000" cy="370200"/>
              <a:chOff x="5677325" y="1145350"/>
              <a:chExt cx="675000" cy="370200"/>
            </a:xfrm>
          </p:grpSpPr>
          <p:sp>
            <p:nvSpPr>
              <p:cNvPr id="104" name="Google Shape;104;p16"/>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07" name="Google Shape;107;p16"/>
          <p:cNvPicPr preferRelativeResize="0"/>
          <p:nvPr/>
        </p:nvPicPr>
        <p:blipFill>
          <a:blip r:embed="rId4">
            <a:alphaModFix/>
          </a:blip>
          <a:stretch>
            <a:fillRect/>
          </a:stretch>
        </p:blipFill>
        <p:spPr>
          <a:xfrm>
            <a:off x="3778437" y="2005288"/>
            <a:ext cx="5233412" cy="274332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p:nvPr/>
        </p:nvSpPr>
        <p:spPr>
          <a:xfrm>
            <a:off x="3274425" y="2571750"/>
            <a:ext cx="1818000" cy="1809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114" name="Google Shape;114;p17"/>
          <p:cNvSpPr txBox="1"/>
          <p:nvPr/>
        </p:nvSpPr>
        <p:spPr>
          <a:xfrm>
            <a:off x="727425" y="701738"/>
            <a:ext cx="3051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800">
                <a:latin typeface="Roboto"/>
                <a:ea typeface="Roboto"/>
                <a:cs typeface="Roboto"/>
                <a:sym typeface="Roboto"/>
              </a:rPr>
              <a:t>Cuatro posibles escenarios: </a:t>
            </a:r>
            <a:endParaRPr b="1" sz="1800">
              <a:solidFill>
                <a:srgbClr val="FF0000"/>
              </a:solidFill>
              <a:latin typeface="Roboto"/>
              <a:ea typeface="Roboto"/>
              <a:cs typeface="Roboto"/>
              <a:sym typeface="Roboto"/>
            </a:endParaRPr>
          </a:p>
        </p:txBody>
      </p:sp>
      <p:grpSp>
        <p:nvGrpSpPr>
          <p:cNvPr id="115" name="Google Shape;115;p17"/>
          <p:cNvGrpSpPr/>
          <p:nvPr/>
        </p:nvGrpSpPr>
        <p:grpSpPr>
          <a:xfrm>
            <a:off x="2424225" y="3021738"/>
            <a:ext cx="1629000" cy="909000"/>
            <a:chOff x="5560325" y="890975"/>
            <a:chExt cx="1629000" cy="909000"/>
          </a:xfrm>
        </p:grpSpPr>
        <p:sp>
          <p:nvSpPr>
            <p:cNvPr id="116" name="Google Shape;116;p17"/>
            <p:cNvSpPr/>
            <p:nvPr/>
          </p:nvSpPr>
          <p:spPr>
            <a:xfrm>
              <a:off x="5560325" y="890975"/>
              <a:ext cx="1629000" cy="90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 name="Google Shape;117;p17"/>
            <p:cNvGrpSpPr/>
            <p:nvPr/>
          </p:nvGrpSpPr>
          <p:grpSpPr>
            <a:xfrm>
              <a:off x="5677325" y="1145350"/>
              <a:ext cx="675000" cy="370200"/>
              <a:chOff x="5677325" y="1145350"/>
              <a:chExt cx="675000" cy="370200"/>
            </a:xfrm>
          </p:grpSpPr>
          <p:sp>
            <p:nvSpPr>
              <p:cNvPr id="118" name="Google Shape;118;p17"/>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7"/>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7"/>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 name="Google Shape;121;p17"/>
            <p:cNvGrpSpPr/>
            <p:nvPr/>
          </p:nvGrpSpPr>
          <p:grpSpPr>
            <a:xfrm>
              <a:off x="6450725" y="1160363"/>
              <a:ext cx="675000" cy="370200"/>
              <a:chOff x="5677325" y="1145350"/>
              <a:chExt cx="675000" cy="370200"/>
            </a:xfrm>
          </p:grpSpPr>
          <p:sp>
            <p:nvSpPr>
              <p:cNvPr id="122" name="Google Shape;122;p17"/>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7"/>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17"/>
          <p:cNvSpPr txBox="1"/>
          <p:nvPr/>
        </p:nvSpPr>
        <p:spPr>
          <a:xfrm>
            <a:off x="619425" y="1413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01: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blanco </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negro</a:t>
            </a:r>
            <a:endParaRPr>
              <a:latin typeface="Roboto"/>
              <a:ea typeface="Roboto"/>
              <a:cs typeface="Roboto"/>
              <a:sym typeface="Roboto"/>
            </a:endParaRPr>
          </a:p>
        </p:txBody>
      </p:sp>
      <p:sp>
        <p:nvSpPr>
          <p:cNvPr id="126" name="Google Shape;126;p17"/>
          <p:cNvSpPr txBox="1"/>
          <p:nvPr/>
        </p:nvSpPr>
        <p:spPr>
          <a:xfrm>
            <a:off x="6271425" y="1494225"/>
            <a:ext cx="25824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Girar a la derecha</a:t>
            </a:r>
            <a:endParaRPr>
              <a:latin typeface="Roboto"/>
              <a:ea typeface="Roboto"/>
              <a:cs typeface="Roboto"/>
              <a:sym typeface="Roboto"/>
            </a:endParaRPr>
          </a:p>
        </p:txBody>
      </p:sp>
      <p:sp>
        <p:nvSpPr>
          <p:cNvPr id="127" name="Google Shape;127;p17"/>
          <p:cNvSpPr/>
          <p:nvPr/>
        </p:nvSpPr>
        <p:spPr>
          <a:xfrm>
            <a:off x="6415425" y="2364750"/>
            <a:ext cx="1719000" cy="1964400"/>
          </a:xfrm>
          <a:prstGeom prst="bentArrow">
            <a:avLst>
              <a:gd fmla="val 25000" name="adj1"/>
              <a:gd fmla="val 25000" name="adj2"/>
              <a:gd fmla="val 25000" name="adj3"/>
              <a:gd fmla="val 43750" name="adj4"/>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p:nvPr/>
        </p:nvSpPr>
        <p:spPr>
          <a:xfrm>
            <a:off x="2311425" y="2571750"/>
            <a:ext cx="1818000" cy="1809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134" name="Google Shape;134;p18"/>
          <p:cNvSpPr txBox="1"/>
          <p:nvPr/>
        </p:nvSpPr>
        <p:spPr>
          <a:xfrm>
            <a:off x="727425" y="701738"/>
            <a:ext cx="3051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800">
                <a:latin typeface="Roboto"/>
                <a:ea typeface="Roboto"/>
                <a:cs typeface="Roboto"/>
                <a:sym typeface="Roboto"/>
              </a:rPr>
              <a:t>Cuatro</a:t>
            </a:r>
            <a:r>
              <a:rPr lang="es-419" sz="1800">
                <a:latin typeface="Roboto"/>
                <a:ea typeface="Roboto"/>
                <a:cs typeface="Roboto"/>
                <a:sym typeface="Roboto"/>
              </a:rPr>
              <a:t> posibles escenarios: </a:t>
            </a:r>
            <a:endParaRPr b="1" sz="1800">
              <a:solidFill>
                <a:srgbClr val="FF0000"/>
              </a:solidFill>
              <a:latin typeface="Roboto"/>
              <a:ea typeface="Roboto"/>
              <a:cs typeface="Roboto"/>
              <a:sym typeface="Roboto"/>
            </a:endParaRPr>
          </a:p>
        </p:txBody>
      </p:sp>
      <p:grpSp>
        <p:nvGrpSpPr>
          <p:cNvPr id="135" name="Google Shape;135;p18"/>
          <p:cNvGrpSpPr/>
          <p:nvPr/>
        </p:nvGrpSpPr>
        <p:grpSpPr>
          <a:xfrm>
            <a:off x="3279225" y="3075738"/>
            <a:ext cx="1629000" cy="909000"/>
            <a:chOff x="5560325" y="890975"/>
            <a:chExt cx="1629000" cy="909000"/>
          </a:xfrm>
        </p:grpSpPr>
        <p:sp>
          <p:nvSpPr>
            <p:cNvPr id="136" name="Google Shape;136;p18"/>
            <p:cNvSpPr/>
            <p:nvPr/>
          </p:nvSpPr>
          <p:spPr>
            <a:xfrm>
              <a:off x="5560325" y="890975"/>
              <a:ext cx="1629000" cy="90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 name="Google Shape;137;p18"/>
            <p:cNvGrpSpPr/>
            <p:nvPr/>
          </p:nvGrpSpPr>
          <p:grpSpPr>
            <a:xfrm>
              <a:off x="5677325" y="1145350"/>
              <a:ext cx="675000" cy="370200"/>
              <a:chOff x="5677325" y="1145350"/>
              <a:chExt cx="675000" cy="370200"/>
            </a:xfrm>
          </p:grpSpPr>
          <p:sp>
            <p:nvSpPr>
              <p:cNvPr id="138" name="Google Shape;138;p18"/>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8"/>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18"/>
            <p:cNvGrpSpPr/>
            <p:nvPr/>
          </p:nvGrpSpPr>
          <p:grpSpPr>
            <a:xfrm>
              <a:off x="6450725" y="1160363"/>
              <a:ext cx="675000" cy="370200"/>
              <a:chOff x="5677325" y="1145350"/>
              <a:chExt cx="675000" cy="370200"/>
            </a:xfrm>
          </p:grpSpPr>
          <p:sp>
            <p:nvSpPr>
              <p:cNvPr id="142" name="Google Shape;142;p18"/>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8"/>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5" name="Google Shape;145;p18"/>
          <p:cNvSpPr txBox="1"/>
          <p:nvPr/>
        </p:nvSpPr>
        <p:spPr>
          <a:xfrm>
            <a:off x="619425" y="1413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02: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negro</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blanco</a:t>
            </a:r>
            <a:endParaRPr>
              <a:latin typeface="Roboto"/>
              <a:ea typeface="Roboto"/>
              <a:cs typeface="Roboto"/>
              <a:sym typeface="Roboto"/>
            </a:endParaRPr>
          </a:p>
        </p:txBody>
      </p:sp>
      <p:sp>
        <p:nvSpPr>
          <p:cNvPr id="146" name="Google Shape;146;p18"/>
          <p:cNvSpPr txBox="1"/>
          <p:nvPr/>
        </p:nvSpPr>
        <p:spPr>
          <a:xfrm>
            <a:off x="6271425" y="1494225"/>
            <a:ext cx="25824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Girar a la izquierda</a:t>
            </a:r>
            <a:endParaRPr>
              <a:latin typeface="Roboto"/>
              <a:ea typeface="Roboto"/>
              <a:cs typeface="Roboto"/>
              <a:sym typeface="Roboto"/>
            </a:endParaRPr>
          </a:p>
        </p:txBody>
      </p:sp>
      <p:sp>
        <p:nvSpPr>
          <p:cNvPr id="147" name="Google Shape;147;p18"/>
          <p:cNvSpPr/>
          <p:nvPr/>
        </p:nvSpPr>
        <p:spPr>
          <a:xfrm flipH="1" rot="-60000">
            <a:off x="6415467" y="2364750"/>
            <a:ext cx="1718962" cy="1964398"/>
          </a:xfrm>
          <a:prstGeom prst="bentArrow">
            <a:avLst>
              <a:gd fmla="val 25000" name="adj1"/>
              <a:gd fmla="val 25000" name="adj2"/>
              <a:gd fmla="val 25000" name="adj3"/>
              <a:gd fmla="val 43750" name="adj4"/>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9"/>
          <p:cNvSpPr/>
          <p:nvPr/>
        </p:nvSpPr>
        <p:spPr>
          <a:xfrm>
            <a:off x="2311425" y="2571750"/>
            <a:ext cx="1818000" cy="1809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9"/>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154" name="Google Shape;154;p19"/>
          <p:cNvSpPr txBox="1"/>
          <p:nvPr/>
        </p:nvSpPr>
        <p:spPr>
          <a:xfrm>
            <a:off x="727425" y="701738"/>
            <a:ext cx="3051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800">
                <a:latin typeface="Roboto"/>
                <a:ea typeface="Roboto"/>
                <a:cs typeface="Roboto"/>
                <a:sym typeface="Roboto"/>
              </a:rPr>
              <a:t>Cuatro posibles escenarios: </a:t>
            </a:r>
            <a:endParaRPr b="1" sz="1800">
              <a:solidFill>
                <a:srgbClr val="FF0000"/>
              </a:solidFill>
              <a:latin typeface="Roboto"/>
              <a:ea typeface="Roboto"/>
              <a:cs typeface="Roboto"/>
              <a:sym typeface="Roboto"/>
            </a:endParaRPr>
          </a:p>
        </p:txBody>
      </p:sp>
      <p:grpSp>
        <p:nvGrpSpPr>
          <p:cNvPr id="155" name="Google Shape;155;p19"/>
          <p:cNvGrpSpPr/>
          <p:nvPr/>
        </p:nvGrpSpPr>
        <p:grpSpPr>
          <a:xfrm>
            <a:off x="2405925" y="3021738"/>
            <a:ext cx="1629000" cy="909000"/>
            <a:chOff x="5560325" y="890975"/>
            <a:chExt cx="1629000" cy="909000"/>
          </a:xfrm>
        </p:grpSpPr>
        <p:sp>
          <p:nvSpPr>
            <p:cNvPr id="156" name="Google Shape;156;p19"/>
            <p:cNvSpPr/>
            <p:nvPr/>
          </p:nvSpPr>
          <p:spPr>
            <a:xfrm>
              <a:off x="5560325" y="890975"/>
              <a:ext cx="1629000" cy="90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 name="Google Shape;157;p19"/>
            <p:cNvGrpSpPr/>
            <p:nvPr/>
          </p:nvGrpSpPr>
          <p:grpSpPr>
            <a:xfrm>
              <a:off x="5677325" y="1145350"/>
              <a:ext cx="675000" cy="370200"/>
              <a:chOff x="5677325" y="1145350"/>
              <a:chExt cx="675000" cy="370200"/>
            </a:xfrm>
          </p:grpSpPr>
          <p:sp>
            <p:nvSpPr>
              <p:cNvPr id="158" name="Google Shape;158;p19"/>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19"/>
            <p:cNvGrpSpPr/>
            <p:nvPr/>
          </p:nvGrpSpPr>
          <p:grpSpPr>
            <a:xfrm>
              <a:off x="6450725" y="1160363"/>
              <a:ext cx="675000" cy="370200"/>
              <a:chOff x="5677325" y="1145350"/>
              <a:chExt cx="675000" cy="370200"/>
            </a:xfrm>
          </p:grpSpPr>
          <p:sp>
            <p:nvSpPr>
              <p:cNvPr id="162" name="Google Shape;162;p19"/>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5" name="Google Shape;165;p19"/>
          <p:cNvSpPr txBox="1"/>
          <p:nvPr/>
        </p:nvSpPr>
        <p:spPr>
          <a:xfrm>
            <a:off x="619425" y="1413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03: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negro</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negro</a:t>
            </a:r>
            <a:endParaRPr>
              <a:latin typeface="Roboto"/>
              <a:ea typeface="Roboto"/>
              <a:cs typeface="Roboto"/>
              <a:sym typeface="Roboto"/>
            </a:endParaRPr>
          </a:p>
        </p:txBody>
      </p:sp>
      <p:sp>
        <p:nvSpPr>
          <p:cNvPr id="166" name="Google Shape;166;p19"/>
          <p:cNvSpPr txBox="1"/>
          <p:nvPr/>
        </p:nvSpPr>
        <p:spPr>
          <a:xfrm>
            <a:off x="6271425" y="1494225"/>
            <a:ext cx="25824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Mover hacia adelante</a:t>
            </a:r>
            <a:endParaRPr>
              <a:latin typeface="Roboto"/>
              <a:ea typeface="Roboto"/>
              <a:cs typeface="Roboto"/>
              <a:sym typeface="Roboto"/>
            </a:endParaRPr>
          </a:p>
        </p:txBody>
      </p:sp>
      <p:sp>
        <p:nvSpPr>
          <p:cNvPr id="167" name="Google Shape;167;p19"/>
          <p:cNvSpPr/>
          <p:nvPr/>
        </p:nvSpPr>
        <p:spPr>
          <a:xfrm>
            <a:off x="6640425" y="2259225"/>
            <a:ext cx="1179000" cy="2160000"/>
          </a:xfrm>
          <a:prstGeom prst="up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173" name="Google Shape;173;p20"/>
          <p:cNvSpPr txBox="1"/>
          <p:nvPr/>
        </p:nvSpPr>
        <p:spPr>
          <a:xfrm>
            <a:off x="727425" y="701738"/>
            <a:ext cx="3051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800">
                <a:latin typeface="Roboto"/>
                <a:ea typeface="Roboto"/>
                <a:cs typeface="Roboto"/>
                <a:sym typeface="Roboto"/>
              </a:rPr>
              <a:t>Cuatro posibles escenarios: </a:t>
            </a:r>
            <a:endParaRPr b="1" sz="1800">
              <a:solidFill>
                <a:srgbClr val="FF0000"/>
              </a:solidFill>
              <a:latin typeface="Roboto"/>
              <a:ea typeface="Roboto"/>
              <a:cs typeface="Roboto"/>
              <a:sym typeface="Roboto"/>
            </a:endParaRPr>
          </a:p>
        </p:txBody>
      </p:sp>
      <p:grpSp>
        <p:nvGrpSpPr>
          <p:cNvPr id="174" name="Google Shape;174;p20"/>
          <p:cNvGrpSpPr/>
          <p:nvPr/>
        </p:nvGrpSpPr>
        <p:grpSpPr>
          <a:xfrm>
            <a:off x="2101375" y="3013263"/>
            <a:ext cx="1629000" cy="909000"/>
            <a:chOff x="5560325" y="890975"/>
            <a:chExt cx="1629000" cy="909000"/>
          </a:xfrm>
        </p:grpSpPr>
        <p:sp>
          <p:nvSpPr>
            <p:cNvPr id="175" name="Google Shape;175;p20"/>
            <p:cNvSpPr/>
            <p:nvPr/>
          </p:nvSpPr>
          <p:spPr>
            <a:xfrm>
              <a:off x="5560325" y="890975"/>
              <a:ext cx="1629000" cy="90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 name="Google Shape;176;p20"/>
            <p:cNvGrpSpPr/>
            <p:nvPr/>
          </p:nvGrpSpPr>
          <p:grpSpPr>
            <a:xfrm>
              <a:off x="5677325" y="1145350"/>
              <a:ext cx="675000" cy="370200"/>
              <a:chOff x="5677325" y="1145350"/>
              <a:chExt cx="675000" cy="370200"/>
            </a:xfrm>
          </p:grpSpPr>
          <p:sp>
            <p:nvSpPr>
              <p:cNvPr id="177" name="Google Shape;177;p20"/>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0"/>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0"/>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 name="Google Shape;180;p20"/>
            <p:cNvGrpSpPr/>
            <p:nvPr/>
          </p:nvGrpSpPr>
          <p:grpSpPr>
            <a:xfrm>
              <a:off x="6450725" y="1160363"/>
              <a:ext cx="675000" cy="370200"/>
              <a:chOff x="5677325" y="1145350"/>
              <a:chExt cx="675000" cy="370200"/>
            </a:xfrm>
          </p:grpSpPr>
          <p:sp>
            <p:nvSpPr>
              <p:cNvPr id="181" name="Google Shape;181;p20"/>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0"/>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0"/>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4" name="Google Shape;184;p20"/>
          <p:cNvSpPr txBox="1"/>
          <p:nvPr/>
        </p:nvSpPr>
        <p:spPr>
          <a:xfrm>
            <a:off x="619425" y="1413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04: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blanco</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blanco</a:t>
            </a:r>
            <a:endParaRPr>
              <a:latin typeface="Roboto"/>
              <a:ea typeface="Roboto"/>
              <a:cs typeface="Roboto"/>
              <a:sym typeface="Roboto"/>
            </a:endParaRPr>
          </a:p>
        </p:txBody>
      </p:sp>
      <p:sp>
        <p:nvSpPr>
          <p:cNvPr id="185" name="Google Shape;185;p20"/>
          <p:cNvSpPr txBox="1"/>
          <p:nvPr/>
        </p:nvSpPr>
        <p:spPr>
          <a:xfrm>
            <a:off x="6271425" y="1494225"/>
            <a:ext cx="25824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Detener</a:t>
            </a:r>
            <a:endParaRPr>
              <a:latin typeface="Roboto"/>
              <a:ea typeface="Roboto"/>
              <a:cs typeface="Roboto"/>
              <a:sym typeface="Roboto"/>
            </a:endParaRPr>
          </a:p>
        </p:txBody>
      </p:sp>
      <p:pic>
        <p:nvPicPr>
          <p:cNvPr id="186" name="Google Shape;186;p20"/>
          <p:cNvPicPr preferRelativeResize="0"/>
          <p:nvPr/>
        </p:nvPicPr>
        <p:blipFill>
          <a:blip r:embed="rId3">
            <a:alphaModFix/>
          </a:blip>
          <a:stretch>
            <a:fillRect/>
          </a:stretch>
        </p:blipFill>
        <p:spPr>
          <a:xfrm>
            <a:off x="5989725" y="2459925"/>
            <a:ext cx="2055373" cy="20553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3930175" y="2108400"/>
            <a:ext cx="1629000" cy="27183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1"/>
          <p:cNvSpPr/>
          <p:nvPr/>
        </p:nvSpPr>
        <p:spPr>
          <a:xfrm flipH="1">
            <a:off x="42483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1"/>
          <p:cNvSpPr/>
          <p:nvPr/>
        </p:nvSpPr>
        <p:spPr>
          <a:xfrm>
            <a:off x="30069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1"/>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195" name="Google Shape;195;p21"/>
          <p:cNvSpPr txBox="1"/>
          <p:nvPr/>
        </p:nvSpPr>
        <p:spPr>
          <a:xfrm>
            <a:off x="430425" y="970800"/>
            <a:ext cx="4546800" cy="769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sz="1600">
                <a:latin typeface="Roboto"/>
                <a:ea typeface="Roboto"/>
                <a:cs typeface="Roboto"/>
                <a:sym typeface="Roboto"/>
              </a:rPr>
              <a:t>Otro método: </a:t>
            </a:r>
            <a:endParaRPr b="1" sz="1600">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En el robot se utilizarán dos sensores separados. </a:t>
            </a:r>
            <a:endParaRPr b="1">
              <a:solidFill>
                <a:srgbClr val="FF0000"/>
              </a:solidFill>
              <a:latin typeface="Roboto"/>
              <a:ea typeface="Roboto"/>
              <a:cs typeface="Roboto"/>
              <a:sym typeface="Roboto"/>
            </a:endParaRPr>
          </a:p>
        </p:txBody>
      </p:sp>
      <p:grpSp>
        <p:nvGrpSpPr>
          <p:cNvPr id="196" name="Google Shape;196;p21"/>
          <p:cNvGrpSpPr/>
          <p:nvPr/>
        </p:nvGrpSpPr>
        <p:grpSpPr>
          <a:xfrm>
            <a:off x="3088975" y="2281775"/>
            <a:ext cx="675000" cy="370200"/>
            <a:chOff x="5677325" y="1145350"/>
            <a:chExt cx="675000" cy="370200"/>
          </a:xfrm>
        </p:grpSpPr>
        <p:sp>
          <p:nvSpPr>
            <p:cNvPr id="197" name="Google Shape;197;p21"/>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21"/>
          <p:cNvGrpSpPr/>
          <p:nvPr/>
        </p:nvGrpSpPr>
        <p:grpSpPr>
          <a:xfrm>
            <a:off x="5725375" y="2281763"/>
            <a:ext cx="675000" cy="370200"/>
            <a:chOff x="5677325" y="1145350"/>
            <a:chExt cx="675000" cy="370200"/>
          </a:xfrm>
        </p:grpSpPr>
        <p:sp>
          <p:nvSpPr>
            <p:cNvPr id="201" name="Google Shape;201;p21"/>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1"/>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p:nvPr/>
        </p:nvSpPr>
        <p:spPr>
          <a:xfrm>
            <a:off x="3930175" y="2108400"/>
            <a:ext cx="1629000" cy="27183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2"/>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210" name="Google Shape;210;p22"/>
          <p:cNvSpPr txBox="1"/>
          <p:nvPr/>
        </p:nvSpPr>
        <p:spPr>
          <a:xfrm>
            <a:off x="430425" y="970800"/>
            <a:ext cx="4546800" cy="769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sz="1600">
                <a:latin typeface="Roboto"/>
                <a:ea typeface="Roboto"/>
                <a:cs typeface="Roboto"/>
                <a:sym typeface="Roboto"/>
              </a:rPr>
              <a:t>Otro método: </a:t>
            </a:r>
            <a:endParaRPr b="1" sz="1600">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En el robot se utilizarán dos sensores separados. </a:t>
            </a:r>
            <a:endParaRPr b="1">
              <a:solidFill>
                <a:srgbClr val="FF0000"/>
              </a:solidFill>
              <a:latin typeface="Roboto"/>
              <a:ea typeface="Roboto"/>
              <a:cs typeface="Roboto"/>
              <a:sym typeface="Roboto"/>
            </a:endParaRPr>
          </a:p>
        </p:txBody>
      </p:sp>
      <p:grpSp>
        <p:nvGrpSpPr>
          <p:cNvPr id="211" name="Google Shape;211;p22"/>
          <p:cNvGrpSpPr/>
          <p:nvPr/>
        </p:nvGrpSpPr>
        <p:grpSpPr>
          <a:xfrm>
            <a:off x="3006975" y="2217625"/>
            <a:ext cx="3508500" cy="1032000"/>
            <a:chOff x="3006975" y="2217625"/>
            <a:chExt cx="3508500" cy="1032000"/>
          </a:xfrm>
        </p:grpSpPr>
        <p:sp>
          <p:nvSpPr>
            <p:cNvPr id="212" name="Google Shape;212;p22"/>
            <p:cNvSpPr/>
            <p:nvPr/>
          </p:nvSpPr>
          <p:spPr>
            <a:xfrm flipH="1">
              <a:off x="42483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2"/>
            <p:cNvSpPr/>
            <p:nvPr/>
          </p:nvSpPr>
          <p:spPr>
            <a:xfrm>
              <a:off x="30069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 name="Google Shape;214;p22"/>
            <p:cNvGrpSpPr/>
            <p:nvPr/>
          </p:nvGrpSpPr>
          <p:grpSpPr>
            <a:xfrm>
              <a:off x="3088975" y="2281775"/>
              <a:ext cx="675000" cy="370200"/>
              <a:chOff x="5677325" y="1145350"/>
              <a:chExt cx="675000" cy="370200"/>
            </a:xfrm>
          </p:grpSpPr>
          <p:sp>
            <p:nvSpPr>
              <p:cNvPr id="215" name="Google Shape;215;p22"/>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2"/>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2"/>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 name="Google Shape;218;p22"/>
            <p:cNvGrpSpPr/>
            <p:nvPr/>
          </p:nvGrpSpPr>
          <p:grpSpPr>
            <a:xfrm>
              <a:off x="5725375" y="2281763"/>
              <a:ext cx="675000" cy="370200"/>
              <a:chOff x="5677325" y="1145350"/>
              <a:chExt cx="675000" cy="370200"/>
            </a:xfrm>
          </p:grpSpPr>
          <p:sp>
            <p:nvSpPr>
              <p:cNvPr id="219" name="Google Shape;219;p22"/>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2"/>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3"/>
          <p:cNvSpPr/>
          <p:nvPr/>
        </p:nvSpPr>
        <p:spPr>
          <a:xfrm>
            <a:off x="2536425" y="2796750"/>
            <a:ext cx="1818000" cy="1809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228" name="Google Shape;228;p23"/>
          <p:cNvSpPr txBox="1"/>
          <p:nvPr/>
        </p:nvSpPr>
        <p:spPr>
          <a:xfrm>
            <a:off x="727425" y="701738"/>
            <a:ext cx="3051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800">
                <a:latin typeface="Roboto"/>
                <a:ea typeface="Roboto"/>
                <a:cs typeface="Roboto"/>
                <a:sym typeface="Roboto"/>
              </a:rPr>
              <a:t>Tres</a:t>
            </a:r>
            <a:r>
              <a:rPr lang="es-419" sz="1800">
                <a:latin typeface="Roboto"/>
                <a:ea typeface="Roboto"/>
                <a:cs typeface="Roboto"/>
                <a:sym typeface="Roboto"/>
              </a:rPr>
              <a:t> posibles escenarios: </a:t>
            </a:r>
            <a:endParaRPr b="1" sz="1800">
              <a:solidFill>
                <a:srgbClr val="FF0000"/>
              </a:solidFill>
              <a:latin typeface="Roboto"/>
              <a:ea typeface="Roboto"/>
              <a:cs typeface="Roboto"/>
              <a:sym typeface="Roboto"/>
            </a:endParaRPr>
          </a:p>
        </p:txBody>
      </p:sp>
      <p:sp>
        <p:nvSpPr>
          <p:cNvPr id="229" name="Google Shape;229;p23"/>
          <p:cNvSpPr txBox="1"/>
          <p:nvPr/>
        </p:nvSpPr>
        <p:spPr>
          <a:xfrm>
            <a:off x="619425" y="1413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01: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blanco </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a:t>
            </a:r>
            <a:r>
              <a:rPr lang="es-419">
                <a:latin typeface="Roboto"/>
                <a:ea typeface="Roboto"/>
                <a:cs typeface="Roboto"/>
                <a:sym typeface="Roboto"/>
              </a:rPr>
              <a:t>negro</a:t>
            </a:r>
            <a:endParaRPr>
              <a:latin typeface="Roboto"/>
              <a:ea typeface="Roboto"/>
              <a:cs typeface="Roboto"/>
              <a:sym typeface="Roboto"/>
            </a:endParaRPr>
          </a:p>
        </p:txBody>
      </p:sp>
      <p:sp>
        <p:nvSpPr>
          <p:cNvPr id="230" name="Google Shape;230;p23"/>
          <p:cNvSpPr txBox="1"/>
          <p:nvPr/>
        </p:nvSpPr>
        <p:spPr>
          <a:xfrm>
            <a:off x="6271425" y="1494225"/>
            <a:ext cx="25824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Girar a la derecha</a:t>
            </a:r>
            <a:endParaRPr>
              <a:latin typeface="Roboto"/>
              <a:ea typeface="Roboto"/>
              <a:cs typeface="Roboto"/>
              <a:sym typeface="Roboto"/>
            </a:endParaRPr>
          </a:p>
        </p:txBody>
      </p:sp>
      <p:sp>
        <p:nvSpPr>
          <p:cNvPr id="231" name="Google Shape;231;p23"/>
          <p:cNvSpPr/>
          <p:nvPr/>
        </p:nvSpPr>
        <p:spPr>
          <a:xfrm>
            <a:off x="6415425" y="2364750"/>
            <a:ext cx="1719000" cy="1964400"/>
          </a:xfrm>
          <a:prstGeom prst="bentArrow">
            <a:avLst>
              <a:gd fmla="val 25000" name="adj1"/>
              <a:gd fmla="val 25000" name="adj2"/>
              <a:gd fmla="val 25000" name="adj3"/>
              <a:gd fmla="val 43750" name="adj4"/>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 name="Google Shape;232;p23"/>
          <p:cNvGrpSpPr/>
          <p:nvPr/>
        </p:nvGrpSpPr>
        <p:grpSpPr>
          <a:xfrm>
            <a:off x="620175" y="3144625"/>
            <a:ext cx="3508500" cy="1032000"/>
            <a:chOff x="3006975" y="2217625"/>
            <a:chExt cx="3508500" cy="1032000"/>
          </a:xfrm>
        </p:grpSpPr>
        <p:sp>
          <p:nvSpPr>
            <p:cNvPr id="233" name="Google Shape;233;p23"/>
            <p:cNvSpPr/>
            <p:nvPr/>
          </p:nvSpPr>
          <p:spPr>
            <a:xfrm flipH="1">
              <a:off x="42483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
            <p:cNvSpPr/>
            <p:nvPr/>
          </p:nvSpPr>
          <p:spPr>
            <a:xfrm>
              <a:off x="30069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5" name="Google Shape;235;p23"/>
            <p:cNvGrpSpPr/>
            <p:nvPr/>
          </p:nvGrpSpPr>
          <p:grpSpPr>
            <a:xfrm>
              <a:off x="3088975" y="2281775"/>
              <a:ext cx="675000" cy="370200"/>
              <a:chOff x="5677325" y="1145350"/>
              <a:chExt cx="675000" cy="370200"/>
            </a:xfrm>
          </p:grpSpPr>
          <p:sp>
            <p:nvSpPr>
              <p:cNvPr id="236" name="Google Shape;236;p23"/>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3"/>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3"/>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23"/>
            <p:cNvGrpSpPr/>
            <p:nvPr/>
          </p:nvGrpSpPr>
          <p:grpSpPr>
            <a:xfrm>
              <a:off x="5725375" y="2281763"/>
              <a:ext cx="675000" cy="370200"/>
              <a:chOff x="5677325" y="1145350"/>
              <a:chExt cx="675000" cy="370200"/>
            </a:xfrm>
          </p:grpSpPr>
          <p:sp>
            <p:nvSpPr>
              <p:cNvPr id="240" name="Google Shape;240;p23"/>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3"/>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3"/>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4"/>
          <p:cNvSpPr/>
          <p:nvPr/>
        </p:nvSpPr>
        <p:spPr>
          <a:xfrm>
            <a:off x="547425" y="2616750"/>
            <a:ext cx="1818000" cy="1809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4"/>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249" name="Google Shape;249;p24"/>
          <p:cNvSpPr txBox="1"/>
          <p:nvPr/>
        </p:nvSpPr>
        <p:spPr>
          <a:xfrm>
            <a:off x="727425" y="701738"/>
            <a:ext cx="3051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800">
                <a:latin typeface="Roboto"/>
                <a:ea typeface="Roboto"/>
                <a:cs typeface="Roboto"/>
                <a:sym typeface="Roboto"/>
              </a:rPr>
              <a:t>Tres</a:t>
            </a:r>
            <a:r>
              <a:rPr lang="es-419" sz="1800">
                <a:latin typeface="Roboto"/>
                <a:ea typeface="Roboto"/>
                <a:cs typeface="Roboto"/>
                <a:sym typeface="Roboto"/>
              </a:rPr>
              <a:t> posibles escenarios: </a:t>
            </a:r>
            <a:endParaRPr b="1" sz="1800">
              <a:solidFill>
                <a:srgbClr val="FF0000"/>
              </a:solidFill>
              <a:latin typeface="Roboto"/>
              <a:ea typeface="Roboto"/>
              <a:cs typeface="Roboto"/>
              <a:sym typeface="Roboto"/>
            </a:endParaRPr>
          </a:p>
        </p:txBody>
      </p:sp>
      <p:sp>
        <p:nvSpPr>
          <p:cNvPr id="250" name="Google Shape;250;p24"/>
          <p:cNvSpPr txBox="1"/>
          <p:nvPr/>
        </p:nvSpPr>
        <p:spPr>
          <a:xfrm>
            <a:off x="619425" y="1413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02: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negro</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blanco</a:t>
            </a:r>
            <a:endParaRPr>
              <a:latin typeface="Roboto"/>
              <a:ea typeface="Roboto"/>
              <a:cs typeface="Roboto"/>
              <a:sym typeface="Roboto"/>
            </a:endParaRPr>
          </a:p>
        </p:txBody>
      </p:sp>
      <p:sp>
        <p:nvSpPr>
          <p:cNvPr id="251" name="Google Shape;251;p24"/>
          <p:cNvSpPr txBox="1"/>
          <p:nvPr/>
        </p:nvSpPr>
        <p:spPr>
          <a:xfrm>
            <a:off x="6271425" y="1494225"/>
            <a:ext cx="25824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Girar a la izquierda</a:t>
            </a:r>
            <a:endParaRPr>
              <a:latin typeface="Roboto"/>
              <a:ea typeface="Roboto"/>
              <a:cs typeface="Roboto"/>
              <a:sym typeface="Roboto"/>
            </a:endParaRPr>
          </a:p>
        </p:txBody>
      </p:sp>
      <p:sp>
        <p:nvSpPr>
          <p:cNvPr id="252" name="Google Shape;252;p24"/>
          <p:cNvSpPr/>
          <p:nvPr/>
        </p:nvSpPr>
        <p:spPr>
          <a:xfrm flipH="1" rot="-60000">
            <a:off x="6415467" y="2364750"/>
            <a:ext cx="1718962" cy="1964398"/>
          </a:xfrm>
          <a:prstGeom prst="bentArrow">
            <a:avLst>
              <a:gd fmla="val 25000" name="adj1"/>
              <a:gd fmla="val 25000" name="adj2"/>
              <a:gd fmla="val 25000" name="adj3"/>
              <a:gd fmla="val 43750" name="adj4"/>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 name="Google Shape;253;p24"/>
          <p:cNvGrpSpPr/>
          <p:nvPr/>
        </p:nvGrpSpPr>
        <p:grpSpPr>
          <a:xfrm>
            <a:off x="764175" y="3270450"/>
            <a:ext cx="3508500" cy="1032000"/>
            <a:chOff x="3006975" y="2217625"/>
            <a:chExt cx="3508500" cy="1032000"/>
          </a:xfrm>
        </p:grpSpPr>
        <p:sp>
          <p:nvSpPr>
            <p:cNvPr id="254" name="Google Shape;254;p24"/>
            <p:cNvSpPr/>
            <p:nvPr/>
          </p:nvSpPr>
          <p:spPr>
            <a:xfrm flipH="1">
              <a:off x="42483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4"/>
            <p:cNvSpPr/>
            <p:nvPr/>
          </p:nvSpPr>
          <p:spPr>
            <a:xfrm>
              <a:off x="30069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 name="Google Shape;256;p24"/>
            <p:cNvGrpSpPr/>
            <p:nvPr/>
          </p:nvGrpSpPr>
          <p:grpSpPr>
            <a:xfrm>
              <a:off x="3088975" y="2281775"/>
              <a:ext cx="675000" cy="370200"/>
              <a:chOff x="5677325" y="1145350"/>
              <a:chExt cx="675000" cy="370200"/>
            </a:xfrm>
          </p:grpSpPr>
          <p:sp>
            <p:nvSpPr>
              <p:cNvPr id="257" name="Google Shape;257;p24"/>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4"/>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4"/>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 name="Google Shape;260;p24"/>
            <p:cNvGrpSpPr/>
            <p:nvPr/>
          </p:nvGrpSpPr>
          <p:grpSpPr>
            <a:xfrm>
              <a:off x="5725375" y="2281763"/>
              <a:ext cx="675000" cy="370200"/>
              <a:chOff x="5677325" y="1145350"/>
              <a:chExt cx="675000" cy="370200"/>
            </a:xfrm>
          </p:grpSpPr>
          <p:sp>
            <p:nvSpPr>
              <p:cNvPr id="261" name="Google Shape;261;p24"/>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4"/>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5"/>
          <p:cNvSpPr/>
          <p:nvPr/>
        </p:nvSpPr>
        <p:spPr>
          <a:xfrm>
            <a:off x="2280225" y="2571750"/>
            <a:ext cx="1818000" cy="1809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270" name="Google Shape;270;p25"/>
          <p:cNvSpPr txBox="1"/>
          <p:nvPr/>
        </p:nvSpPr>
        <p:spPr>
          <a:xfrm>
            <a:off x="727425" y="701738"/>
            <a:ext cx="3051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800">
                <a:latin typeface="Roboto"/>
                <a:ea typeface="Roboto"/>
                <a:cs typeface="Roboto"/>
                <a:sym typeface="Roboto"/>
              </a:rPr>
              <a:t>Tres</a:t>
            </a:r>
            <a:r>
              <a:rPr lang="es-419" sz="1800">
                <a:latin typeface="Roboto"/>
                <a:ea typeface="Roboto"/>
                <a:cs typeface="Roboto"/>
                <a:sym typeface="Roboto"/>
              </a:rPr>
              <a:t> posibles escenarios: </a:t>
            </a:r>
            <a:endParaRPr b="1" sz="1800">
              <a:solidFill>
                <a:srgbClr val="FF0000"/>
              </a:solidFill>
              <a:latin typeface="Roboto"/>
              <a:ea typeface="Roboto"/>
              <a:cs typeface="Roboto"/>
              <a:sym typeface="Roboto"/>
            </a:endParaRPr>
          </a:p>
        </p:txBody>
      </p:sp>
      <p:sp>
        <p:nvSpPr>
          <p:cNvPr id="271" name="Google Shape;271;p25"/>
          <p:cNvSpPr txBox="1"/>
          <p:nvPr/>
        </p:nvSpPr>
        <p:spPr>
          <a:xfrm>
            <a:off x="619425" y="1413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03: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blanco</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blanco</a:t>
            </a:r>
            <a:endParaRPr>
              <a:latin typeface="Roboto"/>
              <a:ea typeface="Roboto"/>
              <a:cs typeface="Roboto"/>
              <a:sym typeface="Roboto"/>
            </a:endParaRPr>
          </a:p>
        </p:txBody>
      </p:sp>
      <p:sp>
        <p:nvSpPr>
          <p:cNvPr id="272" name="Google Shape;272;p25"/>
          <p:cNvSpPr txBox="1"/>
          <p:nvPr/>
        </p:nvSpPr>
        <p:spPr>
          <a:xfrm>
            <a:off x="6271425" y="1494225"/>
            <a:ext cx="25824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Mover hacia adelante</a:t>
            </a:r>
            <a:endParaRPr>
              <a:latin typeface="Roboto"/>
              <a:ea typeface="Roboto"/>
              <a:cs typeface="Roboto"/>
              <a:sym typeface="Roboto"/>
            </a:endParaRPr>
          </a:p>
        </p:txBody>
      </p:sp>
      <p:sp>
        <p:nvSpPr>
          <p:cNvPr id="273" name="Google Shape;273;p25"/>
          <p:cNvSpPr/>
          <p:nvPr/>
        </p:nvSpPr>
        <p:spPr>
          <a:xfrm>
            <a:off x="6640425" y="2259225"/>
            <a:ext cx="1179000" cy="2160000"/>
          </a:xfrm>
          <a:prstGeom prst="up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4" name="Google Shape;274;p25"/>
          <p:cNvGrpSpPr/>
          <p:nvPr/>
        </p:nvGrpSpPr>
        <p:grpSpPr>
          <a:xfrm>
            <a:off x="1434975" y="3135625"/>
            <a:ext cx="3508500" cy="1032000"/>
            <a:chOff x="3006975" y="2217625"/>
            <a:chExt cx="3508500" cy="1032000"/>
          </a:xfrm>
        </p:grpSpPr>
        <p:sp>
          <p:nvSpPr>
            <p:cNvPr id="275" name="Google Shape;275;p25"/>
            <p:cNvSpPr/>
            <p:nvPr/>
          </p:nvSpPr>
          <p:spPr>
            <a:xfrm flipH="1">
              <a:off x="42483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5"/>
            <p:cNvSpPr/>
            <p:nvPr/>
          </p:nvSpPr>
          <p:spPr>
            <a:xfrm>
              <a:off x="3006975" y="2217625"/>
              <a:ext cx="2267100" cy="1032000"/>
            </a:xfrm>
            <a:prstGeom prst="corner">
              <a:avLst>
                <a:gd fmla="val 50000" name="adj1"/>
                <a:gd fmla="val 80858"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 name="Google Shape;277;p25"/>
            <p:cNvGrpSpPr/>
            <p:nvPr/>
          </p:nvGrpSpPr>
          <p:grpSpPr>
            <a:xfrm>
              <a:off x="3088975" y="2281775"/>
              <a:ext cx="675000" cy="370200"/>
              <a:chOff x="5677325" y="1145350"/>
              <a:chExt cx="675000" cy="370200"/>
            </a:xfrm>
          </p:grpSpPr>
          <p:sp>
            <p:nvSpPr>
              <p:cNvPr id="278" name="Google Shape;278;p25"/>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5"/>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5"/>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25"/>
            <p:cNvGrpSpPr/>
            <p:nvPr/>
          </p:nvGrpSpPr>
          <p:grpSpPr>
            <a:xfrm>
              <a:off x="5725375" y="2281763"/>
              <a:ext cx="675000" cy="370200"/>
              <a:chOff x="5677325" y="1145350"/>
              <a:chExt cx="675000" cy="370200"/>
            </a:xfrm>
          </p:grpSpPr>
          <p:sp>
            <p:nvSpPr>
              <p:cNvPr id="282" name="Google Shape;282;p25"/>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5"/>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5"/>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6"/>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sp>
        <p:nvSpPr>
          <p:cNvPr id="290" name="Google Shape;290;p26"/>
          <p:cNvSpPr txBox="1"/>
          <p:nvPr/>
        </p:nvSpPr>
        <p:spPr>
          <a:xfrm>
            <a:off x="430425" y="863738"/>
            <a:ext cx="30510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Blanco: </a:t>
            </a:r>
            <a:r>
              <a:rPr b="1" lang="es-419">
                <a:solidFill>
                  <a:srgbClr val="FF0000"/>
                </a:solidFill>
                <a:latin typeface="Roboto"/>
                <a:ea typeface="Roboto"/>
                <a:cs typeface="Roboto"/>
                <a:sym typeface="Roboto"/>
              </a:rPr>
              <a:t>e</a:t>
            </a:r>
            <a:r>
              <a:rPr b="1" lang="es-419">
                <a:solidFill>
                  <a:srgbClr val="FF0000"/>
                </a:solidFill>
                <a:latin typeface="Roboto"/>
                <a:ea typeface="Roboto"/>
                <a:cs typeface="Roboto"/>
                <a:sym typeface="Roboto"/>
              </a:rPr>
              <a:t>l módulo envía un 0</a:t>
            </a:r>
            <a:endParaRPr b="1">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s-419">
                <a:latin typeface="Roboto"/>
                <a:ea typeface="Roboto"/>
                <a:cs typeface="Roboto"/>
                <a:sym typeface="Roboto"/>
              </a:rPr>
              <a:t>Negro: </a:t>
            </a:r>
            <a:r>
              <a:rPr b="1" lang="es-419">
                <a:solidFill>
                  <a:srgbClr val="FF0000"/>
                </a:solidFill>
                <a:latin typeface="Roboto"/>
                <a:ea typeface="Roboto"/>
                <a:cs typeface="Roboto"/>
                <a:sym typeface="Roboto"/>
              </a:rPr>
              <a:t>el módulo envía un 1</a:t>
            </a:r>
            <a:endParaRPr b="1">
              <a:solidFill>
                <a:srgbClr val="FF0000"/>
              </a:solidFill>
              <a:latin typeface="Roboto"/>
              <a:ea typeface="Roboto"/>
              <a:cs typeface="Roboto"/>
              <a:sym typeface="Roboto"/>
            </a:endParaRPr>
          </a:p>
        </p:txBody>
      </p:sp>
      <p:pic>
        <p:nvPicPr>
          <p:cNvPr id="291" name="Google Shape;291;p26"/>
          <p:cNvPicPr preferRelativeResize="0"/>
          <p:nvPr/>
        </p:nvPicPr>
        <p:blipFill>
          <a:blip r:embed="rId3">
            <a:alphaModFix/>
          </a:blip>
          <a:stretch>
            <a:fillRect/>
          </a:stretch>
        </p:blipFill>
        <p:spPr>
          <a:xfrm>
            <a:off x="430436" y="1587050"/>
            <a:ext cx="4791515" cy="3295400"/>
          </a:xfrm>
          <a:prstGeom prst="rect">
            <a:avLst/>
          </a:prstGeom>
          <a:noFill/>
          <a:ln>
            <a:noFill/>
          </a:ln>
        </p:spPr>
      </p:pic>
      <p:sp>
        <p:nvSpPr>
          <p:cNvPr id="292" name="Google Shape;292;p26"/>
          <p:cNvSpPr txBox="1"/>
          <p:nvPr/>
        </p:nvSpPr>
        <p:spPr>
          <a:xfrm>
            <a:off x="5604825" y="935138"/>
            <a:ext cx="3051000" cy="136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En ArduinoBlocks:</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Realizar variables booleanas:</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Entrada Pin 11</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Entrada Pin 12</a:t>
            </a:r>
            <a:endParaRPr>
              <a:latin typeface="Roboto"/>
              <a:ea typeface="Roboto"/>
              <a:cs typeface="Roboto"/>
              <a:sym typeface="Roboto"/>
            </a:endParaRPr>
          </a:p>
        </p:txBody>
      </p:sp>
      <p:pic>
        <p:nvPicPr>
          <p:cNvPr id="293" name="Google Shape;293;p26"/>
          <p:cNvPicPr preferRelativeResize="0"/>
          <p:nvPr/>
        </p:nvPicPr>
        <p:blipFill>
          <a:blip r:embed="rId4">
            <a:alphaModFix/>
          </a:blip>
          <a:stretch>
            <a:fillRect/>
          </a:stretch>
        </p:blipFill>
        <p:spPr>
          <a:xfrm>
            <a:off x="5446351" y="2457338"/>
            <a:ext cx="3617249" cy="977892"/>
          </a:xfrm>
          <a:prstGeom prst="rect">
            <a:avLst/>
          </a:prstGeom>
          <a:noFill/>
          <a:ln>
            <a:noFill/>
          </a:ln>
        </p:spPr>
      </p:pic>
      <p:pic>
        <p:nvPicPr>
          <p:cNvPr id="294" name="Google Shape;294;p26"/>
          <p:cNvPicPr preferRelativeResize="0"/>
          <p:nvPr/>
        </p:nvPicPr>
        <p:blipFill>
          <a:blip r:embed="rId5">
            <a:alphaModFix/>
          </a:blip>
          <a:stretch>
            <a:fillRect/>
          </a:stretch>
        </p:blipFill>
        <p:spPr>
          <a:xfrm>
            <a:off x="2917351" y="1196754"/>
            <a:ext cx="1333500" cy="333375"/>
          </a:xfrm>
          <a:prstGeom prst="rect">
            <a:avLst/>
          </a:prstGeom>
          <a:noFill/>
          <a:ln>
            <a:noFill/>
          </a:ln>
        </p:spPr>
      </p:pic>
      <p:pic>
        <p:nvPicPr>
          <p:cNvPr id="295" name="Google Shape;295;p26"/>
          <p:cNvPicPr preferRelativeResize="0"/>
          <p:nvPr/>
        </p:nvPicPr>
        <p:blipFill>
          <a:blip r:embed="rId6">
            <a:alphaModFix/>
          </a:blip>
          <a:stretch>
            <a:fillRect/>
          </a:stretch>
        </p:blipFill>
        <p:spPr>
          <a:xfrm>
            <a:off x="2917351" y="834804"/>
            <a:ext cx="1647825" cy="361950"/>
          </a:xfrm>
          <a:prstGeom prst="rect">
            <a:avLst/>
          </a:prstGeom>
          <a:noFill/>
          <a:ln>
            <a:noFill/>
          </a:ln>
        </p:spPr>
      </p:pic>
      <p:sp>
        <p:nvSpPr>
          <p:cNvPr id="296" name="Google Shape;296;p26"/>
          <p:cNvSpPr txBox="1"/>
          <p:nvPr/>
        </p:nvSpPr>
        <p:spPr>
          <a:xfrm>
            <a:off x="5658225" y="3472538"/>
            <a:ext cx="3051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Motores</a:t>
            </a:r>
            <a:r>
              <a:rPr b="1" lang="es-419">
                <a:latin typeface="Roboto"/>
                <a:ea typeface="Roboto"/>
                <a:cs typeface="Roboto"/>
                <a:sym typeface="Roboto"/>
              </a:rPr>
              <a:t>:</a:t>
            </a:r>
            <a:endParaRPr b="1">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a:t>
            </a:r>
            <a:r>
              <a:rPr b="1" i="1" lang="es-419">
                <a:latin typeface="Roboto"/>
                <a:ea typeface="Roboto"/>
                <a:cs typeface="Roboto"/>
                <a:sym typeface="Roboto"/>
              </a:rPr>
              <a:t> derecho</a:t>
            </a:r>
            <a:r>
              <a:rPr lang="es-419">
                <a:latin typeface="Roboto"/>
                <a:ea typeface="Roboto"/>
                <a:cs typeface="Roboto"/>
                <a:sym typeface="Roboto"/>
              </a:rPr>
              <a:t>: Motor A</a:t>
            </a:r>
            <a:endParaRPr>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izquierdo</a:t>
            </a:r>
            <a:r>
              <a:rPr lang="es-419">
                <a:latin typeface="Roboto"/>
                <a:ea typeface="Roboto"/>
                <a:cs typeface="Roboto"/>
                <a:sym typeface="Roboto"/>
              </a:rPr>
              <a:t>: Motor B</a:t>
            </a:r>
            <a:endParaRPr>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7"/>
          <p:cNvSpPr/>
          <p:nvPr/>
        </p:nvSpPr>
        <p:spPr>
          <a:xfrm>
            <a:off x="948450" y="1705575"/>
            <a:ext cx="1818000" cy="1809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grpSp>
        <p:nvGrpSpPr>
          <p:cNvPr id="303" name="Google Shape;303;p27"/>
          <p:cNvGrpSpPr/>
          <p:nvPr/>
        </p:nvGrpSpPr>
        <p:grpSpPr>
          <a:xfrm>
            <a:off x="98250" y="2155563"/>
            <a:ext cx="1629000" cy="909000"/>
            <a:chOff x="5560325" y="890975"/>
            <a:chExt cx="1629000" cy="909000"/>
          </a:xfrm>
        </p:grpSpPr>
        <p:sp>
          <p:nvSpPr>
            <p:cNvPr id="304" name="Google Shape;304;p27"/>
            <p:cNvSpPr/>
            <p:nvPr/>
          </p:nvSpPr>
          <p:spPr>
            <a:xfrm>
              <a:off x="5560325" y="890975"/>
              <a:ext cx="1629000" cy="90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5" name="Google Shape;305;p27"/>
            <p:cNvGrpSpPr/>
            <p:nvPr/>
          </p:nvGrpSpPr>
          <p:grpSpPr>
            <a:xfrm>
              <a:off x="5677325" y="1145350"/>
              <a:ext cx="675000" cy="370200"/>
              <a:chOff x="5677325" y="1145350"/>
              <a:chExt cx="675000" cy="370200"/>
            </a:xfrm>
          </p:grpSpPr>
          <p:sp>
            <p:nvSpPr>
              <p:cNvPr id="306" name="Google Shape;306;p27"/>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27"/>
            <p:cNvGrpSpPr/>
            <p:nvPr/>
          </p:nvGrpSpPr>
          <p:grpSpPr>
            <a:xfrm>
              <a:off x="6450725" y="1160363"/>
              <a:ext cx="675000" cy="370200"/>
              <a:chOff x="5677325" y="1145350"/>
              <a:chExt cx="675000" cy="370200"/>
            </a:xfrm>
          </p:grpSpPr>
          <p:sp>
            <p:nvSpPr>
              <p:cNvPr id="310" name="Google Shape;310;p27"/>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3" name="Google Shape;313;p27"/>
          <p:cNvSpPr txBox="1"/>
          <p:nvPr/>
        </p:nvSpPr>
        <p:spPr>
          <a:xfrm>
            <a:off x="0" y="65887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01: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blanco </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negro</a:t>
            </a:r>
            <a:endParaRPr>
              <a:latin typeface="Roboto"/>
              <a:ea typeface="Roboto"/>
              <a:cs typeface="Roboto"/>
              <a:sym typeface="Roboto"/>
            </a:endParaRPr>
          </a:p>
        </p:txBody>
      </p:sp>
      <p:sp>
        <p:nvSpPr>
          <p:cNvPr id="314" name="Google Shape;314;p27"/>
          <p:cNvSpPr txBox="1"/>
          <p:nvPr/>
        </p:nvSpPr>
        <p:spPr>
          <a:xfrm>
            <a:off x="4289700" y="4245500"/>
            <a:ext cx="18879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Girar a la derecha</a:t>
            </a:r>
            <a:endParaRPr>
              <a:latin typeface="Roboto"/>
              <a:ea typeface="Roboto"/>
              <a:cs typeface="Roboto"/>
              <a:sym typeface="Roboto"/>
            </a:endParaRPr>
          </a:p>
        </p:txBody>
      </p:sp>
      <p:sp>
        <p:nvSpPr>
          <p:cNvPr id="315" name="Google Shape;315;p27"/>
          <p:cNvSpPr/>
          <p:nvPr/>
        </p:nvSpPr>
        <p:spPr>
          <a:xfrm>
            <a:off x="6512850" y="4182950"/>
            <a:ext cx="784500" cy="848400"/>
          </a:xfrm>
          <a:prstGeom prst="bentArrow">
            <a:avLst>
              <a:gd fmla="val 25000" name="adj1"/>
              <a:gd fmla="val 25000" name="adj2"/>
              <a:gd fmla="val 25000" name="adj3"/>
              <a:gd fmla="val 43750" name="adj4"/>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
          <p:cNvSpPr txBox="1"/>
          <p:nvPr/>
        </p:nvSpPr>
        <p:spPr>
          <a:xfrm>
            <a:off x="420900" y="3922100"/>
            <a:ext cx="26682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Motores:</a:t>
            </a:r>
            <a:endParaRPr b="1">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derecho</a:t>
            </a:r>
            <a:r>
              <a:rPr lang="es-419">
                <a:latin typeface="Roboto"/>
                <a:ea typeface="Roboto"/>
                <a:cs typeface="Roboto"/>
                <a:sym typeface="Roboto"/>
              </a:rPr>
              <a:t>: Motor A</a:t>
            </a:r>
            <a:endParaRPr>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izquierdo</a:t>
            </a:r>
            <a:r>
              <a:rPr lang="es-419">
                <a:latin typeface="Roboto"/>
                <a:ea typeface="Roboto"/>
                <a:cs typeface="Roboto"/>
                <a:sym typeface="Roboto"/>
              </a:rPr>
              <a:t>: Motor B</a:t>
            </a:r>
            <a:endParaRPr>
              <a:latin typeface="Roboto"/>
              <a:ea typeface="Roboto"/>
              <a:cs typeface="Roboto"/>
              <a:sym typeface="Roboto"/>
            </a:endParaRPr>
          </a:p>
        </p:txBody>
      </p:sp>
      <p:pic>
        <p:nvPicPr>
          <p:cNvPr id="317" name="Google Shape;317;p27"/>
          <p:cNvPicPr preferRelativeResize="0"/>
          <p:nvPr/>
        </p:nvPicPr>
        <p:blipFill>
          <a:blip r:embed="rId3">
            <a:alphaModFix/>
          </a:blip>
          <a:stretch>
            <a:fillRect/>
          </a:stretch>
        </p:blipFill>
        <p:spPr>
          <a:xfrm>
            <a:off x="3716520" y="707050"/>
            <a:ext cx="4509481" cy="1809000"/>
          </a:xfrm>
          <a:prstGeom prst="rect">
            <a:avLst/>
          </a:prstGeom>
          <a:noFill/>
          <a:ln>
            <a:noFill/>
          </a:ln>
        </p:spPr>
      </p:pic>
      <p:pic>
        <p:nvPicPr>
          <p:cNvPr id="318" name="Google Shape;318;p27"/>
          <p:cNvPicPr preferRelativeResize="0"/>
          <p:nvPr/>
        </p:nvPicPr>
        <p:blipFill>
          <a:blip r:embed="rId4">
            <a:alphaModFix/>
          </a:blip>
          <a:stretch>
            <a:fillRect/>
          </a:stretch>
        </p:blipFill>
        <p:spPr>
          <a:xfrm>
            <a:off x="3176025" y="2621638"/>
            <a:ext cx="5790300" cy="1455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8"/>
          <p:cNvSpPr/>
          <p:nvPr/>
        </p:nvSpPr>
        <p:spPr>
          <a:xfrm>
            <a:off x="151425" y="1788750"/>
            <a:ext cx="1818000" cy="1809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8"/>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grpSp>
        <p:nvGrpSpPr>
          <p:cNvPr id="325" name="Google Shape;325;p28"/>
          <p:cNvGrpSpPr/>
          <p:nvPr/>
        </p:nvGrpSpPr>
        <p:grpSpPr>
          <a:xfrm>
            <a:off x="1119225" y="2292738"/>
            <a:ext cx="1629000" cy="909000"/>
            <a:chOff x="5560325" y="890975"/>
            <a:chExt cx="1629000" cy="909000"/>
          </a:xfrm>
        </p:grpSpPr>
        <p:sp>
          <p:nvSpPr>
            <p:cNvPr id="326" name="Google Shape;326;p28"/>
            <p:cNvSpPr/>
            <p:nvPr/>
          </p:nvSpPr>
          <p:spPr>
            <a:xfrm>
              <a:off x="5560325" y="890975"/>
              <a:ext cx="1629000" cy="90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28"/>
            <p:cNvGrpSpPr/>
            <p:nvPr/>
          </p:nvGrpSpPr>
          <p:grpSpPr>
            <a:xfrm>
              <a:off x="5677325" y="1145350"/>
              <a:ext cx="675000" cy="370200"/>
              <a:chOff x="5677325" y="1145350"/>
              <a:chExt cx="675000" cy="370200"/>
            </a:xfrm>
          </p:grpSpPr>
          <p:sp>
            <p:nvSpPr>
              <p:cNvPr id="328" name="Google Shape;328;p28"/>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8"/>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8"/>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28"/>
            <p:cNvGrpSpPr/>
            <p:nvPr/>
          </p:nvGrpSpPr>
          <p:grpSpPr>
            <a:xfrm>
              <a:off x="6450725" y="1160363"/>
              <a:ext cx="675000" cy="370200"/>
              <a:chOff x="5677325" y="1145350"/>
              <a:chExt cx="675000" cy="370200"/>
            </a:xfrm>
          </p:grpSpPr>
          <p:sp>
            <p:nvSpPr>
              <p:cNvPr id="332" name="Google Shape;332;p28"/>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8"/>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8"/>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5" name="Google Shape;335;p28"/>
          <p:cNvSpPr txBox="1"/>
          <p:nvPr/>
        </p:nvSpPr>
        <p:spPr>
          <a:xfrm>
            <a:off x="43425" y="702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02: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negro</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blanco</a:t>
            </a:r>
            <a:endParaRPr>
              <a:latin typeface="Roboto"/>
              <a:ea typeface="Roboto"/>
              <a:cs typeface="Roboto"/>
              <a:sym typeface="Roboto"/>
            </a:endParaRPr>
          </a:p>
        </p:txBody>
      </p:sp>
      <p:sp>
        <p:nvSpPr>
          <p:cNvPr id="336" name="Google Shape;336;p28"/>
          <p:cNvSpPr txBox="1"/>
          <p:nvPr/>
        </p:nvSpPr>
        <p:spPr>
          <a:xfrm>
            <a:off x="4274925" y="4215075"/>
            <a:ext cx="18180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Girar a la izquierda</a:t>
            </a:r>
            <a:endParaRPr>
              <a:latin typeface="Roboto"/>
              <a:ea typeface="Roboto"/>
              <a:cs typeface="Roboto"/>
              <a:sym typeface="Roboto"/>
            </a:endParaRPr>
          </a:p>
        </p:txBody>
      </p:sp>
      <p:sp>
        <p:nvSpPr>
          <p:cNvPr id="337" name="Google Shape;337;p28"/>
          <p:cNvSpPr/>
          <p:nvPr/>
        </p:nvSpPr>
        <p:spPr>
          <a:xfrm flipH="1" rot="-60549">
            <a:off x="6721517" y="4138358"/>
            <a:ext cx="817627" cy="876734"/>
          </a:xfrm>
          <a:prstGeom prst="bentArrow">
            <a:avLst>
              <a:gd fmla="val 25000" name="adj1"/>
              <a:gd fmla="val 25000" name="adj2"/>
              <a:gd fmla="val 25000" name="adj3"/>
              <a:gd fmla="val 43750" name="adj4"/>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8"/>
          <p:cNvSpPr txBox="1"/>
          <p:nvPr/>
        </p:nvSpPr>
        <p:spPr>
          <a:xfrm>
            <a:off x="98250" y="3859550"/>
            <a:ext cx="26682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Motores:</a:t>
            </a:r>
            <a:endParaRPr b="1">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derecho</a:t>
            </a:r>
            <a:r>
              <a:rPr lang="es-419">
                <a:latin typeface="Roboto"/>
                <a:ea typeface="Roboto"/>
                <a:cs typeface="Roboto"/>
                <a:sym typeface="Roboto"/>
              </a:rPr>
              <a:t>: Motor A</a:t>
            </a:r>
            <a:endParaRPr>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izquierdo</a:t>
            </a:r>
            <a:r>
              <a:rPr lang="es-419">
                <a:latin typeface="Roboto"/>
                <a:ea typeface="Roboto"/>
                <a:cs typeface="Roboto"/>
                <a:sym typeface="Roboto"/>
              </a:rPr>
              <a:t>: Motor B</a:t>
            </a:r>
            <a:endParaRPr>
              <a:latin typeface="Roboto"/>
              <a:ea typeface="Roboto"/>
              <a:cs typeface="Roboto"/>
              <a:sym typeface="Roboto"/>
            </a:endParaRPr>
          </a:p>
        </p:txBody>
      </p:sp>
      <p:pic>
        <p:nvPicPr>
          <p:cNvPr id="339" name="Google Shape;339;p28"/>
          <p:cNvPicPr preferRelativeResize="0"/>
          <p:nvPr/>
        </p:nvPicPr>
        <p:blipFill>
          <a:blip r:embed="rId3">
            <a:alphaModFix/>
          </a:blip>
          <a:stretch>
            <a:fillRect/>
          </a:stretch>
        </p:blipFill>
        <p:spPr>
          <a:xfrm>
            <a:off x="3186720" y="702225"/>
            <a:ext cx="5507880" cy="1809000"/>
          </a:xfrm>
          <a:prstGeom prst="rect">
            <a:avLst/>
          </a:prstGeom>
          <a:noFill/>
          <a:ln>
            <a:noFill/>
          </a:ln>
        </p:spPr>
      </p:pic>
      <p:pic>
        <p:nvPicPr>
          <p:cNvPr id="340" name="Google Shape;340;p28"/>
          <p:cNvPicPr preferRelativeResize="0"/>
          <p:nvPr/>
        </p:nvPicPr>
        <p:blipFill>
          <a:blip r:embed="rId4">
            <a:alphaModFix/>
          </a:blip>
          <a:stretch>
            <a:fillRect/>
          </a:stretch>
        </p:blipFill>
        <p:spPr>
          <a:xfrm>
            <a:off x="2896138" y="2629650"/>
            <a:ext cx="6028711" cy="1501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9"/>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grpSp>
        <p:nvGrpSpPr>
          <p:cNvPr id="346" name="Google Shape;346;p29"/>
          <p:cNvGrpSpPr/>
          <p:nvPr/>
        </p:nvGrpSpPr>
        <p:grpSpPr>
          <a:xfrm>
            <a:off x="508375" y="2117238"/>
            <a:ext cx="1629000" cy="909000"/>
            <a:chOff x="5560325" y="890975"/>
            <a:chExt cx="1629000" cy="909000"/>
          </a:xfrm>
        </p:grpSpPr>
        <p:sp>
          <p:nvSpPr>
            <p:cNvPr id="347" name="Google Shape;347;p29"/>
            <p:cNvSpPr/>
            <p:nvPr/>
          </p:nvSpPr>
          <p:spPr>
            <a:xfrm>
              <a:off x="5560325" y="890975"/>
              <a:ext cx="1629000" cy="90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 name="Google Shape;348;p29"/>
            <p:cNvGrpSpPr/>
            <p:nvPr/>
          </p:nvGrpSpPr>
          <p:grpSpPr>
            <a:xfrm>
              <a:off x="5677325" y="1145350"/>
              <a:ext cx="675000" cy="370200"/>
              <a:chOff x="5677325" y="1145350"/>
              <a:chExt cx="675000" cy="370200"/>
            </a:xfrm>
          </p:grpSpPr>
          <p:sp>
            <p:nvSpPr>
              <p:cNvPr id="349" name="Google Shape;349;p29"/>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9"/>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9"/>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 name="Google Shape;352;p29"/>
            <p:cNvGrpSpPr/>
            <p:nvPr/>
          </p:nvGrpSpPr>
          <p:grpSpPr>
            <a:xfrm>
              <a:off x="6450725" y="1160363"/>
              <a:ext cx="675000" cy="370200"/>
              <a:chOff x="5677325" y="1145350"/>
              <a:chExt cx="675000" cy="370200"/>
            </a:xfrm>
          </p:grpSpPr>
          <p:sp>
            <p:nvSpPr>
              <p:cNvPr id="353" name="Google Shape;353;p29"/>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9"/>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9"/>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6" name="Google Shape;356;p29"/>
          <p:cNvSpPr txBox="1"/>
          <p:nvPr/>
        </p:nvSpPr>
        <p:spPr>
          <a:xfrm>
            <a:off x="160425" y="873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04: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blanco</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blanco</a:t>
            </a:r>
            <a:endParaRPr>
              <a:latin typeface="Roboto"/>
              <a:ea typeface="Roboto"/>
              <a:cs typeface="Roboto"/>
              <a:sym typeface="Roboto"/>
            </a:endParaRPr>
          </a:p>
        </p:txBody>
      </p:sp>
      <p:sp>
        <p:nvSpPr>
          <p:cNvPr id="357" name="Google Shape;357;p29"/>
          <p:cNvSpPr txBox="1"/>
          <p:nvPr/>
        </p:nvSpPr>
        <p:spPr>
          <a:xfrm>
            <a:off x="3159000" y="4098450"/>
            <a:ext cx="17910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Detener</a:t>
            </a:r>
            <a:endParaRPr>
              <a:latin typeface="Roboto"/>
              <a:ea typeface="Roboto"/>
              <a:cs typeface="Roboto"/>
              <a:sym typeface="Roboto"/>
            </a:endParaRPr>
          </a:p>
        </p:txBody>
      </p:sp>
      <p:pic>
        <p:nvPicPr>
          <p:cNvPr id="358" name="Google Shape;358;p29"/>
          <p:cNvPicPr preferRelativeResize="0"/>
          <p:nvPr/>
        </p:nvPicPr>
        <p:blipFill>
          <a:blip r:embed="rId3">
            <a:alphaModFix/>
          </a:blip>
          <a:stretch>
            <a:fillRect/>
          </a:stretch>
        </p:blipFill>
        <p:spPr>
          <a:xfrm>
            <a:off x="5195025" y="3936750"/>
            <a:ext cx="1046702" cy="1046702"/>
          </a:xfrm>
          <a:prstGeom prst="rect">
            <a:avLst/>
          </a:prstGeom>
          <a:noFill/>
          <a:ln>
            <a:noFill/>
          </a:ln>
        </p:spPr>
      </p:pic>
      <p:sp>
        <p:nvSpPr>
          <p:cNvPr id="359" name="Google Shape;359;p29"/>
          <p:cNvSpPr txBox="1"/>
          <p:nvPr/>
        </p:nvSpPr>
        <p:spPr>
          <a:xfrm>
            <a:off x="160425" y="3544550"/>
            <a:ext cx="26682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Motores:</a:t>
            </a:r>
            <a:endParaRPr b="1">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derecho</a:t>
            </a:r>
            <a:r>
              <a:rPr lang="es-419">
                <a:latin typeface="Roboto"/>
                <a:ea typeface="Roboto"/>
                <a:cs typeface="Roboto"/>
                <a:sym typeface="Roboto"/>
              </a:rPr>
              <a:t>: Motor A</a:t>
            </a:r>
            <a:endParaRPr>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izquierdo</a:t>
            </a:r>
            <a:r>
              <a:rPr lang="es-419">
                <a:latin typeface="Roboto"/>
                <a:ea typeface="Roboto"/>
                <a:cs typeface="Roboto"/>
                <a:sym typeface="Roboto"/>
              </a:rPr>
              <a:t>: Motor B</a:t>
            </a:r>
            <a:endParaRPr>
              <a:latin typeface="Roboto"/>
              <a:ea typeface="Roboto"/>
              <a:cs typeface="Roboto"/>
              <a:sym typeface="Roboto"/>
            </a:endParaRPr>
          </a:p>
        </p:txBody>
      </p:sp>
      <p:pic>
        <p:nvPicPr>
          <p:cNvPr id="360" name="Google Shape;360;p29"/>
          <p:cNvPicPr preferRelativeResize="0"/>
          <p:nvPr/>
        </p:nvPicPr>
        <p:blipFill>
          <a:blip r:embed="rId4">
            <a:alphaModFix/>
          </a:blip>
          <a:stretch>
            <a:fillRect/>
          </a:stretch>
        </p:blipFill>
        <p:spPr>
          <a:xfrm>
            <a:off x="3670426" y="754575"/>
            <a:ext cx="4843456" cy="1594138"/>
          </a:xfrm>
          <a:prstGeom prst="rect">
            <a:avLst/>
          </a:prstGeom>
          <a:noFill/>
          <a:ln>
            <a:noFill/>
          </a:ln>
        </p:spPr>
      </p:pic>
      <p:pic>
        <p:nvPicPr>
          <p:cNvPr id="361" name="Google Shape;361;p29"/>
          <p:cNvPicPr preferRelativeResize="0"/>
          <p:nvPr/>
        </p:nvPicPr>
        <p:blipFill>
          <a:blip r:embed="rId5">
            <a:alphaModFix/>
          </a:blip>
          <a:stretch>
            <a:fillRect/>
          </a:stretch>
        </p:blipFill>
        <p:spPr>
          <a:xfrm>
            <a:off x="2783025" y="2424928"/>
            <a:ext cx="6183003" cy="1493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Montaje de Prueba Sensores</a:t>
            </a:r>
            <a:endParaRPr/>
          </a:p>
        </p:txBody>
      </p:sp>
      <p:pic>
        <p:nvPicPr>
          <p:cNvPr id="367" name="Google Shape;367;p30"/>
          <p:cNvPicPr preferRelativeResize="0"/>
          <p:nvPr/>
        </p:nvPicPr>
        <p:blipFill>
          <a:blip r:embed="rId3">
            <a:alphaModFix/>
          </a:blip>
          <a:stretch>
            <a:fillRect/>
          </a:stretch>
        </p:blipFill>
        <p:spPr>
          <a:xfrm>
            <a:off x="1124400" y="753450"/>
            <a:ext cx="6341530" cy="4219649"/>
          </a:xfrm>
          <a:prstGeom prst="rect">
            <a:avLst/>
          </a:prstGeom>
          <a:noFill/>
          <a:ln>
            <a:noFill/>
          </a:ln>
        </p:spPr>
      </p:pic>
      <p:sp>
        <p:nvSpPr>
          <p:cNvPr id="368" name="Google Shape;368;p30"/>
          <p:cNvSpPr txBox="1"/>
          <p:nvPr/>
        </p:nvSpPr>
        <p:spPr>
          <a:xfrm>
            <a:off x="5488425" y="1026225"/>
            <a:ext cx="1810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Led ON = blanco = 0</a:t>
            </a:r>
            <a:endParaRPr>
              <a:latin typeface="Roboto"/>
              <a:ea typeface="Roboto"/>
              <a:cs typeface="Roboto"/>
              <a:sym typeface="Roboto"/>
            </a:endParaRPr>
          </a:p>
          <a:p>
            <a:pPr indent="0" lvl="0" marL="0" rtl="0" algn="l">
              <a:spcBef>
                <a:spcPts val="0"/>
              </a:spcBef>
              <a:spcAft>
                <a:spcPts val="0"/>
              </a:spcAft>
              <a:buNone/>
            </a:pPr>
            <a:r>
              <a:rPr lang="es-419">
                <a:latin typeface="Roboto"/>
                <a:ea typeface="Roboto"/>
                <a:cs typeface="Roboto"/>
                <a:sym typeface="Roboto"/>
              </a:rPr>
              <a:t>Led OFF = negro = 1</a:t>
            </a:r>
            <a:endParaRPr>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1"/>
          <p:cNvSpPr/>
          <p:nvPr/>
        </p:nvSpPr>
        <p:spPr>
          <a:xfrm>
            <a:off x="385425" y="1860750"/>
            <a:ext cx="1818000" cy="1809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1"/>
          <p:cNvSpPr txBox="1"/>
          <p:nvPr>
            <p:ph type="title"/>
          </p:nvPr>
        </p:nvSpPr>
        <p:spPr>
          <a:xfrm>
            <a:off x="98250" y="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Algoritmo de Detección de Línea</a:t>
            </a:r>
            <a:endParaRPr/>
          </a:p>
        </p:txBody>
      </p:sp>
      <p:grpSp>
        <p:nvGrpSpPr>
          <p:cNvPr id="375" name="Google Shape;375;p31"/>
          <p:cNvGrpSpPr/>
          <p:nvPr/>
        </p:nvGrpSpPr>
        <p:grpSpPr>
          <a:xfrm>
            <a:off x="479925" y="2310738"/>
            <a:ext cx="1629000" cy="909000"/>
            <a:chOff x="5560325" y="890975"/>
            <a:chExt cx="1629000" cy="909000"/>
          </a:xfrm>
        </p:grpSpPr>
        <p:sp>
          <p:nvSpPr>
            <p:cNvPr id="376" name="Google Shape;376;p31"/>
            <p:cNvSpPr/>
            <p:nvPr/>
          </p:nvSpPr>
          <p:spPr>
            <a:xfrm>
              <a:off x="5560325" y="890975"/>
              <a:ext cx="1629000" cy="909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7" name="Google Shape;377;p31"/>
            <p:cNvGrpSpPr/>
            <p:nvPr/>
          </p:nvGrpSpPr>
          <p:grpSpPr>
            <a:xfrm>
              <a:off x="5677325" y="1145350"/>
              <a:ext cx="675000" cy="370200"/>
              <a:chOff x="5677325" y="1145350"/>
              <a:chExt cx="675000" cy="370200"/>
            </a:xfrm>
          </p:grpSpPr>
          <p:sp>
            <p:nvSpPr>
              <p:cNvPr id="378" name="Google Shape;378;p31"/>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1"/>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1"/>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 name="Google Shape;381;p31"/>
            <p:cNvGrpSpPr/>
            <p:nvPr/>
          </p:nvGrpSpPr>
          <p:grpSpPr>
            <a:xfrm>
              <a:off x="6450725" y="1160363"/>
              <a:ext cx="675000" cy="370200"/>
              <a:chOff x="5677325" y="1145350"/>
              <a:chExt cx="675000" cy="370200"/>
            </a:xfrm>
          </p:grpSpPr>
          <p:sp>
            <p:nvSpPr>
              <p:cNvPr id="382" name="Google Shape;382;p31"/>
              <p:cNvSpPr/>
              <p:nvPr/>
            </p:nvSpPr>
            <p:spPr>
              <a:xfrm>
                <a:off x="5677325" y="1145350"/>
                <a:ext cx="675000" cy="370200"/>
              </a:xfrm>
              <a:prstGeom prst="rect">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1"/>
              <p:cNvSpPr/>
              <p:nvPr/>
            </p:nvSpPr>
            <p:spPr>
              <a:xfrm>
                <a:off x="5744525" y="1190050"/>
                <a:ext cx="216000" cy="2160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1"/>
              <p:cNvSpPr/>
              <p:nvPr/>
            </p:nvSpPr>
            <p:spPr>
              <a:xfrm>
                <a:off x="6054725" y="1190050"/>
                <a:ext cx="216000" cy="216000"/>
              </a:xfrm>
              <a:prstGeom prst="ellipse">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5" name="Google Shape;385;p31"/>
          <p:cNvSpPr txBox="1"/>
          <p:nvPr/>
        </p:nvSpPr>
        <p:spPr>
          <a:xfrm>
            <a:off x="98250" y="765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Caso 03: </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Izquierdo detecta negro</a:t>
            </a:r>
            <a:endParaRPr>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Sensor Derecho detecta negro</a:t>
            </a:r>
            <a:endParaRPr>
              <a:latin typeface="Roboto"/>
              <a:ea typeface="Roboto"/>
              <a:cs typeface="Roboto"/>
              <a:sym typeface="Roboto"/>
            </a:endParaRPr>
          </a:p>
        </p:txBody>
      </p:sp>
      <p:sp>
        <p:nvSpPr>
          <p:cNvPr id="386" name="Google Shape;386;p31"/>
          <p:cNvSpPr txBox="1"/>
          <p:nvPr/>
        </p:nvSpPr>
        <p:spPr>
          <a:xfrm>
            <a:off x="3359100" y="4065950"/>
            <a:ext cx="19599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Acciones del Robot:</a:t>
            </a:r>
            <a:endParaRPr b="1">
              <a:latin typeface="Roboto"/>
              <a:ea typeface="Roboto"/>
              <a:cs typeface="Roboto"/>
              <a:sym typeface="Roboto"/>
            </a:endParaRPr>
          </a:p>
          <a:p>
            <a:pPr indent="0" lvl="0" marL="0" rtl="0" algn="l">
              <a:lnSpc>
                <a:spcPct val="150000"/>
              </a:lnSpc>
              <a:spcBef>
                <a:spcPts val="0"/>
              </a:spcBef>
              <a:spcAft>
                <a:spcPts val="0"/>
              </a:spcAft>
              <a:buNone/>
            </a:pPr>
            <a:r>
              <a:rPr lang="es-419">
                <a:latin typeface="Roboto"/>
                <a:ea typeface="Roboto"/>
                <a:cs typeface="Roboto"/>
                <a:sym typeface="Roboto"/>
              </a:rPr>
              <a:t>Mover hacia adelante</a:t>
            </a:r>
            <a:endParaRPr>
              <a:latin typeface="Roboto"/>
              <a:ea typeface="Roboto"/>
              <a:cs typeface="Roboto"/>
              <a:sym typeface="Roboto"/>
            </a:endParaRPr>
          </a:p>
        </p:txBody>
      </p:sp>
      <p:sp>
        <p:nvSpPr>
          <p:cNvPr id="387" name="Google Shape;387;p31"/>
          <p:cNvSpPr/>
          <p:nvPr/>
        </p:nvSpPr>
        <p:spPr>
          <a:xfrm>
            <a:off x="5632425" y="4065950"/>
            <a:ext cx="556200" cy="957300"/>
          </a:xfrm>
          <a:prstGeom prst="up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1"/>
          <p:cNvSpPr txBox="1"/>
          <p:nvPr/>
        </p:nvSpPr>
        <p:spPr>
          <a:xfrm>
            <a:off x="197250" y="3859550"/>
            <a:ext cx="26682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Motores:</a:t>
            </a:r>
            <a:endParaRPr b="1">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derecho</a:t>
            </a:r>
            <a:r>
              <a:rPr lang="es-419">
                <a:latin typeface="Roboto"/>
                <a:ea typeface="Roboto"/>
                <a:cs typeface="Roboto"/>
                <a:sym typeface="Roboto"/>
              </a:rPr>
              <a:t>: Motor A</a:t>
            </a:r>
            <a:endParaRPr>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izquierdo</a:t>
            </a:r>
            <a:r>
              <a:rPr lang="es-419">
                <a:latin typeface="Roboto"/>
                <a:ea typeface="Roboto"/>
                <a:cs typeface="Roboto"/>
                <a:sym typeface="Roboto"/>
              </a:rPr>
              <a:t>: Motor B</a:t>
            </a:r>
            <a:endParaRPr>
              <a:latin typeface="Roboto"/>
              <a:ea typeface="Roboto"/>
              <a:cs typeface="Roboto"/>
              <a:sym typeface="Roboto"/>
            </a:endParaRPr>
          </a:p>
        </p:txBody>
      </p:sp>
      <p:pic>
        <p:nvPicPr>
          <p:cNvPr id="389" name="Google Shape;389;p31"/>
          <p:cNvPicPr preferRelativeResize="0"/>
          <p:nvPr/>
        </p:nvPicPr>
        <p:blipFill>
          <a:blip r:embed="rId3">
            <a:alphaModFix/>
          </a:blip>
          <a:stretch>
            <a:fillRect/>
          </a:stretch>
        </p:blipFill>
        <p:spPr>
          <a:xfrm>
            <a:off x="3384475" y="765225"/>
            <a:ext cx="5311550" cy="1744075"/>
          </a:xfrm>
          <a:prstGeom prst="rect">
            <a:avLst/>
          </a:prstGeom>
          <a:noFill/>
          <a:ln>
            <a:noFill/>
          </a:ln>
        </p:spPr>
      </p:pic>
      <p:pic>
        <p:nvPicPr>
          <p:cNvPr id="390" name="Google Shape;390;p31"/>
          <p:cNvPicPr preferRelativeResize="0"/>
          <p:nvPr/>
        </p:nvPicPr>
        <p:blipFill>
          <a:blip r:embed="rId4">
            <a:alphaModFix/>
          </a:blip>
          <a:stretch>
            <a:fillRect/>
          </a:stretch>
        </p:blipFill>
        <p:spPr>
          <a:xfrm>
            <a:off x="2865443" y="2539950"/>
            <a:ext cx="6028682" cy="15043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Motores Driver L298N</a:t>
            </a:r>
            <a:endParaRPr/>
          </a:p>
        </p:txBody>
      </p:sp>
      <p:pic>
        <p:nvPicPr>
          <p:cNvPr descr="En este tutorial aprenderemos a utilizar el Modulo L298N o también conocido como doble puente H driver L298N control de motores DC (corriente continua). Veremos como funciona y para que sirven cada uno de sus pines de tal forma que nos permita usarlo con nuestro micro controlador favorito. Este modulo puede usarse con cualquier micro controlador, su sencillo uso y bajo coste lo hacen perfecto para proyectos de robótica y vehículos a radio control&#10;&#10;Tutoriales de referencia: &#10;&#10;Control PWM con Arduino:&#10;&#10;https://www.youtube.com/watch?v=C5eX7nGjDv8&amp;t=1s&amp;list=PLZLZ7vlWlts0l0UPJkXeqCaxYbz2NXw90&amp;index=14&#10;&#10;&#10;&#10;&#10;Como alimentar tus proyectos de Arduino:&#10;&#10;https://www.youtube.com/watch?v=tAU8alULTMg&amp;t=241s&amp;list=PLZLZ7vlWlts0l0UPJkXeqCaxYbz2NXw90&amp;index=13" id="396" name="Google Shape;396;p32" title="Como usar el driver controlador de motores L298N">
            <a:hlinkClick r:id="rId3"/>
          </p:cNvPr>
          <p:cNvPicPr preferRelativeResize="0"/>
          <p:nvPr/>
        </p:nvPicPr>
        <p:blipFill>
          <a:blip r:embed="rId4">
            <a:alphaModFix/>
          </a:blip>
          <a:stretch>
            <a:fillRect/>
          </a:stretch>
        </p:blipFill>
        <p:spPr>
          <a:xfrm>
            <a:off x="1747650" y="742125"/>
            <a:ext cx="5597525" cy="419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Montaje de Prueba Motores</a:t>
            </a:r>
            <a:endParaRPr/>
          </a:p>
        </p:txBody>
      </p:sp>
      <p:sp>
        <p:nvSpPr>
          <p:cNvPr id="402" name="Google Shape;402;p33"/>
          <p:cNvSpPr txBox="1"/>
          <p:nvPr/>
        </p:nvSpPr>
        <p:spPr>
          <a:xfrm>
            <a:off x="160425" y="873225"/>
            <a:ext cx="35100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419">
                <a:latin typeface="Roboto"/>
                <a:ea typeface="Roboto"/>
                <a:cs typeface="Roboto"/>
                <a:sym typeface="Roboto"/>
              </a:rPr>
              <a:t>Modulo L298N:</a:t>
            </a:r>
            <a:endParaRPr b="1">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derecho</a:t>
            </a:r>
            <a:r>
              <a:rPr lang="es-419">
                <a:latin typeface="Roboto"/>
                <a:ea typeface="Roboto"/>
                <a:cs typeface="Roboto"/>
                <a:sym typeface="Roboto"/>
              </a:rPr>
              <a:t>: Motor A</a:t>
            </a:r>
            <a:endParaRPr>
              <a:latin typeface="Roboto"/>
              <a:ea typeface="Roboto"/>
              <a:cs typeface="Roboto"/>
              <a:sym typeface="Roboto"/>
            </a:endParaRPr>
          </a:p>
          <a:p>
            <a:pPr indent="0" lvl="0" marL="0" rtl="0" algn="l">
              <a:lnSpc>
                <a:spcPct val="150000"/>
              </a:lnSpc>
              <a:spcBef>
                <a:spcPts val="0"/>
              </a:spcBef>
              <a:spcAft>
                <a:spcPts val="0"/>
              </a:spcAft>
              <a:buNone/>
            </a:pPr>
            <a:r>
              <a:rPr b="1" i="1" lang="es-419">
                <a:latin typeface="Roboto"/>
                <a:ea typeface="Roboto"/>
                <a:cs typeface="Roboto"/>
                <a:sym typeface="Roboto"/>
              </a:rPr>
              <a:t>Motor izquierdo</a:t>
            </a:r>
            <a:r>
              <a:rPr lang="es-419">
                <a:latin typeface="Roboto"/>
                <a:ea typeface="Roboto"/>
                <a:cs typeface="Roboto"/>
                <a:sym typeface="Roboto"/>
              </a:rPr>
              <a:t>: Motor B</a:t>
            </a:r>
            <a:endParaRPr>
              <a:latin typeface="Roboto"/>
              <a:ea typeface="Roboto"/>
              <a:cs typeface="Roboto"/>
              <a:sym typeface="Roboto"/>
            </a:endParaRPr>
          </a:p>
        </p:txBody>
      </p:sp>
      <p:graphicFrame>
        <p:nvGraphicFramePr>
          <p:cNvPr id="403" name="Google Shape;403;p33"/>
          <p:cNvGraphicFramePr/>
          <p:nvPr/>
        </p:nvGraphicFramePr>
        <p:xfrm>
          <a:off x="7560725" y="957213"/>
          <a:ext cx="3000000" cy="3000000"/>
        </p:xfrm>
        <a:graphic>
          <a:graphicData uri="http://schemas.openxmlformats.org/drawingml/2006/table">
            <a:tbl>
              <a:tblPr>
                <a:noFill/>
                <a:tableStyleId>{E87750A1-F948-4B67-8F42-50D92C200CD6}</a:tableStyleId>
              </a:tblPr>
              <a:tblGrid>
                <a:gridCol w="771100"/>
                <a:gridCol w="747650"/>
              </a:tblGrid>
              <a:tr h="396200">
                <a:tc>
                  <a:txBody>
                    <a:bodyPr/>
                    <a:lstStyle/>
                    <a:p>
                      <a:pPr indent="0" lvl="0" marL="0" rtl="0" algn="ctr">
                        <a:spcBef>
                          <a:spcPts val="0"/>
                        </a:spcBef>
                        <a:spcAft>
                          <a:spcPts val="0"/>
                        </a:spcAft>
                        <a:buNone/>
                      </a:pPr>
                      <a:r>
                        <a:rPr b="1" lang="es-419" sz="1100"/>
                        <a:t>L298N</a:t>
                      </a:r>
                      <a:endParaRPr b="1" sz="1100"/>
                    </a:p>
                  </a:txBody>
                  <a:tcPr marT="91425" marB="91425" marR="91425" marL="91425"/>
                </a:tc>
                <a:tc>
                  <a:txBody>
                    <a:bodyPr/>
                    <a:lstStyle/>
                    <a:p>
                      <a:pPr indent="0" lvl="0" marL="0" rtl="0" algn="ctr">
                        <a:spcBef>
                          <a:spcPts val="0"/>
                        </a:spcBef>
                        <a:spcAft>
                          <a:spcPts val="0"/>
                        </a:spcAft>
                        <a:buNone/>
                      </a:pPr>
                      <a:r>
                        <a:rPr b="1" lang="es-419" sz="1100"/>
                        <a:t>Arduino</a:t>
                      </a:r>
                      <a:endParaRPr b="1" sz="1100"/>
                    </a:p>
                  </a:txBody>
                  <a:tcPr marT="91425" marB="91425" marR="91425" marL="91425"/>
                </a:tc>
              </a:tr>
              <a:tr h="396200">
                <a:tc>
                  <a:txBody>
                    <a:bodyPr/>
                    <a:lstStyle/>
                    <a:p>
                      <a:pPr indent="0" lvl="0" marL="0" rtl="0" algn="ctr">
                        <a:spcBef>
                          <a:spcPts val="0"/>
                        </a:spcBef>
                        <a:spcAft>
                          <a:spcPts val="0"/>
                        </a:spcAft>
                        <a:buNone/>
                      </a:pPr>
                      <a:r>
                        <a:rPr lang="es-419"/>
                        <a:t>EnA</a:t>
                      </a:r>
                      <a:endParaRPr/>
                    </a:p>
                  </a:txBody>
                  <a:tcPr marT="91425" marB="91425" marR="91425" marL="91425"/>
                </a:tc>
                <a:tc>
                  <a:txBody>
                    <a:bodyPr/>
                    <a:lstStyle/>
                    <a:p>
                      <a:pPr indent="0" lvl="0" marL="0" rtl="0" algn="ctr">
                        <a:spcBef>
                          <a:spcPts val="0"/>
                        </a:spcBef>
                        <a:spcAft>
                          <a:spcPts val="0"/>
                        </a:spcAft>
                        <a:buNone/>
                      </a:pPr>
                      <a:r>
                        <a:rPr lang="es-419"/>
                        <a:t>9</a:t>
                      </a:r>
                      <a:endParaRPr/>
                    </a:p>
                  </a:txBody>
                  <a:tcPr marT="91425" marB="91425" marR="91425" marL="91425"/>
                </a:tc>
              </a:tr>
              <a:tr h="396200">
                <a:tc>
                  <a:txBody>
                    <a:bodyPr/>
                    <a:lstStyle/>
                    <a:p>
                      <a:pPr indent="0" lvl="0" marL="0" rtl="0" algn="ctr">
                        <a:spcBef>
                          <a:spcPts val="0"/>
                        </a:spcBef>
                        <a:spcAft>
                          <a:spcPts val="0"/>
                        </a:spcAft>
                        <a:buNone/>
                      </a:pPr>
                      <a:r>
                        <a:rPr lang="es-419"/>
                        <a:t>In1A</a:t>
                      </a:r>
                      <a:endParaRPr/>
                    </a:p>
                  </a:txBody>
                  <a:tcPr marT="91425" marB="91425" marR="91425" marL="91425"/>
                </a:tc>
                <a:tc>
                  <a:txBody>
                    <a:bodyPr/>
                    <a:lstStyle/>
                    <a:p>
                      <a:pPr indent="0" lvl="0" marL="0" rtl="0" algn="ctr">
                        <a:spcBef>
                          <a:spcPts val="0"/>
                        </a:spcBef>
                        <a:spcAft>
                          <a:spcPts val="0"/>
                        </a:spcAft>
                        <a:buNone/>
                      </a:pPr>
                      <a:r>
                        <a:rPr lang="es-419"/>
                        <a:t>7</a:t>
                      </a:r>
                      <a:endParaRPr/>
                    </a:p>
                  </a:txBody>
                  <a:tcPr marT="91425" marB="91425" marR="91425" marL="91425"/>
                </a:tc>
              </a:tr>
              <a:tr h="396200">
                <a:tc>
                  <a:txBody>
                    <a:bodyPr/>
                    <a:lstStyle/>
                    <a:p>
                      <a:pPr indent="0" lvl="0" marL="0" rtl="0" algn="ctr">
                        <a:spcBef>
                          <a:spcPts val="0"/>
                        </a:spcBef>
                        <a:spcAft>
                          <a:spcPts val="0"/>
                        </a:spcAft>
                        <a:buNone/>
                      </a:pPr>
                      <a:r>
                        <a:rPr lang="es-419"/>
                        <a:t>In2A</a:t>
                      </a:r>
                      <a:endParaRPr/>
                    </a:p>
                  </a:txBody>
                  <a:tcPr marT="91425" marB="91425" marR="91425" marL="91425"/>
                </a:tc>
                <a:tc>
                  <a:txBody>
                    <a:bodyPr/>
                    <a:lstStyle/>
                    <a:p>
                      <a:pPr indent="0" lvl="0" marL="0" rtl="0" algn="ctr">
                        <a:spcBef>
                          <a:spcPts val="0"/>
                        </a:spcBef>
                        <a:spcAft>
                          <a:spcPts val="0"/>
                        </a:spcAft>
                        <a:buNone/>
                      </a:pPr>
                      <a:r>
                        <a:rPr lang="es-419"/>
                        <a:t>6</a:t>
                      </a:r>
                      <a:endParaRPr/>
                    </a:p>
                  </a:txBody>
                  <a:tcPr marT="91425" marB="91425" marR="91425" marL="91425"/>
                </a:tc>
              </a:tr>
              <a:tr h="396200">
                <a:tc>
                  <a:txBody>
                    <a:bodyPr/>
                    <a:lstStyle/>
                    <a:p>
                      <a:pPr indent="0" lvl="0" marL="0" rtl="0" algn="ctr">
                        <a:spcBef>
                          <a:spcPts val="0"/>
                        </a:spcBef>
                        <a:spcAft>
                          <a:spcPts val="0"/>
                        </a:spcAft>
                        <a:buNone/>
                      </a:pPr>
                      <a:r>
                        <a:rPr lang="es-419"/>
                        <a:t>In3B</a:t>
                      </a:r>
                      <a:endParaRPr/>
                    </a:p>
                  </a:txBody>
                  <a:tcPr marT="91425" marB="91425" marR="91425" marL="91425"/>
                </a:tc>
                <a:tc>
                  <a:txBody>
                    <a:bodyPr/>
                    <a:lstStyle/>
                    <a:p>
                      <a:pPr indent="0" lvl="0" marL="0" rtl="0" algn="ctr">
                        <a:spcBef>
                          <a:spcPts val="0"/>
                        </a:spcBef>
                        <a:spcAft>
                          <a:spcPts val="0"/>
                        </a:spcAft>
                        <a:buNone/>
                      </a:pPr>
                      <a:r>
                        <a:rPr lang="es-419"/>
                        <a:t>5</a:t>
                      </a:r>
                      <a:endParaRPr/>
                    </a:p>
                  </a:txBody>
                  <a:tcPr marT="91425" marB="91425" marR="91425" marL="91425"/>
                </a:tc>
              </a:tr>
              <a:tr h="396200">
                <a:tc>
                  <a:txBody>
                    <a:bodyPr/>
                    <a:lstStyle/>
                    <a:p>
                      <a:pPr indent="0" lvl="0" marL="0" rtl="0" algn="ctr">
                        <a:spcBef>
                          <a:spcPts val="0"/>
                        </a:spcBef>
                        <a:spcAft>
                          <a:spcPts val="0"/>
                        </a:spcAft>
                        <a:buNone/>
                      </a:pPr>
                      <a:r>
                        <a:rPr lang="es-419"/>
                        <a:t>In4B</a:t>
                      </a:r>
                      <a:endParaRPr/>
                    </a:p>
                  </a:txBody>
                  <a:tcPr marT="91425" marB="91425" marR="91425" marL="91425"/>
                </a:tc>
                <a:tc>
                  <a:txBody>
                    <a:bodyPr/>
                    <a:lstStyle/>
                    <a:p>
                      <a:pPr indent="0" lvl="0" marL="0" rtl="0" algn="ctr">
                        <a:spcBef>
                          <a:spcPts val="0"/>
                        </a:spcBef>
                        <a:spcAft>
                          <a:spcPts val="0"/>
                        </a:spcAft>
                        <a:buNone/>
                      </a:pPr>
                      <a:r>
                        <a:rPr lang="es-419"/>
                        <a:t>4</a:t>
                      </a:r>
                      <a:endParaRPr/>
                    </a:p>
                  </a:txBody>
                  <a:tcPr marT="91425" marB="91425" marR="91425" marL="91425"/>
                </a:tc>
              </a:tr>
              <a:tr h="396200">
                <a:tc>
                  <a:txBody>
                    <a:bodyPr/>
                    <a:lstStyle/>
                    <a:p>
                      <a:pPr indent="0" lvl="0" marL="0" rtl="0" algn="ctr">
                        <a:spcBef>
                          <a:spcPts val="0"/>
                        </a:spcBef>
                        <a:spcAft>
                          <a:spcPts val="0"/>
                        </a:spcAft>
                        <a:buNone/>
                      </a:pPr>
                      <a:r>
                        <a:rPr lang="es-419"/>
                        <a:t>EnB</a:t>
                      </a:r>
                      <a:endParaRPr/>
                    </a:p>
                  </a:txBody>
                  <a:tcPr marT="91425" marB="91425" marR="91425" marL="91425"/>
                </a:tc>
                <a:tc>
                  <a:txBody>
                    <a:bodyPr/>
                    <a:lstStyle/>
                    <a:p>
                      <a:pPr indent="0" lvl="0" marL="0" rtl="0" algn="ctr">
                        <a:spcBef>
                          <a:spcPts val="0"/>
                        </a:spcBef>
                        <a:spcAft>
                          <a:spcPts val="0"/>
                        </a:spcAft>
                        <a:buNone/>
                      </a:pPr>
                      <a:r>
                        <a:rPr lang="es-419"/>
                        <a:t>3</a:t>
                      </a:r>
                      <a:endParaRPr/>
                    </a:p>
                  </a:txBody>
                  <a:tcPr marT="91425" marB="91425" marR="91425" marL="91425"/>
                </a:tc>
              </a:tr>
            </a:tbl>
          </a:graphicData>
        </a:graphic>
      </p:graphicFrame>
      <p:pic>
        <p:nvPicPr>
          <p:cNvPr id="404" name="Google Shape;404;p33"/>
          <p:cNvPicPr preferRelativeResize="0"/>
          <p:nvPr/>
        </p:nvPicPr>
        <p:blipFill>
          <a:blip r:embed="rId3">
            <a:alphaModFix/>
          </a:blip>
          <a:stretch>
            <a:fillRect/>
          </a:stretch>
        </p:blipFill>
        <p:spPr>
          <a:xfrm>
            <a:off x="-42500" y="2307000"/>
            <a:ext cx="3385888" cy="2566875"/>
          </a:xfrm>
          <a:prstGeom prst="rect">
            <a:avLst/>
          </a:prstGeom>
          <a:noFill/>
          <a:ln>
            <a:noFill/>
          </a:ln>
        </p:spPr>
      </p:pic>
      <p:pic>
        <p:nvPicPr>
          <p:cNvPr id="405" name="Google Shape;405;p33"/>
          <p:cNvPicPr preferRelativeResize="0"/>
          <p:nvPr/>
        </p:nvPicPr>
        <p:blipFill>
          <a:blip r:embed="rId4">
            <a:alphaModFix/>
          </a:blip>
          <a:stretch>
            <a:fillRect/>
          </a:stretch>
        </p:blipFill>
        <p:spPr>
          <a:xfrm>
            <a:off x="2660275" y="721725"/>
            <a:ext cx="4659901" cy="2800425"/>
          </a:xfrm>
          <a:prstGeom prst="rect">
            <a:avLst/>
          </a:prstGeom>
          <a:noFill/>
          <a:ln>
            <a:noFill/>
          </a:ln>
        </p:spPr>
      </p:pic>
      <p:pic>
        <p:nvPicPr>
          <p:cNvPr id="406" name="Google Shape;406;p33"/>
          <p:cNvPicPr preferRelativeResize="0"/>
          <p:nvPr/>
        </p:nvPicPr>
        <p:blipFill>
          <a:blip r:embed="rId5">
            <a:alphaModFix/>
          </a:blip>
          <a:stretch>
            <a:fillRect/>
          </a:stretch>
        </p:blipFill>
        <p:spPr>
          <a:xfrm>
            <a:off x="2712738" y="4093338"/>
            <a:ext cx="5686425" cy="428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