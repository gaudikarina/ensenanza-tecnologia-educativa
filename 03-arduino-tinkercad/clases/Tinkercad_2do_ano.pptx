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94e01c1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94e01c1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ddca33d23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ddca33d23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ddca33d23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ddca33d23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dca33d23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ddca33d23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ddca33d2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ddca33d2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ddca33d23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ddca33d23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ddca33d23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ddca33d23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ddca33d2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ddca33d2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ddca33d23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ddca33d23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ddca33d237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ddca33d23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ddca33d23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ddca33d23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ddca33d237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ddca33d237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dca33d237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ddca33d237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ulsv7uxDZoc" TargetMode="External"/><Relationship Id="rId4" Type="http://schemas.openxmlformats.org/officeDocument/2006/relationships/image" Target="../media/image14.jp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tinkercad.com/joinclass/VUCFD4LBD"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tinkercad.com/joinclass/VUCFD4LBD"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www.tinkercad.com/joinclass/VUCFD4LBD" TargetMode="External"/><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Uso del Protoboard</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Tinkercad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Protoboard</a:t>
            </a:r>
            <a:endParaRPr/>
          </a:p>
        </p:txBody>
      </p:sp>
      <p:sp>
        <p:nvSpPr>
          <p:cNvPr id="74" name="Google Shape;74;p14"/>
          <p:cNvSpPr txBox="1"/>
          <p:nvPr/>
        </p:nvSpPr>
        <p:spPr>
          <a:xfrm>
            <a:off x="142775" y="1738075"/>
            <a:ext cx="3183300" cy="34152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s-419" sz="1150">
                <a:solidFill>
                  <a:srgbClr val="1D2125"/>
                </a:solidFill>
                <a:highlight>
                  <a:srgbClr val="FFFFFF"/>
                </a:highlight>
                <a:latin typeface="Roboto"/>
                <a:ea typeface="Roboto"/>
                <a:cs typeface="Roboto"/>
                <a:sym typeface="Roboto"/>
              </a:rPr>
              <a:t>Una placa de pruebas o placa de inserción (en inglés Protoboard) es un tablero con orificios que se encuentran conectados eléctricamente entre sí de manera interna, habitualmente siguiendo patrones de líneas, en el cual se pueden insertar componentes electrónicos y cables para el armado y prototipado de circuitos electrónicos y sistemas similares. Está hecho de dos materiales, un aislante, generalmente un plástico, y un conductor que conecta los diversos orificios entre sí. Uno de sus usos principales es la creación y comprobación de prototipos de circuitos electrónicos antes de llegar a la impresión mecánica del circuito en sistemas de producción comercial.</a:t>
            </a:r>
            <a:endParaRPr>
              <a:latin typeface="Roboto"/>
              <a:ea typeface="Roboto"/>
              <a:cs typeface="Roboto"/>
              <a:sym typeface="Roboto"/>
            </a:endParaRPr>
          </a:p>
        </p:txBody>
      </p:sp>
      <p:pic>
        <p:nvPicPr>
          <p:cNvPr descr="En este tutorial aprenderemos a utilizar una protoboard, tal como su nombre lo indica sirve para montar prototipos electronicos, utilizando un led, una resistencia de 220 ohmios y un arduino uno usaremos por primera vez nuestra protoboard.&#10;&#10;Puedes ayudar al canal para crear mas vídeos animados a través de Paypal:&#10;https://paypal.me/vtenlinea?locale.x=es_XC" id="75" name="Google Shape;75;p14" title="Como usar una Protoboard">
            <a:hlinkClick r:id="rId3"/>
          </p:cNvPr>
          <p:cNvPicPr preferRelativeResize="0"/>
          <p:nvPr/>
        </p:nvPicPr>
        <p:blipFill>
          <a:blip r:embed="rId4">
            <a:alphaModFix/>
          </a:blip>
          <a:stretch>
            <a:fillRect/>
          </a:stretch>
        </p:blipFill>
        <p:spPr>
          <a:xfrm>
            <a:off x="6769254" y="2627697"/>
            <a:ext cx="2281600" cy="1711203"/>
          </a:xfrm>
          <a:prstGeom prst="rect">
            <a:avLst/>
          </a:prstGeom>
          <a:noFill/>
          <a:ln>
            <a:noFill/>
          </a:ln>
        </p:spPr>
      </p:pic>
      <p:pic>
        <p:nvPicPr>
          <p:cNvPr id="76" name="Google Shape;76;p14"/>
          <p:cNvPicPr preferRelativeResize="0"/>
          <p:nvPr/>
        </p:nvPicPr>
        <p:blipFill rotWithShape="1">
          <a:blip r:embed="rId5">
            <a:alphaModFix/>
          </a:blip>
          <a:srcRect b="6113" l="20977" r="20703" t="5796"/>
          <a:stretch/>
        </p:blipFill>
        <p:spPr>
          <a:xfrm>
            <a:off x="3740625" y="1882725"/>
            <a:ext cx="1991750" cy="3008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En primer lugar haz click </a:t>
            </a:r>
            <a:r>
              <a:rPr lang="es-419"/>
              <a:t>en el enlace</a:t>
            </a:r>
            <a:r>
              <a:rPr lang="es-419"/>
              <a:t>.</a:t>
            </a:r>
            <a:endParaRPr/>
          </a:p>
        </p:txBody>
      </p:sp>
      <p:sp>
        <p:nvSpPr>
          <p:cNvPr id="82" name="Google Shape;82;p15"/>
          <p:cNvSpPr txBox="1"/>
          <p:nvPr>
            <p:ph idx="1" type="body"/>
          </p:nvPr>
        </p:nvSpPr>
        <p:spPr>
          <a:xfrm>
            <a:off x="471900" y="1770913"/>
            <a:ext cx="3431100" cy="45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150" u="sng">
                <a:solidFill>
                  <a:schemeClr val="hlink"/>
                </a:solidFill>
                <a:highlight>
                  <a:srgbClr val="FFFFFF"/>
                </a:highlight>
                <a:latin typeface="Arial"/>
                <a:ea typeface="Arial"/>
                <a:cs typeface="Arial"/>
                <a:sym typeface="Arial"/>
                <a:hlinkClick r:id="rId3"/>
              </a:rPr>
              <a:t>https://www.tinkercad.com/joinclass/VUCFD4LBD</a:t>
            </a:r>
            <a:endParaRPr/>
          </a:p>
        </p:txBody>
      </p:sp>
      <p:pic>
        <p:nvPicPr>
          <p:cNvPr id="83" name="Google Shape;83;p15"/>
          <p:cNvPicPr preferRelativeResize="0"/>
          <p:nvPr/>
        </p:nvPicPr>
        <p:blipFill>
          <a:blip r:embed="rId4">
            <a:alphaModFix/>
          </a:blip>
          <a:stretch>
            <a:fillRect/>
          </a:stretch>
        </p:blipFill>
        <p:spPr>
          <a:xfrm>
            <a:off x="891210" y="2492925"/>
            <a:ext cx="2592475" cy="2566200"/>
          </a:xfrm>
          <a:prstGeom prst="rect">
            <a:avLst/>
          </a:prstGeom>
          <a:noFill/>
          <a:ln>
            <a:noFill/>
          </a:ln>
        </p:spPr>
      </p:pic>
      <p:cxnSp>
        <p:nvCxnSpPr>
          <p:cNvPr id="84" name="Google Shape;84;p15"/>
          <p:cNvCxnSpPr>
            <a:stCxn id="82" idx="2"/>
            <a:endCxn id="83" idx="0"/>
          </p:cNvCxnSpPr>
          <p:nvPr/>
        </p:nvCxnSpPr>
        <p:spPr>
          <a:xfrm>
            <a:off x="2187450" y="2228413"/>
            <a:ext cx="0" cy="264600"/>
          </a:xfrm>
          <a:prstGeom prst="straightConnector1">
            <a:avLst/>
          </a:prstGeom>
          <a:noFill/>
          <a:ln cap="flat" cmpd="sng" w="19050">
            <a:solidFill>
              <a:srgbClr val="FF0000"/>
            </a:solidFill>
            <a:prstDash val="solid"/>
            <a:round/>
            <a:headEnd len="med" w="med" type="none"/>
            <a:tailEnd len="med" w="med" type="triangle"/>
          </a:ln>
        </p:spPr>
      </p:cxnSp>
      <p:sp>
        <p:nvSpPr>
          <p:cNvPr id="85" name="Google Shape;85;p15"/>
          <p:cNvSpPr/>
          <p:nvPr/>
        </p:nvSpPr>
        <p:spPr>
          <a:xfrm>
            <a:off x="1039325" y="3319150"/>
            <a:ext cx="2224200" cy="41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15"/>
          <p:cNvCxnSpPr/>
          <p:nvPr/>
        </p:nvCxnSpPr>
        <p:spPr>
          <a:xfrm flipH="1" rot="10800000">
            <a:off x="3263525" y="3504550"/>
            <a:ext cx="676500" cy="23100"/>
          </a:xfrm>
          <a:prstGeom prst="straightConnector1">
            <a:avLst/>
          </a:prstGeom>
          <a:noFill/>
          <a:ln cap="flat" cmpd="sng" w="9525">
            <a:solidFill>
              <a:schemeClr val="dk2"/>
            </a:solidFill>
            <a:prstDash val="solid"/>
            <a:round/>
            <a:headEnd len="med" w="med" type="none"/>
            <a:tailEnd len="med" w="med" type="triangle"/>
          </a:ln>
        </p:spPr>
      </p:cxnSp>
      <p:sp>
        <p:nvSpPr>
          <p:cNvPr id="87" name="Google Shape;87;p15"/>
          <p:cNvSpPr txBox="1"/>
          <p:nvPr/>
        </p:nvSpPr>
        <p:spPr>
          <a:xfrm>
            <a:off x="4255175" y="3143075"/>
            <a:ext cx="443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900">
                <a:latin typeface="Roboto"/>
                <a:ea typeface="Roboto"/>
                <a:cs typeface="Roboto"/>
                <a:sym typeface="Roboto"/>
              </a:rPr>
              <a:t>Tu apodo es:</a:t>
            </a:r>
            <a:endParaRPr b="1" sz="1900">
              <a:latin typeface="Roboto"/>
              <a:ea typeface="Roboto"/>
              <a:cs typeface="Roboto"/>
              <a:sym typeface="Roboto"/>
            </a:endParaRPr>
          </a:p>
          <a:p>
            <a:pPr indent="0" lvl="0" marL="0" rtl="0" algn="l">
              <a:spcBef>
                <a:spcPts val="0"/>
              </a:spcBef>
              <a:spcAft>
                <a:spcPts val="0"/>
              </a:spcAft>
              <a:buNone/>
            </a:pPr>
            <a:r>
              <a:rPr lang="es-419" sz="1900">
                <a:latin typeface="Roboto"/>
                <a:ea typeface="Roboto"/>
                <a:cs typeface="Roboto"/>
                <a:sym typeface="Roboto"/>
              </a:rPr>
              <a:t>primerapellido.primernombre</a:t>
            </a:r>
            <a:endParaRPr sz="1900">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En primer lugar haz click en el enlace.</a:t>
            </a:r>
            <a:endParaRPr/>
          </a:p>
        </p:txBody>
      </p:sp>
      <p:sp>
        <p:nvSpPr>
          <p:cNvPr id="93" name="Google Shape;93;p16"/>
          <p:cNvSpPr txBox="1"/>
          <p:nvPr>
            <p:ph idx="1" type="body"/>
          </p:nvPr>
        </p:nvSpPr>
        <p:spPr>
          <a:xfrm>
            <a:off x="471900" y="1770913"/>
            <a:ext cx="3431100" cy="45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150" u="sng">
                <a:solidFill>
                  <a:schemeClr val="hlink"/>
                </a:solidFill>
                <a:highlight>
                  <a:srgbClr val="FFFFFF"/>
                </a:highlight>
                <a:latin typeface="Arial"/>
                <a:ea typeface="Arial"/>
                <a:cs typeface="Arial"/>
                <a:sym typeface="Arial"/>
                <a:hlinkClick r:id="rId3"/>
              </a:rPr>
              <a:t>https://www.tinkercad.com/joinclass/VUCFD4LBD</a:t>
            </a:r>
            <a:endParaRPr/>
          </a:p>
        </p:txBody>
      </p:sp>
      <p:cxnSp>
        <p:nvCxnSpPr>
          <p:cNvPr id="94" name="Google Shape;94;p16"/>
          <p:cNvCxnSpPr>
            <a:stCxn id="93" idx="2"/>
            <a:endCxn id="95" idx="0"/>
          </p:cNvCxnSpPr>
          <p:nvPr/>
        </p:nvCxnSpPr>
        <p:spPr>
          <a:xfrm>
            <a:off x="2187450" y="2228413"/>
            <a:ext cx="0" cy="264600"/>
          </a:xfrm>
          <a:prstGeom prst="straightConnector1">
            <a:avLst/>
          </a:prstGeom>
          <a:noFill/>
          <a:ln cap="flat" cmpd="sng" w="19050">
            <a:solidFill>
              <a:srgbClr val="FF0000"/>
            </a:solidFill>
            <a:prstDash val="solid"/>
            <a:round/>
            <a:headEnd len="med" w="med" type="none"/>
            <a:tailEnd len="med" w="med" type="triangle"/>
          </a:ln>
        </p:spPr>
      </p:cxnSp>
      <p:sp>
        <p:nvSpPr>
          <p:cNvPr id="96" name="Google Shape;96;p16"/>
          <p:cNvSpPr/>
          <p:nvPr/>
        </p:nvSpPr>
        <p:spPr>
          <a:xfrm>
            <a:off x="1039325" y="3319150"/>
            <a:ext cx="2224200" cy="41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 name="Google Shape;97;p16"/>
          <p:cNvCxnSpPr/>
          <p:nvPr/>
        </p:nvCxnSpPr>
        <p:spPr>
          <a:xfrm flipH="1" rot="10800000">
            <a:off x="3263525" y="3504550"/>
            <a:ext cx="676500" cy="23100"/>
          </a:xfrm>
          <a:prstGeom prst="straightConnector1">
            <a:avLst/>
          </a:prstGeom>
          <a:noFill/>
          <a:ln cap="flat" cmpd="sng" w="9525">
            <a:solidFill>
              <a:schemeClr val="dk2"/>
            </a:solidFill>
            <a:prstDash val="solid"/>
            <a:round/>
            <a:headEnd len="med" w="med" type="none"/>
            <a:tailEnd len="med" w="med" type="triangle"/>
          </a:ln>
        </p:spPr>
      </p:cxnSp>
      <p:sp>
        <p:nvSpPr>
          <p:cNvPr id="98" name="Google Shape;98;p16"/>
          <p:cNvSpPr txBox="1"/>
          <p:nvPr/>
        </p:nvSpPr>
        <p:spPr>
          <a:xfrm>
            <a:off x="4255175" y="3143075"/>
            <a:ext cx="443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900">
                <a:latin typeface="Roboto"/>
                <a:ea typeface="Roboto"/>
                <a:cs typeface="Roboto"/>
                <a:sym typeface="Roboto"/>
              </a:rPr>
              <a:t>Tu apodo es:</a:t>
            </a:r>
            <a:endParaRPr b="1" sz="1900">
              <a:latin typeface="Roboto"/>
              <a:ea typeface="Roboto"/>
              <a:cs typeface="Roboto"/>
              <a:sym typeface="Roboto"/>
            </a:endParaRPr>
          </a:p>
          <a:p>
            <a:pPr indent="0" lvl="0" marL="0" rtl="0" algn="l">
              <a:spcBef>
                <a:spcPts val="0"/>
              </a:spcBef>
              <a:spcAft>
                <a:spcPts val="0"/>
              </a:spcAft>
              <a:buNone/>
            </a:pPr>
            <a:r>
              <a:rPr lang="es-419" sz="1900">
                <a:latin typeface="Roboto"/>
                <a:ea typeface="Roboto"/>
                <a:cs typeface="Roboto"/>
                <a:sym typeface="Roboto"/>
              </a:rPr>
              <a:t>primerapellido.primernombre</a:t>
            </a:r>
            <a:endParaRPr sz="1900">
              <a:latin typeface="Roboto"/>
              <a:ea typeface="Roboto"/>
              <a:cs typeface="Roboto"/>
              <a:sym typeface="Roboto"/>
            </a:endParaRPr>
          </a:p>
        </p:txBody>
      </p:sp>
      <p:pic>
        <p:nvPicPr>
          <p:cNvPr id="99" name="Google Shape;99;p16"/>
          <p:cNvPicPr preferRelativeResize="0"/>
          <p:nvPr/>
        </p:nvPicPr>
        <p:blipFill>
          <a:blip r:embed="rId4">
            <a:alphaModFix/>
          </a:blip>
          <a:stretch>
            <a:fillRect/>
          </a:stretch>
        </p:blipFill>
        <p:spPr>
          <a:xfrm>
            <a:off x="388200" y="2171200"/>
            <a:ext cx="3733800" cy="2895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7"/>
          <p:cNvPicPr preferRelativeResize="0"/>
          <p:nvPr/>
        </p:nvPicPr>
        <p:blipFill>
          <a:blip r:embed="rId3">
            <a:alphaModFix/>
          </a:blip>
          <a:stretch>
            <a:fillRect/>
          </a:stretch>
        </p:blipFill>
        <p:spPr>
          <a:xfrm>
            <a:off x="806925" y="2596250"/>
            <a:ext cx="2689012" cy="926125"/>
          </a:xfrm>
          <a:prstGeom prst="rect">
            <a:avLst/>
          </a:prstGeom>
          <a:noFill/>
          <a:ln>
            <a:noFill/>
          </a:ln>
        </p:spPr>
      </p:pic>
      <p:sp>
        <p:nvSpPr>
          <p:cNvPr id="105" name="Google Shape;105;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En primer lugar haz click en el enlace.</a:t>
            </a:r>
            <a:endParaRPr/>
          </a:p>
        </p:txBody>
      </p:sp>
      <p:sp>
        <p:nvSpPr>
          <p:cNvPr id="106" name="Google Shape;106;p17"/>
          <p:cNvSpPr txBox="1"/>
          <p:nvPr>
            <p:ph idx="1" type="body"/>
          </p:nvPr>
        </p:nvSpPr>
        <p:spPr>
          <a:xfrm>
            <a:off x="471900" y="1770913"/>
            <a:ext cx="3431100" cy="45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150" u="sng">
                <a:solidFill>
                  <a:schemeClr val="hlink"/>
                </a:solidFill>
                <a:highlight>
                  <a:srgbClr val="FFFFFF"/>
                </a:highlight>
                <a:latin typeface="Arial"/>
                <a:ea typeface="Arial"/>
                <a:cs typeface="Arial"/>
                <a:sym typeface="Arial"/>
                <a:hlinkClick r:id="rId4"/>
              </a:rPr>
              <a:t>https://www.tinkercad.com/joinclass/VUCFD4LBD</a:t>
            </a:r>
            <a:endParaRPr/>
          </a:p>
        </p:txBody>
      </p:sp>
      <p:cxnSp>
        <p:nvCxnSpPr>
          <p:cNvPr id="107" name="Google Shape;107;p17"/>
          <p:cNvCxnSpPr>
            <a:stCxn id="106" idx="2"/>
            <a:endCxn id="108" idx="0"/>
          </p:cNvCxnSpPr>
          <p:nvPr/>
        </p:nvCxnSpPr>
        <p:spPr>
          <a:xfrm>
            <a:off x="2187450" y="2228413"/>
            <a:ext cx="0" cy="264600"/>
          </a:xfrm>
          <a:prstGeom prst="straightConnector1">
            <a:avLst/>
          </a:prstGeom>
          <a:noFill/>
          <a:ln cap="flat" cmpd="sng" w="19050">
            <a:solidFill>
              <a:srgbClr val="FF0000"/>
            </a:solidFill>
            <a:prstDash val="solid"/>
            <a:round/>
            <a:headEnd len="med" w="med" type="none"/>
            <a:tailEnd len="med" w="med" type="triangle"/>
          </a:ln>
        </p:spPr>
      </p:cxnSp>
      <p:sp>
        <p:nvSpPr>
          <p:cNvPr id="109" name="Google Shape;109;p17"/>
          <p:cNvSpPr/>
          <p:nvPr/>
        </p:nvSpPr>
        <p:spPr>
          <a:xfrm>
            <a:off x="928125" y="2809425"/>
            <a:ext cx="2224200" cy="41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7"/>
          <p:cNvPicPr preferRelativeResize="0"/>
          <p:nvPr/>
        </p:nvPicPr>
        <p:blipFill>
          <a:blip r:embed="rId5">
            <a:alphaModFix/>
          </a:blip>
          <a:stretch>
            <a:fillRect/>
          </a:stretch>
        </p:blipFill>
        <p:spPr>
          <a:xfrm>
            <a:off x="411125" y="3769713"/>
            <a:ext cx="8515350" cy="115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Visualiza las actividades de la clase</a:t>
            </a:r>
            <a:endParaRPr/>
          </a:p>
        </p:txBody>
      </p:sp>
      <p:pic>
        <p:nvPicPr>
          <p:cNvPr id="116" name="Google Shape;116;p18"/>
          <p:cNvPicPr preferRelativeResize="0"/>
          <p:nvPr/>
        </p:nvPicPr>
        <p:blipFill>
          <a:blip r:embed="rId3">
            <a:alphaModFix/>
          </a:blip>
          <a:stretch>
            <a:fillRect/>
          </a:stretch>
        </p:blipFill>
        <p:spPr>
          <a:xfrm>
            <a:off x="1125475" y="1801950"/>
            <a:ext cx="6484549" cy="2962625"/>
          </a:xfrm>
          <a:prstGeom prst="rect">
            <a:avLst/>
          </a:prstGeom>
          <a:noFill/>
          <a:ln>
            <a:noFill/>
          </a:ln>
        </p:spPr>
      </p:pic>
      <p:sp>
        <p:nvSpPr>
          <p:cNvPr id="117" name="Google Shape;117;p18"/>
          <p:cNvSpPr/>
          <p:nvPr/>
        </p:nvSpPr>
        <p:spPr>
          <a:xfrm>
            <a:off x="5395075" y="1978075"/>
            <a:ext cx="2066700" cy="2622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Visualiza las actividades de la clase</a:t>
            </a:r>
            <a:endParaRPr/>
          </a:p>
        </p:txBody>
      </p:sp>
      <p:pic>
        <p:nvPicPr>
          <p:cNvPr id="123" name="Google Shape;123;p19"/>
          <p:cNvPicPr preferRelativeResize="0"/>
          <p:nvPr/>
        </p:nvPicPr>
        <p:blipFill rotWithShape="1">
          <a:blip r:embed="rId3">
            <a:alphaModFix/>
          </a:blip>
          <a:srcRect b="0" l="64985" r="0" t="0"/>
          <a:stretch/>
        </p:blipFill>
        <p:spPr>
          <a:xfrm>
            <a:off x="279375" y="1801963"/>
            <a:ext cx="2270550" cy="2962625"/>
          </a:xfrm>
          <a:prstGeom prst="rect">
            <a:avLst/>
          </a:prstGeom>
          <a:noFill/>
          <a:ln>
            <a:noFill/>
          </a:ln>
        </p:spPr>
      </p:pic>
      <p:sp>
        <p:nvSpPr>
          <p:cNvPr id="124" name="Google Shape;124;p19"/>
          <p:cNvSpPr/>
          <p:nvPr/>
        </p:nvSpPr>
        <p:spPr>
          <a:xfrm>
            <a:off x="381300" y="1971963"/>
            <a:ext cx="2066700" cy="2622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 name="Google Shape;125;p19"/>
          <p:cNvPicPr preferRelativeResize="0"/>
          <p:nvPr/>
        </p:nvPicPr>
        <p:blipFill>
          <a:blip r:embed="rId4">
            <a:alphaModFix/>
          </a:blip>
          <a:stretch>
            <a:fillRect/>
          </a:stretch>
        </p:blipFill>
        <p:spPr>
          <a:xfrm>
            <a:off x="2822799" y="1801975"/>
            <a:ext cx="4662550" cy="3332274"/>
          </a:xfrm>
          <a:prstGeom prst="rect">
            <a:avLst/>
          </a:prstGeom>
          <a:noFill/>
          <a:ln>
            <a:noFill/>
          </a:ln>
        </p:spPr>
      </p:pic>
      <p:sp>
        <p:nvSpPr>
          <p:cNvPr id="126" name="Google Shape;126;p19"/>
          <p:cNvSpPr txBox="1"/>
          <p:nvPr/>
        </p:nvSpPr>
        <p:spPr>
          <a:xfrm>
            <a:off x="2809425" y="3423800"/>
            <a:ext cx="1640400" cy="400200"/>
          </a:xfrm>
          <a:prstGeom prst="rect">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7" name="Google Shape;127;p19"/>
          <p:cNvSpPr txBox="1"/>
          <p:nvPr/>
        </p:nvSpPr>
        <p:spPr>
          <a:xfrm>
            <a:off x="5645100" y="2969700"/>
            <a:ext cx="3048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3000">
                <a:latin typeface="Roboto"/>
                <a:ea typeface="Roboto"/>
                <a:cs typeface="Roboto"/>
                <a:sym typeface="Roboto"/>
              </a:rPr>
              <a:t>Aqui </a:t>
            </a:r>
            <a:r>
              <a:rPr lang="es-419" sz="3000">
                <a:latin typeface="Roboto"/>
                <a:ea typeface="Roboto"/>
                <a:cs typeface="Roboto"/>
                <a:sym typeface="Roboto"/>
              </a:rPr>
              <a:t>realizarán</a:t>
            </a:r>
            <a:r>
              <a:rPr lang="es-419" sz="3000">
                <a:latin typeface="Roboto"/>
                <a:ea typeface="Roboto"/>
                <a:cs typeface="Roboto"/>
                <a:sym typeface="Roboto"/>
              </a:rPr>
              <a:t> su diseño</a:t>
            </a:r>
            <a:endParaRPr sz="3600">
              <a:latin typeface="Roboto"/>
              <a:ea typeface="Roboto"/>
              <a:cs typeface="Roboto"/>
              <a:sym typeface="Roboto"/>
            </a:endParaRPr>
          </a:p>
        </p:txBody>
      </p:sp>
      <p:cxnSp>
        <p:nvCxnSpPr>
          <p:cNvPr id="128" name="Google Shape;128;p19"/>
          <p:cNvCxnSpPr>
            <a:stCxn id="127" idx="1"/>
            <a:endCxn id="126" idx="3"/>
          </p:cNvCxnSpPr>
          <p:nvPr/>
        </p:nvCxnSpPr>
        <p:spPr>
          <a:xfrm flipH="1">
            <a:off x="4449900" y="3523800"/>
            <a:ext cx="1195200" cy="100200"/>
          </a:xfrm>
          <a:prstGeom prst="straightConnector1">
            <a:avLst/>
          </a:prstGeom>
          <a:noFill/>
          <a:ln cap="flat" cmpd="sng" w="38100">
            <a:solidFill>
              <a:srgbClr val="FF0000"/>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SERIE BOMBILLOS EN PROTOBOARD</a:t>
            </a:r>
            <a:endParaRPr/>
          </a:p>
        </p:txBody>
      </p:sp>
      <p:pic>
        <p:nvPicPr>
          <p:cNvPr id="134" name="Google Shape;134;p20"/>
          <p:cNvPicPr preferRelativeResize="0"/>
          <p:nvPr/>
        </p:nvPicPr>
        <p:blipFill>
          <a:blip r:embed="rId3">
            <a:alphaModFix/>
          </a:blip>
          <a:stretch>
            <a:fillRect/>
          </a:stretch>
        </p:blipFill>
        <p:spPr>
          <a:xfrm>
            <a:off x="0" y="1029488"/>
            <a:ext cx="9144000" cy="3857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PARALELO BOMBILLOS EN PROTOBOARD</a:t>
            </a:r>
            <a:endParaRPr/>
          </a:p>
        </p:txBody>
      </p:sp>
      <p:pic>
        <p:nvPicPr>
          <p:cNvPr id="140" name="Google Shape;140;p21"/>
          <p:cNvPicPr preferRelativeResize="0"/>
          <p:nvPr/>
        </p:nvPicPr>
        <p:blipFill>
          <a:blip r:embed="rId3">
            <a:alphaModFix/>
          </a:blip>
          <a:stretch>
            <a:fillRect/>
          </a:stretch>
        </p:blipFill>
        <p:spPr>
          <a:xfrm>
            <a:off x="152400" y="1265375"/>
            <a:ext cx="8839200" cy="33204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SERIE RESISTENCIA EN PROTOBOARD</a:t>
            </a:r>
            <a:endParaRPr/>
          </a:p>
        </p:txBody>
      </p:sp>
      <p:sp>
        <p:nvSpPr>
          <p:cNvPr id="146" name="Google Shape;146;p22"/>
          <p:cNvSpPr txBox="1"/>
          <p:nvPr/>
        </p:nvSpPr>
        <p:spPr>
          <a:xfrm>
            <a:off x="549225" y="971150"/>
            <a:ext cx="44133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Realiza el circuito y comprueba la propiedad de las resistencias conectadas en serie donde:</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Rt= R1+R2+R3+.....+Rn… Si:</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R1=220Ω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R2=1KΩ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R3=550Ω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R4=2KΩ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R5=2.2KΩ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R6=1500Ω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R7=2200Ω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R8=5KΩ</a:t>
            </a:r>
            <a:endParaRPr>
              <a:latin typeface="Roboto"/>
              <a:ea typeface="Roboto"/>
              <a:cs typeface="Roboto"/>
              <a:sym typeface="Roboto"/>
            </a:endParaRPr>
          </a:p>
        </p:txBody>
      </p:sp>
      <p:pic>
        <p:nvPicPr>
          <p:cNvPr id="147" name="Google Shape;147;p22"/>
          <p:cNvPicPr preferRelativeResize="0"/>
          <p:nvPr/>
        </p:nvPicPr>
        <p:blipFill>
          <a:blip r:embed="rId3">
            <a:alphaModFix/>
          </a:blip>
          <a:stretch>
            <a:fillRect/>
          </a:stretch>
        </p:blipFill>
        <p:spPr>
          <a:xfrm>
            <a:off x="3236850" y="1610000"/>
            <a:ext cx="5839300" cy="340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PARALELO RESISTENCIA EN PROTOBOARD</a:t>
            </a:r>
            <a:endParaRPr/>
          </a:p>
        </p:txBody>
      </p:sp>
      <p:sp>
        <p:nvSpPr>
          <p:cNvPr id="153" name="Google Shape;153;p23"/>
          <p:cNvSpPr txBox="1"/>
          <p:nvPr/>
        </p:nvSpPr>
        <p:spPr>
          <a:xfrm>
            <a:off x="549225" y="971150"/>
            <a:ext cx="44133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Realiza el circuito y comprueba la propiedad de las resistencias conectadas en PARALELO donde:</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1/Rt= 1/R1+1/R2+1/R3+.....+1/Rn… Si:</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R1=220Ω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R2=1KΩ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R3=550Ω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R4=2KΩ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R5=2.2KΩ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R6=1500Ω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R7=2200Ω</a:t>
            </a:r>
            <a:endParaRPr>
              <a:latin typeface="Roboto"/>
              <a:ea typeface="Roboto"/>
              <a:cs typeface="Roboto"/>
              <a:sym typeface="Roboto"/>
            </a:endParaRPr>
          </a:p>
        </p:txBody>
      </p:sp>
      <p:pic>
        <p:nvPicPr>
          <p:cNvPr id="154" name="Google Shape;154;p23"/>
          <p:cNvPicPr preferRelativeResize="0"/>
          <p:nvPr/>
        </p:nvPicPr>
        <p:blipFill>
          <a:blip r:embed="rId3">
            <a:alphaModFix/>
          </a:blip>
          <a:stretch>
            <a:fillRect/>
          </a:stretch>
        </p:blipFill>
        <p:spPr>
          <a:xfrm>
            <a:off x="3900825" y="1569925"/>
            <a:ext cx="4476800" cy="34758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a:t>
            </a:r>
            <a:r>
              <a:rPr lang="es-419"/>
              <a:t>MEDICIÓN</a:t>
            </a:r>
            <a:r>
              <a:rPr lang="es-419"/>
              <a:t> DE CORRIENTE (AMPERAJE)</a:t>
            </a:r>
            <a:endParaRPr/>
          </a:p>
        </p:txBody>
      </p:sp>
      <p:sp>
        <p:nvSpPr>
          <p:cNvPr id="160" name="Google Shape;160;p24"/>
          <p:cNvSpPr txBox="1"/>
          <p:nvPr/>
        </p:nvSpPr>
        <p:spPr>
          <a:xfrm>
            <a:off x="549225" y="971150"/>
            <a:ext cx="441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Realiza el circuito en un Protoboard</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R=220Ω, V=12</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61" name="Google Shape;161;p24"/>
          <p:cNvPicPr preferRelativeResize="0"/>
          <p:nvPr/>
        </p:nvPicPr>
        <p:blipFill>
          <a:blip r:embed="rId3">
            <a:alphaModFix/>
          </a:blip>
          <a:stretch>
            <a:fillRect/>
          </a:stretch>
        </p:blipFill>
        <p:spPr>
          <a:xfrm>
            <a:off x="185200" y="1572025"/>
            <a:ext cx="4413299" cy="2129137"/>
          </a:xfrm>
          <a:prstGeom prst="rect">
            <a:avLst/>
          </a:prstGeom>
          <a:noFill/>
          <a:ln>
            <a:noFill/>
          </a:ln>
        </p:spPr>
      </p:pic>
      <p:pic>
        <p:nvPicPr>
          <p:cNvPr id="162" name="Google Shape;162;p24"/>
          <p:cNvPicPr preferRelativeResize="0"/>
          <p:nvPr/>
        </p:nvPicPr>
        <p:blipFill>
          <a:blip r:embed="rId4">
            <a:alphaModFix/>
          </a:blip>
          <a:stretch>
            <a:fillRect/>
          </a:stretch>
        </p:blipFill>
        <p:spPr>
          <a:xfrm>
            <a:off x="4684149" y="1572025"/>
            <a:ext cx="4240702" cy="27975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MEDICIÓN DE VOLTAJE</a:t>
            </a:r>
            <a:endParaRPr/>
          </a:p>
        </p:txBody>
      </p:sp>
      <p:sp>
        <p:nvSpPr>
          <p:cNvPr id="168" name="Google Shape;168;p25"/>
          <p:cNvSpPr txBox="1"/>
          <p:nvPr/>
        </p:nvSpPr>
        <p:spPr>
          <a:xfrm>
            <a:off x="549225" y="971150"/>
            <a:ext cx="441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Realiza el circuito en un Protoboard</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R=220Ω, V=12</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69" name="Google Shape;169;p25"/>
          <p:cNvPicPr preferRelativeResize="0"/>
          <p:nvPr/>
        </p:nvPicPr>
        <p:blipFill>
          <a:blip r:embed="rId3">
            <a:alphaModFix/>
          </a:blip>
          <a:stretch>
            <a:fillRect/>
          </a:stretch>
        </p:blipFill>
        <p:spPr>
          <a:xfrm>
            <a:off x="152400" y="1954850"/>
            <a:ext cx="3653224" cy="1648825"/>
          </a:xfrm>
          <a:prstGeom prst="rect">
            <a:avLst/>
          </a:prstGeom>
          <a:noFill/>
          <a:ln>
            <a:noFill/>
          </a:ln>
        </p:spPr>
      </p:pic>
      <p:pic>
        <p:nvPicPr>
          <p:cNvPr id="170" name="Google Shape;170;p25"/>
          <p:cNvPicPr preferRelativeResize="0"/>
          <p:nvPr/>
        </p:nvPicPr>
        <p:blipFill>
          <a:blip r:embed="rId4">
            <a:alphaModFix/>
          </a:blip>
          <a:stretch>
            <a:fillRect/>
          </a:stretch>
        </p:blipFill>
        <p:spPr>
          <a:xfrm>
            <a:off x="4034599" y="1954850"/>
            <a:ext cx="5033577" cy="24992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CIRCUITO MIXTO MEDICION DE VOLTAJE Y AMPERAJE</a:t>
            </a:r>
            <a:endParaRPr/>
          </a:p>
        </p:txBody>
      </p:sp>
      <p:sp>
        <p:nvSpPr>
          <p:cNvPr id="176" name="Google Shape;176;p26"/>
          <p:cNvSpPr txBox="1"/>
          <p:nvPr/>
        </p:nvSpPr>
        <p:spPr>
          <a:xfrm>
            <a:off x="549225" y="971150"/>
            <a:ext cx="4413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Realiza el circuito</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R1=220Ω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R2=1KΩ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R3=550Ω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R4=1KΩ</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R5=2KΩ</a:t>
            </a:r>
            <a:endParaRPr>
              <a:latin typeface="Roboto"/>
              <a:ea typeface="Roboto"/>
              <a:cs typeface="Roboto"/>
              <a:sym typeface="Roboto"/>
            </a:endParaRPr>
          </a:p>
        </p:txBody>
      </p:sp>
      <p:pic>
        <p:nvPicPr>
          <p:cNvPr id="177" name="Google Shape;177;p26"/>
          <p:cNvPicPr preferRelativeResize="0"/>
          <p:nvPr/>
        </p:nvPicPr>
        <p:blipFill>
          <a:blip r:embed="rId3">
            <a:alphaModFix/>
          </a:blip>
          <a:stretch>
            <a:fillRect/>
          </a:stretch>
        </p:blipFill>
        <p:spPr>
          <a:xfrm>
            <a:off x="1913400" y="1386950"/>
            <a:ext cx="6803651" cy="29399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