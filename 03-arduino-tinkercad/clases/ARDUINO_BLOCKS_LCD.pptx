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8223d7df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8223d7df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81fe6306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81fe6306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8223d7df5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d8223d7df5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8223d7df5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8223d7df5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8223d7df5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8223d7df5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8223d7df5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8223d7df5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82d8b957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82d8b957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df7380b9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df7380b9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4baedd39f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4baedd39f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4baedd39f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4baedd39f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82d8b957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d82d8b957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Prácticas de Arduino</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Pantalla de Cristal Líquido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226075" y="242650"/>
            <a:ext cx="2808000" cy="4083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¿Podré hacer una calculadora con lo que he aprendido hasta ahora?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74" name="Google Shape;74;p14"/>
          <p:cNvPicPr preferRelativeResize="0"/>
          <p:nvPr/>
        </p:nvPicPr>
        <p:blipFill>
          <a:blip r:embed="rId3">
            <a:alphaModFix/>
          </a:blip>
          <a:stretch>
            <a:fillRect/>
          </a:stretch>
        </p:blipFill>
        <p:spPr>
          <a:xfrm>
            <a:off x="3588775" y="0"/>
            <a:ext cx="2463723" cy="5143500"/>
          </a:xfrm>
          <a:prstGeom prst="rect">
            <a:avLst/>
          </a:prstGeom>
          <a:noFill/>
          <a:ln>
            <a:noFill/>
          </a:ln>
        </p:spPr>
      </p:pic>
      <p:pic>
        <p:nvPicPr>
          <p:cNvPr id="75" name="Google Shape;75;p14"/>
          <p:cNvPicPr preferRelativeResize="0"/>
          <p:nvPr/>
        </p:nvPicPr>
        <p:blipFill>
          <a:blip r:embed="rId4">
            <a:alphaModFix/>
          </a:blip>
          <a:stretch>
            <a:fillRect/>
          </a:stretch>
        </p:blipFill>
        <p:spPr>
          <a:xfrm rot="-5400000">
            <a:off x="5131800" y="1122900"/>
            <a:ext cx="5126700" cy="2897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Pantalla de Cristal Líquido</a:t>
            </a:r>
            <a:endParaRPr/>
          </a:p>
        </p:txBody>
      </p:sp>
      <p:sp>
        <p:nvSpPr>
          <p:cNvPr id="81" name="Google Shape;81;p15"/>
          <p:cNvSpPr txBox="1"/>
          <p:nvPr>
            <p:ph idx="1" type="body"/>
          </p:nvPr>
        </p:nvSpPr>
        <p:spPr>
          <a:xfrm>
            <a:off x="255125" y="1581700"/>
            <a:ext cx="4841700" cy="3361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La pantalla de cristal líquido (LCD) es un dispositivo empleado para la visualización de contenidos o información de una forma gráfica, mediante caracteres, símbolos o pequeños dibujos dependiendo del modelo. Está gobernado por un microcontrolador interno el cual dirige todo su funcionamiento.</a:t>
            </a:r>
            <a:endParaRPr/>
          </a:p>
          <a:p>
            <a:pPr indent="0" lvl="0" marL="0" rtl="0" algn="l">
              <a:spcBef>
                <a:spcPts val="1200"/>
              </a:spcBef>
              <a:spcAft>
                <a:spcPts val="0"/>
              </a:spcAft>
              <a:buNone/>
            </a:pPr>
            <a:r>
              <a:rPr lang="es-419"/>
              <a:t>La pantalla puede tener </a:t>
            </a:r>
            <a:endParaRPr/>
          </a:p>
          <a:p>
            <a:pPr indent="-342900" lvl="0" marL="457200" rtl="0" algn="l">
              <a:spcBef>
                <a:spcPts val="1200"/>
              </a:spcBef>
              <a:spcAft>
                <a:spcPts val="0"/>
              </a:spcAft>
              <a:buSzPts val="1800"/>
              <a:buChar char="●"/>
            </a:pPr>
            <a:r>
              <a:rPr lang="es-419"/>
              <a:t>Entre 8 y 20 columnas</a:t>
            </a:r>
            <a:endParaRPr/>
          </a:p>
          <a:p>
            <a:pPr indent="-342900" lvl="0" marL="457200" rtl="0" algn="l">
              <a:spcBef>
                <a:spcPts val="0"/>
              </a:spcBef>
              <a:spcAft>
                <a:spcPts val="0"/>
              </a:spcAft>
              <a:buSzPts val="1800"/>
              <a:buChar char="●"/>
            </a:pPr>
            <a:r>
              <a:rPr lang="es-419"/>
              <a:t>Entre 2 y 4 filas</a:t>
            </a:r>
            <a:endParaRPr/>
          </a:p>
        </p:txBody>
      </p:sp>
      <p:pic>
        <p:nvPicPr>
          <p:cNvPr id="82" name="Google Shape;82;p15"/>
          <p:cNvPicPr preferRelativeResize="0"/>
          <p:nvPr/>
        </p:nvPicPr>
        <p:blipFill>
          <a:blip r:embed="rId3">
            <a:alphaModFix/>
          </a:blip>
          <a:stretch>
            <a:fillRect/>
          </a:stretch>
        </p:blipFill>
        <p:spPr>
          <a:xfrm>
            <a:off x="5188400" y="1728925"/>
            <a:ext cx="3571875" cy="3067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LCD 16x2</a:t>
            </a:r>
            <a:endParaRPr/>
          </a:p>
        </p:txBody>
      </p:sp>
      <p:sp>
        <p:nvSpPr>
          <p:cNvPr id="88" name="Google Shape;88;p16"/>
          <p:cNvSpPr txBox="1"/>
          <p:nvPr>
            <p:ph idx="1" type="body"/>
          </p:nvPr>
        </p:nvSpPr>
        <p:spPr>
          <a:xfrm>
            <a:off x="921900" y="17897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Para controlar una LCD 16x2, se requieren 16 cables.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89" name="Google Shape;89;p16"/>
          <p:cNvPicPr preferRelativeResize="0"/>
          <p:nvPr/>
        </p:nvPicPr>
        <p:blipFill>
          <a:blip r:embed="rId3">
            <a:alphaModFix/>
          </a:blip>
          <a:stretch>
            <a:fillRect/>
          </a:stretch>
        </p:blipFill>
        <p:spPr>
          <a:xfrm>
            <a:off x="4171450" y="2979963"/>
            <a:ext cx="4522550" cy="2039575"/>
          </a:xfrm>
          <a:prstGeom prst="rect">
            <a:avLst/>
          </a:prstGeom>
          <a:noFill/>
          <a:ln>
            <a:noFill/>
          </a:ln>
        </p:spPr>
      </p:pic>
      <p:sp>
        <p:nvSpPr>
          <p:cNvPr id="90" name="Google Shape;90;p16"/>
          <p:cNvSpPr/>
          <p:nvPr/>
        </p:nvSpPr>
        <p:spPr>
          <a:xfrm>
            <a:off x="4450400" y="2271325"/>
            <a:ext cx="2571600" cy="1091700"/>
          </a:xfrm>
          <a:prstGeom prst="upArrowCallout">
            <a:avLst>
              <a:gd fmla="val 25000" name="adj1"/>
              <a:gd fmla="val 25000" name="adj2"/>
              <a:gd fmla="val 25000" name="adj3"/>
              <a:gd fmla="val 40778" name="adj4"/>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91" name="Google Shape;91;p16"/>
          <p:cNvSpPr txBox="1"/>
          <p:nvPr/>
        </p:nvSpPr>
        <p:spPr>
          <a:xfrm>
            <a:off x="0" y="3118775"/>
            <a:ext cx="4171500" cy="1508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800">
                <a:solidFill>
                  <a:schemeClr val="lt2"/>
                </a:solidFill>
                <a:latin typeface="Roboto"/>
                <a:ea typeface="Roboto"/>
                <a:cs typeface="Roboto"/>
                <a:sym typeface="Roboto"/>
              </a:rPr>
              <a:t>La nomenclatura </a:t>
            </a:r>
            <a:r>
              <a:rPr b="1" lang="es-419" sz="1800">
                <a:solidFill>
                  <a:schemeClr val="lt2"/>
                </a:solidFill>
                <a:latin typeface="Roboto"/>
                <a:ea typeface="Roboto"/>
                <a:cs typeface="Roboto"/>
                <a:sym typeface="Roboto"/>
              </a:rPr>
              <a:t>16x2 </a:t>
            </a:r>
            <a:r>
              <a:rPr lang="es-419" sz="1800">
                <a:solidFill>
                  <a:schemeClr val="lt2"/>
                </a:solidFill>
                <a:latin typeface="Roboto"/>
                <a:ea typeface="Roboto"/>
                <a:cs typeface="Roboto"/>
                <a:sym typeface="Roboto"/>
              </a:rPr>
              <a:t>significa que tiene:</a:t>
            </a:r>
            <a:endParaRPr sz="1800">
              <a:solidFill>
                <a:schemeClr val="lt2"/>
              </a:solidFill>
              <a:latin typeface="Roboto"/>
              <a:ea typeface="Roboto"/>
              <a:cs typeface="Roboto"/>
              <a:sym typeface="Roboto"/>
            </a:endParaRPr>
          </a:p>
          <a:p>
            <a:pPr indent="-330200" lvl="0" marL="457200" rtl="0" algn="l">
              <a:spcBef>
                <a:spcPts val="0"/>
              </a:spcBef>
              <a:spcAft>
                <a:spcPts val="0"/>
              </a:spcAft>
              <a:buClr>
                <a:schemeClr val="lt2"/>
              </a:buClr>
              <a:buSzPts val="1600"/>
              <a:buFont typeface="Roboto"/>
              <a:buChar char="●"/>
            </a:pPr>
            <a:r>
              <a:rPr b="1" lang="es-419" sz="1600">
                <a:solidFill>
                  <a:schemeClr val="lt2"/>
                </a:solidFill>
                <a:latin typeface="Roboto"/>
                <a:ea typeface="Roboto"/>
                <a:cs typeface="Roboto"/>
                <a:sym typeface="Roboto"/>
              </a:rPr>
              <a:t>16</a:t>
            </a:r>
            <a:r>
              <a:rPr lang="es-419" sz="1600">
                <a:solidFill>
                  <a:schemeClr val="lt2"/>
                </a:solidFill>
                <a:latin typeface="Roboto"/>
                <a:ea typeface="Roboto"/>
                <a:cs typeface="Roboto"/>
                <a:sym typeface="Roboto"/>
              </a:rPr>
              <a:t> columnas (numeradas del 0 al 15)</a:t>
            </a:r>
            <a:endParaRPr sz="1600">
              <a:solidFill>
                <a:schemeClr val="lt2"/>
              </a:solidFill>
              <a:latin typeface="Roboto"/>
              <a:ea typeface="Roboto"/>
              <a:cs typeface="Roboto"/>
              <a:sym typeface="Roboto"/>
            </a:endParaRPr>
          </a:p>
          <a:p>
            <a:pPr indent="-330200" lvl="0" marL="457200" rtl="0" algn="l">
              <a:spcBef>
                <a:spcPts val="0"/>
              </a:spcBef>
              <a:spcAft>
                <a:spcPts val="0"/>
              </a:spcAft>
              <a:buClr>
                <a:schemeClr val="lt2"/>
              </a:buClr>
              <a:buSzPts val="1600"/>
              <a:buFont typeface="Roboto"/>
              <a:buChar char="●"/>
            </a:pPr>
            <a:r>
              <a:rPr b="1" lang="es-419" sz="1600">
                <a:solidFill>
                  <a:schemeClr val="lt2"/>
                </a:solidFill>
                <a:latin typeface="Roboto"/>
                <a:ea typeface="Roboto"/>
                <a:cs typeface="Roboto"/>
                <a:sym typeface="Roboto"/>
              </a:rPr>
              <a:t>2</a:t>
            </a:r>
            <a:r>
              <a:rPr lang="es-419" sz="1600">
                <a:solidFill>
                  <a:schemeClr val="lt2"/>
                </a:solidFill>
                <a:latin typeface="Roboto"/>
                <a:ea typeface="Roboto"/>
                <a:cs typeface="Roboto"/>
                <a:sym typeface="Roboto"/>
              </a:rPr>
              <a:t> filas (numeradas del 0 al 1) </a:t>
            </a:r>
            <a:endParaRPr sz="16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Caracteres de la LCD</a:t>
            </a:r>
            <a:endParaRPr/>
          </a:p>
        </p:txBody>
      </p:sp>
      <p:sp>
        <p:nvSpPr>
          <p:cNvPr id="97" name="Google Shape;97;p17"/>
          <p:cNvSpPr txBox="1"/>
          <p:nvPr>
            <p:ph idx="1" type="body"/>
          </p:nvPr>
        </p:nvSpPr>
        <p:spPr>
          <a:xfrm>
            <a:off x="460950" y="1746675"/>
            <a:ext cx="8222100" cy="3268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sz="1650">
                <a:solidFill>
                  <a:srgbClr val="000000"/>
                </a:solidFill>
                <a:highlight>
                  <a:srgbClr val="FFFFFF"/>
                </a:highlight>
              </a:rPr>
              <a:t>Los caracteres alfanuméricos soportados por la mayoría de modelos  de LCD son:</a:t>
            </a:r>
            <a:endParaRPr sz="1650">
              <a:solidFill>
                <a:srgbClr val="000000"/>
              </a:solidFill>
              <a:highlight>
                <a:srgbClr val="FFFFFF"/>
              </a:highlight>
            </a:endParaRPr>
          </a:p>
          <a:p>
            <a:pPr indent="0" lvl="0" marL="0" rtl="0" algn="l">
              <a:spcBef>
                <a:spcPts val="1200"/>
              </a:spcBef>
              <a:spcAft>
                <a:spcPts val="0"/>
              </a:spcAft>
              <a:buNone/>
            </a:pPr>
            <a:r>
              <a:t/>
            </a:r>
            <a:endParaRPr sz="1650">
              <a:solidFill>
                <a:srgbClr val="000000"/>
              </a:solidFill>
              <a:highlight>
                <a:srgbClr val="FFFFFF"/>
              </a:highlight>
            </a:endParaRPr>
          </a:p>
          <a:p>
            <a:pPr indent="0" lvl="0" marL="0" rtl="0" algn="l">
              <a:spcBef>
                <a:spcPts val="1200"/>
              </a:spcBef>
              <a:spcAft>
                <a:spcPts val="0"/>
              </a:spcAft>
              <a:buNone/>
            </a:pPr>
            <a:r>
              <a:t/>
            </a:r>
            <a:endParaRPr sz="1650">
              <a:solidFill>
                <a:srgbClr val="000000"/>
              </a:solidFill>
              <a:highlight>
                <a:srgbClr val="FFFFFF"/>
              </a:highlight>
            </a:endParaRPr>
          </a:p>
          <a:p>
            <a:pPr indent="0" lvl="0" marL="0" rtl="0" algn="l">
              <a:spcBef>
                <a:spcPts val="1200"/>
              </a:spcBef>
              <a:spcAft>
                <a:spcPts val="0"/>
              </a:spcAft>
              <a:buNone/>
            </a:pPr>
            <a:r>
              <a:t/>
            </a:r>
            <a:endParaRPr sz="1650">
              <a:solidFill>
                <a:srgbClr val="000000"/>
              </a:solidFill>
              <a:highlight>
                <a:srgbClr val="FFFFFF"/>
              </a:highlight>
            </a:endParaRPr>
          </a:p>
          <a:p>
            <a:pPr indent="0" lvl="0" marL="0" rtl="0" algn="l">
              <a:spcBef>
                <a:spcPts val="1200"/>
              </a:spcBef>
              <a:spcAft>
                <a:spcPts val="0"/>
              </a:spcAft>
              <a:buNone/>
            </a:pPr>
            <a:r>
              <a:t/>
            </a:r>
            <a:endParaRPr sz="1650">
              <a:solidFill>
                <a:srgbClr val="000000"/>
              </a:solidFill>
              <a:highlight>
                <a:srgbClr val="FFFFFF"/>
              </a:highlight>
            </a:endParaRPr>
          </a:p>
          <a:p>
            <a:pPr indent="0" lvl="0" marL="0" rtl="0" algn="l">
              <a:spcBef>
                <a:spcPts val="1200"/>
              </a:spcBef>
              <a:spcAft>
                <a:spcPts val="0"/>
              </a:spcAft>
              <a:buNone/>
            </a:pPr>
            <a:r>
              <a:t/>
            </a:r>
            <a:endParaRPr sz="1650">
              <a:solidFill>
                <a:srgbClr val="000000"/>
              </a:solidFill>
              <a:highlight>
                <a:srgbClr val="FFFFFF"/>
              </a:highlight>
            </a:endParaRPr>
          </a:p>
          <a:p>
            <a:pPr indent="0" lvl="0" marL="0" rtl="0" algn="l">
              <a:spcBef>
                <a:spcPts val="1200"/>
              </a:spcBef>
              <a:spcAft>
                <a:spcPts val="0"/>
              </a:spcAft>
              <a:buNone/>
            </a:pPr>
            <a:r>
              <a:t/>
            </a:r>
            <a:endParaRPr sz="1650">
              <a:solidFill>
                <a:srgbClr val="000000"/>
              </a:solidFill>
              <a:highlight>
                <a:srgbClr val="FFFFFF"/>
              </a:highlight>
            </a:endParaRPr>
          </a:p>
          <a:p>
            <a:pPr indent="0" lvl="0" marL="0" rtl="0" algn="l">
              <a:spcBef>
                <a:spcPts val="1200"/>
              </a:spcBef>
              <a:spcAft>
                <a:spcPts val="1200"/>
              </a:spcAft>
              <a:buNone/>
            </a:pPr>
            <a:r>
              <a:rPr lang="es-419" sz="1650">
                <a:solidFill>
                  <a:srgbClr val="000000"/>
                </a:solidFill>
                <a:highlight>
                  <a:srgbClr val="FFFFFF"/>
                </a:highlight>
              </a:rPr>
              <a:t>Podemos definir ocho caracteres personalizados adicionales.</a:t>
            </a:r>
            <a:endParaRPr sz="1650">
              <a:solidFill>
                <a:srgbClr val="000000"/>
              </a:solidFill>
              <a:highlight>
                <a:srgbClr val="FFFFFF"/>
              </a:highlight>
            </a:endParaRPr>
          </a:p>
        </p:txBody>
      </p:sp>
      <p:pic>
        <p:nvPicPr>
          <p:cNvPr id="98" name="Google Shape;98;p17"/>
          <p:cNvPicPr preferRelativeResize="0"/>
          <p:nvPr/>
        </p:nvPicPr>
        <p:blipFill rotWithShape="1">
          <a:blip r:embed="rId3">
            <a:alphaModFix/>
          </a:blip>
          <a:srcRect b="47872" l="23095" r="0" t="5456"/>
          <a:stretch/>
        </p:blipFill>
        <p:spPr>
          <a:xfrm>
            <a:off x="2237825" y="2169475"/>
            <a:ext cx="2483200" cy="2271750"/>
          </a:xfrm>
          <a:prstGeom prst="rect">
            <a:avLst/>
          </a:prstGeom>
          <a:noFill/>
          <a:ln>
            <a:noFill/>
          </a:ln>
        </p:spPr>
      </p:pic>
      <p:pic>
        <p:nvPicPr>
          <p:cNvPr id="99" name="Google Shape;99;p17"/>
          <p:cNvPicPr preferRelativeResize="0"/>
          <p:nvPr/>
        </p:nvPicPr>
        <p:blipFill rotWithShape="1">
          <a:blip r:embed="rId3">
            <a:alphaModFix/>
          </a:blip>
          <a:srcRect b="-45173" l="23648" r="-554" t="50629"/>
          <a:stretch/>
        </p:blipFill>
        <p:spPr>
          <a:xfrm>
            <a:off x="4961975" y="2169474"/>
            <a:ext cx="2483200" cy="4601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LCD 16x2 con I2C</a:t>
            </a:r>
            <a:endParaRPr/>
          </a:p>
        </p:txBody>
      </p:sp>
      <p:sp>
        <p:nvSpPr>
          <p:cNvPr id="105" name="Google Shape;105;p18"/>
          <p:cNvSpPr txBox="1"/>
          <p:nvPr>
            <p:ph idx="1" type="body"/>
          </p:nvPr>
        </p:nvSpPr>
        <p:spPr>
          <a:xfrm>
            <a:off x="2582700" y="1905100"/>
            <a:ext cx="6111300" cy="1161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En el laboratorio de Innovación y Tecnología contamos con LCD 16x2 con módulo I2C que se puede controlar utilizando solo </a:t>
            </a:r>
            <a:r>
              <a:rPr b="1" lang="es-419"/>
              <a:t>4 cables </a:t>
            </a:r>
            <a:r>
              <a:rPr lang="es-419"/>
              <a:t>(en vez de 16) </a:t>
            </a:r>
            <a:endParaRPr/>
          </a:p>
        </p:txBody>
      </p:sp>
      <p:pic>
        <p:nvPicPr>
          <p:cNvPr id="106" name="Google Shape;106;p18"/>
          <p:cNvPicPr preferRelativeResize="0"/>
          <p:nvPr/>
        </p:nvPicPr>
        <p:blipFill>
          <a:blip r:embed="rId3">
            <a:alphaModFix/>
          </a:blip>
          <a:stretch>
            <a:fillRect/>
          </a:stretch>
        </p:blipFill>
        <p:spPr>
          <a:xfrm>
            <a:off x="258025" y="1644100"/>
            <a:ext cx="2076450" cy="2124075"/>
          </a:xfrm>
          <a:prstGeom prst="rect">
            <a:avLst/>
          </a:prstGeom>
          <a:noFill/>
          <a:ln>
            <a:noFill/>
          </a:ln>
        </p:spPr>
      </p:pic>
      <p:sp>
        <p:nvSpPr>
          <p:cNvPr id="107" name="Google Shape;107;p18"/>
          <p:cNvSpPr/>
          <p:nvPr/>
        </p:nvSpPr>
        <p:spPr>
          <a:xfrm>
            <a:off x="2051050" y="2858775"/>
            <a:ext cx="445500" cy="4455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108" name="Google Shape;108;p18"/>
          <p:cNvCxnSpPr>
            <a:stCxn id="107" idx="3"/>
          </p:cNvCxnSpPr>
          <p:nvPr/>
        </p:nvCxnSpPr>
        <p:spPr>
          <a:xfrm flipH="1" rot="10800000">
            <a:off x="2496550" y="2898525"/>
            <a:ext cx="2193600" cy="183000"/>
          </a:xfrm>
          <a:prstGeom prst="bentConnector3">
            <a:avLst>
              <a:gd fmla="val 99999" name="adj1"/>
            </a:avLst>
          </a:prstGeom>
          <a:noFill/>
          <a:ln cap="flat" cmpd="sng" w="28575">
            <a:solidFill>
              <a:srgbClr val="FF00FF"/>
            </a:solidFill>
            <a:prstDash val="solid"/>
            <a:round/>
            <a:headEnd len="med" w="med" type="stealth"/>
            <a:tailEnd len="med" w="med" type="none"/>
          </a:ln>
        </p:spPr>
      </p:cxnSp>
      <p:sp>
        <p:nvSpPr>
          <p:cNvPr id="109" name="Google Shape;109;p18"/>
          <p:cNvSpPr txBox="1"/>
          <p:nvPr/>
        </p:nvSpPr>
        <p:spPr>
          <a:xfrm>
            <a:off x="2582700" y="3131250"/>
            <a:ext cx="62355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419" sz="1800">
                <a:solidFill>
                  <a:schemeClr val="lt2"/>
                </a:solidFill>
                <a:latin typeface="Roboto"/>
                <a:ea typeface="Roboto"/>
                <a:cs typeface="Roboto"/>
                <a:sym typeface="Roboto"/>
              </a:rPr>
              <a:t>Al usar el módulo I2C, los 4 pines de la LCD deben conectarse siempre al Arduino a los mismos pines:</a:t>
            </a:r>
            <a:endParaRPr b="1" sz="1800">
              <a:solidFill>
                <a:schemeClr val="lt2"/>
              </a:solidFill>
              <a:latin typeface="Roboto"/>
              <a:ea typeface="Roboto"/>
              <a:cs typeface="Roboto"/>
              <a:sym typeface="Roboto"/>
            </a:endParaRPr>
          </a:p>
        </p:txBody>
      </p:sp>
      <p:pic>
        <p:nvPicPr>
          <p:cNvPr id="110" name="Google Shape;110;p18"/>
          <p:cNvPicPr preferRelativeResize="0"/>
          <p:nvPr/>
        </p:nvPicPr>
        <p:blipFill>
          <a:blip r:embed="rId4">
            <a:alphaModFix/>
          </a:blip>
          <a:stretch>
            <a:fillRect/>
          </a:stretch>
        </p:blipFill>
        <p:spPr>
          <a:xfrm>
            <a:off x="3791788" y="3961263"/>
            <a:ext cx="4695825" cy="1895475"/>
          </a:xfrm>
          <a:prstGeom prst="rect">
            <a:avLst/>
          </a:prstGeom>
          <a:noFill/>
          <a:ln>
            <a:noFill/>
          </a:ln>
        </p:spPr>
      </p:pic>
      <p:sp>
        <p:nvSpPr>
          <p:cNvPr id="111" name="Google Shape;111;p18"/>
          <p:cNvSpPr txBox="1"/>
          <p:nvPr/>
        </p:nvSpPr>
        <p:spPr>
          <a:xfrm>
            <a:off x="3140050" y="4276825"/>
            <a:ext cx="7221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700">
                <a:solidFill>
                  <a:schemeClr val="lt2"/>
                </a:solidFill>
              </a:rPr>
              <a:t>GND</a:t>
            </a:r>
            <a:endParaRPr sz="700">
              <a:solidFill>
                <a:schemeClr val="lt2"/>
              </a:solidFill>
            </a:endParaRPr>
          </a:p>
          <a:p>
            <a:pPr indent="0" lvl="0" marL="0" rtl="0" algn="r">
              <a:spcBef>
                <a:spcPts val="0"/>
              </a:spcBef>
              <a:spcAft>
                <a:spcPts val="0"/>
              </a:spcAft>
              <a:buNone/>
            </a:pPr>
            <a:r>
              <a:rPr lang="es-419" sz="700">
                <a:solidFill>
                  <a:schemeClr val="lt2"/>
                </a:solidFill>
              </a:rPr>
              <a:t>5V</a:t>
            </a:r>
            <a:endParaRPr sz="700">
              <a:solidFill>
                <a:schemeClr val="lt2"/>
              </a:solidFill>
            </a:endParaRPr>
          </a:p>
          <a:p>
            <a:pPr indent="0" lvl="0" marL="0" rtl="0" algn="r">
              <a:spcBef>
                <a:spcPts val="0"/>
              </a:spcBef>
              <a:spcAft>
                <a:spcPts val="0"/>
              </a:spcAft>
              <a:buNone/>
            </a:pPr>
            <a:r>
              <a:rPr lang="es-419" sz="700">
                <a:solidFill>
                  <a:schemeClr val="lt2"/>
                </a:solidFill>
              </a:rPr>
              <a:t>A4</a:t>
            </a:r>
            <a:endParaRPr sz="700">
              <a:solidFill>
                <a:schemeClr val="lt2"/>
              </a:solidFill>
            </a:endParaRPr>
          </a:p>
          <a:p>
            <a:pPr indent="0" lvl="0" marL="0" rtl="0" algn="r">
              <a:spcBef>
                <a:spcPts val="0"/>
              </a:spcBef>
              <a:spcAft>
                <a:spcPts val="0"/>
              </a:spcAft>
              <a:buNone/>
            </a:pPr>
            <a:r>
              <a:rPr lang="es-419" sz="700">
                <a:solidFill>
                  <a:schemeClr val="lt2"/>
                </a:solidFill>
              </a:rPr>
              <a:t>A5</a:t>
            </a:r>
            <a:endParaRPr sz="700">
              <a:solidFill>
                <a:schemeClr val="lt2"/>
              </a:solidFill>
            </a:endParaRPr>
          </a:p>
        </p:txBody>
      </p:sp>
      <p:sp>
        <p:nvSpPr>
          <p:cNvPr id="112" name="Google Shape;112;p18"/>
          <p:cNvSpPr/>
          <p:nvPr/>
        </p:nvSpPr>
        <p:spPr>
          <a:xfrm>
            <a:off x="3342625" y="3961275"/>
            <a:ext cx="1805400" cy="10599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13" name="Google Shape;113;p18"/>
          <p:cNvSpPr txBox="1"/>
          <p:nvPr/>
        </p:nvSpPr>
        <p:spPr>
          <a:xfrm>
            <a:off x="3395425" y="4128625"/>
            <a:ext cx="722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800">
                <a:solidFill>
                  <a:schemeClr val="lt2"/>
                </a:solidFill>
                <a:latin typeface="Roboto"/>
                <a:ea typeface="Roboto"/>
                <a:cs typeface="Roboto"/>
                <a:sym typeface="Roboto"/>
              </a:rPr>
              <a:t>ARDUINO</a:t>
            </a:r>
            <a:endParaRPr b="1" sz="800">
              <a:solidFill>
                <a:schemeClr val="lt2"/>
              </a:solidFill>
              <a:latin typeface="Roboto"/>
              <a:ea typeface="Roboto"/>
              <a:cs typeface="Roboto"/>
              <a:sym typeface="Roboto"/>
            </a:endParaRPr>
          </a:p>
        </p:txBody>
      </p:sp>
      <p:cxnSp>
        <p:nvCxnSpPr>
          <p:cNvPr id="114" name="Google Shape;114;p18"/>
          <p:cNvCxnSpPr>
            <a:endCxn id="115" idx="3"/>
          </p:cNvCxnSpPr>
          <p:nvPr/>
        </p:nvCxnSpPr>
        <p:spPr>
          <a:xfrm flipH="1">
            <a:off x="2644641" y="4510473"/>
            <a:ext cx="724500" cy="4200"/>
          </a:xfrm>
          <a:prstGeom prst="straightConnector1">
            <a:avLst/>
          </a:prstGeom>
          <a:noFill/>
          <a:ln cap="flat" cmpd="sng" w="9525">
            <a:solidFill>
              <a:schemeClr val="dk2"/>
            </a:solidFill>
            <a:prstDash val="solid"/>
            <a:round/>
            <a:headEnd len="med" w="med" type="none"/>
            <a:tailEnd len="med" w="med" type="triangle"/>
          </a:ln>
        </p:spPr>
      </p:cxnSp>
      <p:pic>
        <p:nvPicPr>
          <p:cNvPr id="115" name="Google Shape;115;p18"/>
          <p:cNvPicPr preferRelativeResize="0"/>
          <p:nvPr/>
        </p:nvPicPr>
        <p:blipFill>
          <a:blip r:embed="rId5">
            <a:alphaModFix/>
          </a:blip>
          <a:stretch>
            <a:fillRect/>
          </a:stretch>
        </p:blipFill>
        <p:spPr>
          <a:xfrm>
            <a:off x="152400" y="4130823"/>
            <a:ext cx="2492241" cy="767700"/>
          </a:xfrm>
          <a:prstGeom prst="rect">
            <a:avLst/>
          </a:prstGeom>
          <a:noFill/>
          <a:ln>
            <a:noFill/>
          </a:ln>
        </p:spPr>
      </p:pic>
      <p:sp>
        <p:nvSpPr>
          <p:cNvPr id="116" name="Google Shape;116;p18"/>
          <p:cNvSpPr txBox="1"/>
          <p:nvPr/>
        </p:nvSpPr>
        <p:spPr>
          <a:xfrm>
            <a:off x="0" y="3844200"/>
            <a:ext cx="271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lt2"/>
                </a:solidFill>
                <a:latin typeface="Roboto"/>
                <a:ea typeface="Roboto"/>
                <a:cs typeface="Roboto"/>
                <a:sym typeface="Roboto"/>
              </a:rPr>
              <a:t>ARDUINO                                                LCD</a:t>
            </a:r>
            <a:endParaRPr b="1" sz="1100">
              <a:solidFill>
                <a:schemeClr val="lt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LCD con I2C en Steamakersblocks</a:t>
            </a:r>
            <a:endParaRPr/>
          </a:p>
        </p:txBody>
      </p:sp>
      <p:pic>
        <p:nvPicPr>
          <p:cNvPr id="122" name="Google Shape;122;p19"/>
          <p:cNvPicPr preferRelativeResize="0"/>
          <p:nvPr/>
        </p:nvPicPr>
        <p:blipFill>
          <a:blip r:embed="rId3">
            <a:alphaModFix/>
          </a:blip>
          <a:stretch>
            <a:fillRect/>
          </a:stretch>
        </p:blipFill>
        <p:spPr>
          <a:xfrm>
            <a:off x="554675" y="1919075"/>
            <a:ext cx="2633683" cy="433925"/>
          </a:xfrm>
          <a:prstGeom prst="rect">
            <a:avLst/>
          </a:prstGeom>
          <a:noFill/>
          <a:ln>
            <a:noFill/>
          </a:ln>
        </p:spPr>
      </p:pic>
      <p:sp>
        <p:nvSpPr>
          <p:cNvPr id="123" name="Google Shape;123;p19"/>
          <p:cNvSpPr txBox="1"/>
          <p:nvPr>
            <p:ph idx="1" type="body"/>
          </p:nvPr>
        </p:nvSpPr>
        <p:spPr>
          <a:xfrm>
            <a:off x="471900" y="2443725"/>
            <a:ext cx="3999900" cy="2185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Este bloque debe aparecer en Inicializar, indicando el tipo de LCD (</a:t>
            </a:r>
            <a:r>
              <a:rPr b="1" lang="es-419"/>
              <a:t>2x16</a:t>
            </a:r>
            <a:r>
              <a:rPr lang="es-419"/>
              <a:t> ó </a:t>
            </a:r>
            <a:r>
              <a:rPr b="1" lang="es-419"/>
              <a:t>4x20</a:t>
            </a:r>
            <a:r>
              <a:rPr lang="es-419"/>
              <a:t>)                 y su dirección (I2C ADDR).  La mayoría de los módulos I2C para LCD (PCF8574T) vienen por defecto con la dirección </a:t>
            </a:r>
            <a:r>
              <a:rPr b="1" lang="es-419"/>
              <a:t>0x27</a:t>
            </a:r>
            <a:r>
              <a:rPr lang="es-419"/>
              <a:t>. </a:t>
            </a:r>
            <a:r>
              <a:rPr lang="es-419"/>
              <a:t>Algunas versiones nuevas (PCF8574AT) utilizan </a:t>
            </a:r>
            <a:r>
              <a:rPr b="1" lang="es-419"/>
              <a:t>0x3F.</a:t>
            </a:r>
            <a:endParaRPr b="1"/>
          </a:p>
        </p:txBody>
      </p:sp>
      <p:sp>
        <p:nvSpPr>
          <p:cNvPr id="124" name="Google Shape;124;p19"/>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 muy importante identificar correctamente la dirección I2C de nuestro modulo, pues de otra forma nuestro programa no funcionará correctamente. Para identificar la dirección especifica de nuestro módulo podemos utilizar el bloque: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419"/>
              <a:t> </a:t>
            </a:r>
            <a:endParaRPr/>
          </a:p>
        </p:txBody>
      </p:sp>
      <p:pic>
        <p:nvPicPr>
          <p:cNvPr id="125" name="Google Shape;125;p19"/>
          <p:cNvPicPr preferRelativeResize="0"/>
          <p:nvPr/>
        </p:nvPicPr>
        <p:blipFill>
          <a:blip r:embed="rId4">
            <a:alphaModFix/>
          </a:blip>
          <a:stretch>
            <a:fillRect/>
          </a:stretch>
        </p:blipFill>
        <p:spPr>
          <a:xfrm>
            <a:off x="5659050" y="3532975"/>
            <a:ext cx="2332347" cy="433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LCD con I2C en Steamakersblocks</a:t>
            </a:r>
            <a:endParaRPr/>
          </a:p>
        </p:txBody>
      </p:sp>
      <p:sp>
        <p:nvSpPr>
          <p:cNvPr id="131" name="Google Shape;131;p20"/>
          <p:cNvSpPr txBox="1"/>
          <p:nvPr>
            <p:ph idx="1" type="body"/>
          </p:nvPr>
        </p:nvSpPr>
        <p:spPr>
          <a:xfrm>
            <a:off x="633300" y="2517300"/>
            <a:ext cx="8165400" cy="1148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Este bloque borra todo el contenido de la pantalla y sitúa el cursor en la posición inicial (columna 0, fila 0). Ideal para evitar sobreescritura de caracteres antes de imprimir nuevos datos.</a:t>
            </a:r>
            <a:endParaRPr b="1"/>
          </a:p>
        </p:txBody>
      </p:sp>
      <p:pic>
        <p:nvPicPr>
          <p:cNvPr id="132" name="Google Shape;132;p20"/>
          <p:cNvPicPr preferRelativeResize="0"/>
          <p:nvPr/>
        </p:nvPicPr>
        <p:blipFill>
          <a:blip r:embed="rId3">
            <a:alphaModFix/>
          </a:blip>
          <a:stretch>
            <a:fillRect/>
          </a:stretch>
        </p:blipFill>
        <p:spPr>
          <a:xfrm>
            <a:off x="410650" y="1884800"/>
            <a:ext cx="1805954" cy="632500"/>
          </a:xfrm>
          <a:prstGeom prst="rect">
            <a:avLst/>
          </a:prstGeom>
          <a:noFill/>
          <a:ln>
            <a:noFill/>
          </a:ln>
        </p:spPr>
      </p:pic>
      <p:pic>
        <p:nvPicPr>
          <p:cNvPr id="133" name="Google Shape;133;p20"/>
          <p:cNvPicPr preferRelativeResize="0"/>
          <p:nvPr/>
        </p:nvPicPr>
        <p:blipFill>
          <a:blip r:embed="rId4">
            <a:alphaModFix/>
          </a:blip>
          <a:stretch>
            <a:fillRect/>
          </a:stretch>
        </p:blipFill>
        <p:spPr>
          <a:xfrm>
            <a:off x="410650" y="3414525"/>
            <a:ext cx="4222157" cy="632500"/>
          </a:xfrm>
          <a:prstGeom prst="rect">
            <a:avLst/>
          </a:prstGeom>
          <a:noFill/>
          <a:ln>
            <a:noFill/>
          </a:ln>
        </p:spPr>
      </p:pic>
      <p:sp>
        <p:nvSpPr>
          <p:cNvPr id="134" name="Google Shape;134;p20"/>
          <p:cNvSpPr txBox="1"/>
          <p:nvPr>
            <p:ph idx="1" type="body"/>
          </p:nvPr>
        </p:nvSpPr>
        <p:spPr>
          <a:xfrm>
            <a:off x="794700" y="4154650"/>
            <a:ext cx="8165400" cy="632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Escribe el</a:t>
            </a:r>
            <a:r>
              <a:rPr b="1" lang="es-419"/>
              <a:t> texto </a:t>
            </a:r>
            <a:r>
              <a:rPr lang="es-419"/>
              <a:t>en una posición específica (columna y fila )</a:t>
            </a:r>
            <a:endParaRPr/>
          </a:p>
        </p:txBody>
      </p:sp>
      <p:sp>
        <p:nvSpPr>
          <p:cNvPr id="135" name="Google Shape;135;p20"/>
          <p:cNvSpPr/>
          <p:nvPr/>
        </p:nvSpPr>
        <p:spPr>
          <a:xfrm>
            <a:off x="3805625" y="3493575"/>
            <a:ext cx="766500" cy="3012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36" name="Google Shape;136;p20"/>
          <p:cNvSpPr/>
          <p:nvPr/>
        </p:nvSpPr>
        <p:spPr>
          <a:xfrm>
            <a:off x="1696575" y="4279075"/>
            <a:ext cx="430500" cy="24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137" name="Google Shape;137;p20"/>
          <p:cNvCxnSpPr>
            <a:stCxn id="136" idx="0"/>
            <a:endCxn id="135" idx="2"/>
          </p:cNvCxnSpPr>
          <p:nvPr/>
        </p:nvCxnSpPr>
        <p:spPr>
          <a:xfrm rot="-5400000">
            <a:off x="2808225" y="2898475"/>
            <a:ext cx="484200" cy="2277000"/>
          </a:xfrm>
          <a:prstGeom prst="bentConnector3">
            <a:avLst>
              <a:gd fmla="val 50010" name="adj1"/>
            </a:avLst>
          </a:prstGeom>
          <a:noFill/>
          <a:ln cap="flat" cmpd="sng" w="19050">
            <a:solidFill>
              <a:srgbClr val="FF00FF"/>
            </a:solidFill>
            <a:prstDash val="solid"/>
            <a:round/>
            <a:headEnd len="med" w="med" type="stealth"/>
            <a:tailEnd len="med" w="med" type="none"/>
          </a:ln>
        </p:spPr>
      </p:cxnSp>
      <p:sp>
        <p:nvSpPr>
          <p:cNvPr id="138" name="Google Shape;138;p20"/>
          <p:cNvSpPr/>
          <p:nvPr/>
        </p:nvSpPr>
        <p:spPr>
          <a:xfrm>
            <a:off x="2073175" y="3461275"/>
            <a:ext cx="1689300" cy="333600"/>
          </a:xfrm>
          <a:prstGeom prst="roundRect">
            <a:avLst>
              <a:gd fmla="val 16667" name="adj"/>
            </a:avLst>
          </a:prstGeom>
          <a:no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139" name="Google Shape;139;p20"/>
          <p:cNvCxnSpPr>
            <a:stCxn id="138" idx="0"/>
            <a:endCxn id="134" idx="0"/>
          </p:cNvCxnSpPr>
          <p:nvPr/>
        </p:nvCxnSpPr>
        <p:spPr>
          <a:xfrm flipH="1" rot="-5400000">
            <a:off x="3550975" y="2828125"/>
            <a:ext cx="693300" cy="1959600"/>
          </a:xfrm>
          <a:prstGeom prst="bentConnector3">
            <a:avLst>
              <a:gd fmla="val -34347" name="adj1"/>
            </a:avLst>
          </a:prstGeom>
          <a:noFill/>
          <a:ln cap="flat" cmpd="sng" w="19050">
            <a:solidFill>
              <a:schemeClr val="accent6"/>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Ejemplo </a:t>
            </a:r>
            <a:r>
              <a:rPr lang="es-419"/>
              <a:t>1</a:t>
            </a:r>
            <a:endParaRPr/>
          </a:p>
        </p:txBody>
      </p:sp>
      <p:sp>
        <p:nvSpPr>
          <p:cNvPr id="145" name="Google Shape;145;p21"/>
          <p:cNvSpPr txBox="1"/>
          <p:nvPr/>
        </p:nvSpPr>
        <p:spPr>
          <a:xfrm>
            <a:off x="98250" y="696425"/>
            <a:ext cx="904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solidFill>
                  <a:schemeClr val="dk2"/>
                </a:solidFill>
              </a:rPr>
              <a:t>Este programa muestra en la LCD el mensaje “Hola Mundo en dos líneas”</a:t>
            </a:r>
            <a:r>
              <a:rPr lang="es-419">
                <a:solidFill>
                  <a:schemeClr val="dk2"/>
                </a:solidFill>
              </a:rPr>
              <a:t> </a:t>
            </a:r>
            <a:endParaRPr>
              <a:solidFill>
                <a:schemeClr val="dk2"/>
              </a:solidFill>
            </a:endParaRPr>
          </a:p>
        </p:txBody>
      </p:sp>
      <p:sp>
        <p:nvSpPr>
          <p:cNvPr id="146" name="Google Shape;146;p21"/>
          <p:cNvSpPr txBox="1"/>
          <p:nvPr/>
        </p:nvSpPr>
        <p:spPr>
          <a:xfrm>
            <a:off x="98250" y="4571950"/>
            <a:ext cx="904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419">
                <a:solidFill>
                  <a:schemeClr val="dk2"/>
                </a:solidFill>
              </a:rPr>
              <a:t>Para probar: Observar el mensaje en la LCD.  ¿Qué pasa si en las columnas selecciona 6 en vez de 0?</a:t>
            </a:r>
            <a:endParaRPr i="1">
              <a:solidFill>
                <a:schemeClr val="dk2"/>
              </a:solidFill>
            </a:endParaRPr>
          </a:p>
        </p:txBody>
      </p:sp>
      <p:pic>
        <p:nvPicPr>
          <p:cNvPr id="147" name="Google Shape;147;p21"/>
          <p:cNvPicPr preferRelativeResize="0"/>
          <p:nvPr/>
        </p:nvPicPr>
        <p:blipFill>
          <a:blip r:embed="rId3">
            <a:alphaModFix/>
          </a:blip>
          <a:stretch>
            <a:fillRect/>
          </a:stretch>
        </p:blipFill>
        <p:spPr>
          <a:xfrm>
            <a:off x="241376" y="1238275"/>
            <a:ext cx="4142524" cy="3130909"/>
          </a:xfrm>
          <a:prstGeom prst="rect">
            <a:avLst/>
          </a:prstGeom>
          <a:noFill/>
          <a:ln>
            <a:noFill/>
          </a:ln>
        </p:spPr>
      </p:pic>
      <p:pic>
        <p:nvPicPr>
          <p:cNvPr id="148" name="Google Shape;148;p21" title="ArduinoNano2026.png"/>
          <p:cNvPicPr preferRelativeResize="0"/>
          <p:nvPr/>
        </p:nvPicPr>
        <p:blipFill>
          <a:blip r:embed="rId4">
            <a:alphaModFix/>
          </a:blip>
          <a:stretch>
            <a:fillRect/>
          </a:stretch>
        </p:blipFill>
        <p:spPr>
          <a:xfrm rot="5400000">
            <a:off x="683563" y="1327175"/>
            <a:ext cx="582900" cy="1475850"/>
          </a:xfrm>
          <a:prstGeom prst="rect">
            <a:avLst/>
          </a:prstGeom>
          <a:noFill/>
          <a:ln>
            <a:noFill/>
          </a:ln>
        </p:spPr>
      </p:pic>
      <p:pic>
        <p:nvPicPr>
          <p:cNvPr id="149" name="Google Shape;149;p21"/>
          <p:cNvPicPr preferRelativeResize="0"/>
          <p:nvPr/>
        </p:nvPicPr>
        <p:blipFill>
          <a:blip r:embed="rId5">
            <a:alphaModFix/>
          </a:blip>
          <a:stretch>
            <a:fillRect/>
          </a:stretch>
        </p:blipFill>
        <p:spPr>
          <a:xfrm>
            <a:off x="4536300" y="1249025"/>
            <a:ext cx="4455300" cy="3085572"/>
          </a:xfrm>
          <a:prstGeom prst="rect">
            <a:avLst/>
          </a:prstGeom>
          <a:noFill/>
          <a:ln>
            <a:noFill/>
          </a:ln>
        </p:spPr>
      </p:pic>
      <p:cxnSp>
        <p:nvCxnSpPr>
          <p:cNvPr id="150" name="Google Shape;150;p21"/>
          <p:cNvCxnSpPr/>
          <p:nvPr/>
        </p:nvCxnSpPr>
        <p:spPr>
          <a:xfrm>
            <a:off x="6979950" y="3622700"/>
            <a:ext cx="236700" cy="1043700"/>
          </a:xfrm>
          <a:prstGeom prst="straightConnector1">
            <a:avLst/>
          </a:prstGeom>
          <a:noFill/>
          <a:ln cap="flat" cmpd="sng" w="9525">
            <a:solidFill>
              <a:srgbClr val="0000FF"/>
            </a:solidFill>
            <a:prstDash val="solid"/>
            <a:round/>
            <a:headEnd len="med" w="med" type="stealth"/>
            <a:tailEnd len="med" w="med" type="none"/>
          </a:ln>
        </p:spPr>
      </p:cxnSp>
      <p:cxnSp>
        <p:nvCxnSpPr>
          <p:cNvPr id="151" name="Google Shape;151;p21"/>
          <p:cNvCxnSpPr/>
          <p:nvPr/>
        </p:nvCxnSpPr>
        <p:spPr>
          <a:xfrm rot="10800000">
            <a:off x="7044700" y="3160000"/>
            <a:ext cx="193500" cy="1549500"/>
          </a:xfrm>
          <a:prstGeom prst="straightConnector1">
            <a:avLst/>
          </a:prstGeom>
          <a:noFill/>
          <a:ln cap="flat" cmpd="sng" w="9525">
            <a:solidFill>
              <a:srgbClr val="0000FF"/>
            </a:solidFill>
            <a:prstDash val="solid"/>
            <a:round/>
            <a:headEnd len="med" w="med" type="none"/>
            <a:tailEnd len="med" w="med" type="stealth"/>
          </a:ln>
        </p:spPr>
      </p:cxnSp>
      <p:sp>
        <p:nvSpPr>
          <p:cNvPr id="152" name="Google Shape;152;p21"/>
          <p:cNvSpPr txBox="1"/>
          <p:nvPr/>
        </p:nvSpPr>
        <p:spPr>
          <a:xfrm>
            <a:off x="9939350" y="2079152"/>
            <a:ext cx="11133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300">
                <a:solidFill>
                  <a:schemeClr val="lt2"/>
                </a:solidFill>
                <a:latin typeface="Roboto"/>
                <a:ea typeface="Roboto"/>
                <a:cs typeface="Roboto"/>
                <a:sym typeface="Roboto"/>
              </a:rPr>
              <a:t>Circuito de los Ejemplos </a:t>
            </a:r>
            <a:endParaRPr sz="1300">
              <a:solidFill>
                <a:schemeClr val="lt2"/>
              </a:solidFill>
              <a:latin typeface="Roboto"/>
              <a:ea typeface="Roboto"/>
              <a:cs typeface="Roboto"/>
              <a:sym typeface="Roboto"/>
            </a:endParaRPr>
          </a:p>
          <a:p>
            <a:pPr indent="0" lvl="0" marL="0" rtl="0" algn="ctr">
              <a:spcBef>
                <a:spcPts val="0"/>
              </a:spcBef>
              <a:spcAft>
                <a:spcPts val="0"/>
              </a:spcAft>
              <a:buNone/>
            </a:pPr>
            <a:r>
              <a:rPr lang="es-419" sz="1300">
                <a:solidFill>
                  <a:schemeClr val="lt2"/>
                </a:solidFill>
                <a:latin typeface="Roboto"/>
                <a:ea typeface="Roboto"/>
                <a:cs typeface="Roboto"/>
                <a:sym typeface="Roboto"/>
              </a:rPr>
              <a:t>1, 2 y 3.</a:t>
            </a:r>
            <a:endParaRPr sz="1300">
              <a:solidFill>
                <a:schemeClr val="l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Ejemplo</a:t>
            </a:r>
            <a:r>
              <a:rPr lang="es-419"/>
              <a:t>  2 </a:t>
            </a:r>
            <a:endParaRPr/>
          </a:p>
        </p:txBody>
      </p:sp>
      <p:sp>
        <p:nvSpPr>
          <p:cNvPr id="158" name="Google Shape;158;p22"/>
          <p:cNvSpPr txBox="1"/>
          <p:nvPr/>
        </p:nvSpPr>
        <p:spPr>
          <a:xfrm>
            <a:off x="0" y="619038"/>
            <a:ext cx="5502000" cy="354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600">
                <a:solidFill>
                  <a:schemeClr val="dk2"/>
                </a:solidFill>
              </a:rPr>
              <a:t>Realiza un programa que reciba un número desde la consola serie: </a:t>
            </a:r>
            <a:endParaRPr sz="16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s-419" sz="1600">
                <a:solidFill>
                  <a:schemeClr val="dk2"/>
                </a:solidFill>
              </a:rPr>
              <a:t>Si recibe el valor “0” </a:t>
            </a:r>
            <a:r>
              <a:rPr lang="es-419" sz="1600">
                <a:solidFill>
                  <a:schemeClr val="dk2"/>
                </a:solidFill>
              </a:rPr>
              <a:t>→ </a:t>
            </a:r>
            <a:r>
              <a:rPr lang="es-419" sz="1600">
                <a:solidFill>
                  <a:schemeClr val="dk2"/>
                </a:solidFill>
              </a:rPr>
              <a:t>borra la pantalla LCD </a:t>
            </a:r>
            <a:endParaRPr sz="1600">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s-419" sz="1600">
                <a:solidFill>
                  <a:schemeClr val="dk2"/>
                </a:solidFill>
              </a:rPr>
              <a:t>Si recibe el valor “1” </a:t>
            </a:r>
            <a:r>
              <a:rPr lang="es-419" sz="1600">
                <a:solidFill>
                  <a:schemeClr val="dk2"/>
                </a:solidFill>
              </a:rPr>
              <a:t>→ </a:t>
            </a:r>
            <a:r>
              <a:rPr lang="es-419" sz="1600">
                <a:solidFill>
                  <a:schemeClr val="dk2"/>
                </a:solidFill>
              </a:rPr>
              <a:t>mensaje: </a:t>
            </a:r>
            <a:endParaRPr sz="1600">
              <a:solidFill>
                <a:schemeClr val="dk2"/>
              </a:solidFill>
            </a:endParaRPr>
          </a:p>
          <a:p>
            <a:pPr indent="457200" lvl="0" marL="1828800" rtl="0" algn="l">
              <a:spcBef>
                <a:spcPts val="0"/>
              </a:spcBef>
              <a:spcAft>
                <a:spcPts val="0"/>
              </a:spcAft>
              <a:buNone/>
            </a:pPr>
            <a:r>
              <a:rPr lang="es-419" sz="1600">
                <a:solidFill>
                  <a:schemeClr val="dk2"/>
                </a:solidFill>
              </a:rPr>
              <a:t>“Practica Arduino”    </a:t>
            </a:r>
            <a:endParaRPr sz="1600">
              <a:solidFill>
                <a:schemeClr val="dk2"/>
              </a:solidFill>
            </a:endParaRPr>
          </a:p>
          <a:p>
            <a:pPr indent="457200" lvl="0" marL="1828800" rtl="0" algn="l">
              <a:spcBef>
                <a:spcPts val="0"/>
              </a:spcBef>
              <a:spcAft>
                <a:spcPts val="0"/>
              </a:spcAft>
              <a:buNone/>
            </a:pPr>
            <a:r>
              <a:rPr lang="es-419" sz="1600">
                <a:solidFill>
                  <a:schemeClr val="dk2"/>
                </a:solidFill>
              </a:rPr>
              <a:t>“Pantalla LCD” </a:t>
            </a:r>
            <a:endParaRPr sz="1600">
              <a:solidFill>
                <a:schemeClr val="dk2"/>
              </a:solidFill>
            </a:endParaRPr>
          </a:p>
          <a:p>
            <a:pPr indent="0" lvl="0" marL="0" rtl="0" algn="l">
              <a:spcBef>
                <a:spcPts val="0"/>
              </a:spcBef>
              <a:spcAft>
                <a:spcPts val="0"/>
              </a:spcAft>
              <a:buNone/>
            </a:pPr>
            <a:r>
              <a:rPr lang="es-419" sz="1600">
                <a:solidFill>
                  <a:schemeClr val="dk2"/>
                </a:solidFill>
              </a:rPr>
              <a:t>Si recibe el valor “2” </a:t>
            </a:r>
            <a:r>
              <a:rPr lang="es-419" sz="1600">
                <a:solidFill>
                  <a:schemeClr val="dk2"/>
                </a:solidFill>
              </a:rPr>
              <a:t>→ </a:t>
            </a:r>
            <a:r>
              <a:rPr lang="es-419" sz="1600">
                <a:solidFill>
                  <a:schemeClr val="dk2"/>
                </a:solidFill>
              </a:rPr>
              <a:t>mensaje: </a:t>
            </a:r>
            <a:endParaRPr sz="1600">
              <a:solidFill>
                <a:schemeClr val="dk2"/>
              </a:solidFill>
            </a:endParaRPr>
          </a:p>
          <a:p>
            <a:pPr indent="457200" lvl="0" marL="1828800" rtl="0" algn="l">
              <a:spcBef>
                <a:spcPts val="0"/>
              </a:spcBef>
              <a:spcAft>
                <a:spcPts val="0"/>
              </a:spcAft>
              <a:buNone/>
            </a:pPr>
            <a:r>
              <a:rPr lang="es-419" sz="1600">
                <a:solidFill>
                  <a:schemeClr val="dk2"/>
                </a:solidFill>
              </a:rPr>
              <a:t>“Autor:” </a:t>
            </a:r>
            <a:endParaRPr sz="1600">
              <a:solidFill>
                <a:schemeClr val="dk2"/>
              </a:solidFill>
            </a:endParaRPr>
          </a:p>
          <a:p>
            <a:pPr indent="457200" lvl="0" marL="1828800" rtl="0" algn="l">
              <a:spcBef>
                <a:spcPts val="0"/>
              </a:spcBef>
              <a:spcAft>
                <a:spcPts val="0"/>
              </a:spcAft>
              <a:buNone/>
            </a:pPr>
            <a:r>
              <a:rPr lang="es-419" sz="1600">
                <a:solidFill>
                  <a:schemeClr val="dk2"/>
                </a:solidFill>
              </a:rPr>
              <a:t>“</a:t>
            </a:r>
            <a:r>
              <a:rPr i="1" lang="es-419" sz="1600">
                <a:solidFill>
                  <a:schemeClr val="dk2"/>
                </a:solidFill>
              </a:rPr>
              <a:t>Su nombre</a:t>
            </a:r>
            <a:r>
              <a:rPr lang="es-419" sz="1600">
                <a:solidFill>
                  <a:schemeClr val="dk2"/>
                </a:solidFill>
              </a:rPr>
              <a:t>” </a:t>
            </a:r>
            <a:endParaRPr sz="1600">
              <a:solidFill>
                <a:schemeClr val="dk2"/>
              </a:solidFill>
            </a:endParaRPr>
          </a:p>
          <a:p>
            <a:pPr indent="0" lvl="0" marL="0" rtl="0" algn="l">
              <a:spcBef>
                <a:spcPts val="0"/>
              </a:spcBef>
              <a:spcAft>
                <a:spcPts val="0"/>
              </a:spcAft>
              <a:buNone/>
            </a:pPr>
            <a:r>
              <a:rPr lang="es-419" sz="1600">
                <a:solidFill>
                  <a:schemeClr val="dk2"/>
                </a:solidFill>
              </a:rPr>
              <a:t>Si recibe el valor “3”</a:t>
            </a:r>
            <a:r>
              <a:rPr lang="es-419" sz="1600">
                <a:solidFill>
                  <a:schemeClr val="dk2"/>
                </a:solidFill>
              </a:rPr>
              <a:t>→ </a:t>
            </a:r>
            <a:r>
              <a:rPr lang="es-419" sz="1600">
                <a:solidFill>
                  <a:schemeClr val="dk2"/>
                </a:solidFill>
              </a:rPr>
              <a:t> mensaje: </a:t>
            </a:r>
            <a:endParaRPr sz="1600">
              <a:solidFill>
                <a:schemeClr val="dk2"/>
              </a:solidFill>
            </a:endParaRPr>
          </a:p>
          <a:p>
            <a:pPr indent="457200" lvl="0" marL="1828800" rtl="0" algn="l">
              <a:spcBef>
                <a:spcPts val="0"/>
              </a:spcBef>
              <a:spcAft>
                <a:spcPts val="0"/>
              </a:spcAft>
              <a:buNone/>
            </a:pPr>
            <a:r>
              <a:rPr lang="es-419" sz="1600">
                <a:solidFill>
                  <a:schemeClr val="dk2"/>
                </a:solidFill>
              </a:rPr>
              <a:t>“Innovación”  </a:t>
            </a:r>
            <a:endParaRPr sz="1600">
              <a:solidFill>
                <a:schemeClr val="dk2"/>
              </a:solidFill>
            </a:endParaRPr>
          </a:p>
          <a:p>
            <a:pPr indent="457200" lvl="0" marL="1828800" rtl="0" algn="l">
              <a:spcBef>
                <a:spcPts val="0"/>
              </a:spcBef>
              <a:spcAft>
                <a:spcPts val="0"/>
              </a:spcAft>
              <a:buNone/>
            </a:pPr>
            <a:r>
              <a:rPr lang="es-419" sz="1600">
                <a:solidFill>
                  <a:schemeClr val="dk2"/>
                </a:solidFill>
              </a:rPr>
              <a:t>“y Tecnología“</a:t>
            </a:r>
            <a:endParaRPr sz="1600">
              <a:solidFill>
                <a:schemeClr val="dk2"/>
              </a:solidFill>
            </a:endParaRPr>
          </a:p>
        </p:txBody>
      </p:sp>
      <p:pic>
        <p:nvPicPr>
          <p:cNvPr id="159" name="Google Shape;159;p22" title="arduinoblocks_1776737903808.png"/>
          <p:cNvPicPr preferRelativeResize="0"/>
          <p:nvPr/>
        </p:nvPicPr>
        <p:blipFill rotWithShape="1">
          <a:blip r:embed="rId3">
            <a:alphaModFix/>
          </a:blip>
          <a:srcRect b="0" l="0" r="0" t="13756"/>
          <a:stretch/>
        </p:blipFill>
        <p:spPr>
          <a:xfrm>
            <a:off x="4985700" y="32313"/>
            <a:ext cx="4158299" cy="5078877"/>
          </a:xfrm>
          <a:prstGeom prst="rect">
            <a:avLst/>
          </a:prstGeom>
          <a:noFill/>
          <a:ln>
            <a:noFill/>
          </a:ln>
        </p:spPr>
      </p:pic>
      <p:pic>
        <p:nvPicPr>
          <p:cNvPr id="160" name="Google Shape;160;p22" title="arduinoblocks_1776737903808.png"/>
          <p:cNvPicPr preferRelativeResize="0"/>
          <p:nvPr/>
        </p:nvPicPr>
        <p:blipFill rotWithShape="1">
          <a:blip r:embed="rId3">
            <a:alphaModFix/>
          </a:blip>
          <a:srcRect b="85471" l="0" r="0" t="-1888"/>
          <a:stretch/>
        </p:blipFill>
        <p:spPr>
          <a:xfrm>
            <a:off x="413700" y="4023140"/>
            <a:ext cx="4158299" cy="9668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Ejemplo</a:t>
            </a:r>
            <a:r>
              <a:rPr lang="es-419"/>
              <a:t> 3</a:t>
            </a:r>
            <a:endParaRPr/>
          </a:p>
        </p:txBody>
      </p:sp>
      <p:sp>
        <p:nvSpPr>
          <p:cNvPr id="166" name="Google Shape;166;p23"/>
          <p:cNvSpPr txBox="1"/>
          <p:nvPr/>
        </p:nvSpPr>
        <p:spPr>
          <a:xfrm>
            <a:off x="4356200" y="834475"/>
            <a:ext cx="456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El programa mostrará por la pantalla LCD un cronómetro que contará segundos, minutos y horas</a:t>
            </a:r>
            <a:endParaRPr/>
          </a:p>
        </p:txBody>
      </p:sp>
      <p:pic>
        <p:nvPicPr>
          <p:cNvPr id="167" name="Google Shape;167;p23"/>
          <p:cNvPicPr preferRelativeResize="0"/>
          <p:nvPr/>
        </p:nvPicPr>
        <p:blipFill>
          <a:blip r:embed="rId3">
            <a:alphaModFix/>
          </a:blip>
          <a:stretch>
            <a:fillRect/>
          </a:stretch>
        </p:blipFill>
        <p:spPr>
          <a:xfrm>
            <a:off x="98250" y="709625"/>
            <a:ext cx="4112301" cy="1537928"/>
          </a:xfrm>
          <a:prstGeom prst="rect">
            <a:avLst/>
          </a:prstGeom>
          <a:noFill/>
          <a:ln>
            <a:noFill/>
          </a:ln>
        </p:spPr>
      </p:pic>
      <p:pic>
        <p:nvPicPr>
          <p:cNvPr id="168" name="Google Shape;168;p23"/>
          <p:cNvPicPr preferRelativeResize="0"/>
          <p:nvPr/>
        </p:nvPicPr>
        <p:blipFill>
          <a:blip r:embed="rId4">
            <a:alphaModFix/>
          </a:blip>
          <a:stretch>
            <a:fillRect/>
          </a:stretch>
        </p:blipFill>
        <p:spPr>
          <a:xfrm>
            <a:off x="228249" y="2435200"/>
            <a:ext cx="3982301" cy="2497099"/>
          </a:xfrm>
          <a:prstGeom prst="rect">
            <a:avLst/>
          </a:prstGeom>
          <a:noFill/>
          <a:ln>
            <a:noFill/>
          </a:ln>
        </p:spPr>
      </p:pic>
      <p:pic>
        <p:nvPicPr>
          <p:cNvPr id="169" name="Google Shape;169;p23"/>
          <p:cNvPicPr preferRelativeResize="0"/>
          <p:nvPr/>
        </p:nvPicPr>
        <p:blipFill>
          <a:blip r:embed="rId5">
            <a:alphaModFix/>
          </a:blip>
          <a:stretch>
            <a:fillRect/>
          </a:stretch>
        </p:blipFill>
        <p:spPr>
          <a:xfrm>
            <a:off x="4511300" y="2435196"/>
            <a:ext cx="4704499" cy="225734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Ejemplo 4</a:t>
            </a:r>
            <a:endParaRPr/>
          </a:p>
        </p:txBody>
      </p:sp>
      <p:sp>
        <p:nvSpPr>
          <p:cNvPr id="175" name="Google Shape;175;p24"/>
          <p:cNvSpPr txBox="1"/>
          <p:nvPr/>
        </p:nvSpPr>
        <p:spPr>
          <a:xfrm>
            <a:off x="98250" y="696425"/>
            <a:ext cx="904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Este programa lee el valor analógico (0 a 1023) de un potenciómetro conectado a A0 y lo muestra en una LCD </a:t>
            </a:r>
            <a:endParaRPr/>
          </a:p>
        </p:txBody>
      </p:sp>
      <p:pic>
        <p:nvPicPr>
          <p:cNvPr id="176" name="Google Shape;176;p24"/>
          <p:cNvPicPr preferRelativeResize="0"/>
          <p:nvPr/>
        </p:nvPicPr>
        <p:blipFill>
          <a:blip r:embed="rId3">
            <a:alphaModFix/>
          </a:blip>
          <a:stretch>
            <a:fillRect/>
          </a:stretch>
        </p:blipFill>
        <p:spPr>
          <a:xfrm>
            <a:off x="237083" y="1238275"/>
            <a:ext cx="4142525" cy="3108500"/>
          </a:xfrm>
          <a:prstGeom prst="rect">
            <a:avLst/>
          </a:prstGeom>
          <a:noFill/>
          <a:ln>
            <a:noFill/>
          </a:ln>
        </p:spPr>
      </p:pic>
      <p:pic>
        <p:nvPicPr>
          <p:cNvPr id="177" name="Google Shape;177;p24" title="ArduinoNano2026.png"/>
          <p:cNvPicPr preferRelativeResize="0"/>
          <p:nvPr/>
        </p:nvPicPr>
        <p:blipFill>
          <a:blip r:embed="rId4">
            <a:alphaModFix/>
          </a:blip>
          <a:stretch>
            <a:fillRect/>
          </a:stretch>
        </p:blipFill>
        <p:spPr>
          <a:xfrm rot="5400000">
            <a:off x="683563" y="1327175"/>
            <a:ext cx="582900" cy="1475850"/>
          </a:xfrm>
          <a:prstGeom prst="rect">
            <a:avLst/>
          </a:prstGeom>
          <a:noFill/>
          <a:ln>
            <a:noFill/>
          </a:ln>
        </p:spPr>
      </p:pic>
      <p:pic>
        <p:nvPicPr>
          <p:cNvPr id="178" name="Google Shape;178;p24"/>
          <p:cNvPicPr preferRelativeResize="0"/>
          <p:nvPr/>
        </p:nvPicPr>
        <p:blipFill>
          <a:blip r:embed="rId5">
            <a:alphaModFix/>
          </a:blip>
          <a:stretch>
            <a:fillRect/>
          </a:stretch>
        </p:blipFill>
        <p:spPr>
          <a:xfrm>
            <a:off x="4530512" y="1238275"/>
            <a:ext cx="4474791" cy="3108500"/>
          </a:xfrm>
          <a:prstGeom prst="rect">
            <a:avLst/>
          </a:prstGeom>
          <a:noFill/>
          <a:ln>
            <a:noFill/>
          </a:ln>
        </p:spPr>
      </p:pic>
      <p:sp>
        <p:nvSpPr>
          <p:cNvPr id="179" name="Google Shape;179;p24"/>
          <p:cNvSpPr txBox="1"/>
          <p:nvPr/>
        </p:nvSpPr>
        <p:spPr>
          <a:xfrm>
            <a:off x="98250" y="4571950"/>
            <a:ext cx="904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Para probar: Gire el potenciómetro en sentido horario y antihorario y observe lo que aparece en la LCD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