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obo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Robo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bold.fntdata"/><Relationship Id="rId6" Type="http://schemas.openxmlformats.org/officeDocument/2006/relationships/slide" Target="slides/slide1.xml"/><Relationship Id="rId18"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e822eb25af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1e822eb25af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e822eb25af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e822eb25af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1e822eb25af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1e822eb25af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e822eb25af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e822eb25af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e822eb25af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e822eb25af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e822eb25af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1e822eb25af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e822eb25af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1e822eb25af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e822eb25af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e822eb25af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e822eb25af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e822eb25af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e822eb25af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e822eb25af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e822eb25af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e822eb25af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Arduino IDE 2</a:t>
            </a:r>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fontScale="40000" lnSpcReduction="20000"/>
          </a:bodyPr>
          <a:lstStyle/>
          <a:p>
            <a:pPr indent="0" lvl="0" marL="0" rtl="0" algn="l">
              <a:spcBef>
                <a:spcPts val="0"/>
              </a:spcBef>
              <a:spcAft>
                <a:spcPts val="0"/>
              </a:spcAft>
              <a:buNone/>
            </a:pPr>
            <a:r>
              <a:rPr lang="es-419" sz="4800"/>
              <a:t>Introducción a arduino y programación básica.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Instalación</a:t>
            </a:r>
            <a:endParaRPr/>
          </a:p>
        </p:txBody>
      </p:sp>
      <p:sp>
        <p:nvSpPr>
          <p:cNvPr id="74" name="Google Shape;74;p14"/>
          <p:cNvSpPr txBox="1"/>
          <p:nvPr>
            <p:ph idx="1" type="body"/>
          </p:nvPr>
        </p:nvSpPr>
        <p:spPr>
          <a:xfrm>
            <a:off x="471900" y="1919075"/>
            <a:ext cx="8222100" cy="2349300"/>
          </a:xfrm>
          <a:prstGeom prst="rect">
            <a:avLst/>
          </a:prstGeom>
        </p:spPr>
        <p:txBody>
          <a:bodyPr anchorCtr="0" anchor="t" bIns="91425" lIns="91425" spcFirstLastPara="1" rIns="91425" wrap="square" tIns="91425">
            <a:normAutofit lnSpcReduction="20000"/>
          </a:bodyPr>
          <a:lstStyle/>
          <a:p>
            <a:pPr indent="0" lvl="0" marL="0" rtl="0" algn="just">
              <a:spcBef>
                <a:spcPts val="0"/>
              </a:spcBef>
              <a:spcAft>
                <a:spcPts val="0"/>
              </a:spcAft>
              <a:buNone/>
            </a:pPr>
            <a:r>
              <a:rPr lang="es-419"/>
              <a:t>Arduino tiene un entorno de desarrollo propio que te permite cargar en la placa los programas que escribes. Existen dos formas diferentes de utilizar el entorno de desarrollo, el primero es utilizarlo en un navegador web y el segundo es </a:t>
            </a:r>
            <a:r>
              <a:rPr lang="es-419"/>
              <a:t>instalarlo</a:t>
            </a:r>
            <a:r>
              <a:rPr lang="es-419"/>
              <a:t> en el ordenador.</a:t>
            </a:r>
            <a:endParaRPr/>
          </a:p>
          <a:p>
            <a:pPr indent="0" lvl="0" marL="0" rtl="0" algn="just">
              <a:spcBef>
                <a:spcPts val="1200"/>
              </a:spcBef>
              <a:spcAft>
                <a:spcPts val="0"/>
              </a:spcAft>
              <a:buNone/>
            </a:pPr>
            <a:r>
              <a:rPr lang="es-419"/>
              <a:t>Para instalarlo entra en </a:t>
            </a:r>
            <a:r>
              <a:rPr lang="es-419"/>
              <a:t>https://www.arduino.cc, </a:t>
            </a:r>
            <a:r>
              <a:rPr lang="es-419"/>
              <a:t>y después entra en el menú Software:</a:t>
            </a:r>
            <a:endParaRPr/>
          </a:p>
          <a:p>
            <a:pPr indent="0" lvl="0" marL="0" rtl="0" algn="just">
              <a:spcBef>
                <a:spcPts val="1200"/>
              </a:spcBef>
              <a:spcAft>
                <a:spcPts val="1200"/>
              </a:spcAft>
              <a:buNone/>
            </a:pPr>
            <a:r>
              <a:t/>
            </a:r>
            <a:endParaRPr/>
          </a:p>
        </p:txBody>
      </p:sp>
      <p:pic>
        <p:nvPicPr>
          <p:cNvPr id="75" name="Google Shape;75;p14"/>
          <p:cNvPicPr preferRelativeResize="0"/>
          <p:nvPr/>
        </p:nvPicPr>
        <p:blipFill>
          <a:blip r:embed="rId3">
            <a:alphaModFix/>
          </a:blip>
          <a:stretch>
            <a:fillRect/>
          </a:stretch>
        </p:blipFill>
        <p:spPr>
          <a:xfrm>
            <a:off x="640650" y="3913295"/>
            <a:ext cx="8222101" cy="798205"/>
          </a:xfrm>
          <a:prstGeom prst="rect">
            <a:avLst/>
          </a:prstGeom>
          <a:noFill/>
          <a:ln>
            <a:noFill/>
          </a:ln>
        </p:spPr>
      </p:pic>
      <p:sp>
        <p:nvSpPr>
          <p:cNvPr id="76" name="Google Shape;76;p14"/>
          <p:cNvSpPr/>
          <p:nvPr/>
        </p:nvSpPr>
        <p:spPr>
          <a:xfrm>
            <a:off x="3022500" y="4283075"/>
            <a:ext cx="616500" cy="242100"/>
          </a:xfrm>
          <a:prstGeom prst="rect">
            <a:avLst/>
          </a:prstGeom>
          <a:noFill/>
          <a:ln cap="flat" cmpd="sng" w="381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Entorno de Trabajo</a:t>
            </a:r>
            <a:endParaRPr/>
          </a:p>
        </p:txBody>
      </p:sp>
      <p:pic>
        <p:nvPicPr>
          <p:cNvPr id="82" name="Google Shape;82;p15"/>
          <p:cNvPicPr preferRelativeResize="0"/>
          <p:nvPr/>
        </p:nvPicPr>
        <p:blipFill>
          <a:blip r:embed="rId3">
            <a:alphaModFix/>
          </a:blip>
          <a:stretch>
            <a:fillRect/>
          </a:stretch>
        </p:blipFill>
        <p:spPr>
          <a:xfrm>
            <a:off x="152100" y="1717550"/>
            <a:ext cx="7338450" cy="3137825"/>
          </a:xfrm>
          <a:prstGeom prst="rect">
            <a:avLst/>
          </a:prstGeom>
          <a:noFill/>
          <a:ln>
            <a:noFill/>
          </a:ln>
        </p:spPr>
      </p:pic>
      <p:pic>
        <p:nvPicPr>
          <p:cNvPr id="83" name="Google Shape;83;p15"/>
          <p:cNvPicPr preferRelativeResize="0"/>
          <p:nvPr/>
        </p:nvPicPr>
        <p:blipFill>
          <a:blip r:embed="rId4">
            <a:alphaModFix/>
          </a:blip>
          <a:stretch>
            <a:fillRect/>
          </a:stretch>
        </p:blipFill>
        <p:spPr>
          <a:xfrm>
            <a:off x="7700825" y="2396100"/>
            <a:ext cx="1285875" cy="2209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Interfaz Principal</a:t>
            </a:r>
            <a:endParaRPr/>
          </a:p>
        </p:txBody>
      </p:sp>
      <p:pic>
        <p:nvPicPr>
          <p:cNvPr id="89" name="Google Shape;89;p16"/>
          <p:cNvPicPr preferRelativeResize="0"/>
          <p:nvPr/>
        </p:nvPicPr>
        <p:blipFill>
          <a:blip r:embed="rId3">
            <a:alphaModFix/>
          </a:blip>
          <a:stretch>
            <a:fillRect/>
          </a:stretch>
        </p:blipFill>
        <p:spPr>
          <a:xfrm>
            <a:off x="471900" y="2231125"/>
            <a:ext cx="6619875" cy="1628775"/>
          </a:xfrm>
          <a:prstGeom prst="rect">
            <a:avLst/>
          </a:prstGeom>
          <a:noFill/>
          <a:ln>
            <a:noFill/>
          </a:ln>
        </p:spPr>
      </p:pic>
      <p:sp>
        <p:nvSpPr>
          <p:cNvPr id="90" name="Google Shape;90;p16"/>
          <p:cNvSpPr txBox="1"/>
          <p:nvPr/>
        </p:nvSpPr>
        <p:spPr>
          <a:xfrm>
            <a:off x="564500" y="4195025"/>
            <a:ext cx="99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Verificar</a:t>
            </a:r>
            <a:endParaRPr>
              <a:latin typeface="Roboto"/>
              <a:ea typeface="Roboto"/>
              <a:cs typeface="Roboto"/>
              <a:sym typeface="Roboto"/>
            </a:endParaRPr>
          </a:p>
        </p:txBody>
      </p:sp>
      <p:cxnSp>
        <p:nvCxnSpPr>
          <p:cNvPr id="91" name="Google Shape;91;p16"/>
          <p:cNvCxnSpPr>
            <a:stCxn id="90" idx="0"/>
          </p:cNvCxnSpPr>
          <p:nvPr/>
        </p:nvCxnSpPr>
        <p:spPr>
          <a:xfrm rot="10800000">
            <a:off x="975500" y="3520025"/>
            <a:ext cx="84300" cy="675000"/>
          </a:xfrm>
          <a:prstGeom prst="straightConnector1">
            <a:avLst/>
          </a:prstGeom>
          <a:noFill/>
          <a:ln cap="flat" cmpd="sng" w="38100">
            <a:solidFill>
              <a:schemeClr val="accent3"/>
            </a:solidFill>
            <a:prstDash val="solid"/>
            <a:round/>
            <a:headEnd len="med" w="med" type="none"/>
            <a:tailEnd len="med" w="med" type="triangle"/>
          </a:ln>
        </p:spPr>
      </p:cxnSp>
      <p:cxnSp>
        <p:nvCxnSpPr>
          <p:cNvPr id="92" name="Google Shape;92;p16"/>
          <p:cNvCxnSpPr/>
          <p:nvPr/>
        </p:nvCxnSpPr>
        <p:spPr>
          <a:xfrm rot="10800000">
            <a:off x="1628325" y="3497925"/>
            <a:ext cx="572400" cy="814500"/>
          </a:xfrm>
          <a:prstGeom prst="straightConnector1">
            <a:avLst/>
          </a:prstGeom>
          <a:noFill/>
          <a:ln cap="flat" cmpd="sng" w="38100">
            <a:solidFill>
              <a:schemeClr val="accent3"/>
            </a:solidFill>
            <a:prstDash val="solid"/>
            <a:round/>
            <a:headEnd len="med" w="med" type="none"/>
            <a:tailEnd len="med" w="med" type="triangle"/>
          </a:ln>
        </p:spPr>
      </p:cxnSp>
      <p:sp>
        <p:nvSpPr>
          <p:cNvPr id="93" name="Google Shape;93;p16"/>
          <p:cNvSpPr txBox="1"/>
          <p:nvPr/>
        </p:nvSpPr>
        <p:spPr>
          <a:xfrm>
            <a:off x="1423100" y="4347425"/>
            <a:ext cx="2303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Subir o Cargar Programa en el Arduino</a:t>
            </a:r>
            <a:endParaRPr>
              <a:latin typeface="Roboto"/>
              <a:ea typeface="Roboto"/>
              <a:cs typeface="Roboto"/>
              <a:sym typeface="Roboto"/>
            </a:endParaRPr>
          </a:p>
        </p:txBody>
      </p:sp>
      <p:pic>
        <p:nvPicPr>
          <p:cNvPr id="94" name="Google Shape;94;p16"/>
          <p:cNvPicPr preferRelativeResize="0"/>
          <p:nvPr/>
        </p:nvPicPr>
        <p:blipFill>
          <a:blip r:embed="rId4">
            <a:alphaModFix/>
          </a:blip>
          <a:stretch>
            <a:fillRect/>
          </a:stretch>
        </p:blipFill>
        <p:spPr>
          <a:xfrm>
            <a:off x="7278175" y="2935025"/>
            <a:ext cx="1794125" cy="864525"/>
          </a:xfrm>
          <a:prstGeom prst="rect">
            <a:avLst/>
          </a:prstGeom>
          <a:noFill/>
          <a:ln>
            <a:noFill/>
          </a:ln>
        </p:spPr>
      </p:pic>
      <p:cxnSp>
        <p:nvCxnSpPr>
          <p:cNvPr id="95" name="Google Shape;95;p16"/>
          <p:cNvCxnSpPr/>
          <p:nvPr/>
        </p:nvCxnSpPr>
        <p:spPr>
          <a:xfrm flipH="1" rot="10800000">
            <a:off x="7417600" y="3577725"/>
            <a:ext cx="438600" cy="654900"/>
          </a:xfrm>
          <a:prstGeom prst="straightConnector1">
            <a:avLst/>
          </a:prstGeom>
          <a:noFill/>
          <a:ln cap="flat" cmpd="sng" w="38100">
            <a:solidFill>
              <a:schemeClr val="accent3"/>
            </a:solidFill>
            <a:prstDash val="solid"/>
            <a:round/>
            <a:headEnd len="med" w="med" type="none"/>
            <a:tailEnd len="med" w="med" type="triangle"/>
          </a:ln>
        </p:spPr>
      </p:cxnSp>
      <p:sp>
        <p:nvSpPr>
          <p:cNvPr id="96" name="Google Shape;96;p16"/>
          <p:cNvSpPr txBox="1"/>
          <p:nvPr/>
        </p:nvSpPr>
        <p:spPr>
          <a:xfrm>
            <a:off x="6669175" y="4232625"/>
            <a:ext cx="1253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a:latin typeface="Roboto"/>
                <a:ea typeface="Roboto"/>
                <a:cs typeface="Roboto"/>
                <a:sym typeface="Roboto"/>
              </a:rPr>
              <a:t>Graficador Serial</a:t>
            </a:r>
            <a:endParaRPr>
              <a:latin typeface="Roboto"/>
              <a:ea typeface="Roboto"/>
              <a:cs typeface="Roboto"/>
              <a:sym typeface="Roboto"/>
            </a:endParaRPr>
          </a:p>
        </p:txBody>
      </p:sp>
      <p:cxnSp>
        <p:nvCxnSpPr>
          <p:cNvPr id="97" name="Google Shape;97;p16"/>
          <p:cNvCxnSpPr/>
          <p:nvPr/>
        </p:nvCxnSpPr>
        <p:spPr>
          <a:xfrm flipH="1" rot="10800000">
            <a:off x="8532875" y="3577825"/>
            <a:ext cx="26100" cy="675900"/>
          </a:xfrm>
          <a:prstGeom prst="straightConnector1">
            <a:avLst/>
          </a:prstGeom>
          <a:noFill/>
          <a:ln cap="flat" cmpd="sng" w="38100">
            <a:solidFill>
              <a:schemeClr val="accent3"/>
            </a:solidFill>
            <a:prstDash val="solid"/>
            <a:round/>
            <a:headEnd len="med" w="med" type="none"/>
            <a:tailEnd len="med" w="med" type="triangle"/>
          </a:ln>
        </p:spPr>
      </p:cxnSp>
      <p:sp>
        <p:nvSpPr>
          <p:cNvPr id="98" name="Google Shape;98;p16"/>
          <p:cNvSpPr txBox="1"/>
          <p:nvPr/>
        </p:nvSpPr>
        <p:spPr>
          <a:xfrm>
            <a:off x="7819200" y="4236225"/>
            <a:ext cx="1253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a:latin typeface="Roboto"/>
                <a:ea typeface="Roboto"/>
                <a:cs typeface="Roboto"/>
                <a:sym typeface="Roboto"/>
              </a:rPr>
              <a:t>Monitor </a:t>
            </a:r>
            <a:r>
              <a:rPr lang="es-419">
                <a:latin typeface="Roboto"/>
                <a:ea typeface="Roboto"/>
                <a:cs typeface="Roboto"/>
                <a:sym typeface="Roboto"/>
              </a:rPr>
              <a:t>Serial</a:t>
            </a:r>
            <a:endParaRPr>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Mi Primer Programa</a:t>
            </a:r>
            <a:r>
              <a:rPr lang="es-419"/>
              <a:t>: Hola Mundo</a:t>
            </a:r>
            <a:endParaRPr/>
          </a:p>
        </p:txBody>
      </p:sp>
      <p:sp>
        <p:nvSpPr>
          <p:cNvPr id="104" name="Google Shape;104;p17"/>
          <p:cNvSpPr txBox="1"/>
          <p:nvPr/>
        </p:nvSpPr>
        <p:spPr>
          <a:xfrm>
            <a:off x="227475" y="1768325"/>
            <a:ext cx="8584200" cy="1293000"/>
          </a:xfrm>
          <a:prstGeom prst="rect">
            <a:avLst/>
          </a:prstGeom>
          <a:noFill/>
          <a:ln>
            <a:noFill/>
          </a:ln>
        </p:spPr>
        <p:txBody>
          <a:bodyPr anchorCtr="0" anchor="t" bIns="91425" lIns="91425" spcFirstLastPara="1" rIns="91425" wrap="square" tIns="91425">
            <a:spAutoFit/>
          </a:bodyPr>
          <a:lstStyle/>
          <a:p>
            <a:pPr indent="-342900" lvl="0" marL="457200" rtl="0" algn="just">
              <a:lnSpc>
                <a:spcPct val="150000"/>
              </a:lnSpc>
              <a:spcBef>
                <a:spcPts val="0"/>
              </a:spcBef>
              <a:spcAft>
                <a:spcPts val="0"/>
              </a:spcAft>
              <a:buSzPts val="1800"/>
              <a:buFont typeface="Roboto"/>
              <a:buAutoNum type="arabicPeriod"/>
            </a:pPr>
            <a:r>
              <a:rPr lang="es-419" sz="1800">
                <a:solidFill>
                  <a:schemeClr val="lt2"/>
                </a:solidFill>
                <a:latin typeface="Roboto"/>
                <a:ea typeface="Roboto"/>
                <a:cs typeface="Roboto"/>
                <a:sym typeface="Roboto"/>
              </a:rPr>
              <a:t>Conecta el Arduino (UNO o Nano) en el computador. </a:t>
            </a:r>
            <a:r>
              <a:rPr lang="es-419" sz="1800">
                <a:solidFill>
                  <a:schemeClr val="lt2"/>
                </a:solidFill>
                <a:latin typeface="Roboto"/>
                <a:ea typeface="Roboto"/>
                <a:cs typeface="Roboto"/>
                <a:sym typeface="Roboto"/>
              </a:rPr>
              <a:t>Utilizando el ejemplo </a:t>
            </a:r>
            <a:r>
              <a:rPr b="1" lang="es-419" sz="1800">
                <a:solidFill>
                  <a:schemeClr val="accent3"/>
                </a:solidFill>
                <a:latin typeface="Roboto"/>
                <a:ea typeface="Roboto"/>
                <a:cs typeface="Roboto"/>
                <a:sym typeface="Roboto"/>
              </a:rPr>
              <a:t>Blink, </a:t>
            </a:r>
            <a:r>
              <a:rPr lang="es-419" sz="1800">
                <a:solidFill>
                  <a:schemeClr val="lt2"/>
                </a:solidFill>
                <a:latin typeface="Roboto"/>
                <a:ea typeface="Roboto"/>
                <a:cs typeface="Roboto"/>
                <a:sym typeface="Roboto"/>
              </a:rPr>
              <a:t>sigue la ruta que indica la imagen para que cargues el ejemplo que viene precargado en Arduino IDE.</a:t>
            </a:r>
            <a:endParaRPr>
              <a:solidFill>
                <a:schemeClr val="lt2"/>
              </a:solidFill>
              <a:latin typeface="Roboto"/>
              <a:ea typeface="Roboto"/>
              <a:cs typeface="Roboto"/>
              <a:sym typeface="Roboto"/>
            </a:endParaRPr>
          </a:p>
        </p:txBody>
      </p:sp>
      <p:pic>
        <p:nvPicPr>
          <p:cNvPr id="105" name="Google Shape;105;p17"/>
          <p:cNvPicPr preferRelativeResize="0"/>
          <p:nvPr/>
        </p:nvPicPr>
        <p:blipFill>
          <a:blip r:embed="rId3">
            <a:alphaModFix/>
          </a:blip>
          <a:stretch>
            <a:fillRect/>
          </a:stretch>
        </p:blipFill>
        <p:spPr>
          <a:xfrm>
            <a:off x="4324677" y="2616150"/>
            <a:ext cx="4614051" cy="24666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Mi Primer Programa: Hola Mundo</a:t>
            </a:r>
            <a:endParaRPr/>
          </a:p>
        </p:txBody>
      </p:sp>
      <p:sp>
        <p:nvSpPr>
          <p:cNvPr id="111" name="Google Shape;111;p18"/>
          <p:cNvSpPr txBox="1"/>
          <p:nvPr/>
        </p:nvSpPr>
        <p:spPr>
          <a:xfrm>
            <a:off x="227475" y="1768325"/>
            <a:ext cx="8584200" cy="877200"/>
          </a:xfrm>
          <a:prstGeom prst="rect">
            <a:avLst/>
          </a:prstGeom>
          <a:noFill/>
          <a:ln>
            <a:noFill/>
          </a:ln>
        </p:spPr>
        <p:txBody>
          <a:bodyPr anchorCtr="0" anchor="t" bIns="91425" lIns="91425" spcFirstLastPara="1" rIns="91425" wrap="square" tIns="91425">
            <a:spAutoFit/>
          </a:bodyPr>
          <a:lstStyle/>
          <a:p>
            <a:pPr indent="-342900" lvl="0" marL="457200" rtl="0" algn="just">
              <a:lnSpc>
                <a:spcPct val="150000"/>
              </a:lnSpc>
              <a:spcBef>
                <a:spcPts val="0"/>
              </a:spcBef>
              <a:spcAft>
                <a:spcPts val="0"/>
              </a:spcAft>
              <a:buClr>
                <a:schemeClr val="lt2"/>
              </a:buClr>
              <a:buSzPts val="1800"/>
              <a:buFont typeface="Roboto"/>
              <a:buAutoNum type="arabicPeriod" startAt="2"/>
            </a:pPr>
            <a:r>
              <a:rPr lang="es-419" sz="1800">
                <a:solidFill>
                  <a:schemeClr val="lt2"/>
                </a:solidFill>
                <a:latin typeface="Roboto"/>
                <a:ea typeface="Roboto"/>
                <a:cs typeface="Roboto"/>
                <a:sym typeface="Roboto"/>
              </a:rPr>
              <a:t>Se abrirá una nueva ventana de programa, selecciona la tarjeta o verifica que el Arduino IDE reconoció el dispositivo</a:t>
            </a:r>
            <a:endParaRPr sz="1800">
              <a:solidFill>
                <a:schemeClr val="lt2"/>
              </a:solidFill>
              <a:latin typeface="Roboto"/>
              <a:ea typeface="Roboto"/>
              <a:cs typeface="Roboto"/>
              <a:sym typeface="Roboto"/>
            </a:endParaRPr>
          </a:p>
        </p:txBody>
      </p:sp>
      <p:pic>
        <p:nvPicPr>
          <p:cNvPr id="112" name="Google Shape;112;p18"/>
          <p:cNvPicPr preferRelativeResize="0"/>
          <p:nvPr/>
        </p:nvPicPr>
        <p:blipFill>
          <a:blip r:embed="rId3">
            <a:alphaModFix/>
          </a:blip>
          <a:stretch>
            <a:fillRect/>
          </a:stretch>
        </p:blipFill>
        <p:spPr>
          <a:xfrm>
            <a:off x="2573700" y="2907425"/>
            <a:ext cx="4505325" cy="1714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9"/>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Mi Primer Programa: Hola Mundo</a:t>
            </a:r>
            <a:endParaRPr/>
          </a:p>
        </p:txBody>
      </p:sp>
      <p:sp>
        <p:nvSpPr>
          <p:cNvPr id="118" name="Google Shape;118;p19"/>
          <p:cNvSpPr txBox="1"/>
          <p:nvPr/>
        </p:nvSpPr>
        <p:spPr>
          <a:xfrm>
            <a:off x="227475" y="1768325"/>
            <a:ext cx="8584200" cy="461700"/>
          </a:xfrm>
          <a:prstGeom prst="rect">
            <a:avLst/>
          </a:prstGeom>
          <a:noFill/>
          <a:ln>
            <a:noFill/>
          </a:ln>
        </p:spPr>
        <p:txBody>
          <a:bodyPr anchorCtr="0" anchor="t" bIns="91425" lIns="91425" spcFirstLastPara="1" rIns="91425" wrap="square" tIns="91425">
            <a:spAutoFit/>
          </a:bodyPr>
          <a:lstStyle/>
          <a:p>
            <a:pPr indent="-342900" lvl="0" marL="457200" rtl="0" algn="just">
              <a:lnSpc>
                <a:spcPct val="150000"/>
              </a:lnSpc>
              <a:spcBef>
                <a:spcPts val="0"/>
              </a:spcBef>
              <a:spcAft>
                <a:spcPts val="0"/>
              </a:spcAft>
              <a:buClr>
                <a:schemeClr val="lt2"/>
              </a:buClr>
              <a:buSzPts val="1800"/>
              <a:buFont typeface="Roboto"/>
              <a:buAutoNum type="arabicPeriod" startAt="3"/>
            </a:pPr>
            <a:r>
              <a:rPr lang="es-419" sz="1800">
                <a:solidFill>
                  <a:schemeClr val="lt2"/>
                </a:solidFill>
                <a:latin typeface="Roboto"/>
                <a:ea typeface="Roboto"/>
                <a:cs typeface="Roboto"/>
                <a:sym typeface="Roboto"/>
              </a:rPr>
              <a:t>Si no lo reconoce escoge el modelo y puerto manualmente, por ejemplo:</a:t>
            </a:r>
            <a:endParaRPr/>
          </a:p>
        </p:txBody>
      </p:sp>
      <p:pic>
        <p:nvPicPr>
          <p:cNvPr id="119" name="Google Shape;119;p19"/>
          <p:cNvPicPr preferRelativeResize="0"/>
          <p:nvPr/>
        </p:nvPicPr>
        <p:blipFill>
          <a:blip r:embed="rId3">
            <a:alphaModFix/>
          </a:blip>
          <a:stretch>
            <a:fillRect/>
          </a:stretch>
        </p:blipFill>
        <p:spPr>
          <a:xfrm>
            <a:off x="1897899" y="2710300"/>
            <a:ext cx="6035801" cy="2280800"/>
          </a:xfrm>
          <a:prstGeom prst="rect">
            <a:avLst/>
          </a:prstGeom>
          <a:noFill/>
          <a:ln>
            <a:noFill/>
          </a:ln>
        </p:spPr>
      </p:pic>
      <p:pic>
        <p:nvPicPr>
          <p:cNvPr id="120" name="Google Shape;120;p19"/>
          <p:cNvPicPr preferRelativeResize="0"/>
          <p:nvPr/>
        </p:nvPicPr>
        <p:blipFill>
          <a:blip r:embed="rId4">
            <a:alphaModFix/>
          </a:blip>
          <a:stretch>
            <a:fillRect/>
          </a:stretch>
        </p:blipFill>
        <p:spPr>
          <a:xfrm>
            <a:off x="849450" y="2178650"/>
            <a:ext cx="2689193" cy="433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Mi Primer Programa: Hola Mundo</a:t>
            </a:r>
            <a:endParaRPr/>
          </a:p>
        </p:txBody>
      </p:sp>
      <p:sp>
        <p:nvSpPr>
          <p:cNvPr id="126" name="Google Shape;126;p20"/>
          <p:cNvSpPr txBox="1"/>
          <p:nvPr/>
        </p:nvSpPr>
        <p:spPr>
          <a:xfrm>
            <a:off x="227475" y="1768325"/>
            <a:ext cx="8584200" cy="461700"/>
          </a:xfrm>
          <a:prstGeom prst="rect">
            <a:avLst/>
          </a:prstGeom>
          <a:noFill/>
          <a:ln>
            <a:noFill/>
          </a:ln>
        </p:spPr>
        <p:txBody>
          <a:bodyPr anchorCtr="0" anchor="t" bIns="91425" lIns="91425" spcFirstLastPara="1" rIns="91425" wrap="square" tIns="91425">
            <a:spAutoFit/>
          </a:bodyPr>
          <a:lstStyle/>
          <a:p>
            <a:pPr indent="-342900" lvl="0" marL="457200" rtl="0" algn="just">
              <a:lnSpc>
                <a:spcPct val="150000"/>
              </a:lnSpc>
              <a:spcBef>
                <a:spcPts val="0"/>
              </a:spcBef>
              <a:spcAft>
                <a:spcPts val="0"/>
              </a:spcAft>
              <a:buClr>
                <a:schemeClr val="lt2"/>
              </a:buClr>
              <a:buSzPts val="1800"/>
              <a:buFont typeface="Roboto"/>
              <a:buAutoNum type="arabicPeriod" startAt="4"/>
            </a:pPr>
            <a:r>
              <a:rPr lang="es-419" sz="1800">
                <a:solidFill>
                  <a:schemeClr val="lt2"/>
                </a:solidFill>
                <a:latin typeface="Roboto"/>
                <a:ea typeface="Roboto"/>
                <a:cs typeface="Roboto"/>
                <a:sym typeface="Roboto"/>
              </a:rPr>
              <a:t>Verifica el programa.</a:t>
            </a:r>
            <a:endParaRPr/>
          </a:p>
        </p:txBody>
      </p:sp>
      <p:pic>
        <p:nvPicPr>
          <p:cNvPr id="127" name="Google Shape;127;p20"/>
          <p:cNvPicPr preferRelativeResize="0"/>
          <p:nvPr/>
        </p:nvPicPr>
        <p:blipFill>
          <a:blip r:embed="rId3">
            <a:alphaModFix/>
          </a:blip>
          <a:stretch>
            <a:fillRect/>
          </a:stretch>
        </p:blipFill>
        <p:spPr>
          <a:xfrm>
            <a:off x="227475" y="2435463"/>
            <a:ext cx="8839199" cy="519128"/>
          </a:xfrm>
          <a:prstGeom prst="rect">
            <a:avLst/>
          </a:prstGeom>
          <a:noFill/>
          <a:ln>
            <a:noFill/>
          </a:ln>
        </p:spPr>
      </p:pic>
      <p:cxnSp>
        <p:nvCxnSpPr>
          <p:cNvPr id="128" name="Google Shape;128;p20"/>
          <p:cNvCxnSpPr/>
          <p:nvPr/>
        </p:nvCxnSpPr>
        <p:spPr>
          <a:xfrm flipH="1">
            <a:off x="593950" y="2045175"/>
            <a:ext cx="454800" cy="454800"/>
          </a:xfrm>
          <a:prstGeom prst="straightConnector1">
            <a:avLst/>
          </a:prstGeom>
          <a:noFill/>
          <a:ln cap="flat" cmpd="sng" w="28575">
            <a:solidFill>
              <a:schemeClr val="accent3"/>
            </a:solidFill>
            <a:prstDash val="solid"/>
            <a:round/>
            <a:headEnd len="med" w="med" type="none"/>
            <a:tailEnd len="med" w="med" type="triangle"/>
          </a:ln>
        </p:spPr>
      </p:cxnSp>
      <p:pic>
        <p:nvPicPr>
          <p:cNvPr id="129" name="Google Shape;129;p20"/>
          <p:cNvPicPr preferRelativeResize="0"/>
          <p:nvPr/>
        </p:nvPicPr>
        <p:blipFill>
          <a:blip r:embed="rId4">
            <a:alphaModFix/>
          </a:blip>
          <a:stretch>
            <a:fillRect/>
          </a:stretch>
        </p:blipFill>
        <p:spPr>
          <a:xfrm>
            <a:off x="163350" y="3679315"/>
            <a:ext cx="8839200" cy="786603"/>
          </a:xfrm>
          <a:prstGeom prst="rect">
            <a:avLst/>
          </a:prstGeom>
          <a:noFill/>
          <a:ln>
            <a:noFill/>
          </a:ln>
        </p:spPr>
      </p:pic>
      <p:sp>
        <p:nvSpPr>
          <p:cNvPr id="130" name="Google Shape;130;p20"/>
          <p:cNvSpPr txBox="1"/>
          <p:nvPr/>
        </p:nvSpPr>
        <p:spPr>
          <a:xfrm>
            <a:off x="227475" y="3086113"/>
            <a:ext cx="8584200" cy="461700"/>
          </a:xfrm>
          <a:prstGeom prst="rect">
            <a:avLst/>
          </a:prstGeom>
          <a:noFill/>
          <a:ln>
            <a:noFill/>
          </a:ln>
        </p:spPr>
        <p:txBody>
          <a:bodyPr anchorCtr="0" anchor="t" bIns="91425" lIns="91425" spcFirstLastPara="1" rIns="91425" wrap="square" tIns="91425">
            <a:spAutoFit/>
          </a:bodyPr>
          <a:lstStyle/>
          <a:p>
            <a:pPr indent="-342900" lvl="0" marL="457200" rtl="0" algn="just">
              <a:lnSpc>
                <a:spcPct val="150000"/>
              </a:lnSpc>
              <a:spcBef>
                <a:spcPts val="0"/>
              </a:spcBef>
              <a:spcAft>
                <a:spcPts val="0"/>
              </a:spcAft>
              <a:buClr>
                <a:schemeClr val="lt2"/>
              </a:buClr>
              <a:buSzPts val="1800"/>
              <a:buFont typeface="Roboto"/>
              <a:buAutoNum type="arabicPeriod" startAt="5"/>
            </a:pPr>
            <a:r>
              <a:rPr lang="es-419" sz="1800">
                <a:solidFill>
                  <a:schemeClr val="lt2"/>
                </a:solidFill>
                <a:latin typeface="Roboto"/>
                <a:ea typeface="Roboto"/>
                <a:cs typeface="Roboto"/>
                <a:sym typeface="Roboto"/>
              </a:rPr>
              <a:t>En la ventana inferior de salida debe aparecer el siguiente mensaje.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Mi Primer Programa: Hola Mundo</a:t>
            </a:r>
            <a:endParaRPr/>
          </a:p>
        </p:txBody>
      </p:sp>
      <p:sp>
        <p:nvSpPr>
          <p:cNvPr id="136" name="Google Shape;136;p21"/>
          <p:cNvSpPr txBox="1"/>
          <p:nvPr/>
        </p:nvSpPr>
        <p:spPr>
          <a:xfrm>
            <a:off x="227475" y="1768325"/>
            <a:ext cx="8584200" cy="461700"/>
          </a:xfrm>
          <a:prstGeom prst="rect">
            <a:avLst/>
          </a:prstGeom>
          <a:noFill/>
          <a:ln>
            <a:noFill/>
          </a:ln>
        </p:spPr>
        <p:txBody>
          <a:bodyPr anchorCtr="0" anchor="t" bIns="91425" lIns="91425" spcFirstLastPara="1" rIns="91425" wrap="square" tIns="91425">
            <a:spAutoFit/>
          </a:bodyPr>
          <a:lstStyle/>
          <a:p>
            <a:pPr indent="-342900" lvl="0" marL="457200" rtl="0" algn="just">
              <a:lnSpc>
                <a:spcPct val="150000"/>
              </a:lnSpc>
              <a:spcBef>
                <a:spcPts val="0"/>
              </a:spcBef>
              <a:spcAft>
                <a:spcPts val="0"/>
              </a:spcAft>
              <a:buClr>
                <a:schemeClr val="lt2"/>
              </a:buClr>
              <a:buSzPts val="1800"/>
              <a:buFont typeface="Roboto"/>
              <a:buAutoNum type="arabicPeriod" startAt="4"/>
            </a:pPr>
            <a:r>
              <a:rPr lang="es-419" sz="1800">
                <a:solidFill>
                  <a:schemeClr val="lt2"/>
                </a:solidFill>
                <a:latin typeface="Roboto"/>
                <a:ea typeface="Roboto"/>
                <a:cs typeface="Roboto"/>
                <a:sym typeface="Roboto"/>
              </a:rPr>
              <a:t>Sube</a:t>
            </a:r>
            <a:r>
              <a:rPr lang="es-419" sz="1800">
                <a:solidFill>
                  <a:schemeClr val="lt2"/>
                </a:solidFill>
                <a:latin typeface="Roboto"/>
                <a:ea typeface="Roboto"/>
                <a:cs typeface="Roboto"/>
                <a:sym typeface="Roboto"/>
              </a:rPr>
              <a:t> el programa.</a:t>
            </a:r>
            <a:endParaRPr/>
          </a:p>
        </p:txBody>
      </p:sp>
      <p:pic>
        <p:nvPicPr>
          <p:cNvPr id="137" name="Google Shape;137;p21"/>
          <p:cNvPicPr preferRelativeResize="0"/>
          <p:nvPr/>
        </p:nvPicPr>
        <p:blipFill>
          <a:blip r:embed="rId3">
            <a:alphaModFix/>
          </a:blip>
          <a:stretch>
            <a:fillRect/>
          </a:stretch>
        </p:blipFill>
        <p:spPr>
          <a:xfrm>
            <a:off x="227475" y="2435463"/>
            <a:ext cx="8839199" cy="519128"/>
          </a:xfrm>
          <a:prstGeom prst="rect">
            <a:avLst/>
          </a:prstGeom>
          <a:noFill/>
          <a:ln>
            <a:noFill/>
          </a:ln>
        </p:spPr>
      </p:pic>
      <p:cxnSp>
        <p:nvCxnSpPr>
          <p:cNvPr id="138" name="Google Shape;138;p21"/>
          <p:cNvCxnSpPr/>
          <p:nvPr/>
        </p:nvCxnSpPr>
        <p:spPr>
          <a:xfrm flipH="1">
            <a:off x="1004650" y="2045175"/>
            <a:ext cx="44100" cy="587100"/>
          </a:xfrm>
          <a:prstGeom prst="straightConnector1">
            <a:avLst/>
          </a:prstGeom>
          <a:noFill/>
          <a:ln cap="flat" cmpd="sng" w="28575">
            <a:solidFill>
              <a:schemeClr val="accent3"/>
            </a:solidFill>
            <a:prstDash val="solid"/>
            <a:round/>
            <a:headEnd len="med" w="med" type="none"/>
            <a:tailEnd len="med" w="med" type="triangle"/>
          </a:ln>
        </p:spPr>
      </p:cxnSp>
      <p:sp>
        <p:nvSpPr>
          <p:cNvPr id="139" name="Google Shape;139;p21"/>
          <p:cNvSpPr txBox="1"/>
          <p:nvPr/>
        </p:nvSpPr>
        <p:spPr>
          <a:xfrm>
            <a:off x="227475" y="3086113"/>
            <a:ext cx="8584200" cy="461700"/>
          </a:xfrm>
          <a:prstGeom prst="rect">
            <a:avLst/>
          </a:prstGeom>
          <a:noFill/>
          <a:ln>
            <a:noFill/>
          </a:ln>
        </p:spPr>
        <p:txBody>
          <a:bodyPr anchorCtr="0" anchor="t" bIns="91425" lIns="91425" spcFirstLastPara="1" rIns="91425" wrap="square" tIns="91425">
            <a:spAutoFit/>
          </a:bodyPr>
          <a:lstStyle/>
          <a:p>
            <a:pPr indent="-342900" lvl="0" marL="457200" rtl="0" algn="just">
              <a:lnSpc>
                <a:spcPct val="150000"/>
              </a:lnSpc>
              <a:spcBef>
                <a:spcPts val="0"/>
              </a:spcBef>
              <a:spcAft>
                <a:spcPts val="0"/>
              </a:spcAft>
              <a:buClr>
                <a:schemeClr val="lt2"/>
              </a:buClr>
              <a:buSzPts val="1800"/>
              <a:buFont typeface="Roboto"/>
              <a:buAutoNum type="arabicPeriod" startAt="5"/>
            </a:pPr>
            <a:r>
              <a:rPr lang="es-419" sz="1800">
                <a:solidFill>
                  <a:schemeClr val="lt2"/>
                </a:solidFill>
                <a:latin typeface="Roboto"/>
                <a:ea typeface="Roboto"/>
                <a:cs typeface="Roboto"/>
                <a:sym typeface="Roboto"/>
              </a:rPr>
              <a:t>En la ventana inferior se debe observar el siguiente mensaje</a:t>
            </a:r>
            <a:endParaRPr/>
          </a:p>
        </p:txBody>
      </p:sp>
      <p:pic>
        <p:nvPicPr>
          <p:cNvPr id="140" name="Google Shape;140;p21"/>
          <p:cNvPicPr preferRelativeResize="0"/>
          <p:nvPr/>
        </p:nvPicPr>
        <p:blipFill>
          <a:blip r:embed="rId4">
            <a:alphaModFix/>
          </a:blip>
          <a:stretch>
            <a:fillRect/>
          </a:stretch>
        </p:blipFill>
        <p:spPr>
          <a:xfrm>
            <a:off x="1100075" y="3679354"/>
            <a:ext cx="5803851" cy="11631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Mi Primer Programa: Hola Mundo</a:t>
            </a:r>
            <a:endParaRPr/>
          </a:p>
        </p:txBody>
      </p:sp>
      <p:sp>
        <p:nvSpPr>
          <p:cNvPr id="146" name="Google Shape;146;p22"/>
          <p:cNvSpPr txBox="1"/>
          <p:nvPr/>
        </p:nvSpPr>
        <p:spPr>
          <a:xfrm>
            <a:off x="421000" y="2619800"/>
            <a:ext cx="5088900" cy="877200"/>
          </a:xfrm>
          <a:prstGeom prst="rect">
            <a:avLst/>
          </a:prstGeom>
          <a:noFill/>
          <a:ln>
            <a:noFill/>
          </a:ln>
        </p:spPr>
        <p:txBody>
          <a:bodyPr anchorCtr="0" anchor="t" bIns="91425" lIns="91425" spcFirstLastPara="1" rIns="91425" wrap="square" tIns="91425">
            <a:spAutoFit/>
          </a:bodyPr>
          <a:lstStyle/>
          <a:p>
            <a:pPr indent="-342900" lvl="0" marL="457200" rtl="0" algn="just">
              <a:lnSpc>
                <a:spcPct val="150000"/>
              </a:lnSpc>
              <a:spcBef>
                <a:spcPts val="0"/>
              </a:spcBef>
              <a:spcAft>
                <a:spcPts val="0"/>
              </a:spcAft>
              <a:buClr>
                <a:schemeClr val="lt2"/>
              </a:buClr>
              <a:buSzPts val="1800"/>
              <a:buFont typeface="Roboto"/>
              <a:buAutoNum type="arabicPeriod" startAt="6"/>
            </a:pPr>
            <a:r>
              <a:rPr lang="es-419" sz="1800">
                <a:solidFill>
                  <a:schemeClr val="lt2"/>
                </a:solidFill>
                <a:latin typeface="Roboto"/>
                <a:ea typeface="Roboto"/>
                <a:cs typeface="Roboto"/>
                <a:sym typeface="Roboto"/>
              </a:rPr>
              <a:t>Al finalizar debes observar en el Arduino que el led 13 de la placa </a:t>
            </a:r>
            <a:r>
              <a:rPr lang="es-419" sz="1800">
                <a:solidFill>
                  <a:schemeClr val="lt2"/>
                </a:solidFill>
                <a:latin typeface="Roboto"/>
                <a:ea typeface="Roboto"/>
                <a:cs typeface="Roboto"/>
                <a:sym typeface="Roboto"/>
              </a:rPr>
              <a:t>está</a:t>
            </a:r>
            <a:r>
              <a:rPr lang="es-419" sz="1800">
                <a:solidFill>
                  <a:schemeClr val="lt2"/>
                </a:solidFill>
                <a:latin typeface="Roboto"/>
                <a:ea typeface="Roboto"/>
                <a:cs typeface="Roboto"/>
                <a:sym typeface="Roboto"/>
              </a:rPr>
              <a:t> parpadeando.</a:t>
            </a:r>
            <a:endParaRPr/>
          </a:p>
        </p:txBody>
      </p:sp>
      <p:pic>
        <p:nvPicPr>
          <p:cNvPr id="147" name="Google Shape;147;p22"/>
          <p:cNvPicPr preferRelativeResize="0"/>
          <p:nvPr/>
        </p:nvPicPr>
        <p:blipFill>
          <a:blip r:embed="rId3">
            <a:alphaModFix/>
          </a:blip>
          <a:stretch>
            <a:fillRect/>
          </a:stretch>
        </p:blipFill>
        <p:spPr>
          <a:xfrm>
            <a:off x="5924079" y="1683200"/>
            <a:ext cx="2548351" cy="3401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Actividad</a:t>
            </a:r>
            <a:endParaRPr/>
          </a:p>
        </p:txBody>
      </p:sp>
      <p:sp>
        <p:nvSpPr>
          <p:cNvPr id="153" name="Google Shape;153;p23"/>
          <p:cNvSpPr txBox="1"/>
          <p:nvPr>
            <p:ph idx="1" type="body"/>
          </p:nvPr>
        </p:nvSpPr>
        <p:spPr>
          <a:xfrm>
            <a:off x="471900" y="1919075"/>
            <a:ext cx="8222100" cy="2710200"/>
          </a:xfrm>
          <a:prstGeom prst="rect">
            <a:avLst/>
          </a:prstGeom>
        </p:spPr>
        <p:txBody>
          <a:bodyPr anchorCtr="0" anchor="t" bIns="91425" lIns="91425" spcFirstLastPara="1" rIns="91425" wrap="square" tIns="91425">
            <a:normAutofit lnSpcReduction="10000"/>
          </a:bodyPr>
          <a:lstStyle/>
          <a:p>
            <a:pPr indent="0" lvl="0" marL="0" rtl="0" algn="just">
              <a:lnSpc>
                <a:spcPct val="200000"/>
              </a:lnSpc>
              <a:spcBef>
                <a:spcPts val="0"/>
              </a:spcBef>
              <a:spcAft>
                <a:spcPts val="0"/>
              </a:spcAft>
              <a:buNone/>
            </a:pPr>
            <a:r>
              <a:rPr lang="es-419"/>
              <a:t>A partir del ejemplo cargado en la sección anterior, realice la siguiente modificación:</a:t>
            </a:r>
            <a:endParaRPr/>
          </a:p>
          <a:p>
            <a:pPr indent="-342900" lvl="0" marL="457200" rtl="0" algn="just">
              <a:lnSpc>
                <a:spcPct val="200000"/>
              </a:lnSpc>
              <a:spcBef>
                <a:spcPts val="1200"/>
              </a:spcBef>
              <a:spcAft>
                <a:spcPts val="0"/>
              </a:spcAft>
              <a:buSzPts val="1800"/>
              <a:buAutoNum type="arabicPeriod"/>
            </a:pPr>
            <a:r>
              <a:rPr lang="es-419"/>
              <a:t>En las dos líneas de código donde dice: delay(1000); </a:t>
            </a:r>
            <a:endParaRPr/>
          </a:p>
          <a:p>
            <a:pPr indent="-342900" lvl="0" marL="457200" rtl="0" algn="just">
              <a:lnSpc>
                <a:spcPct val="200000"/>
              </a:lnSpc>
              <a:spcBef>
                <a:spcPts val="0"/>
              </a:spcBef>
              <a:spcAft>
                <a:spcPts val="0"/>
              </a:spcAft>
              <a:buSzPts val="1800"/>
              <a:buAutoNum type="arabicPeriod"/>
            </a:pPr>
            <a:r>
              <a:rPr lang="es-419"/>
              <a:t>Cambia el valor de 1000 por 2000 y vuelve a cargar el programa a tu placa Arduino Uno o Arduino Nano, ¿que observas?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FIN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