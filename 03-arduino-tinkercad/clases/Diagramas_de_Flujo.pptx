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5143500" cx="9144000"/>
  <p:notesSz cx="6858000" cy="9144000"/>
  <p:embeddedFontLst>
    <p:embeddedFont>
      <p:font typeface="Nunito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4DB0F1A-B26B-47E5-8C0C-D0433DDFE45B}">
  <a:tblStyle styleId="{D4DB0F1A-B26B-47E5-8C0C-D0433DDFE45B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Nunito-bold.fntdata"/><Relationship Id="rId12" Type="http://schemas.openxmlformats.org/officeDocument/2006/relationships/font" Target="fonts/Nuni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Nunito-boldItalic.fntdata"/><Relationship Id="rId14" Type="http://schemas.openxmlformats.org/officeDocument/2006/relationships/font" Target="fonts/Nunito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1" cy="752108"/>
            <a:chOff x="6917201" y="0"/>
            <a:chExt cx="2227776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7" cy="925737"/>
            <a:chOff x="6917201" y="0"/>
            <a:chExt cx="2227776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3" cy="1083308"/>
            <a:chOff x="6917201" y="0"/>
            <a:chExt cx="2227776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3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2" name="Google Shape;42;p3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3" name="Google Shape;43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6" name="Google Shape;46;p4"/>
          <p:cNvGrpSpPr/>
          <p:nvPr/>
        </p:nvGrpSpPr>
        <p:grpSpPr>
          <a:xfrm>
            <a:off x="5594191" y="3961115"/>
            <a:ext cx="2910144" cy="1182340"/>
            <a:chOff x="6917201" y="0"/>
            <a:chExt cx="2227776" cy="863400"/>
          </a:xfrm>
        </p:grpSpPr>
        <p:sp>
          <p:nvSpPr>
            <p:cNvPr id="47" name="Google Shape;47;p4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p4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p4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" name="Google Shape;50;p4"/>
          <p:cNvGrpSpPr/>
          <p:nvPr/>
        </p:nvGrpSpPr>
        <p:grpSpPr>
          <a:xfrm>
            <a:off x="199149" y="2"/>
            <a:ext cx="2795413" cy="1083308"/>
            <a:chOff x="6917201" y="0"/>
            <a:chExt cx="2227776" cy="863400"/>
          </a:xfrm>
        </p:grpSpPr>
        <p:sp>
          <p:nvSpPr>
            <p:cNvPr id="51" name="Google Shape;51;p4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4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4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4" name="Google Shape;54;p4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5" cy="617072"/>
            <a:chOff x="6917201" y="0"/>
            <a:chExt cx="2227776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4" cy="1261514"/>
            <a:chOff x="6917201" y="0"/>
            <a:chExt cx="2227776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1" cy="1024165"/>
            <a:chOff x="6917201" y="0"/>
            <a:chExt cx="2227776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3" cy="1083308"/>
            <a:chOff x="6917201" y="0"/>
            <a:chExt cx="2227776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b="0" i="0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b="0" i="0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b="0" i="0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b="0" i="0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b="0" i="0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b="0" i="0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b="0" i="0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b="0" i="0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b="0" i="0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b="0" i="0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</a:pPr>
            <a:r>
              <a:rPr lang="es-419"/>
              <a:t>Diagramas de Flujo</a:t>
            </a:r>
            <a:endParaRPr/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s-419"/>
              <a:t>Uso en la programación de Sistemas Digitales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419"/>
              <a:t>¿Qué es un diagrama de flujo o flowchart?</a:t>
            </a:r>
            <a:endParaRPr/>
          </a:p>
        </p:txBody>
      </p:sp>
      <p:sp>
        <p:nvSpPr>
          <p:cNvPr id="135" name="Google Shape;135;p14"/>
          <p:cNvSpPr txBox="1"/>
          <p:nvPr>
            <p:ph idx="1" type="body"/>
          </p:nvPr>
        </p:nvSpPr>
        <p:spPr>
          <a:xfrm>
            <a:off x="819150" y="1545525"/>
            <a:ext cx="7505700" cy="6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s-419" sz="1302"/>
              <a:t>“Es la representación gráfica de un algoritmo para la resolución de un programa” (Palacios et al., 2004).</a:t>
            </a:r>
            <a:endParaRPr sz="1302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r>
              <a:t/>
            </a:r>
            <a:endParaRPr sz="1302"/>
          </a:p>
        </p:txBody>
      </p:sp>
      <p:sp>
        <p:nvSpPr>
          <p:cNvPr id="136" name="Google Shape;136;p14"/>
          <p:cNvSpPr txBox="1"/>
          <p:nvPr>
            <p:ph type="title"/>
          </p:nvPr>
        </p:nvSpPr>
        <p:spPr>
          <a:xfrm>
            <a:off x="879675" y="2100425"/>
            <a:ext cx="7505700" cy="6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419"/>
              <a:t>Características:</a:t>
            </a:r>
            <a:endParaRPr/>
          </a:p>
        </p:txBody>
      </p:sp>
      <p:sp>
        <p:nvSpPr>
          <p:cNvPr id="137" name="Google Shape;137;p14"/>
          <p:cNvSpPr txBox="1"/>
          <p:nvPr>
            <p:ph idx="1" type="body"/>
          </p:nvPr>
        </p:nvSpPr>
        <p:spPr>
          <a:xfrm>
            <a:off x="879675" y="2847900"/>
            <a:ext cx="7505700" cy="168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30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3"/>
              <a:buChar char="●"/>
            </a:pPr>
            <a:r>
              <a:rPr lang="es-419" sz="1302"/>
              <a:t>Indica el orden en que las operaciones son llevadas a cabo dentro del programa.</a:t>
            </a:r>
            <a:endParaRPr sz="1302"/>
          </a:p>
          <a:p>
            <a:pPr indent="-31130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3"/>
              <a:buChar char="●"/>
            </a:pPr>
            <a:r>
              <a:rPr lang="es-419" sz="1302"/>
              <a:t>Indica las decisiones que determinan la secuencia del programa.</a:t>
            </a:r>
            <a:endParaRPr sz="1302"/>
          </a:p>
          <a:p>
            <a:pPr indent="-31130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3"/>
              <a:buChar char="●"/>
            </a:pPr>
            <a:r>
              <a:rPr lang="es-419" sz="1302"/>
              <a:t>Están constituidos por una serie de símbolos gráficos.</a:t>
            </a:r>
            <a:endParaRPr sz="1302"/>
          </a:p>
          <a:p>
            <a:pPr indent="-31130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3"/>
              <a:buChar char="●"/>
            </a:pPr>
            <a:r>
              <a:rPr lang="es-419" sz="1302"/>
              <a:t>Los símbolos se unen entre sí a través de flechas que indican  el sentido de la evolución del programa.</a:t>
            </a:r>
            <a:endParaRPr sz="1302"/>
          </a:p>
          <a:p>
            <a:pPr indent="-311308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3"/>
              <a:buChar char="●"/>
            </a:pPr>
            <a:r>
              <a:rPr lang="es-419" sz="1302"/>
              <a:t>Dentro de los símbolos se realizan las anotaciones que se consideren precisas.</a:t>
            </a:r>
            <a:endParaRPr sz="1302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r>
              <a:t/>
            </a:r>
            <a:endParaRPr sz="1302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5"/>
          <p:cNvSpPr txBox="1"/>
          <p:nvPr>
            <p:ph type="title"/>
          </p:nvPr>
        </p:nvSpPr>
        <p:spPr>
          <a:xfrm>
            <a:off x="748475" y="633625"/>
            <a:ext cx="75057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419"/>
              <a:t>Símbolos más comunes:</a:t>
            </a:r>
            <a:endParaRPr/>
          </a:p>
        </p:txBody>
      </p:sp>
      <p:graphicFrame>
        <p:nvGraphicFramePr>
          <p:cNvPr id="143" name="Google Shape;143;p15"/>
          <p:cNvGraphicFramePr/>
          <p:nvPr/>
        </p:nvGraphicFramePr>
        <p:xfrm>
          <a:off x="952500" y="161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{D4DB0F1A-B26B-47E5-8C0C-D0433DDFE45B}</a:tableStyleId>
              </a:tblPr>
              <a:tblGrid>
                <a:gridCol w="2347525"/>
                <a:gridCol w="489147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419" sz="1400" u="none" cap="none" strike="noStrike"/>
                        <a:t>Símbolo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419" sz="1400" u="none" cap="none" strike="noStrike"/>
                        <a:t>Función</a:t>
                      </a:r>
                      <a:endParaRPr b="1" sz="1400" u="none" cap="none" strike="noStrike"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 sz="1400" u="none" cap="none" strike="noStrike"/>
                        <a:t>Indica el inicio o fin de un programa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 sz="1400" u="none" cap="none" strike="noStrike"/>
                        <a:t>Representa una operación en proceso, como las configuraciones, las operaciones matemáticas, etc...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 sz="1400" u="none" cap="none" strike="noStrike"/>
                        <a:t>Representa una decisión condicional y produce una bifurcación ante dos posibilidades Sí ó No, ó ,Verdadero ó Falso.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pic>
        <p:nvPicPr>
          <p:cNvPr id="144" name="Google Shape;144;p15"/>
          <p:cNvPicPr preferRelativeResize="0"/>
          <p:nvPr/>
        </p:nvPicPr>
        <p:blipFill rotWithShape="1">
          <a:blip r:embed="rId3">
            <a:alphaModFix/>
          </a:blip>
          <a:srcRect b="84552" l="16090" r="19522" t="1296"/>
          <a:stretch/>
        </p:blipFill>
        <p:spPr>
          <a:xfrm>
            <a:off x="1604075" y="2056325"/>
            <a:ext cx="946900" cy="727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5"/>
          <p:cNvPicPr preferRelativeResize="0"/>
          <p:nvPr/>
        </p:nvPicPr>
        <p:blipFill rotWithShape="1">
          <a:blip r:embed="rId3">
            <a:alphaModFix/>
          </a:blip>
          <a:srcRect b="69245" l="16779" r="21712" t="16603"/>
          <a:stretch/>
        </p:blipFill>
        <p:spPr>
          <a:xfrm>
            <a:off x="1625275" y="2914600"/>
            <a:ext cx="904500" cy="727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5"/>
          <p:cNvPicPr preferRelativeResize="0"/>
          <p:nvPr/>
        </p:nvPicPr>
        <p:blipFill rotWithShape="1">
          <a:blip r:embed="rId4">
            <a:alphaModFix/>
          </a:blip>
          <a:srcRect b="0" l="19120" r="22797" t="0"/>
          <a:stretch/>
        </p:blipFill>
        <p:spPr>
          <a:xfrm>
            <a:off x="1791338" y="3669250"/>
            <a:ext cx="572375" cy="78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6"/>
          <p:cNvSpPr txBox="1"/>
          <p:nvPr>
            <p:ph type="title"/>
          </p:nvPr>
        </p:nvSpPr>
        <p:spPr>
          <a:xfrm>
            <a:off x="748475" y="633625"/>
            <a:ext cx="75057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419"/>
              <a:t>Símbolos más comunes:</a:t>
            </a:r>
            <a:endParaRPr/>
          </a:p>
        </p:txBody>
      </p:sp>
      <p:graphicFrame>
        <p:nvGraphicFramePr>
          <p:cNvPr id="152" name="Google Shape;152;p16"/>
          <p:cNvGraphicFramePr/>
          <p:nvPr/>
        </p:nvGraphicFramePr>
        <p:xfrm>
          <a:off x="952500" y="161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{D4DB0F1A-B26B-47E5-8C0C-D0433DDFE45B}</a:tableStyleId>
              </a:tblPr>
              <a:tblGrid>
                <a:gridCol w="2347525"/>
                <a:gridCol w="489147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419" sz="1400" u="none" cap="none" strike="noStrike"/>
                        <a:t>Símbolo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419" sz="1400" u="none" cap="none" strike="noStrike"/>
                        <a:t>Función</a:t>
                      </a:r>
                      <a:endParaRPr b="1" sz="1400" u="none" cap="none" strike="noStrike"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 sz="1400" u="none" cap="none" strike="noStrike"/>
                        <a:t>Indica cualquier proceso general de entrada o salidas de datos del microcontrolador.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 sz="1400" u="none" cap="none" strike="noStrike"/>
                        <a:t>Representa en el diagrama donde se define la llamada a una subrutina o función, las mismas deben ser definidas en un diagrama de flujo independiente del diagrama de donde se hace el llamado.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 sz="1400" u="none" cap="none" strike="noStrike"/>
                        <a:t>Indica el camino que sigue un programa cuando es muy largo y el diagrama de flujo no se puede representar en una hoja.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pic>
        <p:nvPicPr>
          <p:cNvPr id="153" name="Google Shape;15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4823" y="2015449"/>
            <a:ext cx="951125" cy="74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16376" y="2920850"/>
            <a:ext cx="1089572" cy="74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94775" y="3918102"/>
            <a:ext cx="732764" cy="67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7"/>
          <p:cNvSpPr txBox="1"/>
          <p:nvPr>
            <p:ph type="title"/>
          </p:nvPr>
        </p:nvSpPr>
        <p:spPr>
          <a:xfrm>
            <a:off x="748475" y="633625"/>
            <a:ext cx="75057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419"/>
              <a:t>Símbolos más comunes:</a:t>
            </a:r>
            <a:endParaRPr/>
          </a:p>
        </p:txBody>
      </p:sp>
      <p:graphicFrame>
        <p:nvGraphicFramePr>
          <p:cNvPr id="161" name="Google Shape;161;p17"/>
          <p:cNvGraphicFramePr/>
          <p:nvPr/>
        </p:nvGraphicFramePr>
        <p:xfrm>
          <a:off x="952500" y="161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{D4DB0F1A-B26B-47E5-8C0C-D0433DDFE45B}</a:tableStyleId>
              </a:tblPr>
              <a:tblGrid>
                <a:gridCol w="2347525"/>
                <a:gridCol w="489147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419" sz="1400" u="none" cap="none" strike="noStrike"/>
                        <a:t>Símbolo</a:t>
                      </a:r>
                      <a:endParaRPr b="1"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lang="es-419" sz="1400" u="none" cap="none" strike="noStrike"/>
                        <a:t>Función</a:t>
                      </a:r>
                      <a:endParaRPr b="1" sz="1400" u="none" cap="none" strike="noStrike"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 sz="1400" u="none" cap="none" strike="noStrike"/>
                        <a:t>Indica la salida de datos en formato visual.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 sz="1400" u="none" cap="none" strike="noStrike"/>
                        <a:t>Indica la entrada de datos por teclado al microcontrolador o entrada manual de datos por parte del usuario.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 sz="1400" u="none" cap="none" strike="noStrike"/>
                        <a:t>Indican la dirección y el orden con la que se ejecuta el algoritmo.</a:t>
                      </a:r>
                      <a:endParaRPr sz="1400" u="none" cap="none" strike="noStrike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  <p:pic>
        <p:nvPicPr>
          <p:cNvPr id="162" name="Google Shape;16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12774" y="2070199"/>
            <a:ext cx="1001800" cy="71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12913" y="2906925"/>
            <a:ext cx="801518" cy="71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88976" y="3758674"/>
            <a:ext cx="832238" cy="71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