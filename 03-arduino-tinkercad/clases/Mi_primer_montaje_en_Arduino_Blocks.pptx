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e898711b46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e898711b46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d34e105f66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1d34e105f6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d34e105f6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d34e105f6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d34e105f6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d34e105f6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d34e105f6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d34e105f6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d34e105f66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d34e105f66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d34e105f66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d34e105f66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e898711b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e898711b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e898711b4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e898711b4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e898711b4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e898711b4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e898711b46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e898711b46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e898711b46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e898711b46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e898711b46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e898711b46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e898711b46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e898711b46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e898711b46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e898711b46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e898711b46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e898711b46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e898711b46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e898711b46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www.arduinoblocks.com"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10.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www.youtube.com/watch?v=ulsv7uxDZoc" TargetMode="External"/><Relationship Id="rId4" Type="http://schemas.openxmlformats.org/officeDocument/2006/relationships/image" Target="../media/image16.jp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hyperphysics.phy-astr.gsu.edu/hbasees/Electronic/rescarb.html#c2" TargetMode="Externa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Mi primer montaje en Arduino Blocks</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Avance 02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Instrucciones</a:t>
            </a:r>
            <a:endParaRPr/>
          </a:p>
        </p:txBody>
      </p:sp>
      <p:sp>
        <p:nvSpPr>
          <p:cNvPr id="74" name="Google Shape;74;p14"/>
          <p:cNvSpPr txBox="1"/>
          <p:nvPr>
            <p:ph idx="4294967295" type="body"/>
          </p:nvPr>
        </p:nvSpPr>
        <p:spPr>
          <a:xfrm>
            <a:off x="471900" y="790475"/>
            <a:ext cx="8453100" cy="4189800"/>
          </a:xfrm>
          <a:prstGeom prst="rect">
            <a:avLst/>
          </a:prstGeom>
        </p:spPr>
        <p:txBody>
          <a:bodyPr anchorCtr="0" anchor="t" bIns="91425" lIns="91425" spcFirstLastPara="1" rIns="91425" wrap="square" tIns="91425">
            <a:normAutofit lnSpcReduction="10000"/>
          </a:bodyPr>
          <a:lstStyle/>
          <a:p>
            <a:pPr indent="-298450" lvl="0" marL="457200" rtl="0" algn="l">
              <a:spcBef>
                <a:spcPts val="1200"/>
              </a:spcBef>
              <a:spcAft>
                <a:spcPts val="0"/>
              </a:spcAft>
              <a:buClr>
                <a:srgbClr val="000000"/>
              </a:buClr>
              <a:buSzPts val="1100"/>
              <a:buFont typeface="Arial"/>
              <a:buAutoNum type="arabicPeriod"/>
            </a:pPr>
            <a:r>
              <a:rPr lang="es-419" sz="1100">
                <a:solidFill>
                  <a:srgbClr val="000000"/>
                </a:solidFill>
                <a:latin typeface="Arial"/>
                <a:ea typeface="Arial"/>
                <a:cs typeface="Arial"/>
                <a:sym typeface="Arial"/>
              </a:rPr>
              <a:t>Realiza los tres (3) ejercicios, una vez cumplas el objetivo de cada ejercicio  indicarle a la profesora para evaluar el procedimiento y funcionamiento.</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s-419" sz="1100" u="sng">
                <a:solidFill>
                  <a:srgbClr val="002EB8"/>
                </a:solidFill>
                <a:latin typeface="Arial"/>
                <a:ea typeface="Arial"/>
                <a:cs typeface="Arial"/>
                <a:sym typeface="Arial"/>
              </a:rPr>
              <a:t>Criterio de evaluación:</a:t>
            </a:r>
            <a:endParaRPr b="1" sz="1100" u="sng">
              <a:solidFill>
                <a:srgbClr val="002EB8"/>
              </a:solidFill>
              <a:latin typeface="Arial"/>
              <a:ea typeface="Arial"/>
              <a:cs typeface="Arial"/>
              <a:sym typeface="Arial"/>
            </a:endParaRPr>
          </a:p>
          <a:p>
            <a:pPr indent="0" lvl="0" marL="0" rtl="0" algn="l">
              <a:spcBef>
                <a:spcPts val="1200"/>
              </a:spcBef>
              <a:spcAft>
                <a:spcPts val="0"/>
              </a:spcAft>
              <a:buNone/>
            </a:pPr>
            <a:r>
              <a:rPr lang="es-419" sz="1100">
                <a:solidFill>
                  <a:srgbClr val="000000"/>
                </a:solidFill>
                <a:latin typeface="Arial"/>
                <a:ea typeface="Arial"/>
                <a:cs typeface="Arial"/>
                <a:sym typeface="Arial"/>
              </a:rPr>
              <a:t>Cada ejercicio tiene un valor de 20 ptos, distribuidos de acuerdo al siguiente criterio de evaluación:</a:t>
            </a:r>
            <a:endParaRPr sz="1100">
              <a:solidFill>
                <a:srgbClr val="000000"/>
              </a:solidFill>
              <a:latin typeface="Arial"/>
              <a:ea typeface="Arial"/>
              <a:cs typeface="Arial"/>
              <a:sym typeface="Arial"/>
            </a:endParaRPr>
          </a:p>
          <a:p>
            <a:pPr indent="-301625" lvl="0" marL="457200" rtl="0" algn="l">
              <a:spcBef>
                <a:spcPts val="1200"/>
              </a:spcBef>
              <a:spcAft>
                <a:spcPts val="0"/>
              </a:spcAft>
              <a:buClr>
                <a:srgbClr val="000000"/>
              </a:buClr>
              <a:buSzPts val="1150"/>
              <a:buFont typeface="Arial"/>
              <a:buChar char="●"/>
            </a:pPr>
            <a:r>
              <a:rPr lang="es-419" sz="1150">
                <a:solidFill>
                  <a:srgbClr val="000000"/>
                </a:solidFill>
                <a:highlight>
                  <a:srgbClr val="FFFFFF"/>
                </a:highlight>
                <a:latin typeface="Arial"/>
                <a:ea typeface="Arial"/>
                <a:cs typeface="Arial"/>
                <a:sym typeface="Arial"/>
              </a:rPr>
              <a:t>Conocimiento teórico (5 ptos.)</a:t>
            </a:r>
            <a:endParaRPr sz="1150">
              <a:solidFill>
                <a:srgbClr val="000000"/>
              </a:solidFill>
              <a:highlight>
                <a:srgbClr val="FFFFFF"/>
              </a:highlight>
              <a:latin typeface="Arial"/>
              <a:ea typeface="Arial"/>
              <a:cs typeface="Arial"/>
              <a:sym typeface="Arial"/>
            </a:endParaRPr>
          </a:p>
          <a:p>
            <a:pPr indent="-301625" lvl="0" marL="457200" rtl="0" algn="l">
              <a:spcBef>
                <a:spcPts val="0"/>
              </a:spcBef>
              <a:spcAft>
                <a:spcPts val="0"/>
              </a:spcAft>
              <a:buClr>
                <a:srgbClr val="000000"/>
              </a:buClr>
              <a:buSzPts val="1150"/>
              <a:buFont typeface="Arial"/>
              <a:buChar char="●"/>
            </a:pPr>
            <a:r>
              <a:rPr lang="es-419" sz="1150">
                <a:solidFill>
                  <a:srgbClr val="000000"/>
                </a:solidFill>
                <a:highlight>
                  <a:srgbClr val="FFFFFF"/>
                </a:highlight>
                <a:latin typeface="Arial"/>
                <a:ea typeface="Arial"/>
                <a:cs typeface="Arial"/>
                <a:sym typeface="Arial"/>
              </a:rPr>
              <a:t> Montaje del circuito (5 ptos) </a:t>
            </a:r>
            <a:endParaRPr sz="1150">
              <a:solidFill>
                <a:srgbClr val="000000"/>
              </a:solidFill>
              <a:highlight>
                <a:srgbClr val="FFFFFF"/>
              </a:highlight>
              <a:latin typeface="Arial"/>
              <a:ea typeface="Arial"/>
              <a:cs typeface="Arial"/>
              <a:sym typeface="Arial"/>
            </a:endParaRPr>
          </a:p>
          <a:p>
            <a:pPr indent="-301625" lvl="0" marL="457200" rtl="0" algn="l">
              <a:spcBef>
                <a:spcPts val="0"/>
              </a:spcBef>
              <a:spcAft>
                <a:spcPts val="0"/>
              </a:spcAft>
              <a:buClr>
                <a:srgbClr val="000000"/>
              </a:buClr>
              <a:buSzPts val="1150"/>
              <a:buFont typeface="Arial"/>
              <a:buChar char="●"/>
            </a:pPr>
            <a:r>
              <a:rPr lang="es-419" sz="1150">
                <a:solidFill>
                  <a:srgbClr val="000000"/>
                </a:solidFill>
                <a:highlight>
                  <a:srgbClr val="FFFFFF"/>
                </a:highlight>
                <a:latin typeface="Arial"/>
                <a:ea typeface="Arial"/>
                <a:cs typeface="Arial"/>
                <a:sym typeface="Arial"/>
              </a:rPr>
              <a:t>Resolución de Problemas (5 ptos) </a:t>
            </a:r>
            <a:endParaRPr sz="1150">
              <a:solidFill>
                <a:srgbClr val="000000"/>
              </a:solidFill>
              <a:highlight>
                <a:srgbClr val="FFFFFF"/>
              </a:highlight>
              <a:latin typeface="Arial"/>
              <a:ea typeface="Arial"/>
              <a:cs typeface="Arial"/>
              <a:sym typeface="Arial"/>
            </a:endParaRPr>
          </a:p>
          <a:p>
            <a:pPr indent="-301625" lvl="0" marL="457200" rtl="0" algn="l">
              <a:spcBef>
                <a:spcPts val="0"/>
              </a:spcBef>
              <a:spcAft>
                <a:spcPts val="0"/>
              </a:spcAft>
              <a:buClr>
                <a:srgbClr val="000000"/>
              </a:buClr>
              <a:buSzPts val="1150"/>
              <a:buFont typeface="Arial"/>
              <a:buChar char="●"/>
            </a:pPr>
            <a:r>
              <a:rPr lang="es-419" sz="1150">
                <a:solidFill>
                  <a:srgbClr val="000000"/>
                </a:solidFill>
                <a:highlight>
                  <a:srgbClr val="FFFFFF"/>
                </a:highlight>
                <a:latin typeface="Arial"/>
                <a:ea typeface="Arial"/>
                <a:cs typeface="Arial"/>
                <a:sym typeface="Arial"/>
              </a:rPr>
              <a:t>Creatividad e innovación (3 ptos) </a:t>
            </a:r>
            <a:endParaRPr sz="1150">
              <a:solidFill>
                <a:srgbClr val="000000"/>
              </a:solidFill>
              <a:highlight>
                <a:srgbClr val="FFFFFF"/>
              </a:highlight>
              <a:latin typeface="Arial"/>
              <a:ea typeface="Arial"/>
              <a:cs typeface="Arial"/>
              <a:sym typeface="Arial"/>
            </a:endParaRPr>
          </a:p>
          <a:p>
            <a:pPr indent="-301625" lvl="0" marL="457200" rtl="0" algn="l">
              <a:spcBef>
                <a:spcPts val="0"/>
              </a:spcBef>
              <a:spcAft>
                <a:spcPts val="0"/>
              </a:spcAft>
              <a:buClr>
                <a:srgbClr val="000000"/>
              </a:buClr>
              <a:buSzPts val="1150"/>
              <a:buFont typeface="Arial"/>
              <a:buChar char="●"/>
            </a:pPr>
            <a:r>
              <a:rPr lang="es-419" sz="1150">
                <a:solidFill>
                  <a:srgbClr val="000000"/>
                </a:solidFill>
                <a:highlight>
                  <a:srgbClr val="FFFFFF"/>
                </a:highlight>
                <a:latin typeface="Arial"/>
                <a:ea typeface="Arial"/>
                <a:cs typeface="Arial"/>
                <a:sym typeface="Arial"/>
              </a:rPr>
              <a:t>Presentación y comunicación (2 ptos)</a:t>
            </a:r>
            <a:endParaRPr sz="1150">
              <a:solidFill>
                <a:srgbClr val="000000"/>
              </a:solidFill>
              <a:highlight>
                <a:srgbClr val="FFFFFF"/>
              </a:highlight>
              <a:latin typeface="Arial"/>
              <a:ea typeface="Arial"/>
              <a:cs typeface="Arial"/>
              <a:sym typeface="Arial"/>
            </a:endParaRPr>
          </a:p>
          <a:p>
            <a:pPr indent="0" lvl="0" marL="0" rtl="0" algn="l">
              <a:spcBef>
                <a:spcPts val="1200"/>
              </a:spcBef>
              <a:spcAft>
                <a:spcPts val="0"/>
              </a:spcAft>
              <a:buNone/>
            </a:pPr>
            <a:r>
              <a:rPr lang="es-419" sz="1100">
                <a:solidFill>
                  <a:srgbClr val="000000"/>
                </a:solidFill>
                <a:latin typeface="Arial"/>
                <a:ea typeface="Arial"/>
                <a:cs typeface="Arial"/>
                <a:sym typeface="Arial"/>
              </a:rPr>
              <a:t>Distribuidos sobre el 16% de la nota total de la siguiente forma:</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s-419" sz="1100">
                <a:solidFill>
                  <a:srgbClr val="000000"/>
                </a:solidFill>
                <a:latin typeface="Arial"/>
                <a:ea typeface="Arial"/>
                <a:cs typeface="Arial"/>
                <a:sym typeface="Arial"/>
              </a:rPr>
              <a:t>Ejercicio 1 - 6%</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s-419" sz="1100">
                <a:solidFill>
                  <a:srgbClr val="000000"/>
                </a:solidFill>
                <a:latin typeface="Arial"/>
                <a:ea typeface="Arial"/>
                <a:cs typeface="Arial"/>
                <a:sym typeface="Arial"/>
              </a:rPr>
              <a:t>Ejercicio 2 - 6%</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s-419" sz="1100">
                <a:solidFill>
                  <a:srgbClr val="000000"/>
                </a:solidFill>
                <a:latin typeface="Arial"/>
                <a:ea typeface="Arial"/>
                <a:cs typeface="Arial"/>
                <a:sym typeface="Arial"/>
              </a:rPr>
              <a:t>Ejercicio 3 - 8%</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s-419" sz="1100" u="sng">
                <a:solidFill>
                  <a:srgbClr val="002EB8"/>
                </a:solidFill>
                <a:latin typeface="Arial"/>
                <a:ea typeface="Arial"/>
                <a:cs typeface="Arial"/>
                <a:sym typeface="Arial"/>
              </a:rPr>
              <a:t>Fecha y medio de entrega:</a:t>
            </a:r>
            <a:endParaRPr b="1" sz="1100" u="sng">
              <a:solidFill>
                <a:srgbClr val="002EB8"/>
              </a:solidFill>
              <a:latin typeface="Arial"/>
              <a:ea typeface="Arial"/>
              <a:cs typeface="Arial"/>
              <a:sym typeface="Arial"/>
            </a:endParaRPr>
          </a:p>
          <a:p>
            <a:pPr indent="0" lvl="0" marL="0" rtl="0" algn="l">
              <a:spcBef>
                <a:spcPts val="1200"/>
              </a:spcBef>
              <a:spcAft>
                <a:spcPts val="1200"/>
              </a:spcAft>
              <a:buNone/>
            </a:pPr>
            <a:r>
              <a:rPr lang="es-419" sz="1100">
                <a:solidFill>
                  <a:srgbClr val="000000"/>
                </a:solidFill>
                <a:latin typeface="Arial"/>
                <a:ea typeface="Arial"/>
                <a:cs typeface="Arial"/>
                <a:sym typeface="Arial"/>
              </a:rPr>
              <a:t>Actividad se realizará en las horas de clase el día 05 de octubre de 2023.</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Ejercicio 01: Iniciando Arduino Blocks</a:t>
            </a:r>
            <a:endParaRPr/>
          </a:p>
        </p:txBody>
      </p:sp>
      <p:sp>
        <p:nvSpPr>
          <p:cNvPr id="80" name="Google Shape;80;p1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s-419"/>
              <a:t>Registrate en la página</a:t>
            </a:r>
            <a:r>
              <a:rPr b="1" lang="es-419" sz="2300"/>
              <a:t> </a:t>
            </a:r>
            <a:r>
              <a:rPr b="1" lang="es-419" sz="1500" u="sng">
                <a:solidFill>
                  <a:schemeClr val="hlink"/>
                </a:solidFill>
                <a:latin typeface="Arial"/>
                <a:ea typeface="Arial"/>
                <a:cs typeface="Arial"/>
                <a:sym typeface="Arial"/>
                <a:hlinkClick r:id="rId3"/>
              </a:rPr>
              <a:t>www.arduinoblocks.com</a:t>
            </a:r>
            <a:endParaRPr b="1" sz="1500">
              <a:solidFill>
                <a:srgbClr val="000000"/>
              </a:solidFill>
              <a:latin typeface="Arial"/>
              <a:ea typeface="Arial"/>
              <a:cs typeface="Arial"/>
              <a:sym typeface="Arial"/>
            </a:endParaRPr>
          </a:p>
          <a:p>
            <a:pPr indent="-342900" lvl="0" marL="457200" rtl="0" algn="l">
              <a:spcBef>
                <a:spcPts val="0"/>
              </a:spcBef>
              <a:spcAft>
                <a:spcPts val="0"/>
              </a:spcAft>
              <a:buSzPts val="1800"/>
              <a:buAutoNum type="arabicPeriod"/>
            </a:pPr>
            <a:r>
              <a:rPr lang="es-419"/>
              <a:t>Inicio de Sesión</a:t>
            </a:r>
            <a:endParaRPr/>
          </a:p>
        </p:txBody>
      </p:sp>
      <p:pic>
        <p:nvPicPr>
          <p:cNvPr id="81" name="Google Shape;81;p15"/>
          <p:cNvPicPr preferRelativeResize="0"/>
          <p:nvPr/>
        </p:nvPicPr>
        <p:blipFill rotWithShape="1">
          <a:blip r:embed="rId4">
            <a:alphaModFix/>
          </a:blip>
          <a:srcRect b="0" l="0" r="0" t="19846"/>
          <a:stretch/>
        </p:blipFill>
        <p:spPr>
          <a:xfrm>
            <a:off x="2157575" y="2781225"/>
            <a:ext cx="5476875" cy="2122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Ejercicio 01: </a:t>
            </a:r>
            <a:r>
              <a:rPr lang="es-419"/>
              <a:t>Iniciando Arduino Blocks</a:t>
            </a:r>
            <a:endParaRPr/>
          </a:p>
        </p:txBody>
      </p:sp>
      <p:sp>
        <p:nvSpPr>
          <p:cNvPr id="87" name="Google Shape;87;p16"/>
          <p:cNvSpPr txBox="1"/>
          <p:nvPr>
            <p:ph idx="1" type="body"/>
          </p:nvPr>
        </p:nvSpPr>
        <p:spPr>
          <a:xfrm>
            <a:off x="295275" y="1658075"/>
            <a:ext cx="8222100" cy="271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s-419"/>
              <a:t>Crea un proyecto nuevo:</a:t>
            </a:r>
            <a:endParaRPr b="1" sz="15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88" name="Google Shape;88;p16"/>
          <p:cNvPicPr preferRelativeResize="0"/>
          <p:nvPr/>
        </p:nvPicPr>
        <p:blipFill rotWithShape="1">
          <a:blip r:embed="rId3">
            <a:alphaModFix/>
          </a:blip>
          <a:srcRect b="16541" l="0" r="0" t="0"/>
          <a:stretch/>
        </p:blipFill>
        <p:spPr>
          <a:xfrm>
            <a:off x="529275" y="2112848"/>
            <a:ext cx="5419725" cy="2408750"/>
          </a:xfrm>
          <a:prstGeom prst="rect">
            <a:avLst/>
          </a:prstGeom>
          <a:noFill/>
          <a:ln>
            <a:noFill/>
          </a:ln>
        </p:spPr>
      </p:pic>
      <p:pic>
        <p:nvPicPr>
          <p:cNvPr id="89" name="Google Shape;89;p16"/>
          <p:cNvPicPr preferRelativeResize="0"/>
          <p:nvPr/>
        </p:nvPicPr>
        <p:blipFill>
          <a:blip r:embed="rId4">
            <a:alphaModFix/>
          </a:blip>
          <a:stretch>
            <a:fillRect/>
          </a:stretch>
        </p:blipFill>
        <p:spPr>
          <a:xfrm>
            <a:off x="5636763" y="2028600"/>
            <a:ext cx="3705225" cy="1485900"/>
          </a:xfrm>
          <a:prstGeom prst="rect">
            <a:avLst/>
          </a:prstGeom>
          <a:noFill/>
          <a:ln>
            <a:noFill/>
          </a:ln>
        </p:spPr>
      </p:pic>
      <p:sp>
        <p:nvSpPr>
          <p:cNvPr id="90" name="Google Shape;90;p16"/>
          <p:cNvSpPr txBox="1"/>
          <p:nvPr/>
        </p:nvSpPr>
        <p:spPr>
          <a:xfrm>
            <a:off x="6073088" y="3906000"/>
            <a:ext cx="2832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Escoge Uno o Nano dependiendo del sistema que te </a:t>
            </a:r>
            <a:r>
              <a:rPr lang="es-419">
                <a:latin typeface="Roboto"/>
                <a:ea typeface="Roboto"/>
                <a:cs typeface="Roboto"/>
                <a:sym typeface="Roboto"/>
              </a:rPr>
              <a:t>corresponde</a:t>
            </a:r>
            <a:endParaRPr>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Ejercicio 01: </a:t>
            </a:r>
            <a:r>
              <a:rPr lang="es-419"/>
              <a:t>Iniciando Arduino Blocks</a:t>
            </a:r>
            <a:endParaRPr/>
          </a:p>
        </p:txBody>
      </p:sp>
      <p:pic>
        <p:nvPicPr>
          <p:cNvPr id="96" name="Google Shape;96;p17"/>
          <p:cNvPicPr preferRelativeResize="0"/>
          <p:nvPr/>
        </p:nvPicPr>
        <p:blipFill>
          <a:blip r:embed="rId3">
            <a:alphaModFix/>
          </a:blip>
          <a:stretch>
            <a:fillRect/>
          </a:stretch>
        </p:blipFill>
        <p:spPr>
          <a:xfrm>
            <a:off x="53400" y="1811225"/>
            <a:ext cx="4989208" cy="3332275"/>
          </a:xfrm>
          <a:prstGeom prst="rect">
            <a:avLst/>
          </a:prstGeom>
          <a:noFill/>
          <a:ln>
            <a:noFill/>
          </a:ln>
        </p:spPr>
      </p:pic>
      <p:pic>
        <p:nvPicPr>
          <p:cNvPr id="97" name="Google Shape;97;p17"/>
          <p:cNvPicPr preferRelativeResize="0"/>
          <p:nvPr/>
        </p:nvPicPr>
        <p:blipFill>
          <a:blip r:embed="rId4">
            <a:alphaModFix/>
          </a:blip>
          <a:stretch>
            <a:fillRect/>
          </a:stretch>
        </p:blipFill>
        <p:spPr>
          <a:xfrm>
            <a:off x="5042608" y="1841013"/>
            <a:ext cx="3796593" cy="327269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Ejercicio 01: </a:t>
            </a:r>
            <a:r>
              <a:rPr lang="es-419"/>
              <a:t>Iniciando Arduino Blocks</a:t>
            </a:r>
            <a:endParaRPr/>
          </a:p>
        </p:txBody>
      </p:sp>
      <p:pic>
        <p:nvPicPr>
          <p:cNvPr id="103" name="Google Shape;103;p18"/>
          <p:cNvPicPr preferRelativeResize="0"/>
          <p:nvPr/>
        </p:nvPicPr>
        <p:blipFill>
          <a:blip r:embed="rId3">
            <a:alphaModFix/>
          </a:blip>
          <a:stretch>
            <a:fillRect/>
          </a:stretch>
        </p:blipFill>
        <p:spPr>
          <a:xfrm>
            <a:off x="2510400" y="1694825"/>
            <a:ext cx="4012178" cy="3332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460950" y="4452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Ejercicio 01: </a:t>
            </a:r>
            <a:r>
              <a:rPr lang="es-419"/>
              <a:t>Primer Programa </a:t>
            </a:r>
            <a:endParaRPr/>
          </a:p>
        </p:txBody>
      </p:sp>
      <p:sp>
        <p:nvSpPr>
          <p:cNvPr id="109" name="Google Shape;109;p19"/>
          <p:cNvSpPr txBox="1"/>
          <p:nvPr/>
        </p:nvSpPr>
        <p:spPr>
          <a:xfrm>
            <a:off x="835425" y="1805350"/>
            <a:ext cx="518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Realiza el siguiente programa en Arduino Blocks:</a:t>
            </a:r>
            <a:endParaRPr>
              <a:latin typeface="Roboto"/>
              <a:ea typeface="Roboto"/>
              <a:cs typeface="Roboto"/>
              <a:sym typeface="Roboto"/>
            </a:endParaRPr>
          </a:p>
        </p:txBody>
      </p:sp>
      <p:pic>
        <p:nvPicPr>
          <p:cNvPr id="110" name="Google Shape;110;p19"/>
          <p:cNvPicPr preferRelativeResize="0"/>
          <p:nvPr/>
        </p:nvPicPr>
        <p:blipFill>
          <a:blip r:embed="rId3">
            <a:alphaModFix/>
          </a:blip>
          <a:stretch>
            <a:fillRect/>
          </a:stretch>
        </p:blipFill>
        <p:spPr>
          <a:xfrm>
            <a:off x="737400" y="2261400"/>
            <a:ext cx="3338026" cy="2695550"/>
          </a:xfrm>
          <a:prstGeom prst="rect">
            <a:avLst/>
          </a:prstGeom>
          <a:noFill/>
          <a:ln>
            <a:noFill/>
          </a:ln>
        </p:spPr>
      </p:pic>
      <p:sp>
        <p:nvSpPr>
          <p:cNvPr id="111" name="Google Shape;111;p19"/>
          <p:cNvSpPr txBox="1"/>
          <p:nvPr/>
        </p:nvSpPr>
        <p:spPr>
          <a:xfrm>
            <a:off x="6236275" y="1727725"/>
            <a:ext cx="2844600" cy="1477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2"/>
              </a:buClr>
              <a:buSzPts val="1400"/>
              <a:buFont typeface="Roboto"/>
              <a:buChar char="●"/>
            </a:pPr>
            <a:r>
              <a:rPr lang="es-419">
                <a:solidFill>
                  <a:schemeClr val="dk2"/>
                </a:solidFill>
                <a:latin typeface="Roboto"/>
                <a:ea typeface="Roboto"/>
                <a:cs typeface="Roboto"/>
                <a:sym typeface="Roboto"/>
              </a:rPr>
              <a:t>La Placa Arduino incorpora un LED conectado al pin 13.</a:t>
            </a:r>
            <a:endParaRPr>
              <a:solidFill>
                <a:schemeClr val="dk2"/>
              </a:solidFill>
              <a:latin typeface="Roboto"/>
              <a:ea typeface="Roboto"/>
              <a:cs typeface="Roboto"/>
              <a:sym typeface="Roboto"/>
            </a:endParaRPr>
          </a:p>
          <a:p>
            <a:pPr indent="-317500" lvl="0" marL="457200" rtl="0" algn="l">
              <a:spcBef>
                <a:spcPts val="0"/>
              </a:spcBef>
              <a:spcAft>
                <a:spcPts val="0"/>
              </a:spcAft>
              <a:buClr>
                <a:schemeClr val="dk2"/>
              </a:buClr>
              <a:buSzPts val="1400"/>
              <a:buFont typeface="Roboto"/>
              <a:buChar char="●"/>
            </a:pPr>
            <a:r>
              <a:rPr lang="es-419">
                <a:solidFill>
                  <a:schemeClr val="dk2"/>
                </a:solidFill>
                <a:latin typeface="Roboto"/>
                <a:ea typeface="Roboto"/>
                <a:cs typeface="Roboto"/>
                <a:sym typeface="Roboto"/>
              </a:rPr>
              <a:t>El programa enciende y apaga el Led de la placa en el tiempo inicializado en la variable retardo.</a:t>
            </a:r>
            <a:endParaRPr>
              <a:solidFill>
                <a:schemeClr val="dk2"/>
              </a:solidFill>
              <a:latin typeface="Roboto"/>
              <a:ea typeface="Roboto"/>
              <a:cs typeface="Roboto"/>
              <a:sym typeface="Roboto"/>
            </a:endParaRPr>
          </a:p>
        </p:txBody>
      </p:sp>
      <p:cxnSp>
        <p:nvCxnSpPr>
          <p:cNvPr id="112" name="Google Shape;112;p19"/>
          <p:cNvCxnSpPr/>
          <p:nvPr/>
        </p:nvCxnSpPr>
        <p:spPr>
          <a:xfrm>
            <a:off x="3994425" y="3537175"/>
            <a:ext cx="756000" cy="144000"/>
          </a:xfrm>
          <a:prstGeom prst="straightConnector1">
            <a:avLst/>
          </a:prstGeom>
          <a:noFill/>
          <a:ln cap="flat" cmpd="sng" w="9525">
            <a:solidFill>
              <a:schemeClr val="dk2"/>
            </a:solidFill>
            <a:prstDash val="solid"/>
            <a:round/>
            <a:headEnd len="med" w="med" type="none"/>
            <a:tailEnd len="med" w="med" type="triangle"/>
          </a:ln>
        </p:spPr>
      </p:cxnSp>
      <p:cxnSp>
        <p:nvCxnSpPr>
          <p:cNvPr id="113" name="Google Shape;113;p19"/>
          <p:cNvCxnSpPr/>
          <p:nvPr/>
        </p:nvCxnSpPr>
        <p:spPr>
          <a:xfrm flipH="1" rot="10800000">
            <a:off x="4030425" y="3843175"/>
            <a:ext cx="684000" cy="441000"/>
          </a:xfrm>
          <a:prstGeom prst="straightConnector1">
            <a:avLst/>
          </a:prstGeom>
          <a:noFill/>
          <a:ln cap="flat" cmpd="sng" w="9525">
            <a:solidFill>
              <a:schemeClr val="dk2"/>
            </a:solidFill>
            <a:prstDash val="solid"/>
            <a:round/>
            <a:headEnd len="med" w="med" type="none"/>
            <a:tailEnd len="med" w="med" type="triangle"/>
          </a:ln>
        </p:spPr>
      </p:cxnSp>
      <p:sp>
        <p:nvSpPr>
          <p:cNvPr id="114" name="Google Shape;114;p19"/>
          <p:cNvSpPr txBox="1"/>
          <p:nvPr/>
        </p:nvSpPr>
        <p:spPr>
          <a:xfrm>
            <a:off x="4849425" y="3575650"/>
            <a:ext cx="423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Bloque Actuadores</a:t>
            </a:r>
            <a:endParaRPr>
              <a:latin typeface="Roboto"/>
              <a:ea typeface="Roboto"/>
              <a:cs typeface="Roboto"/>
              <a:sym typeface="Roboto"/>
            </a:endParaRPr>
          </a:p>
        </p:txBody>
      </p:sp>
      <p:sp>
        <p:nvSpPr>
          <p:cNvPr id="115" name="Google Shape;115;p19"/>
          <p:cNvSpPr txBox="1"/>
          <p:nvPr/>
        </p:nvSpPr>
        <p:spPr>
          <a:xfrm>
            <a:off x="3510000" y="2528313"/>
            <a:ext cx="518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Definir en Variables “retardo”</a:t>
            </a:r>
            <a:endParaRPr>
              <a:latin typeface="Roboto"/>
              <a:ea typeface="Roboto"/>
              <a:cs typeface="Roboto"/>
              <a:sym typeface="Roboto"/>
            </a:endParaRPr>
          </a:p>
        </p:txBody>
      </p:sp>
      <p:cxnSp>
        <p:nvCxnSpPr>
          <p:cNvPr id="116" name="Google Shape;116;p19"/>
          <p:cNvCxnSpPr>
            <a:endCxn id="115" idx="1"/>
          </p:cNvCxnSpPr>
          <p:nvPr/>
        </p:nvCxnSpPr>
        <p:spPr>
          <a:xfrm>
            <a:off x="2986500" y="2673213"/>
            <a:ext cx="523500" cy="55200"/>
          </a:xfrm>
          <a:prstGeom prst="straightConnector1">
            <a:avLst/>
          </a:prstGeom>
          <a:noFill/>
          <a:ln cap="flat" cmpd="sng" w="9525">
            <a:solidFill>
              <a:schemeClr val="dk2"/>
            </a:solidFill>
            <a:prstDash val="solid"/>
            <a:round/>
            <a:headEnd len="med" w="med" type="none"/>
            <a:tailEnd len="med" w="med" type="triangle"/>
          </a:ln>
        </p:spPr>
      </p:cxnSp>
      <p:cxnSp>
        <p:nvCxnSpPr>
          <p:cNvPr id="117" name="Google Shape;117;p19"/>
          <p:cNvCxnSpPr/>
          <p:nvPr/>
        </p:nvCxnSpPr>
        <p:spPr>
          <a:xfrm>
            <a:off x="3229425" y="3825175"/>
            <a:ext cx="1728000" cy="621000"/>
          </a:xfrm>
          <a:prstGeom prst="straightConnector1">
            <a:avLst/>
          </a:prstGeom>
          <a:noFill/>
          <a:ln cap="flat" cmpd="sng" w="9525">
            <a:solidFill>
              <a:schemeClr val="dk2"/>
            </a:solidFill>
            <a:prstDash val="solid"/>
            <a:round/>
            <a:headEnd len="med" w="med" type="none"/>
            <a:tailEnd len="med" w="med" type="triangle"/>
          </a:ln>
        </p:spPr>
      </p:cxnSp>
      <p:cxnSp>
        <p:nvCxnSpPr>
          <p:cNvPr id="118" name="Google Shape;118;p19"/>
          <p:cNvCxnSpPr/>
          <p:nvPr/>
        </p:nvCxnSpPr>
        <p:spPr>
          <a:xfrm flipH="1" rot="10800000">
            <a:off x="3256425" y="4482175"/>
            <a:ext cx="1674000" cy="207000"/>
          </a:xfrm>
          <a:prstGeom prst="straightConnector1">
            <a:avLst/>
          </a:prstGeom>
          <a:noFill/>
          <a:ln cap="flat" cmpd="sng" w="9525">
            <a:solidFill>
              <a:schemeClr val="dk2"/>
            </a:solidFill>
            <a:prstDash val="solid"/>
            <a:round/>
            <a:headEnd len="med" w="med" type="none"/>
            <a:tailEnd len="med" w="med" type="triangle"/>
          </a:ln>
        </p:spPr>
      </p:cxnSp>
      <p:sp>
        <p:nvSpPr>
          <p:cNvPr id="119" name="Google Shape;119;p19"/>
          <p:cNvSpPr txBox="1"/>
          <p:nvPr/>
        </p:nvSpPr>
        <p:spPr>
          <a:xfrm>
            <a:off x="5055825" y="4284175"/>
            <a:ext cx="2043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Bloque Tiempo</a:t>
            </a:r>
            <a:endParaRPr>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Ejercicio 01: </a:t>
            </a:r>
            <a:r>
              <a:rPr lang="es-419"/>
              <a:t>Primer Programa </a:t>
            </a:r>
            <a:endParaRPr/>
          </a:p>
        </p:txBody>
      </p:sp>
      <p:sp>
        <p:nvSpPr>
          <p:cNvPr id="125" name="Google Shape;125;p20"/>
          <p:cNvSpPr txBox="1"/>
          <p:nvPr/>
        </p:nvSpPr>
        <p:spPr>
          <a:xfrm>
            <a:off x="52425" y="1768750"/>
            <a:ext cx="518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Guarda el Proyecto:</a:t>
            </a:r>
            <a:endParaRPr>
              <a:latin typeface="Roboto"/>
              <a:ea typeface="Roboto"/>
              <a:cs typeface="Roboto"/>
              <a:sym typeface="Roboto"/>
            </a:endParaRPr>
          </a:p>
        </p:txBody>
      </p:sp>
      <p:sp>
        <p:nvSpPr>
          <p:cNvPr id="126" name="Google Shape;126;p20"/>
          <p:cNvSpPr txBox="1"/>
          <p:nvPr/>
        </p:nvSpPr>
        <p:spPr>
          <a:xfrm>
            <a:off x="4505700" y="2508750"/>
            <a:ext cx="4188300" cy="1569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Font typeface="Roboto"/>
              <a:buChar char="●"/>
            </a:pPr>
            <a:r>
              <a:rPr lang="es-419" sz="1800">
                <a:solidFill>
                  <a:schemeClr val="dk2"/>
                </a:solidFill>
                <a:latin typeface="Roboto"/>
                <a:ea typeface="Roboto"/>
                <a:cs typeface="Roboto"/>
                <a:sym typeface="Roboto"/>
              </a:rPr>
              <a:t>La Placa Arduino incorpora un LED conectado al pin 13.</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s-419" sz="1800">
                <a:solidFill>
                  <a:schemeClr val="dk2"/>
                </a:solidFill>
                <a:latin typeface="Roboto"/>
                <a:ea typeface="Roboto"/>
                <a:cs typeface="Roboto"/>
                <a:sym typeface="Roboto"/>
              </a:rPr>
              <a:t>El programa enciende y apaga el Led de la placa en el tiempo inicializado en la variable retardo.</a:t>
            </a:r>
            <a:endParaRPr sz="1800">
              <a:solidFill>
                <a:schemeClr val="dk2"/>
              </a:solidFill>
              <a:latin typeface="Roboto"/>
              <a:ea typeface="Roboto"/>
              <a:cs typeface="Roboto"/>
              <a:sym typeface="Roboto"/>
            </a:endParaRPr>
          </a:p>
        </p:txBody>
      </p:sp>
      <p:pic>
        <p:nvPicPr>
          <p:cNvPr id="127" name="Google Shape;127;p20"/>
          <p:cNvPicPr preferRelativeResize="0"/>
          <p:nvPr/>
        </p:nvPicPr>
        <p:blipFill>
          <a:blip r:embed="rId3">
            <a:alphaModFix/>
          </a:blip>
          <a:stretch>
            <a:fillRect/>
          </a:stretch>
        </p:blipFill>
        <p:spPr>
          <a:xfrm>
            <a:off x="107925" y="2264200"/>
            <a:ext cx="3238500" cy="1733550"/>
          </a:xfrm>
          <a:prstGeom prst="rect">
            <a:avLst/>
          </a:prstGeom>
          <a:noFill/>
          <a:ln>
            <a:noFill/>
          </a:ln>
        </p:spPr>
      </p:pic>
      <p:sp>
        <p:nvSpPr>
          <p:cNvPr id="128" name="Google Shape;128;p20"/>
          <p:cNvSpPr/>
          <p:nvPr/>
        </p:nvSpPr>
        <p:spPr>
          <a:xfrm>
            <a:off x="2698425" y="2772175"/>
            <a:ext cx="648000" cy="1080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Ejercicio 01: </a:t>
            </a:r>
            <a:r>
              <a:rPr lang="es-419"/>
              <a:t>CONEXIÓN DE ARDUINO A LA PC</a:t>
            </a:r>
            <a:endParaRPr/>
          </a:p>
        </p:txBody>
      </p:sp>
      <p:sp>
        <p:nvSpPr>
          <p:cNvPr id="134" name="Google Shape;134;p21"/>
          <p:cNvSpPr txBox="1"/>
          <p:nvPr>
            <p:ph idx="1" type="body"/>
          </p:nvPr>
        </p:nvSpPr>
        <p:spPr>
          <a:xfrm>
            <a:off x="150425" y="2407738"/>
            <a:ext cx="3867000" cy="1810800"/>
          </a:xfrm>
          <a:prstGeom prst="rect">
            <a:avLst/>
          </a:prstGeom>
        </p:spPr>
        <p:txBody>
          <a:bodyPr anchorCtr="0" anchor="t" bIns="91425" lIns="91425" spcFirstLastPara="1" rIns="91425" wrap="square" tIns="91425">
            <a:noAutofit/>
          </a:bodyPr>
          <a:lstStyle/>
          <a:p>
            <a:pPr indent="-335598" lvl="0" marL="457200" rtl="0" algn="l">
              <a:spcBef>
                <a:spcPts val="0"/>
              </a:spcBef>
              <a:spcAft>
                <a:spcPts val="0"/>
              </a:spcAft>
              <a:buSzPts val="1685"/>
              <a:buAutoNum type="arabicPeriod"/>
            </a:pPr>
            <a:r>
              <a:rPr lang="es-419" sz="1685"/>
              <a:t>Conecte el Arduino a la PC</a:t>
            </a:r>
            <a:endParaRPr sz="1685"/>
          </a:p>
          <a:p>
            <a:pPr indent="-335598" lvl="0" marL="457200" rtl="0" algn="l">
              <a:spcBef>
                <a:spcPts val="0"/>
              </a:spcBef>
              <a:spcAft>
                <a:spcPts val="0"/>
              </a:spcAft>
              <a:buSzPts val="1685"/>
              <a:buAutoNum type="arabicPeriod"/>
            </a:pPr>
            <a:r>
              <a:rPr lang="es-419" sz="1685"/>
              <a:t>En el escritorio de la PC busque el programa Arduino Blocks Connector y ejecútalo.</a:t>
            </a:r>
            <a:endParaRPr sz="1685"/>
          </a:p>
          <a:p>
            <a:pPr indent="-335598" lvl="0" marL="457200" rtl="0" algn="l">
              <a:spcBef>
                <a:spcPts val="0"/>
              </a:spcBef>
              <a:spcAft>
                <a:spcPts val="0"/>
              </a:spcAft>
              <a:buSzPts val="1685"/>
              <a:buAutoNum type="arabicPeriod"/>
            </a:pPr>
            <a:r>
              <a:rPr lang="es-419" sz="1685"/>
              <a:t>Se abrirá la ventana:</a:t>
            </a:r>
            <a:endParaRPr sz="1685"/>
          </a:p>
          <a:p>
            <a:pPr indent="0" lvl="0" marL="0" rtl="0" algn="l">
              <a:spcBef>
                <a:spcPts val="1200"/>
              </a:spcBef>
              <a:spcAft>
                <a:spcPts val="1200"/>
              </a:spcAft>
              <a:buSzPts val="358"/>
              <a:buNone/>
            </a:pPr>
            <a:r>
              <a:t/>
            </a:r>
            <a:endParaRPr sz="1685"/>
          </a:p>
        </p:txBody>
      </p:sp>
      <p:pic>
        <p:nvPicPr>
          <p:cNvPr id="135" name="Google Shape;135;p21"/>
          <p:cNvPicPr preferRelativeResize="0"/>
          <p:nvPr/>
        </p:nvPicPr>
        <p:blipFill>
          <a:blip r:embed="rId3">
            <a:alphaModFix/>
          </a:blip>
          <a:stretch>
            <a:fillRect/>
          </a:stretch>
        </p:blipFill>
        <p:spPr>
          <a:xfrm>
            <a:off x="4228250" y="2104525"/>
            <a:ext cx="4701550" cy="2417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249728" y="50375"/>
            <a:ext cx="2808000" cy="9534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419" sz="3200"/>
              <a:t>Ejercicio 01: </a:t>
            </a:r>
            <a:r>
              <a:rPr lang="es-419"/>
              <a:t>Identificar el COM</a:t>
            </a:r>
            <a:endParaRPr/>
          </a:p>
        </p:txBody>
      </p:sp>
      <p:pic>
        <p:nvPicPr>
          <p:cNvPr id="141" name="Google Shape;141;p22"/>
          <p:cNvPicPr preferRelativeResize="0"/>
          <p:nvPr/>
        </p:nvPicPr>
        <p:blipFill>
          <a:blip r:embed="rId3">
            <a:alphaModFix/>
          </a:blip>
          <a:stretch>
            <a:fillRect/>
          </a:stretch>
        </p:blipFill>
        <p:spPr>
          <a:xfrm>
            <a:off x="3648053" y="272250"/>
            <a:ext cx="4838700" cy="1485900"/>
          </a:xfrm>
          <a:prstGeom prst="rect">
            <a:avLst/>
          </a:prstGeom>
          <a:noFill/>
          <a:ln>
            <a:noFill/>
          </a:ln>
        </p:spPr>
      </p:pic>
      <p:sp>
        <p:nvSpPr>
          <p:cNvPr id="142" name="Google Shape;142;p22"/>
          <p:cNvSpPr/>
          <p:nvPr/>
        </p:nvSpPr>
        <p:spPr>
          <a:xfrm>
            <a:off x="7681750" y="1120650"/>
            <a:ext cx="902400" cy="425700"/>
          </a:xfrm>
          <a:prstGeom prst="rect">
            <a:avLst/>
          </a:prstGeom>
          <a:noFill/>
          <a:ln cap="flat" cmpd="sng" w="381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3" name="Google Shape;143;p22"/>
          <p:cNvSpPr txBox="1"/>
          <p:nvPr>
            <p:ph idx="1" type="body"/>
          </p:nvPr>
        </p:nvSpPr>
        <p:spPr>
          <a:xfrm>
            <a:off x="3751650" y="2169900"/>
            <a:ext cx="4553700" cy="2700000"/>
          </a:xfrm>
          <a:prstGeom prst="rect">
            <a:avLst/>
          </a:prstGeom>
          <a:noFill/>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Char char="●"/>
            </a:pPr>
            <a:r>
              <a:rPr lang="es-419" sz="1400">
                <a:solidFill>
                  <a:schemeClr val="dk2"/>
                </a:solidFill>
              </a:rPr>
              <a:t>La comunicación entre PC y Arduino es a través de protocolo serial, como la PC posee muchos puertos, es necesario identificar cual es el puerto COM que hace comunicación con el Arduino.</a:t>
            </a:r>
            <a:endParaRPr sz="1400">
              <a:solidFill>
                <a:schemeClr val="dk2"/>
              </a:solidFill>
            </a:endParaRPr>
          </a:p>
          <a:p>
            <a:pPr indent="-317500" lvl="0" marL="457200" rtl="0" algn="l">
              <a:spcBef>
                <a:spcPts val="0"/>
              </a:spcBef>
              <a:spcAft>
                <a:spcPts val="0"/>
              </a:spcAft>
              <a:buClr>
                <a:schemeClr val="dk2"/>
              </a:buClr>
              <a:buSzPts val="1400"/>
              <a:buChar char="●"/>
            </a:pPr>
            <a:r>
              <a:rPr lang="es-419" sz="1400">
                <a:solidFill>
                  <a:schemeClr val="dk2"/>
                </a:solidFill>
              </a:rPr>
              <a:t>Antes de conectar el Arduino a la PC revisa en la ventana de arduino blocks cuales son los puertos COM que tiene la computadora</a:t>
            </a:r>
            <a:endParaRPr sz="1400">
              <a:solidFill>
                <a:schemeClr val="dk2"/>
              </a:solidFill>
            </a:endParaRPr>
          </a:p>
          <a:p>
            <a:pPr indent="-317500" lvl="0" marL="457200" rtl="0" algn="l">
              <a:spcBef>
                <a:spcPts val="0"/>
              </a:spcBef>
              <a:spcAft>
                <a:spcPts val="0"/>
              </a:spcAft>
              <a:buClr>
                <a:schemeClr val="dk2"/>
              </a:buClr>
              <a:buSzPts val="1400"/>
              <a:buChar char="●"/>
            </a:pPr>
            <a:r>
              <a:rPr lang="es-419" sz="1400">
                <a:solidFill>
                  <a:schemeClr val="dk2"/>
                </a:solidFill>
              </a:rPr>
              <a:t>Conecta el Arduino a la PC</a:t>
            </a:r>
            <a:endParaRPr sz="1400">
              <a:solidFill>
                <a:schemeClr val="dk2"/>
              </a:solidFill>
            </a:endParaRPr>
          </a:p>
          <a:p>
            <a:pPr indent="-317500" lvl="0" marL="457200" rtl="0" algn="l">
              <a:spcBef>
                <a:spcPts val="0"/>
              </a:spcBef>
              <a:spcAft>
                <a:spcPts val="0"/>
              </a:spcAft>
              <a:buClr>
                <a:schemeClr val="dk2"/>
              </a:buClr>
              <a:buSzPts val="1400"/>
              <a:buChar char="●"/>
            </a:pPr>
            <a:r>
              <a:rPr lang="es-419" sz="1400">
                <a:solidFill>
                  <a:schemeClr val="dk2"/>
                </a:solidFill>
              </a:rPr>
              <a:t>Revisa de nuevo la ventana, aparecerá un nuevo puerto COM, ese es el puerto de tu arduino.</a:t>
            </a:r>
            <a:endParaRPr sz="1400">
              <a:solidFill>
                <a:schemeClr val="dk2"/>
              </a:solidFill>
            </a:endParaRPr>
          </a:p>
        </p:txBody>
      </p:sp>
      <p:cxnSp>
        <p:nvCxnSpPr>
          <p:cNvPr id="144" name="Google Shape;144;p22"/>
          <p:cNvCxnSpPr/>
          <p:nvPr/>
        </p:nvCxnSpPr>
        <p:spPr>
          <a:xfrm flipH="1" rot="10800000">
            <a:off x="4328550" y="1538975"/>
            <a:ext cx="3339000" cy="2311200"/>
          </a:xfrm>
          <a:prstGeom prst="bentConnector3">
            <a:avLst>
              <a:gd fmla="val -4614" name="adj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249728" y="50375"/>
            <a:ext cx="2808000" cy="9534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419" sz="3200"/>
              <a:t>Ejercicio 01: </a:t>
            </a:r>
            <a:endParaRPr sz="3200"/>
          </a:p>
          <a:p>
            <a:pPr indent="0" lvl="0" marL="0" rtl="0" algn="l">
              <a:spcBef>
                <a:spcPts val="0"/>
              </a:spcBef>
              <a:spcAft>
                <a:spcPts val="0"/>
              </a:spcAft>
              <a:buNone/>
            </a:pPr>
            <a:r>
              <a:rPr lang="es-419"/>
              <a:t>En Arduino Blocks</a:t>
            </a:r>
            <a:endParaRPr/>
          </a:p>
        </p:txBody>
      </p:sp>
      <p:sp>
        <p:nvSpPr>
          <p:cNvPr id="150" name="Google Shape;150;p23"/>
          <p:cNvSpPr txBox="1"/>
          <p:nvPr>
            <p:ph idx="1" type="body"/>
          </p:nvPr>
        </p:nvSpPr>
        <p:spPr>
          <a:xfrm>
            <a:off x="119650" y="898250"/>
            <a:ext cx="2808000" cy="38259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s-419" sz="1600"/>
              <a:t>En la barra superior derecha</a:t>
            </a:r>
            <a:endParaRPr sz="1600"/>
          </a:p>
          <a:p>
            <a:pPr indent="-330200" lvl="0" marL="457200" rtl="0" algn="l">
              <a:spcBef>
                <a:spcPts val="0"/>
              </a:spcBef>
              <a:spcAft>
                <a:spcPts val="0"/>
              </a:spcAft>
              <a:buSzPts val="1600"/>
              <a:buChar char="●"/>
            </a:pPr>
            <a:r>
              <a:rPr lang="es-419" sz="1600"/>
              <a:t>Escoja el COM del Arduino</a:t>
            </a:r>
            <a:endParaRPr sz="1600"/>
          </a:p>
          <a:p>
            <a:pPr indent="-330200" lvl="0" marL="457200" rtl="0" algn="l">
              <a:spcBef>
                <a:spcPts val="0"/>
              </a:spcBef>
              <a:spcAft>
                <a:spcPts val="0"/>
              </a:spcAft>
              <a:buSzPts val="1600"/>
              <a:buChar char="●"/>
            </a:pPr>
            <a:r>
              <a:rPr lang="es-419" sz="1600"/>
              <a:t>Para comunicarse con el Arduino dar click en Subir</a:t>
            </a:r>
            <a:endParaRPr sz="1600"/>
          </a:p>
          <a:p>
            <a:pPr indent="-330200" lvl="0" marL="457200" rtl="0" algn="l">
              <a:spcBef>
                <a:spcPts val="0"/>
              </a:spcBef>
              <a:spcAft>
                <a:spcPts val="0"/>
              </a:spcAft>
              <a:buSzPts val="1600"/>
              <a:buChar char="●"/>
            </a:pPr>
            <a:r>
              <a:rPr lang="es-419" sz="1600"/>
              <a:t>Si todo está correcto saldrá la ventana que se muestra.</a:t>
            </a:r>
            <a:endParaRPr sz="1600"/>
          </a:p>
          <a:p>
            <a:pPr indent="-330200" lvl="0" marL="457200" rtl="0" algn="l">
              <a:spcBef>
                <a:spcPts val="0"/>
              </a:spcBef>
              <a:spcAft>
                <a:spcPts val="0"/>
              </a:spcAft>
              <a:buSzPts val="1600"/>
              <a:buChar char="●"/>
            </a:pPr>
            <a:r>
              <a:rPr lang="es-419" sz="1600"/>
              <a:t>Al realizar esto se debe observar un led parpadeando en tu placa arduino</a:t>
            </a:r>
            <a:endParaRPr sz="1600"/>
          </a:p>
        </p:txBody>
      </p:sp>
      <p:pic>
        <p:nvPicPr>
          <p:cNvPr id="151" name="Google Shape;151;p23"/>
          <p:cNvPicPr preferRelativeResize="0"/>
          <p:nvPr/>
        </p:nvPicPr>
        <p:blipFill>
          <a:blip r:embed="rId3">
            <a:alphaModFix/>
          </a:blip>
          <a:stretch>
            <a:fillRect/>
          </a:stretch>
        </p:blipFill>
        <p:spPr>
          <a:xfrm>
            <a:off x="3941553" y="352950"/>
            <a:ext cx="4838700" cy="1485900"/>
          </a:xfrm>
          <a:prstGeom prst="rect">
            <a:avLst/>
          </a:prstGeom>
          <a:noFill/>
          <a:ln>
            <a:noFill/>
          </a:ln>
        </p:spPr>
      </p:pic>
      <p:sp>
        <p:nvSpPr>
          <p:cNvPr id="152" name="Google Shape;152;p23"/>
          <p:cNvSpPr/>
          <p:nvPr/>
        </p:nvSpPr>
        <p:spPr>
          <a:xfrm>
            <a:off x="8103775" y="1161300"/>
            <a:ext cx="676500" cy="473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a:off x="5955750" y="1161300"/>
            <a:ext cx="676500" cy="473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23"/>
          <p:cNvPicPr preferRelativeResize="0"/>
          <p:nvPr/>
        </p:nvPicPr>
        <p:blipFill>
          <a:blip r:embed="rId4">
            <a:alphaModFix/>
          </a:blip>
          <a:stretch>
            <a:fillRect/>
          </a:stretch>
        </p:blipFill>
        <p:spPr>
          <a:xfrm>
            <a:off x="3575525" y="2542925"/>
            <a:ext cx="5314950" cy="2181225"/>
          </a:xfrm>
          <a:prstGeom prst="rect">
            <a:avLst/>
          </a:prstGeom>
          <a:noFill/>
          <a:ln>
            <a:noFill/>
          </a:ln>
        </p:spPr>
      </p:pic>
      <p:cxnSp>
        <p:nvCxnSpPr>
          <p:cNvPr id="155" name="Google Shape;155;p23"/>
          <p:cNvCxnSpPr>
            <a:endCxn id="154" idx="1"/>
          </p:cNvCxnSpPr>
          <p:nvPr/>
        </p:nvCxnSpPr>
        <p:spPr>
          <a:xfrm>
            <a:off x="2391425" y="3622738"/>
            <a:ext cx="1184100" cy="10800"/>
          </a:xfrm>
          <a:prstGeom prst="straightConnector1">
            <a:avLst/>
          </a:prstGeom>
          <a:noFill/>
          <a:ln cap="flat" cmpd="sng" w="38100">
            <a:solidFill>
              <a:schemeClr val="accent3"/>
            </a:solidFill>
            <a:prstDash val="solid"/>
            <a:round/>
            <a:headEnd len="med" w="med" type="none"/>
            <a:tailEnd len="med" w="med" type="triangle"/>
          </a:ln>
        </p:spPr>
      </p:cxnSp>
      <p:pic>
        <p:nvPicPr>
          <p:cNvPr id="156" name="Google Shape;156;p23"/>
          <p:cNvPicPr preferRelativeResize="0"/>
          <p:nvPr/>
        </p:nvPicPr>
        <p:blipFill>
          <a:blip r:embed="rId5">
            <a:alphaModFix/>
          </a:blip>
          <a:stretch>
            <a:fillRect/>
          </a:stretch>
        </p:blipFill>
        <p:spPr>
          <a:xfrm>
            <a:off x="2793303" y="3981750"/>
            <a:ext cx="782375" cy="1044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Ejercicio 02: Modificando mi primer programa</a:t>
            </a:r>
            <a:endParaRPr/>
          </a:p>
        </p:txBody>
      </p:sp>
      <p:sp>
        <p:nvSpPr>
          <p:cNvPr id="162" name="Google Shape;162;p24"/>
          <p:cNvSpPr txBox="1"/>
          <p:nvPr/>
        </p:nvSpPr>
        <p:spPr>
          <a:xfrm>
            <a:off x="537925" y="1955750"/>
            <a:ext cx="8222100" cy="27102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200000"/>
              </a:lnSpc>
              <a:spcBef>
                <a:spcPts val="0"/>
              </a:spcBef>
              <a:spcAft>
                <a:spcPts val="0"/>
              </a:spcAft>
              <a:buNone/>
            </a:pPr>
            <a:r>
              <a:rPr lang="es-419" sz="1800">
                <a:solidFill>
                  <a:srgbClr val="737373"/>
                </a:solidFill>
                <a:latin typeface="Roboto"/>
                <a:ea typeface="Roboto"/>
                <a:cs typeface="Roboto"/>
                <a:sym typeface="Roboto"/>
              </a:rPr>
              <a:t>A partir del ejemplo cargado en la sección anterior, realice la siguiente modificación:</a:t>
            </a:r>
            <a:endParaRPr sz="1800">
              <a:solidFill>
                <a:srgbClr val="737373"/>
              </a:solidFill>
              <a:latin typeface="Roboto"/>
              <a:ea typeface="Roboto"/>
              <a:cs typeface="Roboto"/>
              <a:sym typeface="Roboto"/>
            </a:endParaRPr>
          </a:p>
          <a:p>
            <a:pPr indent="-342900" lvl="0" marL="457200" rtl="0" algn="just">
              <a:lnSpc>
                <a:spcPct val="200000"/>
              </a:lnSpc>
              <a:spcBef>
                <a:spcPts val="1200"/>
              </a:spcBef>
              <a:spcAft>
                <a:spcPts val="0"/>
              </a:spcAft>
              <a:buClr>
                <a:srgbClr val="737373"/>
              </a:buClr>
              <a:buSzPts val="1800"/>
              <a:buFont typeface="Roboto"/>
              <a:buAutoNum type="arabicPeriod"/>
            </a:pPr>
            <a:r>
              <a:rPr lang="es-419" sz="1800">
                <a:solidFill>
                  <a:srgbClr val="737373"/>
                </a:solidFill>
                <a:latin typeface="Roboto"/>
                <a:ea typeface="Roboto"/>
                <a:cs typeface="Roboto"/>
                <a:sym typeface="Roboto"/>
              </a:rPr>
              <a:t>En la variable retardo.</a:t>
            </a:r>
            <a:endParaRPr sz="1800">
              <a:solidFill>
                <a:srgbClr val="737373"/>
              </a:solidFill>
              <a:latin typeface="Roboto"/>
              <a:ea typeface="Roboto"/>
              <a:cs typeface="Roboto"/>
              <a:sym typeface="Roboto"/>
            </a:endParaRPr>
          </a:p>
          <a:p>
            <a:pPr indent="-342900" lvl="0" marL="457200" rtl="0" algn="just">
              <a:lnSpc>
                <a:spcPct val="200000"/>
              </a:lnSpc>
              <a:spcBef>
                <a:spcPts val="0"/>
              </a:spcBef>
              <a:spcAft>
                <a:spcPts val="0"/>
              </a:spcAft>
              <a:buClr>
                <a:srgbClr val="737373"/>
              </a:buClr>
              <a:buSzPts val="1800"/>
              <a:buFont typeface="Roboto"/>
              <a:buAutoNum type="arabicPeriod"/>
            </a:pPr>
            <a:r>
              <a:rPr lang="es-419" sz="1800">
                <a:solidFill>
                  <a:srgbClr val="737373"/>
                </a:solidFill>
                <a:latin typeface="Roboto"/>
                <a:ea typeface="Roboto"/>
                <a:cs typeface="Roboto"/>
                <a:sym typeface="Roboto"/>
              </a:rPr>
              <a:t>Cambia el valor de 250 por 1000 y vuelve a cargar el programa a tu placa Arduino Uno o Arduino Nano, ¿que observas?</a:t>
            </a:r>
            <a:endParaRPr sz="1800">
              <a:solidFill>
                <a:srgbClr val="737373"/>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Ejercicio 03: Mi primer montaje</a:t>
            </a:r>
            <a:endParaRPr/>
          </a:p>
        </p:txBody>
      </p:sp>
      <p:sp>
        <p:nvSpPr>
          <p:cNvPr id="168" name="Google Shape;168;p25"/>
          <p:cNvSpPr txBox="1"/>
          <p:nvPr>
            <p:ph idx="4294967295" type="body"/>
          </p:nvPr>
        </p:nvSpPr>
        <p:spPr>
          <a:xfrm>
            <a:off x="141725" y="1403500"/>
            <a:ext cx="3489900" cy="27102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1200"/>
              </a:spcAft>
              <a:buNone/>
            </a:pPr>
            <a:r>
              <a:rPr lang="es-419"/>
              <a:t>La empresa de automatización NRJ Inc. te contrata para hacer un montaje de un LED Intermitente en una placa Arduino UNO o Nano , con el único requisito de que el LED debe estar ubicado en el Pin 5, para ello realiza el siguiente montaje:</a:t>
            </a:r>
            <a:endParaRPr/>
          </a:p>
        </p:txBody>
      </p:sp>
      <p:pic>
        <p:nvPicPr>
          <p:cNvPr id="169" name="Google Shape;169;p25"/>
          <p:cNvPicPr preferRelativeResize="0"/>
          <p:nvPr/>
        </p:nvPicPr>
        <p:blipFill>
          <a:blip r:embed="rId3">
            <a:alphaModFix/>
          </a:blip>
          <a:stretch>
            <a:fillRect/>
          </a:stretch>
        </p:blipFill>
        <p:spPr>
          <a:xfrm>
            <a:off x="4182425" y="421025"/>
            <a:ext cx="3770799" cy="2445950"/>
          </a:xfrm>
          <a:prstGeom prst="rect">
            <a:avLst/>
          </a:prstGeom>
          <a:noFill/>
          <a:ln>
            <a:noFill/>
          </a:ln>
        </p:spPr>
      </p:pic>
      <p:pic>
        <p:nvPicPr>
          <p:cNvPr id="170" name="Google Shape;170;p25"/>
          <p:cNvPicPr preferRelativeResize="0"/>
          <p:nvPr/>
        </p:nvPicPr>
        <p:blipFill>
          <a:blip r:embed="rId4">
            <a:alphaModFix/>
          </a:blip>
          <a:stretch>
            <a:fillRect/>
          </a:stretch>
        </p:blipFill>
        <p:spPr>
          <a:xfrm>
            <a:off x="4211774" y="2925650"/>
            <a:ext cx="3741452" cy="211799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POLARIDAD DEL LED</a:t>
            </a:r>
            <a:endParaRPr/>
          </a:p>
        </p:txBody>
      </p:sp>
      <p:pic>
        <p:nvPicPr>
          <p:cNvPr id="176" name="Google Shape;176;p26"/>
          <p:cNvPicPr preferRelativeResize="0"/>
          <p:nvPr/>
        </p:nvPicPr>
        <p:blipFill>
          <a:blip r:embed="rId3">
            <a:alphaModFix/>
          </a:blip>
          <a:stretch>
            <a:fillRect/>
          </a:stretch>
        </p:blipFill>
        <p:spPr>
          <a:xfrm>
            <a:off x="297975" y="2045967"/>
            <a:ext cx="3230125" cy="2969984"/>
          </a:xfrm>
          <a:prstGeom prst="rect">
            <a:avLst/>
          </a:prstGeom>
          <a:noFill/>
          <a:ln>
            <a:noFill/>
          </a:ln>
        </p:spPr>
      </p:pic>
      <p:pic>
        <p:nvPicPr>
          <p:cNvPr id="177" name="Google Shape;177;p26"/>
          <p:cNvPicPr preferRelativeResize="0"/>
          <p:nvPr/>
        </p:nvPicPr>
        <p:blipFill>
          <a:blip r:embed="rId4">
            <a:alphaModFix/>
          </a:blip>
          <a:stretch>
            <a:fillRect/>
          </a:stretch>
        </p:blipFill>
        <p:spPr>
          <a:xfrm>
            <a:off x="3891678" y="1937050"/>
            <a:ext cx="5137173" cy="3078901"/>
          </a:xfrm>
          <a:prstGeom prst="rect">
            <a:avLst/>
          </a:prstGeom>
          <a:noFill/>
          <a:ln>
            <a:noFill/>
          </a:ln>
        </p:spPr>
      </p:pic>
      <p:sp>
        <p:nvSpPr>
          <p:cNvPr id="178" name="Google Shape;178;p26"/>
          <p:cNvSpPr txBox="1"/>
          <p:nvPr/>
        </p:nvSpPr>
        <p:spPr>
          <a:xfrm>
            <a:off x="297975" y="1784900"/>
            <a:ext cx="7156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latin typeface="Roboto"/>
                <a:ea typeface="Roboto"/>
                <a:cs typeface="Roboto"/>
                <a:sym typeface="Roboto"/>
              </a:rPr>
              <a:t>IDENTIFIQUE EN LOS LED SU POLARIDAD</a:t>
            </a:r>
            <a:endParaRPr sz="1800">
              <a:latin typeface="Roboto"/>
              <a:ea typeface="Roboto"/>
              <a:cs typeface="Roboto"/>
              <a:sym typeface="Roboto"/>
            </a:endParaRPr>
          </a:p>
        </p:txBody>
      </p:sp>
      <p:sp>
        <p:nvSpPr>
          <p:cNvPr id="179" name="Google Shape;179;p26"/>
          <p:cNvSpPr txBox="1"/>
          <p:nvPr>
            <p:ph type="title"/>
          </p:nvPr>
        </p:nvSpPr>
        <p:spPr>
          <a:xfrm>
            <a:off x="98250" y="16350"/>
            <a:ext cx="8826600" cy="60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Ejercicio 03: Mi primer montaje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Protoboard</a:t>
            </a:r>
            <a:endParaRPr/>
          </a:p>
        </p:txBody>
      </p:sp>
      <p:sp>
        <p:nvSpPr>
          <p:cNvPr id="185" name="Google Shape;185;p27"/>
          <p:cNvSpPr txBox="1"/>
          <p:nvPr/>
        </p:nvSpPr>
        <p:spPr>
          <a:xfrm>
            <a:off x="142775" y="1738075"/>
            <a:ext cx="3183300" cy="34152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0"/>
              </a:spcBef>
              <a:spcAft>
                <a:spcPts val="0"/>
              </a:spcAft>
              <a:buNone/>
            </a:pPr>
            <a:r>
              <a:rPr lang="es-419" sz="1150">
                <a:solidFill>
                  <a:srgbClr val="1D2125"/>
                </a:solidFill>
                <a:highlight>
                  <a:srgbClr val="FFFFFF"/>
                </a:highlight>
                <a:latin typeface="Roboto"/>
                <a:ea typeface="Roboto"/>
                <a:cs typeface="Roboto"/>
                <a:sym typeface="Roboto"/>
              </a:rPr>
              <a:t>Una placa de pruebas o placa de inserción (en inglés Protoboard) es un tablero con orificios que se encuentran conectados eléctricamente entre sí de manera interna, habitualmente siguiendo patrones de líneas, en el cual se pueden insertar componentes electrónicos y cables para el armado y prototipado de circuitos electrónicos y sistemas similares. Está hecho de dos materiales, un aislante, generalmente un plástico, y un conductor que conecta los diversos orificios entre sí. Uno de sus usos principales es la creación y comprobación de prototipos de circuitos electrónicos antes de llegar a la impresión mecánica del circuito en sistemas de producción comercial.</a:t>
            </a:r>
            <a:endParaRPr>
              <a:latin typeface="Roboto"/>
              <a:ea typeface="Roboto"/>
              <a:cs typeface="Roboto"/>
              <a:sym typeface="Roboto"/>
            </a:endParaRPr>
          </a:p>
        </p:txBody>
      </p:sp>
      <p:pic>
        <p:nvPicPr>
          <p:cNvPr descr="En este tutorial aprenderemos a utilizar una protoboard, tal como su nombre lo indica sirve para montar prototipos electronicos, utilizando un led, una resistencia de 220 ohmios y un arduino uno usaremos por primera vez nuestra protoboard.&#10;&#10;Puedes ayudar al canal para crear mas vídeos animados a través de Paypal:&#10;https://paypal.me/vtenlinea?locale.x=es_XC" id="186" name="Google Shape;186;p27" title="Como usar una Protoboard">
            <a:hlinkClick r:id="rId3"/>
          </p:cNvPr>
          <p:cNvPicPr preferRelativeResize="0"/>
          <p:nvPr/>
        </p:nvPicPr>
        <p:blipFill>
          <a:blip r:embed="rId4">
            <a:alphaModFix/>
          </a:blip>
          <a:stretch>
            <a:fillRect/>
          </a:stretch>
        </p:blipFill>
        <p:spPr>
          <a:xfrm>
            <a:off x="6769254" y="2627697"/>
            <a:ext cx="2281600" cy="1711203"/>
          </a:xfrm>
          <a:prstGeom prst="rect">
            <a:avLst/>
          </a:prstGeom>
          <a:noFill/>
          <a:ln>
            <a:noFill/>
          </a:ln>
        </p:spPr>
      </p:pic>
      <p:pic>
        <p:nvPicPr>
          <p:cNvPr id="187" name="Google Shape;187;p27"/>
          <p:cNvPicPr preferRelativeResize="0"/>
          <p:nvPr/>
        </p:nvPicPr>
        <p:blipFill>
          <a:blip r:embed="rId5">
            <a:alphaModFix/>
          </a:blip>
          <a:stretch>
            <a:fillRect/>
          </a:stretch>
        </p:blipFill>
        <p:spPr>
          <a:xfrm>
            <a:off x="3326075" y="1684913"/>
            <a:ext cx="3415200" cy="3415200"/>
          </a:xfrm>
          <a:prstGeom prst="rect">
            <a:avLst/>
          </a:prstGeom>
          <a:noFill/>
          <a:ln>
            <a:noFill/>
          </a:ln>
        </p:spPr>
      </p:pic>
      <p:sp>
        <p:nvSpPr>
          <p:cNvPr id="188" name="Google Shape;188;p27"/>
          <p:cNvSpPr txBox="1"/>
          <p:nvPr>
            <p:ph type="title"/>
          </p:nvPr>
        </p:nvSpPr>
        <p:spPr>
          <a:xfrm>
            <a:off x="98250" y="16350"/>
            <a:ext cx="8826600" cy="60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Ejercicio 03: Mi primer montaje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Resistencia</a:t>
            </a:r>
            <a:endParaRPr/>
          </a:p>
        </p:txBody>
      </p:sp>
      <p:sp>
        <p:nvSpPr>
          <p:cNvPr id="194" name="Google Shape;194;p28"/>
          <p:cNvSpPr txBox="1"/>
          <p:nvPr/>
        </p:nvSpPr>
        <p:spPr>
          <a:xfrm>
            <a:off x="224700" y="1906825"/>
            <a:ext cx="4347300" cy="3067200"/>
          </a:xfrm>
          <a:prstGeom prst="rect">
            <a:avLst/>
          </a:prstGeom>
          <a:noFill/>
          <a:ln>
            <a:noFill/>
          </a:ln>
        </p:spPr>
        <p:txBody>
          <a:bodyPr anchorCtr="0" anchor="t" bIns="91425" lIns="91425" spcFirstLastPara="1" rIns="91425" wrap="square" tIns="91425">
            <a:spAutoFit/>
          </a:bodyPr>
          <a:lstStyle/>
          <a:p>
            <a:pPr indent="457200" lvl="0" marL="0" marR="0" rtl="0" algn="just">
              <a:lnSpc>
                <a:spcPct val="115000"/>
              </a:lnSpc>
              <a:spcBef>
                <a:spcPts val="0"/>
              </a:spcBef>
              <a:spcAft>
                <a:spcPts val="0"/>
              </a:spcAft>
              <a:buNone/>
            </a:pPr>
            <a:r>
              <a:rPr lang="es-419" sz="1650">
                <a:solidFill>
                  <a:srgbClr val="1D2125"/>
                </a:solidFill>
                <a:highlight>
                  <a:srgbClr val="FFFFFF"/>
                </a:highlight>
                <a:latin typeface="Roboto"/>
                <a:ea typeface="Roboto"/>
                <a:cs typeface="Roboto"/>
                <a:sym typeface="Roboto"/>
              </a:rPr>
              <a:t>Hay muchos tipos de resistencias de ambos tipos fijas y variables. El tipo </a:t>
            </a:r>
            <a:r>
              <a:rPr lang="es-419" sz="1650">
                <a:solidFill>
                  <a:srgbClr val="1D2125"/>
                </a:solidFill>
                <a:highlight>
                  <a:srgbClr val="FFFFFF"/>
                </a:highlight>
                <a:latin typeface="Roboto"/>
                <a:ea typeface="Roboto"/>
                <a:cs typeface="Roboto"/>
                <a:sym typeface="Roboto"/>
              </a:rPr>
              <a:t>más</a:t>
            </a:r>
            <a:r>
              <a:rPr lang="es-419" sz="1650">
                <a:solidFill>
                  <a:srgbClr val="1D2125"/>
                </a:solidFill>
                <a:highlight>
                  <a:srgbClr val="FFFFFF"/>
                </a:highlight>
                <a:latin typeface="Roboto"/>
                <a:ea typeface="Roboto"/>
                <a:cs typeface="Roboto"/>
                <a:sym typeface="Roboto"/>
              </a:rPr>
              <a:t> </a:t>
            </a:r>
            <a:r>
              <a:rPr lang="es-419" sz="1650">
                <a:solidFill>
                  <a:srgbClr val="1D2125"/>
                </a:solidFill>
                <a:highlight>
                  <a:srgbClr val="FFFFFF"/>
                </a:highlight>
                <a:latin typeface="Roboto"/>
                <a:ea typeface="Roboto"/>
                <a:cs typeface="Roboto"/>
                <a:sym typeface="Roboto"/>
              </a:rPr>
              <a:t>comúnmente</a:t>
            </a:r>
            <a:r>
              <a:rPr lang="es-419" sz="1650">
                <a:solidFill>
                  <a:srgbClr val="1D2125"/>
                </a:solidFill>
                <a:highlight>
                  <a:srgbClr val="FFFFFF"/>
                </a:highlight>
                <a:latin typeface="Roboto"/>
                <a:ea typeface="Roboto"/>
                <a:cs typeface="Roboto"/>
                <a:sym typeface="Roboto"/>
              </a:rPr>
              <a:t> usado en electrónica es la resistencia de carbón. Se fabrican en diferentes tamaños físicos con límites de disipación de potencia, normalmente desde 1 vatio hacia abajo hasta 1/8 vatio. Los valores de resistencias y tolerancias se pueden determinar con el </a:t>
            </a:r>
            <a:r>
              <a:rPr lang="es-419" sz="1650">
                <a:solidFill>
                  <a:srgbClr val="1D2125"/>
                </a:solidFill>
                <a:highlight>
                  <a:srgbClr val="FFFFFF"/>
                </a:highlight>
                <a:uFill>
                  <a:noFill/>
                </a:uFill>
                <a:latin typeface="Roboto"/>
                <a:ea typeface="Roboto"/>
                <a:cs typeface="Roboto"/>
                <a:sym typeface="Roboto"/>
                <a:hlinkClick r:id="rId3">
                  <a:extLst>
                    <a:ext uri="{A12FA001-AC4F-418D-AE19-62706E023703}">
                      <ahyp:hlinkClr val="tx"/>
                    </a:ext>
                  </a:extLst>
                </a:hlinkClick>
              </a:rPr>
              <a:t>código de colores</a:t>
            </a:r>
            <a:r>
              <a:rPr lang="es-419" sz="1650">
                <a:solidFill>
                  <a:srgbClr val="1D2125"/>
                </a:solidFill>
                <a:highlight>
                  <a:srgbClr val="FFFFFF"/>
                </a:highlight>
                <a:latin typeface="Roboto"/>
                <a:ea typeface="Roboto"/>
                <a:cs typeface="Roboto"/>
                <a:sym typeface="Roboto"/>
              </a:rPr>
              <a:t> estándar de resistencias.</a:t>
            </a:r>
            <a:endParaRPr sz="1650">
              <a:solidFill>
                <a:srgbClr val="1D2125"/>
              </a:solidFill>
              <a:highlight>
                <a:srgbClr val="FFFFFF"/>
              </a:highlight>
              <a:latin typeface="Roboto"/>
              <a:ea typeface="Roboto"/>
              <a:cs typeface="Roboto"/>
              <a:sym typeface="Roboto"/>
            </a:endParaRPr>
          </a:p>
        </p:txBody>
      </p:sp>
      <p:pic>
        <p:nvPicPr>
          <p:cNvPr id="195" name="Google Shape;195;p28"/>
          <p:cNvPicPr preferRelativeResize="0"/>
          <p:nvPr/>
        </p:nvPicPr>
        <p:blipFill>
          <a:blip r:embed="rId4">
            <a:alphaModFix/>
          </a:blip>
          <a:stretch>
            <a:fillRect/>
          </a:stretch>
        </p:blipFill>
        <p:spPr>
          <a:xfrm>
            <a:off x="5069625" y="1744325"/>
            <a:ext cx="3259975" cy="3259975"/>
          </a:xfrm>
          <a:prstGeom prst="rect">
            <a:avLst/>
          </a:prstGeom>
          <a:noFill/>
          <a:ln>
            <a:noFill/>
          </a:ln>
        </p:spPr>
      </p:pic>
      <p:sp>
        <p:nvSpPr>
          <p:cNvPr id="196" name="Google Shape;196;p28"/>
          <p:cNvSpPr txBox="1"/>
          <p:nvPr>
            <p:ph type="title"/>
          </p:nvPr>
        </p:nvSpPr>
        <p:spPr>
          <a:xfrm>
            <a:off x="98250" y="16350"/>
            <a:ext cx="8826600" cy="60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Ejercicio 03: Mi primer montaje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9"/>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sz="2500"/>
              <a:t>Montaje</a:t>
            </a:r>
            <a:endParaRPr sz="2500"/>
          </a:p>
        </p:txBody>
      </p:sp>
      <p:pic>
        <p:nvPicPr>
          <p:cNvPr id="202" name="Google Shape;202;p29"/>
          <p:cNvPicPr preferRelativeResize="0"/>
          <p:nvPr/>
        </p:nvPicPr>
        <p:blipFill>
          <a:blip r:embed="rId3">
            <a:alphaModFix/>
          </a:blip>
          <a:stretch>
            <a:fillRect/>
          </a:stretch>
        </p:blipFill>
        <p:spPr>
          <a:xfrm>
            <a:off x="4572000" y="46724"/>
            <a:ext cx="3619775" cy="2347975"/>
          </a:xfrm>
          <a:prstGeom prst="rect">
            <a:avLst/>
          </a:prstGeom>
          <a:noFill/>
          <a:ln>
            <a:noFill/>
          </a:ln>
        </p:spPr>
      </p:pic>
      <p:sp>
        <p:nvSpPr>
          <p:cNvPr id="203" name="Google Shape;203;p29"/>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800"/>
              <a:t>Al realizar el montaje fijate bien a que pines del Arduino </a:t>
            </a:r>
            <a:r>
              <a:rPr lang="es-419" sz="1800"/>
              <a:t>están</a:t>
            </a:r>
            <a:r>
              <a:rPr lang="es-419" sz="1800"/>
              <a:t> conectados y </a:t>
            </a:r>
            <a:r>
              <a:rPr lang="es-419" sz="1800"/>
              <a:t>cómo</a:t>
            </a:r>
            <a:r>
              <a:rPr lang="es-419" sz="1800"/>
              <a:t> </a:t>
            </a:r>
            <a:r>
              <a:rPr lang="es-419" sz="1800"/>
              <a:t>están</a:t>
            </a:r>
            <a:r>
              <a:rPr lang="es-419" sz="1800"/>
              <a:t> conectados al protoboard. </a:t>
            </a:r>
            <a:endParaRPr sz="1800"/>
          </a:p>
          <a:p>
            <a:pPr indent="0" lvl="0" marL="0" rtl="0" algn="l">
              <a:spcBef>
                <a:spcPts val="1200"/>
              </a:spcBef>
              <a:spcAft>
                <a:spcPts val="0"/>
              </a:spcAft>
              <a:buNone/>
            </a:pPr>
            <a:r>
              <a:rPr lang="es-419" sz="1800"/>
              <a:t>Es importante que la </a:t>
            </a:r>
            <a:r>
              <a:rPr lang="es-419" sz="1800"/>
              <a:t>conexión</a:t>
            </a:r>
            <a:r>
              <a:rPr lang="es-419" sz="1800"/>
              <a:t> del led para que el montaje funcione.</a:t>
            </a:r>
            <a:endParaRPr sz="1800"/>
          </a:p>
          <a:p>
            <a:pPr indent="0" lvl="0" marL="0" rtl="0" algn="l">
              <a:spcBef>
                <a:spcPts val="1200"/>
              </a:spcBef>
              <a:spcAft>
                <a:spcPts val="1200"/>
              </a:spcAft>
              <a:buNone/>
            </a:pPr>
            <a:r>
              <a:t/>
            </a:r>
            <a:endParaRPr sz="1800"/>
          </a:p>
        </p:txBody>
      </p:sp>
      <p:pic>
        <p:nvPicPr>
          <p:cNvPr id="204" name="Google Shape;204;p29"/>
          <p:cNvPicPr preferRelativeResize="0"/>
          <p:nvPr/>
        </p:nvPicPr>
        <p:blipFill>
          <a:blip r:embed="rId4">
            <a:alphaModFix/>
          </a:blip>
          <a:stretch>
            <a:fillRect/>
          </a:stretch>
        </p:blipFill>
        <p:spPr>
          <a:xfrm>
            <a:off x="4674725" y="2659800"/>
            <a:ext cx="3619776" cy="2049121"/>
          </a:xfrm>
          <a:prstGeom prst="rect">
            <a:avLst/>
          </a:prstGeom>
          <a:noFill/>
          <a:ln>
            <a:noFill/>
          </a:ln>
        </p:spPr>
      </p:pic>
      <p:sp>
        <p:nvSpPr>
          <p:cNvPr id="205" name="Google Shape;205;p29"/>
          <p:cNvSpPr txBox="1"/>
          <p:nvPr>
            <p:ph type="title"/>
          </p:nvPr>
        </p:nvSpPr>
        <p:spPr>
          <a:xfrm>
            <a:off x="50575" y="177775"/>
            <a:ext cx="3159000" cy="60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Ejercicio 03: Mi primer montaje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0"/>
          <p:cNvSpPr txBox="1"/>
          <p:nvPr>
            <p:ph idx="1" type="body"/>
          </p:nvPr>
        </p:nvSpPr>
        <p:spPr>
          <a:xfrm>
            <a:off x="226075" y="893200"/>
            <a:ext cx="2808000" cy="3736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sz="1400"/>
              <a:t>La empresa de automatización NRJ Inc. te contrata para hacer un montaje de un LED Intermitente en una placa Arduino UNO o Nano , con el único requisito de que el LED debe estar ubicado en el Pin 5, ellos muy amablemente te han facilitado el esquema, tu tarea es:</a:t>
            </a:r>
            <a:endParaRPr sz="1400"/>
          </a:p>
          <a:p>
            <a:pPr indent="0" lvl="0" marL="0" rtl="0" algn="l">
              <a:spcBef>
                <a:spcPts val="1200"/>
              </a:spcBef>
              <a:spcAft>
                <a:spcPts val="0"/>
              </a:spcAft>
              <a:buNone/>
            </a:pPr>
            <a:r>
              <a:rPr lang="es-419" sz="1400"/>
              <a:t>a)Realizar el montaje y la respectiva programación de 2 segundos prendido y 1 segundo apagado</a:t>
            </a:r>
            <a:endParaRPr sz="1400"/>
          </a:p>
          <a:p>
            <a:pPr indent="0" lvl="0" marL="0" rtl="0" algn="l">
              <a:spcBef>
                <a:spcPts val="1200"/>
              </a:spcBef>
              <a:spcAft>
                <a:spcPts val="1200"/>
              </a:spcAft>
              <a:buNone/>
            </a:pPr>
            <a:r>
              <a:t/>
            </a:r>
            <a:endParaRPr sz="1400"/>
          </a:p>
        </p:txBody>
      </p:sp>
      <p:pic>
        <p:nvPicPr>
          <p:cNvPr id="211" name="Google Shape;211;p30"/>
          <p:cNvPicPr preferRelativeResize="0"/>
          <p:nvPr/>
        </p:nvPicPr>
        <p:blipFill>
          <a:blip r:embed="rId3">
            <a:alphaModFix/>
          </a:blip>
          <a:stretch>
            <a:fillRect/>
          </a:stretch>
        </p:blipFill>
        <p:spPr>
          <a:xfrm>
            <a:off x="4510300" y="411475"/>
            <a:ext cx="3732900" cy="2421341"/>
          </a:xfrm>
          <a:prstGeom prst="rect">
            <a:avLst/>
          </a:prstGeom>
          <a:noFill/>
          <a:ln>
            <a:noFill/>
          </a:ln>
        </p:spPr>
      </p:pic>
      <p:pic>
        <p:nvPicPr>
          <p:cNvPr id="212" name="Google Shape;212;p30"/>
          <p:cNvPicPr preferRelativeResize="0"/>
          <p:nvPr/>
        </p:nvPicPr>
        <p:blipFill>
          <a:blip r:embed="rId4">
            <a:alphaModFix/>
          </a:blip>
          <a:stretch>
            <a:fillRect/>
          </a:stretch>
        </p:blipFill>
        <p:spPr>
          <a:xfrm>
            <a:off x="4510300" y="2832825"/>
            <a:ext cx="3732901" cy="2113164"/>
          </a:xfrm>
          <a:prstGeom prst="rect">
            <a:avLst/>
          </a:prstGeom>
          <a:noFill/>
          <a:ln>
            <a:noFill/>
          </a:ln>
        </p:spPr>
      </p:pic>
      <p:sp>
        <p:nvSpPr>
          <p:cNvPr id="213" name="Google Shape;213;p30"/>
          <p:cNvSpPr txBox="1"/>
          <p:nvPr>
            <p:ph type="title"/>
          </p:nvPr>
        </p:nvSpPr>
        <p:spPr>
          <a:xfrm>
            <a:off x="50575" y="216475"/>
            <a:ext cx="3159000" cy="60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Ejercicio 03: Mi primer montaje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