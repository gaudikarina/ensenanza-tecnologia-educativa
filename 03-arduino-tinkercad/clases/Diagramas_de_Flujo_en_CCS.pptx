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4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47" name="Google Shape;47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51" name="Google Shape;51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s-419"/>
              <a:t>Diagramas de Flujo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/>
              <a:t>Uso en la programación de CCS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58095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Diagramas de flujo de las declaraciones de control en CCS.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1504575" y="1535550"/>
            <a:ext cx="1929600" cy="31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 sz="1500"/>
              <a:t>IF - ELSE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sentencia 1;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sentencia k;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FF0000"/>
                </a:solidFill>
              </a:rPr>
              <a:t>If (condición)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FF0000"/>
                </a:solidFill>
              </a:rPr>
              <a:t>	sentencia p;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FF0000"/>
                </a:solidFill>
              </a:rPr>
              <a:t>else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FF0000"/>
                </a:solidFill>
              </a:rPr>
              <a:t>	sentencia q;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sentencia m;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sentencia n;</a:t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1875" y="1412350"/>
            <a:ext cx="315277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58095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Diagramas de flujo de las declaraciones de control en CCS.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1504575" y="1535550"/>
            <a:ext cx="1929600" cy="3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 sz="1500"/>
              <a:t>IF - ELSE (anidados)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sentencia 1;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sentencia k;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FF0000"/>
                </a:solidFill>
              </a:rPr>
              <a:t>if (condición)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FF0000"/>
                </a:solidFill>
              </a:rPr>
              <a:t>	sentencia p;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FF0000"/>
                </a:solidFill>
              </a:rPr>
              <a:t>else if (condición)</a:t>
            </a:r>
            <a:br>
              <a:rPr b="1" lang="es-419">
                <a:solidFill>
                  <a:srgbClr val="FF0000"/>
                </a:solidFill>
              </a:rPr>
            </a:br>
            <a:r>
              <a:rPr b="1" lang="es-419">
                <a:solidFill>
                  <a:srgbClr val="FF0000"/>
                </a:solidFill>
              </a:rPr>
              <a:t>	sentencia q;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FF0000"/>
                </a:solidFill>
              </a:rPr>
              <a:t>        else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FF0000"/>
                </a:solidFill>
              </a:rPr>
              <a:t>	sentencia r;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sentencia m;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sentencia n;</a:t>
            </a:r>
            <a:endParaRPr/>
          </a:p>
        </p:txBody>
      </p:sp>
      <p:pic>
        <p:nvPicPr>
          <p:cNvPr id="143" name="Google Shape;1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9875" y="1200375"/>
            <a:ext cx="3215227" cy="363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58095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Diagramas de flujo de las declaraciones de control en CCS.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1504575" y="1535550"/>
            <a:ext cx="20853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375"/>
              <a:t>SWITCH </a:t>
            </a:r>
            <a:endParaRPr b="1" sz="13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205"/>
              <a:t>sentencia 1;</a:t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205"/>
              <a:t>.</a:t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205"/>
              <a:t>.</a:t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205"/>
              <a:t>sentencia k;</a:t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FF0000"/>
                </a:solidFill>
              </a:rPr>
              <a:t>switch (condición)</a:t>
            </a:r>
            <a:endParaRPr b="1" sz="12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FF0000"/>
                </a:solidFill>
              </a:rPr>
              <a:t>{</a:t>
            </a:r>
            <a:endParaRPr b="1" sz="12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FF0000"/>
                </a:solidFill>
              </a:rPr>
              <a:t>case </a:t>
            </a:r>
            <a:r>
              <a:rPr b="1" lang="es-419" sz="1205">
                <a:solidFill>
                  <a:srgbClr val="6AA84F"/>
                </a:solidFill>
              </a:rPr>
              <a:t>constante 1:</a:t>
            </a:r>
            <a:endParaRPr b="1" sz="12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6AA84F"/>
                </a:solidFill>
              </a:rPr>
              <a:t>	sentencia p;</a:t>
            </a:r>
            <a:endParaRPr b="1" sz="12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6AA84F"/>
                </a:solidFill>
              </a:rPr>
              <a:t>	break;</a:t>
            </a:r>
            <a:endParaRPr b="1" sz="12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FF0000"/>
                </a:solidFill>
              </a:rPr>
              <a:t>case </a:t>
            </a:r>
            <a:r>
              <a:rPr b="1" lang="es-419" sz="1205">
                <a:solidFill>
                  <a:srgbClr val="6AA84F"/>
                </a:solidFill>
              </a:rPr>
              <a:t>constante 2:</a:t>
            </a:r>
            <a:endParaRPr b="1" sz="12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6AA84F"/>
                </a:solidFill>
              </a:rPr>
              <a:t>	sentencia q;</a:t>
            </a:r>
            <a:endParaRPr b="1" sz="12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6AA84F"/>
                </a:solidFill>
              </a:rPr>
              <a:t>	break;</a:t>
            </a:r>
            <a:endParaRPr b="1" sz="12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6AA84F"/>
                </a:solidFill>
              </a:rPr>
              <a:t>...</a:t>
            </a:r>
            <a:endParaRPr b="1" sz="12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FF0000"/>
                </a:solidFill>
              </a:rPr>
              <a:t>default</a:t>
            </a:r>
            <a:r>
              <a:rPr b="1" lang="es-419" sz="1205">
                <a:solidFill>
                  <a:srgbClr val="6AA84F"/>
                </a:solidFill>
              </a:rPr>
              <a:t>:</a:t>
            </a:r>
            <a:endParaRPr b="1" sz="12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6AA84F"/>
                </a:solidFill>
              </a:rPr>
              <a:t>	sentencia r;</a:t>
            </a:r>
            <a:endParaRPr b="1" sz="12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205">
                <a:solidFill>
                  <a:srgbClr val="6AA84F"/>
                </a:solidFill>
              </a:rPr>
              <a:t>	break;</a:t>
            </a:r>
            <a:endParaRPr b="1" sz="12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205"/>
              <a:t>sentencia m;</a:t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205"/>
              <a:t>.</a:t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205"/>
              <a:t>.</a:t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205"/>
              <a:t>sentencia n;</a:t>
            </a:r>
            <a:endParaRPr sz="1205"/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00" y="1077325"/>
            <a:ext cx="2808325" cy="384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58095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Diagramas de flujo de las declaraciones de control en CCS.</a:t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1504575" y="1535550"/>
            <a:ext cx="20853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875"/>
              <a:t>FOR</a:t>
            </a:r>
            <a:endParaRPr b="1" sz="18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1;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k;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for (i=1:i&lt;=n:i++)</a:t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{</a:t>
            </a:r>
            <a:endParaRPr b="1" sz="1405">
              <a:solidFill>
                <a:srgbClr val="FF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6AA84F"/>
                </a:solidFill>
              </a:rPr>
              <a:t>sentencias;</a:t>
            </a:r>
            <a:endParaRPr b="1" sz="14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}</a:t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m;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n;</a:t>
            </a:r>
            <a:endParaRPr sz="1405"/>
          </a:p>
        </p:txBody>
      </p:sp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875" y="1179175"/>
            <a:ext cx="2893125" cy="36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819150" y="58095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Diagramas de flujo de las declaraciones de control en CCS.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1504575" y="1535550"/>
            <a:ext cx="20853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875"/>
              <a:t>WHILE</a:t>
            </a:r>
            <a:endParaRPr b="1" sz="18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1;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k;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while(condición)</a:t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{</a:t>
            </a:r>
            <a:endParaRPr b="1" sz="1405">
              <a:solidFill>
                <a:srgbClr val="FF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6AA84F"/>
                </a:solidFill>
              </a:rPr>
              <a:t>sentencias;</a:t>
            </a:r>
            <a:endParaRPr b="1" sz="14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}</a:t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m;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n;</a:t>
            </a:r>
            <a:endParaRPr sz="1405"/>
          </a:p>
        </p:txBody>
      </p:sp>
      <p:pic>
        <p:nvPicPr>
          <p:cNvPr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8801" y="1210225"/>
            <a:ext cx="2522550" cy="356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58095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Diagramas de flujo de las declaraciones de control en CCS.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504575" y="1535550"/>
            <a:ext cx="20853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875"/>
              <a:t>DO-WHILE</a:t>
            </a:r>
            <a:endParaRPr b="1" sz="187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2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1;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k;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do</a:t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{</a:t>
            </a:r>
            <a:endParaRPr b="1" sz="1405">
              <a:solidFill>
                <a:srgbClr val="FF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6AA84F"/>
                </a:solidFill>
              </a:rPr>
              <a:t>sentencias;</a:t>
            </a:r>
            <a:endParaRPr b="1" sz="1405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}</a:t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1405">
                <a:solidFill>
                  <a:srgbClr val="FF0000"/>
                </a:solidFill>
              </a:rPr>
              <a:t>while (expresión)</a:t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40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m;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.</a:t>
            </a:r>
            <a:endParaRPr sz="14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405"/>
              <a:t>sentencia n;</a:t>
            </a:r>
            <a:endParaRPr sz="1405"/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2000" y="1087300"/>
            <a:ext cx="3277275" cy="37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Ejemplo de la representación de una función o subrutina</a:t>
            </a:r>
            <a:endParaRPr/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3400" y="1443825"/>
            <a:ext cx="3493392" cy="30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